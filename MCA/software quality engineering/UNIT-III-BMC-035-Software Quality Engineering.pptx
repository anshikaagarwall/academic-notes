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slides/slide142.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129.xml" ContentType="application/vnd.openxmlformats-officedocument.presentationml.slide+xml"/>
  <Override PartName="/ppt/slides/slide147.xml" ContentType="application/vnd.openxmlformats-officedocument.presentationml.slide+xml"/>
  <Override PartName="/ppt/slides/slide158.xml" ContentType="application/vnd.openxmlformats-officedocument.presentationml.slide+xml"/>
  <Override PartName="/ppt/slides/slide99.xml" ContentType="application/vnd.openxmlformats-officedocument.presentationml.slide+xml"/>
  <Override PartName="/ppt/slides/slide118.xml" ContentType="application/vnd.openxmlformats-officedocument.presentationml.slide+xml"/>
  <Override PartName="/ppt/slides/slide136.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32.xml" ContentType="application/vnd.openxmlformats-officedocument.presentationml.slide+xml"/>
  <Override PartName="/ppt/slides/slide150.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slides/slide119.xml" ContentType="application/vnd.openxmlformats-officedocument.presentationml.slide+xml"/>
  <Override PartName="/ppt/slides/slide148.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108.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55.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slides/slide115.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44.xml" ContentType="application/vnd.openxmlformats-officedocument.presentationml.slide+xml"/>
  <Override PartName="/ppt/slides/slide153.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s/slide151.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s/slide140.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s/slide149.xml" ContentType="application/vnd.openxmlformats-officedocument.presentationml.slide+xml"/>
  <Override PartName="/ppt/slideLayouts/slideLayout11.xml" ContentType="application/vnd.openxmlformats-officedocument.presentationml.slideLayout+xml"/>
  <Override PartName="/ppt/slides/slide138.xml" ContentType="application/vnd.openxmlformats-officedocument.presentationml.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Layouts/slideLayout9.xml" ContentType="application/vnd.openxmlformats-officedocument.presentationml.slideLayout+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s/slide20.xml" ContentType="application/vnd.openxmlformats-officedocument.presentationml.slide+xml"/>
  <Override PartName="/ppt/slides/slide139.xml" ContentType="application/vnd.openxmlformats-officedocument.presentationml.slide+xml"/>
  <Override PartName="/ppt/slides/slide157.xml" ContentType="application/vnd.openxmlformats-officedocument.presentationml.slide+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slides/slide146.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0"/>
  </p:notesMasterIdLst>
  <p:sldIdLst>
    <p:sldId id="375" r:id="rId2"/>
    <p:sldId id="376" r:id="rId3"/>
    <p:sldId id="377" r:id="rId4"/>
    <p:sldId id="260" r:id="rId5"/>
    <p:sldId id="263" r:id="rId6"/>
    <p:sldId id="262" r:id="rId7"/>
    <p:sldId id="778" r:id="rId8"/>
    <p:sldId id="929" r:id="rId9"/>
    <p:sldId id="962" r:id="rId10"/>
    <p:sldId id="1035" r:id="rId11"/>
    <p:sldId id="940" r:id="rId12"/>
    <p:sldId id="931" r:id="rId13"/>
    <p:sldId id="958" r:id="rId14"/>
    <p:sldId id="1036" r:id="rId15"/>
    <p:sldId id="959" r:id="rId16"/>
    <p:sldId id="961" r:id="rId17"/>
    <p:sldId id="942" r:id="rId18"/>
    <p:sldId id="943" r:id="rId19"/>
    <p:sldId id="941" r:id="rId20"/>
    <p:sldId id="944" r:id="rId21"/>
    <p:sldId id="932" r:id="rId22"/>
    <p:sldId id="960" r:id="rId23"/>
    <p:sldId id="963" r:id="rId24"/>
    <p:sldId id="965" r:id="rId25"/>
    <p:sldId id="964" r:id="rId26"/>
    <p:sldId id="1001" r:id="rId27"/>
    <p:sldId id="966" r:id="rId28"/>
    <p:sldId id="1055" r:id="rId29"/>
    <p:sldId id="969" r:id="rId30"/>
    <p:sldId id="1038" r:id="rId31"/>
    <p:sldId id="1039" r:id="rId32"/>
    <p:sldId id="934" r:id="rId33"/>
    <p:sldId id="967" r:id="rId34"/>
    <p:sldId id="972" r:id="rId35"/>
    <p:sldId id="973" r:id="rId36"/>
    <p:sldId id="974" r:id="rId37"/>
    <p:sldId id="968" r:id="rId38"/>
    <p:sldId id="945" r:id="rId39"/>
    <p:sldId id="975" r:id="rId40"/>
    <p:sldId id="938" r:id="rId41"/>
    <p:sldId id="976" r:id="rId42"/>
    <p:sldId id="946" r:id="rId43"/>
    <p:sldId id="991" r:id="rId44"/>
    <p:sldId id="977" r:id="rId45"/>
    <p:sldId id="935" r:id="rId46"/>
    <p:sldId id="978" r:id="rId47"/>
    <p:sldId id="983" r:id="rId48"/>
    <p:sldId id="992" r:id="rId49"/>
    <p:sldId id="948" r:id="rId50"/>
    <p:sldId id="979" r:id="rId51"/>
    <p:sldId id="982" r:id="rId52"/>
    <p:sldId id="980" r:id="rId53"/>
    <p:sldId id="779" r:id="rId54"/>
    <p:sldId id="981" r:id="rId55"/>
    <p:sldId id="994" r:id="rId56"/>
    <p:sldId id="1056" r:id="rId57"/>
    <p:sldId id="952" r:id="rId58"/>
    <p:sldId id="985" r:id="rId59"/>
    <p:sldId id="984" r:id="rId60"/>
    <p:sldId id="916" r:id="rId61"/>
    <p:sldId id="986" r:id="rId62"/>
    <p:sldId id="995" r:id="rId63"/>
    <p:sldId id="782" r:id="rId64"/>
    <p:sldId id="1040" r:id="rId65"/>
    <p:sldId id="1041" r:id="rId66"/>
    <p:sldId id="1042" r:id="rId67"/>
    <p:sldId id="1043" r:id="rId68"/>
    <p:sldId id="1044" r:id="rId69"/>
    <p:sldId id="1045" r:id="rId70"/>
    <p:sldId id="1046" r:id="rId71"/>
    <p:sldId id="1009" r:id="rId72"/>
    <p:sldId id="784" r:id="rId73"/>
    <p:sldId id="785" r:id="rId74"/>
    <p:sldId id="1010" r:id="rId75"/>
    <p:sldId id="1011" r:id="rId76"/>
    <p:sldId id="951" r:id="rId77"/>
    <p:sldId id="1012" r:id="rId78"/>
    <p:sldId id="1013" r:id="rId79"/>
    <p:sldId id="1014" r:id="rId80"/>
    <p:sldId id="1015" r:id="rId81"/>
    <p:sldId id="1016" r:id="rId82"/>
    <p:sldId id="786" r:id="rId83"/>
    <p:sldId id="787" r:id="rId84"/>
    <p:sldId id="1007" r:id="rId85"/>
    <p:sldId id="987" r:id="rId86"/>
    <p:sldId id="1047" r:id="rId87"/>
    <p:sldId id="1049" r:id="rId88"/>
    <p:sldId id="1048" r:id="rId89"/>
    <p:sldId id="1050" r:id="rId90"/>
    <p:sldId id="1008" r:id="rId91"/>
    <p:sldId id="1002" r:id="rId92"/>
    <p:sldId id="1003" r:id="rId93"/>
    <p:sldId id="1004" r:id="rId94"/>
    <p:sldId id="1005" r:id="rId95"/>
    <p:sldId id="1006" r:id="rId96"/>
    <p:sldId id="997" r:id="rId97"/>
    <p:sldId id="996" r:id="rId98"/>
    <p:sldId id="993" r:id="rId99"/>
    <p:sldId id="988" r:id="rId100"/>
    <p:sldId id="1075" r:id="rId101"/>
    <p:sldId id="552" r:id="rId102"/>
    <p:sldId id="554" r:id="rId103"/>
    <p:sldId id="555" r:id="rId104"/>
    <p:sldId id="556" r:id="rId105"/>
    <p:sldId id="1034" r:id="rId106"/>
    <p:sldId id="1021" r:id="rId107"/>
    <p:sldId id="1022" r:id="rId108"/>
    <p:sldId id="1023" r:id="rId109"/>
    <p:sldId id="1032" r:id="rId110"/>
    <p:sldId id="1024" r:id="rId111"/>
    <p:sldId id="1025" r:id="rId112"/>
    <p:sldId id="1026" r:id="rId113"/>
    <p:sldId id="1027" r:id="rId114"/>
    <p:sldId id="1030" r:id="rId115"/>
    <p:sldId id="1033" r:id="rId116"/>
    <p:sldId id="1028" r:id="rId117"/>
    <p:sldId id="1029" r:id="rId118"/>
    <p:sldId id="558" r:id="rId119"/>
    <p:sldId id="560" r:id="rId120"/>
    <p:sldId id="1051" r:id="rId121"/>
    <p:sldId id="1052" r:id="rId122"/>
    <p:sldId id="1053" r:id="rId123"/>
    <p:sldId id="1054" r:id="rId124"/>
    <p:sldId id="803" r:id="rId125"/>
    <p:sldId id="804" r:id="rId126"/>
    <p:sldId id="805" r:id="rId127"/>
    <p:sldId id="928" r:id="rId128"/>
    <p:sldId id="1057" r:id="rId129"/>
    <p:sldId id="1059" r:id="rId130"/>
    <p:sldId id="1066" r:id="rId131"/>
    <p:sldId id="1064" r:id="rId132"/>
    <p:sldId id="1067" r:id="rId133"/>
    <p:sldId id="1063" r:id="rId134"/>
    <p:sldId id="1062" r:id="rId135"/>
    <p:sldId id="1061" r:id="rId136"/>
    <p:sldId id="1068" r:id="rId137"/>
    <p:sldId id="1071" r:id="rId138"/>
    <p:sldId id="1072" r:id="rId139"/>
    <p:sldId id="1073" r:id="rId140"/>
    <p:sldId id="1069" r:id="rId141"/>
    <p:sldId id="1074" r:id="rId142"/>
    <p:sldId id="1080" r:id="rId143"/>
    <p:sldId id="1078" r:id="rId144"/>
    <p:sldId id="1077" r:id="rId145"/>
    <p:sldId id="1076" r:id="rId146"/>
    <p:sldId id="1079" r:id="rId147"/>
    <p:sldId id="1083" r:id="rId148"/>
    <p:sldId id="1084" r:id="rId149"/>
    <p:sldId id="1085" r:id="rId150"/>
    <p:sldId id="1086" r:id="rId151"/>
    <p:sldId id="1092" r:id="rId152"/>
    <p:sldId id="1087" r:id="rId153"/>
    <p:sldId id="1088" r:id="rId154"/>
    <p:sldId id="1089" r:id="rId155"/>
    <p:sldId id="1090" r:id="rId156"/>
    <p:sldId id="1091" r:id="rId157"/>
    <p:sldId id="1081" r:id="rId158"/>
    <p:sldId id="1082" r:id="rId15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62" autoAdjust="0"/>
    <p:restoredTop sz="94660"/>
  </p:normalViewPr>
  <p:slideViewPr>
    <p:cSldViewPr>
      <p:cViewPr>
        <p:scale>
          <a:sx n="68" d="100"/>
          <a:sy n="68" d="100"/>
        </p:scale>
        <p:origin x="-1356" y="-1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16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B1C6687-8F17-4CAC-AE50-B3E9CE183B49}" type="datetimeFigureOut">
              <a:rPr lang="en-US" smtClean="0"/>
              <a:pPr/>
              <a:t>3/18/2026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10C3490-8F65-43C6-AF9D-2249F7812601}" type="slidenum">
              <a:rPr lang="en-US" smtClean="0"/>
              <a:pPr/>
              <a:t>‹#›</a:t>
            </a:fld>
            <a:endParaRPr lang="en-US"/>
          </a:p>
        </p:txBody>
      </p:sp>
    </p:spTree>
    <p:extLst>
      <p:ext uri="{BB962C8B-B14F-4D97-AF65-F5344CB8AC3E}">
        <p14:creationId xmlns="" xmlns:p14="http://schemas.microsoft.com/office/powerpoint/2010/main" val="24922244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2536789-80A9-426C-8E1D-F1025E96E76F}"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46B490-8033-4666-8C58-6F6E7B3D3D8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536789-80A9-426C-8E1D-F1025E96E76F}"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46B490-8033-4666-8C58-6F6E7B3D3D8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2536789-80A9-426C-8E1D-F1025E96E76F}"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46B490-8033-4666-8C58-6F6E7B3D3D8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2536789-80A9-426C-8E1D-F1025E96E76F}"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46B490-8033-4666-8C58-6F6E7B3D3D8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2536789-80A9-426C-8E1D-F1025E96E76F}" type="datetimeFigureOut">
              <a:rPr lang="en-US" smtClean="0"/>
              <a:pPr/>
              <a:t>3/18/2026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346B490-8033-4666-8C58-6F6E7B3D3D8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2536789-80A9-426C-8E1D-F1025E96E76F}" type="datetimeFigureOut">
              <a:rPr lang="en-US" smtClean="0"/>
              <a:pPr/>
              <a:t>3/18/2026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346B490-8033-4666-8C58-6F6E7B3D3D8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536789-80A9-426C-8E1D-F1025E96E76F}" type="datetimeFigureOut">
              <a:rPr lang="en-US" smtClean="0"/>
              <a:pPr/>
              <a:t>3/18/2026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346B490-8033-4666-8C58-6F6E7B3D3D8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2536789-80A9-426C-8E1D-F1025E96E76F}"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46B490-8033-4666-8C58-6F6E7B3D3D8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2536789-80A9-426C-8E1D-F1025E96E76F}"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46B490-8033-4666-8C58-6F6E7B3D3D8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536789-80A9-426C-8E1D-F1025E96E76F}"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46B490-8033-4666-8C58-6F6E7B3D3D8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536789-80A9-426C-8E1D-F1025E96E76F}"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46B490-8033-4666-8C58-6F6E7B3D3D8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536789-80A9-426C-8E1D-F1025E96E76F}" type="datetimeFigureOut">
              <a:rPr lang="en-US" smtClean="0"/>
              <a:pPr/>
              <a:t>3/18/2026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46B490-8033-4666-8C58-6F6E7B3D3D8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en.wikipedia.org/wiki/Software_quality"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professionalqa.com/comparison-quality-models"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www.professionalqa.com/mc-call-software-quality-model" TargetMode="External"/><Relationship Id="rId2" Type="http://schemas.openxmlformats.org/officeDocument/2006/relationships/hyperlink" Target="http://www.ifourtechnolab.com/"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www.ifourtechnolab.com/"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dl.acm.org/citation.cfm?id=205311"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www.ifourtechnolab.com/" TargetMode="External"/><Relationship Id="rId2" Type="http://schemas.openxmlformats.org/officeDocument/2006/relationships/hyperlink" Target="http://www.cse.dcu.ie/essiscope/sm2/9126ref.html"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s://www.professionalqa.com/capability-maturity-model"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hyperlink" Target="https://www.scribbr.com/methodology/types-of-variables/" TargetMode="Externa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8" Type="http://schemas.openxmlformats.org/officeDocument/2006/relationships/hyperlink" Target="https://www.erykfaracik.com/blog/rayleigh-distribution-definition-formulas-and-more" TargetMode="External"/><Relationship Id="rId3" Type="http://schemas.openxmlformats.org/officeDocument/2006/relationships/hyperlink" Target="https://www.mycompiler.io/new/octave" TargetMode="External"/><Relationship Id="rId7" Type="http://schemas.openxmlformats.org/officeDocument/2006/relationships/hyperlink" Target="https://www.statisticshowto.com/rayleigh-distribution/" TargetMode="External"/><Relationship Id="rId2" Type="http://schemas.openxmlformats.org/officeDocument/2006/relationships/hyperlink" Target="https://www.analytixlabs.co.in/blog/types-of-distribution/" TargetMode="External"/><Relationship Id="rId1" Type="http://schemas.openxmlformats.org/officeDocument/2006/relationships/slideLayout" Target="../slideLayouts/slideLayout2.xml"/><Relationship Id="rId6" Type="http://schemas.openxmlformats.org/officeDocument/2006/relationships/hyperlink" Target="https://in.mathworks.com/help/stats/rayleigh-distribution.html" TargetMode="External"/><Relationship Id="rId5" Type="http://schemas.openxmlformats.org/officeDocument/2006/relationships/hyperlink" Target="https://en.wikipedia.org/wiki/Rayleigh_distribution" TargetMode="External"/><Relationship Id="rId4" Type="http://schemas.openxmlformats.org/officeDocument/2006/relationships/hyperlink" Target="https://www.w3schools.com/python/numpy/numpy_random_rayleigh.asp" TargetMode="Externa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body" idx="1"/>
          </p:nvPr>
        </p:nvSpPr>
        <p:spPr>
          <a:xfrm>
            <a:off x="0" y="0"/>
            <a:ext cx="9144000" cy="6858000"/>
          </a:xfrm>
          <a:prstGeom prst="rect">
            <a:avLst/>
          </a:prstGeom>
          <a:ln>
            <a:headEnd type="none" w="sm" len="sm"/>
            <a:tailEnd type="none" w="sm" len="sm"/>
          </a:ln>
        </p:spPr>
        <p:style>
          <a:lnRef idx="1">
            <a:schemeClr val="accent2"/>
          </a:lnRef>
          <a:fillRef idx="3">
            <a:schemeClr val="accent2"/>
          </a:fillRef>
          <a:effectRef idx="2">
            <a:schemeClr val="accent2"/>
          </a:effectRef>
          <a:fontRef idx="minor">
            <a:schemeClr val="lt1"/>
          </a:fontRef>
        </p:style>
        <p:txBody>
          <a:bodyPr spcFirstLastPara="1" wrap="square" lIns="91425" tIns="45700" rIns="91425" bIns="45700" anchor="t" anchorCtr="0">
            <a:noAutofit/>
          </a:bodyPr>
          <a:lstStyle/>
          <a:p>
            <a:pPr marL="342900" lvl="0" indent="-342900" algn="ctr" rtl="0">
              <a:spcBef>
                <a:spcPts val="0"/>
              </a:spcBef>
              <a:spcAft>
                <a:spcPts val="0"/>
              </a:spcAft>
              <a:buClr>
                <a:srgbClr val="FFFF00"/>
              </a:buClr>
              <a:buSzPts val="3600"/>
              <a:buNone/>
            </a:pPr>
            <a:r>
              <a:rPr lang="en-US" sz="3600" dirty="0">
                <a:solidFill>
                  <a:srgbClr val="FFFF00"/>
                </a:solidFill>
                <a:latin typeface="Arial Black"/>
                <a:ea typeface="Arial Black"/>
                <a:cs typeface="Arial Black"/>
                <a:sym typeface="Arial Black"/>
              </a:rPr>
              <a:t>Jagran Institute Of Management</a:t>
            </a:r>
            <a:r>
              <a:rPr lang="en-US" sz="4800" b="1" dirty="0">
                <a:solidFill>
                  <a:srgbClr val="FFFF00"/>
                </a:solidFill>
                <a:latin typeface="Calibri"/>
                <a:ea typeface="Calibri"/>
                <a:cs typeface="Calibri"/>
                <a:sym typeface="Calibri"/>
              </a:rPr>
              <a:t> </a:t>
            </a:r>
            <a:endParaRPr dirty="0"/>
          </a:p>
          <a:p>
            <a:pPr algn="ctr">
              <a:spcBef>
                <a:spcPts val="720"/>
              </a:spcBef>
              <a:buClr>
                <a:srgbClr val="C00000"/>
              </a:buClr>
              <a:buSzPts val="3600"/>
            </a:pPr>
            <a:r>
              <a:rPr lang="en-US" sz="4000" dirty="0" smtClean="0">
                <a:solidFill>
                  <a:srgbClr val="002060"/>
                </a:solidFill>
                <a:latin typeface="Aharoni"/>
                <a:ea typeface="Aharoni"/>
                <a:cs typeface="Aharoni"/>
                <a:sym typeface="Aharoni"/>
              </a:rPr>
              <a:t>Department of MCA</a:t>
            </a:r>
          </a:p>
          <a:p>
            <a:pPr algn="ctr">
              <a:spcBef>
                <a:spcPts val="720"/>
              </a:spcBef>
              <a:buClr>
                <a:srgbClr val="C00000"/>
              </a:buClr>
              <a:buSzPts val="3600"/>
            </a:pPr>
            <a:r>
              <a:rPr lang="en-US" sz="3600" dirty="0" smtClean="0"/>
              <a:t>MASTER OF COMPUTER APPLICATION</a:t>
            </a:r>
            <a:endParaRPr lang="en-US" sz="3600" b="1" dirty="0" smtClean="0">
              <a:solidFill>
                <a:srgbClr val="002060"/>
              </a:solidFill>
            </a:endParaRPr>
          </a:p>
          <a:p>
            <a:pPr lvl="0" algn="ctr">
              <a:spcBef>
                <a:spcPts val="720"/>
              </a:spcBef>
              <a:buClr>
                <a:srgbClr val="C00000"/>
              </a:buClr>
              <a:buSzPts val="3600"/>
            </a:pPr>
            <a:r>
              <a:rPr lang="en-US" b="1" dirty="0" smtClean="0">
                <a:solidFill>
                  <a:schemeClr val="tx1"/>
                </a:solidFill>
                <a:latin typeface="Calibri"/>
                <a:ea typeface="Calibri"/>
                <a:cs typeface="Calibri"/>
                <a:sym typeface="Calibri"/>
              </a:rPr>
              <a:t>(Second Year-2025-26-</a:t>
            </a:r>
            <a:r>
              <a:rPr lang="en-US" sz="3600" b="1" dirty="0" smtClean="0">
                <a:solidFill>
                  <a:srgbClr val="002060"/>
                </a:solidFill>
                <a:ea typeface="Calibri"/>
                <a:cs typeface="Calibri"/>
                <a:sym typeface="Calibri"/>
              </a:rPr>
              <a:t>Semester:4</a:t>
            </a:r>
            <a:r>
              <a:rPr lang="en-US" sz="3600" b="1" baseline="30000" dirty="0" smtClean="0">
                <a:solidFill>
                  <a:srgbClr val="002060"/>
                </a:solidFill>
                <a:ea typeface="Calibri"/>
                <a:cs typeface="Calibri"/>
                <a:sym typeface="Calibri"/>
              </a:rPr>
              <a:t>th</a:t>
            </a:r>
            <a:r>
              <a:rPr lang="en-US" sz="3600" b="1" dirty="0" smtClean="0">
                <a:solidFill>
                  <a:srgbClr val="002060"/>
                </a:solidFill>
                <a:ea typeface="Calibri"/>
                <a:cs typeface="Calibri"/>
                <a:sym typeface="Calibri"/>
              </a:rPr>
              <a:t> )</a:t>
            </a:r>
            <a:endParaRPr lang="en-US" sz="3600" b="1" baseline="30000" dirty="0" smtClean="0">
              <a:solidFill>
                <a:srgbClr val="002060"/>
              </a:solidFill>
              <a:ea typeface="Calibri"/>
              <a:cs typeface="Calibri"/>
              <a:sym typeface="Calibri"/>
            </a:endParaRPr>
          </a:p>
          <a:p>
            <a:pPr marL="176213" lvl="0" indent="-203200" algn="ctr">
              <a:spcBef>
                <a:spcPts val="640"/>
              </a:spcBef>
              <a:buClr>
                <a:srgbClr val="C00000"/>
              </a:buClr>
              <a:buSzPts val="3200"/>
            </a:pPr>
            <a:r>
              <a:rPr lang="en-US" sz="4000" dirty="0" smtClean="0"/>
              <a:t>BMC-035-Software Quality Engineering</a:t>
            </a:r>
          </a:p>
          <a:p>
            <a:pPr marL="176213" lvl="0" indent="-203200" algn="ctr">
              <a:spcBef>
                <a:spcPts val="640"/>
              </a:spcBef>
              <a:buClr>
                <a:srgbClr val="C00000"/>
              </a:buClr>
              <a:buSzPts val="3200"/>
            </a:pPr>
            <a:r>
              <a:rPr lang="en-US" sz="3600" dirty="0" smtClean="0">
                <a:solidFill>
                  <a:srgbClr val="92D050"/>
                </a:solidFill>
                <a:latin typeface="Calibri"/>
                <a:ea typeface="Calibri"/>
                <a:cs typeface="Calibri"/>
                <a:sym typeface="Calibri"/>
              </a:rPr>
              <a:t>Subject </a:t>
            </a:r>
            <a:r>
              <a:rPr lang="en-US" sz="3600" dirty="0">
                <a:solidFill>
                  <a:srgbClr val="92D050"/>
                </a:solidFill>
                <a:latin typeface="Calibri"/>
                <a:ea typeface="Calibri"/>
                <a:cs typeface="Calibri"/>
                <a:sym typeface="Calibri"/>
              </a:rPr>
              <a:t>Start Date: </a:t>
            </a:r>
            <a:r>
              <a:rPr lang="en-US" sz="3600" dirty="0" smtClean="0">
                <a:solidFill>
                  <a:srgbClr val="92D050"/>
                </a:solidFill>
                <a:latin typeface="Calibri"/>
                <a:ea typeface="Calibri"/>
                <a:cs typeface="Calibri"/>
                <a:sym typeface="Calibri"/>
              </a:rPr>
              <a:t>2</a:t>
            </a:r>
            <a:r>
              <a:rPr lang="en-US" sz="3600" baseline="30000" dirty="0" smtClean="0">
                <a:solidFill>
                  <a:srgbClr val="92D050"/>
                </a:solidFill>
                <a:latin typeface="Calibri"/>
                <a:ea typeface="Calibri"/>
                <a:cs typeface="Calibri"/>
                <a:sym typeface="Calibri"/>
              </a:rPr>
              <a:t>nd</a:t>
            </a:r>
            <a:r>
              <a:rPr lang="en-US" sz="3600" dirty="0" smtClean="0">
                <a:solidFill>
                  <a:srgbClr val="92D050"/>
                </a:solidFill>
                <a:latin typeface="Calibri"/>
                <a:ea typeface="Calibri"/>
                <a:cs typeface="Calibri"/>
                <a:sym typeface="Calibri"/>
              </a:rPr>
              <a:t> Frebruary-202</a:t>
            </a:r>
            <a:r>
              <a:rPr lang="en-US" sz="3600" dirty="0" smtClean="0">
                <a:solidFill>
                  <a:srgbClr val="FFFF00"/>
                </a:solidFill>
                <a:latin typeface="Calibri"/>
                <a:ea typeface="Calibri"/>
                <a:cs typeface="Calibri"/>
                <a:sym typeface="Calibri"/>
              </a:rPr>
              <a:t>6</a:t>
            </a:r>
            <a:endParaRPr sz="6000" dirty="0">
              <a:solidFill>
                <a:srgbClr val="FFFF00"/>
              </a:solidFill>
            </a:endParaRPr>
          </a:p>
          <a:p>
            <a:pPr marL="342900" lvl="0" indent="-342900" algn="ctr" rtl="0">
              <a:lnSpc>
                <a:spcPct val="150000"/>
              </a:lnSpc>
              <a:spcBef>
                <a:spcPts val="720"/>
              </a:spcBef>
              <a:spcAft>
                <a:spcPts val="0"/>
              </a:spcAft>
              <a:buClr>
                <a:srgbClr val="92D050"/>
              </a:buClr>
              <a:buSzPts val="3600"/>
              <a:buNone/>
            </a:pPr>
            <a:r>
              <a:rPr lang="en-US" sz="4000" b="1" u="sng" dirty="0" smtClean="0">
                <a:solidFill>
                  <a:srgbClr val="002060"/>
                </a:solidFill>
                <a:latin typeface="Calibri"/>
                <a:ea typeface="Calibri"/>
                <a:cs typeface="Calibri"/>
                <a:sym typeface="Calibri"/>
              </a:rPr>
              <a:t>Name of Faculty: </a:t>
            </a:r>
          </a:p>
          <a:p>
            <a:pPr marL="342900" lvl="0" indent="-342900" algn="ctr" rtl="0">
              <a:spcBef>
                <a:spcPts val="640"/>
              </a:spcBef>
              <a:spcAft>
                <a:spcPts val="0"/>
              </a:spcAft>
              <a:buClr>
                <a:srgbClr val="002060"/>
              </a:buClr>
              <a:buSzPts val="3200"/>
              <a:buNone/>
            </a:pPr>
            <a:r>
              <a:rPr lang="en-US" sz="3600" b="1" dirty="0" smtClean="0">
                <a:solidFill>
                  <a:srgbClr val="FFFF00"/>
                </a:solidFill>
                <a:latin typeface="Calibri"/>
                <a:ea typeface="Calibri"/>
                <a:cs typeface="Calibri"/>
                <a:sym typeface="Calibri"/>
              </a:rPr>
              <a:t>Vishnu Kr. </a:t>
            </a:r>
            <a:r>
              <a:rPr lang="en-US" sz="3600" b="1" dirty="0" err="1" smtClean="0">
                <a:solidFill>
                  <a:srgbClr val="FFFF00"/>
                </a:solidFill>
                <a:latin typeface="Calibri"/>
                <a:ea typeface="Calibri"/>
                <a:cs typeface="Calibri"/>
                <a:sym typeface="Calibri"/>
              </a:rPr>
              <a:t>Shukla</a:t>
            </a:r>
            <a:r>
              <a:rPr lang="en-US" b="1" dirty="0" smtClean="0">
                <a:solidFill>
                  <a:srgbClr val="FFFF00"/>
                </a:solidFill>
                <a:latin typeface="Calibri"/>
                <a:ea typeface="Calibri"/>
                <a:cs typeface="Calibri"/>
                <a:sym typeface="Calibri"/>
              </a:rPr>
              <a:t>                                            </a:t>
            </a:r>
            <a:endParaRPr sz="3600" smtClean="0">
              <a:solidFill>
                <a:srgbClr val="FFFF00"/>
              </a:solidFill>
            </a:endParaRPr>
          </a:p>
          <a:p>
            <a:pPr marL="342900" lvl="0" indent="-342900" algn="ctr" rtl="0">
              <a:spcBef>
                <a:spcPts val="560"/>
              </a:spcBef>
              <a:spcAft>
                <a:spcPts val="0"/>
              </a:spcAft>
              <a:buClr>
                <a:srgbClr val="002060"/>
              </a:buClr>
              <a:buSzPts val="2800"/>
              <a:buNone/>
            </a:pPr>
            <a:r>
              <a:rPr lang="en-US" b="1" dirty="0" smtClean="0">
                <a:solidFill>
                  <a:srgbClr val="FFFF00"/>
                </a:solidFill>
                <a:latin typeface="Calibri"/>
                <a:ea typeface="Calibri"/>
                <a:cs typeface="Calibri"/>
                <a:sym typeface="Calibri"/>
              </a:rPr>
              <a:t>  </a:t>
            </a:r>
            <a:r>
              <a:rPr lang="en-US" sz="2800" b="1" dirty="0" smtClean="0">
                <a:solidFill>
                  <a:srgbClr val="FFFF00"/>
                </a:solidFill>
                <a:latin typeface="Calibri"/>
                <a:ea typeface="Calibri"/>
                <a:cs typeface="Calibri"/>
                <a:sym typeface="Calibri"/>
              </a:rPr>
              <a:t>(Assistant Professor )</a:t>
            </a:r>
            <a:endParaRPr sz="3600" smtClean="0">
              <a:solidFill>
                <a:srgbClr val="FFFF00"/>
              </a:solidFill>
            </a:endParaRPr>
          </a:p>
          <a:p>
            <a:pPr marL="342900" lvl="0" indent="-342900" algn="ctr" rtl="0">
              <a:spcBef>
                <a:spcPts val="560"/>
              </a:spcBef>
              <a:spcAft>
                <a:spcPts val="0"/>
              </a:spcAft>
              <a:buClr>
                <a:srgbClr val="002060"/>
              </a:buClr>
              <a:buSzPts val="2800"/>
              <a:buNone/>
            </a:pPr>
            <a:r>
              <a:rPr lang="en-US" sz="2800" dirty="0" smtClean="0">
                <a:solidFill>
                  <a:srgbClr val="FFFF00"/>
                </a:solidFill>
                <a:latin typeface="Aharoni"/>
                <a:ea typeface="Aharoni"/>
                <a:cs typeface="Aharoni"/>
                <a:sym typeface="Aharoni"/>
              </a:rPr>
              <a:t>Department of MCA</a:t>
            </a:r>
            <a:endParaRPr sz="2800" b="1" dirty="0">
              <a:solidFill>
                <a:srgbClr val="FFFF0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txBox="1">
            <a:spLocks noGrp="1"/>
          </p:cNvSpPr>
          <p:nvPr>
            <p:ph type="subTitle" idx="1"/>
          </p:nvPr>
        </p:nvSpPr>
        <p:spPr>
          <a:xfrm>
            <a:off x="0" y="0"/>
            <a:ext cx="9144000" cy="6858000"/>
          </a:xfrm>
          <a:prstGeom prst="rect">
            <a:avLst/>
          </a:prstGeom>
          <a:gradFill>
            <a:gsLst>
              <a:gs pos="0">
                <a:srgbClr val="2D5C97"/>
              </a:gs>
              <a:gs pos="80000">
                <a:srgbClr val="3C7AC5"/>
              </a:gs>
              <a:gs pos="100000">
                <a:srgbClr val="397BC9"/>
              </a:gs>
            </a:gsLst>
            <a:lin ang="16200000" scaled="0"/>
          </a:gra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normAutofit/>
          </a:bodyPr>
          <a:lstStyle/>
          <a:p>
            <a:pPr lvl="0">
              <a:spcBef>
                <a:spcPts val="0"/>
              </a:spcBef>
              <a:buClr>
                <a:srgbClr val="FFFF00"/>
              </a:buClr>
              <a:buSzPts val="4800"/>
            </a:pPr>
            <a:endParaRPr sz="4800" b="1">
              <a:solidFill>
                <a:schemeClr val="tx1"/>
              </a:solidFill>
              <a:latin typeface="Aparajita" pitchFamily="34" charset="0"/>
              <a:ea typeface="Aparajita"/>
              <a:cs typeface="Aparajita" pitchFamily="34" charset="0"/>
              <a:sym typeface="Aparajita"/>
            </a:endParaRPr>
          </a:p>
        </p:txBody>
      </p:sp>
      <p:pic>
        <p:nvPicPr>
          <p:cNvPr id="2" name="Picture 2"/>
          <p:cNvPicPr>
            <a:picLocks noChangeAspect="1" noChangeArrowheads="1"/>
          </p:cNvPicPr>
          <p:nvPr/>
        </p:nvPicPr>
        <p:blipFill>
          <a:blip r:embed="rId3"/>
          <a:srcRect/>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9600"/>
          </a:xfrm>
        </p:spPr>
        <p:style>
          <a:lnRef idx="1">
            <a:schemeClr val="accent1"/>
          </a:lnRef>
          <a:fillRef idx="2">
            <a:schemeClr val="accent1"/>
          </a:fillRef>
          <a:effectRef idx="1">
            <a:schemeClr val="accent1"/>
          </a:effectRef>
          <a:fontRef idx="minor">
            <a:schemeClr val="dk1"/>
          </a:fontRef>
        </p:style>
        <p:txBody>
          <a:bodyPr>
            <a:noAutofit/>
            <a:scene3d>
              <a:camera prst="orthographicFront"/>
              <a:lightRig rig="flat" dir="tl">
                <a:rot lat="0" lon="0" rev="6600000"/>
              </a:lightRig>
            </a:scene3d>
            <a:sp3d extrusionH="25400" contourW="8890">
              <a:bevelT w="38100" h="31750"/>
              <a:contourClr>
                <a:schemeClr val="accent2">
                  <a:shade val="75000"/>
                </a:schemeClr>
              </a:contourClr>
            </a:sp3d>
          </a:bodyPr>
          <a:lstStyle/>
          <a:p>
            <a:pPr lvl="0"/>
            <a:r>
              <a:rPr lang="en-US" sz="3600" b="1" u="sng"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
            </a:r>
            <a:br>
              <a:rPr lang="en-US" sz="3600" b="1" u="sng"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br>
            <a:r>
              <a:rPr lang="en-US" sz="40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 </a:t>
            </a:r>
            <a:br>
              <a:rPr lang="en-US" sz="40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br>
            <a:r>
              <a:rPr lang="en-US" sz="40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BMC-035-Software Quality Engineering</a:t>
            </a:r>
            <a:br>
              <a:rPr lang="en-US" sz="40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br>
            <a:r>
              <a:rPr lang="en-US" b="1" u="sng"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
            </a:r>
            <a:br>
              <a:rPr lang="en-US" b="1" u="sng"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br>
            <a:endParaRPr lang="en-US" sz="3600" b="1" u="sng"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3" name="Content Placeholder 2"/>
          <p:cNvSpPr>
            <a:spLocks noGrp="1"/>
          </p:cNvSpPr>
          <p:nvPr>
            <p:ph idx="1"/>
          </p:nvPr>
        </p:nvSpPr>
        <p:spPr>
          <a:xfrm>
            <a:off x="0" y="609600"/>
            <a:ext cx="9144000" cy="6248400"/>
          </a:xfrm>
        </p:spPr>
        <p:style>
          <a:lnRef idx="1">
            <a:schemeClr val="accent5"/>
          </a:lnRef>
          <a:fillRef idx="2">
            <a:schemeClr val="accent5"/>
          </a:fillRef>
          <a:effectRef idx="1">
            <a:schemeClr val="accent5"/>
          </a:effectRef>
          <a:fontRef idx="minor">
            <a:schemeClr val="dk1"/>
          </a:fontRef>
        </p:style>
        <p:txBody>
          <a:bodyPr>
            <a:normAutofit fontScale="62500" lnSpcReduction="20000"/>
          </a:bodyPr>
          <a:lstStyle/>
          <a:p>
            <a:pPr algn="ctr"/>
            <a:r>
              <a:rPr lang="en-US" sz="5100" b="1" dirty="0" smtClean="0">
                <a:solidFill>
                  <a:srgbClr val="C00000"/>
                </a:solidFill>
              </a:rPr>
              <a:t>DETAILED SYLLABUS</a:t>
            </a:r>
            <a:endParaRPr lang="en-US" sz="5700" b="1" u="sng" dirty="0" smtClean="0">
              <a:solidFill>
                <a:srgbClr val="C00000"/>
              </a:solidFill>
            </a:endParaRPr>
          </a:p>
          <a:p>
            <a:r>
              <a:rPr lang="en-US" sz="4100" b="1" u="sng" dirty="0" smtClean="0">
                <a:solidFill>
                  <a:srgbClr val="FF0000"/>
                </a:solidFill>
              </a:rPr>
              <a:t>UNIT-I</a:t>
            </a:r>
            <a:r>
              <a:rPr lang="en-US" sz="4400" dirty="0" smtClean="0"/>
              <a:t> –</a:t>
            </a:r>
          </a:p>
          <a:p>
            <a:r>
              <a:rPr lang="en-US" sz="3800" b="1" dirty="0" smtClean="0">
                <a:solidFill>
                  <a:srgbClr val="C00000"/>
                </a:solidFill>
                <a:latin typeface="Aparajita" pitchFamily="34" charset="0"/>
                <a:cs typeface="Aparajita" pitchFamily="34" charset="0"/>
              </a:rPr>
              <a:t>Software Quality</a:t>
            </a:r>
            <a:r>
              <a:rPr lang="en-US" sz="3800" dirty="0" smtClean="0">
                <a:latin typeface="Aparajita" pitchFamily="34" charset="0"/>
                <a:cs typeface="Aparajita" pitchFamily="34" charset="0"/>
              </a:rPr>
              <a:t>: Definition, Software Quality Attributes and Specification, Cost of Quality, Defects, Faults, Failures, Defect Rate and Reliability, Defect Prevention, Reduction, and Containment, Overview of Different Types of Software Review, Introduction to Measurement and Inspection Process, Documents and Metrics. </a:t>
            </a:r>
            <a:endParaRPr lang="en-US" sz="3800" b="1" u="sng" dirty="0">
              <a:solidFill>
                <a:srgbClr val="FF0000"/>
              </a:solidFill>
              <a:latin typeface="Aparajita" pitchFamily="34" charset="0"/>
              <a:cs typeface="Aparajita" pitchFamily="34" charset="0"/>
            </a:endParaRPr>
          </a:p>
          <a:p>
            <a:r>
              <a:rPr lang="en-US" sz="3800" b="1" u="sng" dirty="0" smtClean="0">
                <a:solidFill>
                  <a:srgbClr val="FF0000"/>
                </a:solidFill>
                <a:latin typeface="Aparajita" pitchFamily="34" charset="0"/>
                <a:cs typeface="Aparajita" pitchFamily="34" charset="0"/>
              </a:rPr>
              <a:t>UNIT-II-</a:t>
            </a:r>
          </a:p>
          <a:p>
            <a:r>
              <a:rPr lang="en-US" sz="3800" b="1" dirty="0" smtClean="0">
                <a:solidFill>
                  <a:srgbClr val="C00000"/>
                </a:solidFill>
                <a:latin typeface="Aparajita" pitchFamily="34" charset="0"/>
                <a:cs typeface="Aparajita" pitchFamily="34" charset="0"/>
              </a:rPr>
              <a:t>Software Quality Metrics Product Quality Metrics: </a:t>
            </a:r>
            <a:r>
              <a:rPr lang="en-US" sz="3800" dirty="0" smtClean="0">
                <a:latin typeface="Aparajita" pitchFamily="34" charset="0"/>
                <a:cs typeface="Aparajita" pitchFamily="34" charset="0"/>
              </a:rPr>
              <a:t>Defect Density, Customer Problems Metric, Customer Satisfaction Metrics, Function Points.</a:t>
            </a:r>
          </a:p>
          <a:p>
            <a:r>
              <a:rPr lang="en-US" sz="3800" dirty="0" smtClean="0">
                <a:solidFill>
                  <a:srgbClr val="C00000"/>
                </a:solidFill>
                <a:latin typeface="Aparajita" pitchFamily="34" charset="0"/>
                <a:cs typeface="Aparajita" pitchFamily="34" charset="0"/>
              </a:rPr>
              <a:t>In-Process Quality Metrics</a:t>
            </a:r>
            <a:r>
              <a:rPr lang="en-US" sz="3800" dirty="0" smtClean="0">
                <a:latin typeface="Aparajita" pitchFamily="34" charset="0"/>
                <a:cs typeface="Aparajita" pitchFamily="34" charset="0"/>
              </a:rPr>
              <a:t>: Defect Arrival Pattern, Phase-Based Defect Removal Pattern, Defect Removal Effectiveness, </a:t>
            </a:r>
          </a:p>
          <a:p>
            <a:r>
              <a:rPr lang="en-US" sz="3800" dirty="0" smtClean="0">
                <a:solidFill>
                  <a:srgbClr val="C00000"/>
                </a:solidFill>
                <a:latin typeface="Aparajita" pitchFamily="34" charset="0"/>
                <a:cs typeface="Aparajita" pitchFamily="34" charset="0"/>
              </a:rPr>
              <a:t>Metrics for Software Maintenance</a:t>
            </a:r>
            <a:r>
              <a:rPr lang="en-US" sz="3800" dirty="0" smtClean="0">
                <a:latin typeface="Aparajita" pitchFamily="34" charset="0"/>
                <a:cs typeface="Aparajita" pitchFamily="34" charset="0"/>
              </a:rPr>
              <a:t>: Backlog Management Index, Fix Response Time, Fix Quality, Software Quality Indicators.</a:t>
            </a:r>
            <a:r>
              <a:rPr lang="en-US" sz="3800" dirty="0" smtClean="0"/>
              <a:t> </a:t>
            </a:r>
            <a:endParaRPr lang="en-US" sz="3800" b="1" u="sng" dirty="0" smtClean="0">
              <a:solidFill>
                <a:srgbClr val="FF0000"/>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style>
          <a:lnRef idx="1">
            <a:schemeClr val="accent1"/>
          </a:lnRef>
          <a:fillRef idx="2">
            <a:schemeClr val="accent1"/>
          </a:fillRef>
          <a:effectRef idx="1">
            <a:schemeClr val="accent1"/>
          </a:effectRef>
          <a:fontRef idx="minor">
            <a:schemeClr val="dk1"/>
          </a:fontRef>
        </p:style>
        <p:txBody>
          <a:bodyPr>
            <a:normAutofit fontScale="90000"/>
          </a:bodyPr>
          <a:lstStyle/>
          <a:p>
            <a:pPr lvl="0"/>
            <a:r>
              <a:rPr lang="en-US" sz="3600" dirty="0" smtClean="0"/>
              <a:t/>
            </a:r>
            <a:br>
              <a:rPr lang="en-US" sz="3600" dirty="0" smtClean="0"/>
            </a:br>
            <a:r>
              <a:rPr lang="en-US" dirty="0" smtClean="0"/>
              <a:t> </a:t>
            </a:r>
            <a:br>
              <a:rPr lang="en-US" dirty="0" smtClean="0"/>
            </a:br>
            <a:r>
              <a:rPr lang="en-US" dirty="0" smtClean="0"/>
              <a:t>BMC-035-Software Quality Engineering</a:t>
            </a:r>
            <a:br>
              <a:rPr lang="en-US" dirty="0" smtClean="0"/>
            </a:br>
            <a:r>
              <a:rPr lang="en-US" b="1" u="sng" dirty="0" smtClean="0">
                <a:solidFill>
                  <a:srgbClr val="C00000"/>
                </a:solidFill>
              </a:rPr>
              <a:t/>
            </a:r>
            <a:br>
              <a:rPr lang="en-US" b="1" u="sng" dirty="0" smtClean="0">
                <a:solidFill>
                  <a:srgbClr val="C00000"/>
                </a:solidFill>
              </a:rPr>
            </a:br>
            <a:endParaRPr lang="en-US" dirty="0">
              <a:solidFill>
                <a:srgbClr val="C00000"/>
              </a:solidFill>
            </a:endParaRPr>
          </a:p>
        </p:txBody>
      </p:sp>
      <p:sp>
        <p:nvSpPr>
          <p:cNvPr id="3" name="Content Placeholder 2"/>
          <p:cNvSpPr>
            <a:spLocks noGrp="1"/>
          </p:cNvSpPr>
          <p:nvPr>
            <p:ph idx="1"/>
          </p:nvPr>
        </p:nvSpPr>
        <p:spPr>
          <a:xfrm>
            <a:off x="0" y="762000"/>
            <a:ext cx="9144000" cy="6096000"/>
          </a:xfrm>
        </p:spPr>
        <p:style>
          <a:lnRef idx="1">
            <a:schemeClr val="accent5"/>
          </a:lnRef>
          <a:fillRef idx="2">
            <a:schemeClr val="accent5"/>
          </a:fillRef>
          <a:effectRef idx="1">
            <a:schemeClr val="accent5"/>
          </a:effectRef>
          <a:fontRef idx="minor">
            <a:schemeClr val="dk1"/>
          </a:fontRef>
        </p:style>
        <p:txBody>
          <a:bodyPr>
            <a:noAutofit/>
          </a:bodyPr>
          <a:lstStyle/>
          <a:p>
            <a:r>
              <a:rPr lang="en-US" sz="2000" b="1" u="sng" dirty="0" smtClean="0">
                <a:solidFill>
                  <a:srgbClr val="FF0000"/>
                </a:solidFill>
                <a:latin typeface="Aparajita" pitchFamily="34" charset="0"/>
                <a:cs typeface="Aparajita" pitchFamily="34" charset="0"/>
              </a:rPr>
              <a:t>UNIT-III-</a:t>
            </a:r>
          </a:p>
          <a:p>
            <a:r>
              <a:rPr lang="en-US" sz="2400" b="1" dirty="0" smtClean="0">
                <a:solidFill>
                  <a:srgbClr val="C00000"/>
                </a:solidFill>
                <a:latin typeface="Aparajita" pitchFamily="34" charset="0"/>
                <a:cs typeface="Aparajita" pitchFamily="34" charset="0"/>
              </a:rPr>
              <a:t>Software Quality Management and Models: </a:t>
            </a:r>
            <a:r>
              <a:rPr lang="en-US" sz="2400" dirty="0" smtClean="0">
                <a:latin typeface="Aparajita" pitchFamily="34" charset="0"/>
                <a:cs typeface="Aparajita" pitchFamily="34" charset="0"/>
              </a:rPr>
              <a:t>Modeling Process, </a:t>
            </a:r>
          </a:p>
          <a:p>
            <a:r>
              <a:rPr lang="en-US" sz="2400" dirty="0" smtClean="0">
                <a:solidFill>
                  <a:srgbClr val="C00000"/>
                </a:solidFill>
                <a:latin typeface="Aparajita" pitchFamily="34" charset="0"/>
                <a:cs typeface="Aparajita" pitchFamily="34" charset="0"/>
              </a:rPr>
              <a:t>Software Reliability Models: </a:t>
            </a:r>
            <a:r>
              <a:rPr lang="en-US" sz="2400" dirty="0" smtClean="0">
                <a:latin typeface="Aparajita" pitchFamily="34" charset="0"/>
                <a:cs typeface="Aparajita" pitchFamily="34" charset="0"/>
              </a:rPr>
              <a:t>The Rayleigh Model, Exponential Distribution and Software Reliability Growth Models, Software Reliability Allocation Models, Criteria for Model Evaluation,</a:t>
            </a:r>
          </a:p>
          <a:p>
            <a:r>
              <a:rPr lang="en-US" sz="2400" dirty="0" smtClean="0">
                <a:solidFill>
                  <a:srgbClr val="C00000"/>
                </a:solidFill>
                <a:latin typeface="Aparajita" pitchFamily="34" charset="0"/>
                <a:cs typeface="Aparajita" pitchFamily="34" charset="0"/>
              </a:rPr>
              <a:t>Software Quality Assessment Models</a:t>
            </a:r>
            <a:r>
              <a:rPr lang="en-US" sz="2400" dirty="0" smtClean="0">
                <a:latin typeface="Aparajita" pitchFamily="34" charset="0"/>
                <a:cs typeface="Aparajita" pitchFamily="34" charset="0"/>
              </a:rPr>
              <a:t>: Hierarchical Model of Software Quality Assessment.</a:t>
            </a:r>
            <a:endParaRPr lang="en-US" sz="2000" b="1" u="sng" dirty="0" smtClean="0">
              <a:solidFill>
                <a:srgbClr val="FF0000"/>
              </a:solidFill>
              <a:latin typeface="Aparajita" pitchFamily="34" charset="0"/>
              <a:cs typeface="Aparajita" pitchFamily="34" charset="0"/>
            </a:endParaRPr>
          </a:p>
          <a:p>
            <a:endParaRPr lang="en-US" sz="500" b="1" u="sng" dirty="0" smtClean="0">
              <a:solidFill>
                <a:srgbClr val="FF0000"/>
              </a:solidFill>
            </a:endParaRPr>
          </a:p>
          <a:p>
            <a:r>
              <a:rPr lang="en-US" sz="2000" b="1" u="sng" dirty="0" smtClean="0">
                <a:solidFill>
                  <a:srgbClr val="FF0000"/>
                </a:solidFill>
                <a:latin typeface="Aparajita" pitchFamily="34" charset="0"/>
                <a:cs typeface="Aparajita" pitchFamily="34" charset="0"/>
              </a:rPr>
              <a:t>UNIT-IV-</a:t>
            </a:r>
          </a:p>
          <a:p>
            <a:r>
              <a:rPr lang="en-US" sz="2400" b="1" dirty="0" smtClean="0">
                <a:solidFill>
                  <a:srgbClr val="C00000"/>
                </a:solidFill>
                <a:latin typeface="Aparajita" pitchFamily="34" charset="0"/>
                <a:cs typeface="Aparajita" pitchFamily="34" charset="0"/>
              </a:rPr>
              <a:t>Software Quality Assurance: </a:t>
            </a:r>
            <a:r>
              <a:rPr lang="en-US" sz="2400" dirty="0" smtClean="0">
                <a:latin typeface="Aparajita" pitchFamily="34" charset="0"/>
                <a:cs typeface="Aparajita" pitchFamily="34" charset="0"/>
              </a:rPr>
              <a:t>Quality Planning and Control, Quality Improvement Process, Evolution of Software Quality Assurance (SQA), Major SQA Activities, Major SQA Issues, Zero Defect Software, SQA Techniques, Statistical Quality Assurance, Total Quality Management, Quality Standards and Processes.</a:t>
            </a:r>
            <a:endParaRPr lang="en-US" sz="2400" b="1" u="sng" dirty="0">
              <a:solidFill>
                <a:srgbClr val="FF0000"/>
              </a:solidFill>
              <a:latin typeface="Aparajita" pitchFamily="34" charset="0"/>
              <a:cs typeface="Aparajita"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style>
          <a:lnRef idx="1">
            <a:schemeClr val="accent1"/>
          </a:lnRef>
          <a:fillRef idx="2">
            <a:schemeClr val="accent1"/>
          </a:fillRef>
          <a:effectRef idx="1">
            <a:schemeClr val="accent1"/>
          </a:effectRef>
          <a:fontRef idx="minor">
            <a:schemeClr val="dk1"/>
          </a:fontRef>
        </p:style>
        <p:txBody>
          <a:bodyPr>
            <a:noAutofit/>
          </a:bodyPr>
          <a:lstStyle/>
          <a:p>
            <a:pPr lvl="0"/>
            <a:r>
              <a:rPr lang="en-US" sz="3600" dirty="0" smtClean="0"/>
              <a:t/>
            </a:r>
            <a:br>
              <a:rPr lang="en-US" sz="3600" dirty="0" smtClean="0"/>
            </a:br>
            <a:r>
              <a:rPr lang="en-US" sz="4000" dirty="0" smtClean="0"/>
              <a:t> BMC-035-Software Quality Engineering</a:t>
            </a:r>
            <a:r>
              <a:rPr lang="en-US" sz="4000" dirty="0" smtClean="0">
                <a:solidFill>
                  <a:srgbClr val="C00000"/>
                </a:solidFill>
              </a:rPr>
              <a:t/>
            </a:r>
            <a:br>
              <a:rPr lang="en-US" sz="4000" dirty="0" smtClean="0">
                <a:solidFill>
                  <a:srgbClr val="C00000"/>
                </a:solidFill>
              </a:rPr>
            </a:br>
            <a:endParaRPr lang="en-US" sz="3600" dirty="0">
              <a:solidFill>
                <a:srgbClr val="C00000"/>
              </a:solidFill>
            </a:endParaRPr>
          </a:p>
        </p:txBody>
      </p:sp>
      <p:sp>
        <p:nvSpPr>
          <p:cNvPr id="3" name="Content Placeholder 2"/>
          <p:cNvSpPr>
            <a:spLocks noGrp="1"/>
          </p:cNvSpPr>
          <p:nvPr>
            <p:ph idx="1"/>
          </p:nvPr>
        </p:nvSpPr>
        <p:spPr>
          <a:xfrm>
            <a:off x="0" y="762000"/>
            <a:ext cx="9144000" cy="6096000"/>
          </a:xfrm>
        </p:spPr>
        <p:style>
          <a:lnRef idx="1">
            <a:schemeClr val="accent5"/>
          </a:lnRef>
          <a:fillRef idx="2">
            <a:schemeClr val="accent5"/>
          </a:fillRef>
          <a:effectRef idx="1">
            <a:schemeClr val="accent5"/>
          </a:effectRef>
          <a:fontRef idx="minor">
            <a:schemeClr val="dk1"/>
          </a:fontRef>
        </p:style>
        <p:txBody>
          <a:bodyPr>
            <a:normAutofit/>
          </a:bodyPr>
          <a:lstStyle/>
          <a:p>
            <a:pPr algn="ctr"/>
            <a:endParaRPr lang="en-US" b="1" u="sng" dirty="0" smtClean="0">
              <a:solidFill>
                <a:srgbClr val="FF0000"/>
              </a:solidFill>
            </a:endParaRPr>
          </a:p>
          <a:p>
            <a:r>
              <a:rPr lang="en-US" b="1" u="sng" dirty="0" smtClean="0">
                <a:solidFill>
                  <a:srgbClr val="FF0000"/>
                </a:solidFill>
              </a:rPr>
              <a:t>UNIT-V</a:t>
            </a:r>
            <a:r>
              <a:rPr lang="en-US" dirty="0" smtClean="0"/>
              <a:t> –</a:t>
            </a:r>
          </a:p>
          <a:p>
            <a:r>
              <a:rPr lang="en-US" sz="2800" b="1" dirty="0" smtClean="0">
                <a:solidFill>
                  <a:srgbClr val="C00000"/>
                </a:solidFill>
                <a:latin typeface="Aparajita" pitchFamily="34" charset="0"/>
                <a:cs typeface="Aparajita" pitchFamily="34" charset="0"/>
              </a:rPr>
              <a:t>Software Verification, Validation &amp; Testing</a:t>
            </a:r>
            <a:r>
              <a:rPr lang="en-US" sz="2800" dirty="0" smtClean="0">
                <a:latin typeface="Aparajita" pitchFamily="34" charset="0"/>
                <a:cs typeface="Aparajita" pitchFamily="34" charset="0"/>
              </a:rPr>
              <a:t>: Verification and Validation, Evolutionary Nature of Verification and Validation, Impracticality of Testing all Data and Paths, Proof of Correctness, Software Testing, Functional, Structural and Error-Oriented Analysis &amp; Testing, Static and Dynamic Testing Tools, Characteristics of Modern Testing Tools.</a:t>
            </a:r>
            <a:endParaRPr lang="en-US" sz="2400" u="sng" dirty="0">
              <a:solidFill>
                <a:srgbClr val="FF0000"/>
              </a:solidFill>
              <a:latin typeface="Aparajita" pitchFamily="34" charset="0"/>
              <a:cs typeface="Aparajita"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09600"/>
            <a:ext cx="9144000" cy="7467600"/>
          </a:xfrm>
        </p:spPr>
        <p:style>
          <a:lnRef idx="1">
            <a:schemeClr val="accent5"/>
          </a:lnRef>
          <a:fillRef idx="2">
            <a:schemeClr val="accent5"/>
          </a:fillRef>
          <a:effectRef idx="1">
            <a:schemeClr val="accent5"/>
          </a:effectRef>
          <a:fontRef idx="minor">
            <a:schemeClr val="dk1"/>
          </a:fontRef>
        </p:style>
        <p:txBody>
          <a:bodyPr>
            <a:normAutofit fontScale="77500" lnSpcReduction="20000"/>
          </a:bodyPr>
          <a:lstStyle/>
          <a:p>
            <a:pPr marL="0" indent="0" algn="ctr">
              <a:buNone/>
            </a:pPr>
            <a:endParaRPr lang="en-US" sz="1050" b="1" dirty="0" smtClean="0"/>
          </a:p>
          <a:p>
            <a:pPr marL="0" indent="0" algn="ctr">
              <a:buNone/>
            </a:pPr>
            <a:r>
              <a:rPr lang="en-US" sz="23900" b="1" dirty="0" smtClean="0">
                <a:solidFill>
                  <a:srgbClr val="FF0000"/>
                </a:solidFill>
              </a:rPr>
              <a:t>UNIT</a:t>
            </a:r>
            <a:r>
              <a:rPr lang="en-US" sz="24000" b="1" dirty="0" smtClean="0">
                <a:solidFill>
                  <a:srgbClr val="FF0000"/>
                </a:solidFill>
              </a:rPr>
              <a:t>-</a:t>
            </a:r>
            <a:r>
              <a:rPr lang="en-US" sz="28700" b="1" dirty="0" smtClean="0">
                <a:solidFill>
                  <a:srgbClr val="FF0000"/>
                </a:solidFill>
              </a:rPr>
              <a:t>III</a:t>
            </a:r>
            <a:r>
              <a:rPr lang="en-US" sz="23900" b="1" dirty="0" smtClean="0">
                <a:solidFill>
                  <a:srgbClr val="FF0000"/>
                </a:solidFill>
              </a:rPr>
              <a:t>-</a:t>
            </a:r>
            <a:endParaRPr lang="en-US" sz="28700" b="1" dirty="0" smtClean="0">
              <a:solidFill>
                <a:srgbClr val="FF0000"/>
              </a:solidFill>
            </a:endParaRPr>
          </a:p>
          <a:p>
            <a:pPr marL="0" indent="0" algn="ctr">
              <a:buNone/>
            </a:pPr>
            <a:r>
              <a:rPr lang="en-US" sz="16600" b="1" dirty="0" smtClean="0">
                <a:solidFill>
                  <a:srgbClr val="FF0000"/>
                </a:solidFill>
              </a:rPr>
              <a:t>Start</a:t>
            </a:r>
            <a:r>
              <a:rPr lang="en-US" sz="28700" b="1" dirty="0" smtClean="0">
                <a:solidFill>
                  <a:srgbClr val="FF0000"/>
                </a:solidFill>
              </a:rPr>
              <a:t>-</a:t>
            </a:r>
            <a:endParaRPr lang="en-US" sz="16600" b="1" dirty="0" smtClean="0">
              <a:solidFill>
                <a:srgbClr val="FF0000"/>
              </a:solidFill>
            </a:endParaRPr>
          </a:p>
          <a:p>
            <a:pPr algn="ctr"/>
            <a:endParaRPr lang="en-US" sz="3800" b="1"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Autofit/>
          </a:bodyPr>
          <a:lstStyle/>
          <a:p>
            <a:r>
              <a:rPr lang="en-US" b="1" u="sng" dirty="0" smtClean="0">
                <a:solidFill>
                  <a:srgbClr val="FF0000"/>
                </a:solidFill>
                <a:latin typeface="Aparajita" pitchFamily="34" charset="0"/>
                <a:cs typeface="Aparajita" pitchFamily="34" charset="0"/>
              </a:rPr>
              <a:t>UNIT-III-</a:t>
            </a:r>
          </a:p>
          <a:p>
            <a:pPr algn="just"/>
            <a:r>
              <a:rPr lang="en-US" b="1" dirty="0" smtClean="0">
                <a:solidFill>
                  <a:srgbClr val="C00000"/>
                </a:solidFill>
                <a:latin typeface="Aparajita" pitchFamily="34" charset="0"/>
                <a:cs typeface="Aparajita" pitchFamily="34" charset="0"/>
              </a:rPr>
              <a:t>Software Quality Management and Models: </a:t>
            </a:r>
            <a:r>
              <a:rPr lang="en-US" dirty="0" smtClean="0">
                <a:latin typeface="Aparajita" pitchFamily="34" charset="0"/>
                <a:cs typeface="Aparajita" pitchFamily="34" charset="0"/>
              </a:rPr>
              <a:t>Modeling Process, </a:t>
            </a:r>
          </a:p>
          <a:p>
            <a:pPr algn="just"/>
            <a:r>
              <a:rPr lang="en-US" dirty="0" smtClean="0">
                <a:solidFill>
                  <a:srgbClr val="C00000"/>
                </a:solidFill>
                <a:latin typeface="Aparajita" pitchFamily="34" charset="0"/>
                <a:cs typeface="Aparajita" pitchFamily="34" charset="0"/>
              </a:rPr>
              <a:t>Software Reliability Models: </a:t>
            </a:r>
            <a:r>
              <a:rPr lang="en-US" dirty="0" smtClean="0">
                <a:latin typeface="Aparajita" pitchFamily="34" charset="0"/>
                <a:cs typeface="Aparajita" pitchFamily="34" charset="0"/>
              </a:rPr>
              <a:t>The Rayleigh Model, Exponential Distribution and Software Reliability Growth Models, Software Reliability Allocation Models, Criteria for Model Evaluation, </a:t>
            </a:r>
          </a:p>
          <a:p>
            <a:pPr algn="just"/>
            <a:r>
              <a:rPr lang="en-US" dirty="0" smtClean="0">
                <a:solidFill>
                  <a:srgbClr val="C00000"/>
                </a:solidFill>
                <a:latin typeface="Aparajita" pitchFamily="34" charset="0"/>
                <a:cs typeface="Aparajita" pitchFamily="34" charset="0"/>
              </a:rPr>
              <a:t>Software Quality Assessment Models</a:t>
            </a:r>
            <a:r>
              <a:rPr lang="en-US" dirty="0" smtClean="0">
                <a:latin typeface="Aparajita" pitchFamily="34" charset="0"/>
                <a:cs typeface="Aparajita" pitchFamily="34" charset="0"/>
              </a:rPr>
              <a:t>: Hierarchical Model of Software Quality Assessment.</a:t>
            </a:r>
            <a:endParaRPr lang="en-US" sz="2800" b="1" u="sng" dirty="0" smtClean="0">
              <a:solidFill>
                <a:srgbClr val="FF0000"/>
              </a:solidFill>
              <a:latin typeface="Aparajita" pitchFamily="34" charset="0"/>
              <a:cs typeface="Aparajita" pitchFamily="34" charset="0"/>
            </a:endParaRPr>
          </a:p>
          <a:p>
            <a:pPr>
              <a:buNone/>
            </a:pPr>
            <a:endParaRPr lang="en-US" sz="5400" dirty="0">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fontScale="92500" lnSpcReduction="20000"/>
          </a:bodyPr>
          <a:lstStyle/>
          <a:p>
            <a:pPr algn="ctr"/>
            <a:r>
              <a:rPr lang="en-US" sz="4200" u="sng" dirty="0" smtClean="0">
                <a:solidFill>
                  <a:srgbClr val="FF0000"/>
                </a:solidFill>
              </a:rPr>
              <a:t>Software Quality Management </a:t>
            </a:r>
            <a:r>
              <a:rPr lang="en-US" sz="4200" dirty="0" smtClean="0">
                <a:solidFill>
                  <a:srgbClr val="FF0000"/>
                </a:solidFill>
              </a:rPr>
              <a:t>-  Introduction</a:t>
            </a:r>
          </a:p>
          <a:p>
            <a:r>
              <a:rPr lang="en-US" dirty="0" smtClean="0"/>
              <a:t>Quality software refers to a software which is reasonably bug or defect free is delivered in time and within the specified budget meets the requirements and/or expectations and is maintainable.</a:t>
            </a:r>
          </a:p>
          <a:p>
            <a:r>
              <a:rPr lang="en-US" dirty="0" smtClean="0"/>
              <a:t>In the software engineering context, </a:t>
            </a:r>
            <a:r>
              <a:rPr lang="en-US" dirty="0" smtClean="0">
                <a:solidFill>
                  <a:srgbClr val="FF0000"/>
                </a:solidFill>
              </a:rPr>
              <a:t>software quality reflects both </a:t>
            </a:r>
            <a:r>
              <a:rPr lang="en-US" b="1" dirty="0" smtClean="0">
                <a:solidFill>
                  <a:srgbClr val="FF0000"/>
                </a:solidFill>
              </a:rPr>
              <a:t>functional quality</a:t>
            </a:r>
            <a:r>
              <a:rPr lang="en-US" dirty="0" smtClean="0">
                <a:solidFill>
                  <a:srgbClr val="FF0000"/>
                </a:solidFill>
              </a:rPr>
              <a:t> as well as </a:t>
            </a:r>
            <a:r>
              <a:rPr lang="en-US" b="1" dirty="0" smtClean="0">
                <a:solidFill>
                  <a:srgbClr val="FF0000"/>
                </a:solidFill>
              </a:rPr>
              <a:t>structural quality</a:t>
            </a:r>
            <a:r>
              <a:rPr lang="en-US" dirty="0" smtClean="0">
                <a:solidFill>
                  <a:srgbClr val="FF0000"/>
                </a:solidFill>
              </a:rPr>
              <a:t>.</a:t>
            </a:r>
          </a:p>
          <a:p>
            <a:r>
              <a:rPr lang="en-US" dirty="0" smtClean="0">
                <a:solidFill>
                  <a:srgbClr val="FF0000"/>
                </a:solidFill>
              </a:rPr>
              <a:t>Or </a:t>
            </a:r>
          </a:p>
          <a:p>
            <a:r>
              <a:rPr lang="en-US" dirty="0" smtClean="0"/>
              <a:t>Software Quality Management ensures that the required level of quality is achieved by submitting improvements to the product development process. SQA aims to develop a culture within the team and it is seen as everyone's responsibility.</a:t>
            </a:r>
          </a:p>
          <a:p>
            <a:endParaRPr lang="en-US" dirty="0" smtClean="0"/>
          </a:p>
          <a:p>
            <a:pPr>
              <a:buNone/>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srcRect/>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lstStyle/>
          <a:p>
            <a:pPr algn="just"/>
            <a:r>
              <a:rPr lang="en-US" sz="2800" dirty="0" smtClean="0"/>
              <a:t>Software Quality management should be independent of project management to ensure independence of cost and schedule adherences. It directly affects the process quality and indirectly affects the product quality.</a:t>
            </a:r>
          </a:p>
          <a:p>
            <a:pPr algn="ctr"/>
            <a:r>
              <a:rPr lang="en-US" u="sng" dirty="0" smtClean="0">
                <a:solidFill>
                  <a:srgbClr val="FF0000"/>
                </a:solidFill>
              </a:rPr>
              <a:t>Activities of Software Quality Management:</a:t>
            </a:r>
          </a:p>
          <a:p>
            <a:r>
              <a:rPr lang="en-US" dirty="0" smtClean="0"/>
              <a:t>Software quality management activities are generally split up into three core components: quality assurance, quality planning, and quality control. Some like software engineer and author Ian Somerville don't use the term "quality control" However, the three core components otherwise remain the same.</a:t>
            </a:r>
            <a:endParaRPr lang="en-US" u="sng" dirty="0" smtClean="0">
              <a:solidFill>
                <a:srgbClr val="FF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fontScale="92500"/>
          </a:bodyPr>
          <a:lstStyle/>
          <a:p>
            <a:r>
              <a:rPr lang="en-US" b="1" smtClean="0">
                <a:solidFill>
                  <a:srgbClr val="FF0000"/>
                </a:solidFill>
              </a:rPr>
              <a:t>1</a:t>
            </a:r>
            <a:r>
              <a:rPr lang="en-US" b="1" dirty="0" smtClean="0">
                <a:solidFill>
                  <a:srgbClr val="FF0000"/>
                </a:solidFill>
              </a:rPr>
              <a:t>. Quality Planning </a:t>
            </a:r>
            <a:r>
              <a:rPr lang="en-US" b="1" dirty="0" smtClean="0"/>
              <a:t>- </a:t>
            </a:r>
            <a:r>
              <a:rPr lang="en-US" dirty="0" smtClean="0"/>
              <a:t>Select applicable procedures and standards for a particular project and modify as required to develop a quality plan.</a:t>
            </a:r>
          </a:p>
          <a:p>
            <a:r>
              <a:rPr lang="en-US" b="1" dirty="0" smtClean="0">
                <a:solidFill>
                  <a:srgbClr val="FF0000"/>
                </a:solidFill>
              </a:rPr>
              <a:t>2. Software Functional Quality</a:t>
            </a:r>
            <a:r>
              <a:rPr lang="en-US" dirty="0" smtClean="0"/>
              <a:t> − It reflects how well it satisfies a </a:t>
            </a:r>
            <a:r>
              <a:rPr lang="en-US" smtClean="0"/>
              <a:t>given design </a:t>
            </a:r>
            <a:r>
              <a:rPr lang="en-US" dirty="0" smtClean="0"/>
              <a:t>based on the functional requirements or specifications.</a:t>
            </a:r>
          </a:p>
          <a:p>
            <a:r>
              <a:rPr lang="en-US" b="1" dirty="0" smtClean="0">
                <a:solidFill>
                  <a:srgbClr val="FF0000"/>
                </a:solidFill>
              </a:rPr>
              <a:t>3. Software Structural Quality</a:t>
            </a:r>
            <a:r>
              <a:rPr lang="en-US" dirty="0" smtClean="0"/>
              <a:t> − It deals with the handling of non-functional requirements that support the delivery of the </a:t>
            </a:r>
            <a:r>
              <a:rPr lang="en-US" smtClean="0"/>
              <a:t>functional requirements </a:t>
            </a:r>
            <a:r>
              <a:rPr lang="en-US" dirty="0" smtClean="0"/>
              <a:t>such as robustness </a:t>
            </a:r>
            <a:r>
              <a:rPr lang="en-US" smtClean="0"/>
              <a:t>or maintainability </a:t>
            </a:r>
            <a:r>
              <a:rPr lang="en-US" dirty="0" smtClean="0"/>
              <a:t>and the degree to which the software was produced correctly.</a:t>
            </a:r>
          </a:p>
          <a:p>
            <a:r>
              <a:rPr lang="en-US" b="1" dirty="0" smtClean="0">
                <a:solidFill>
                  <a:srgbClr val="FF0000"/>
                </a:solidFill>
              </a:rPr>
              <a:t>Or Quality Control -</a:t>
            </a:r>
            <a:r>
              <a:rPr lang="en-US" b="1" dirty="0" smtClean="0"/>
              <a:t> </a:t>
            </a:r>
            <a:r>
              <a:rPr lang="en-US" dirty="0" smtClean="0"/>
              <a:t>Ensure that best practices and standards are followed by the software development team to produce quality products.</a:t>
            </a:r>
          </a:p>
          <a:p>
            <a:endParaRPr lang="en-US" dirty="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fontScale="92500" lnSpcReduction="10000"/>
          </a:bodyPr>
          <a:lstStyle/>
          <a:p>
            <a:r>
              <a:rPr lang="en-US" b="1" dirty="0" smtClean="0">
                <a:solidFill>
                  <a:srgbClr val="FF0000"/>
                </a:solidFill>
              </a:rPr>
              <a:t>Software Quality Assurance</a:t>
            </a:r>
            <a:r>
              <a:rPr lang="en-US" dirty="0" smtClean="0"/>
              <a:t> − Software Quality Assurance (SQA) is a set of activities to ensure the quality in software engineering processes that ultimately result in quality software products. </a:t>
            </a:r>
          </a:p>
          <a:p>
            <a:r>
              <a:rPr lang="en-US" dirty="0" smtClean="0"/>
              <a:t>The activities establish and evaluate the processes that produce products. It involves process-focused action.</a:t>
            </a:r>
          </a:p>
          <a:p>
            <a:r>
              <a:rPr lang="en-US" b="1" dirty="0" smtClean="0">
                <a:solidFill>
                  <a:srgbClr val="FF0000"/>
                </a:solidFill>
              </a:rPr>
              <a:t>Or Quality Assurance </a:t>
            </a:r>
            <a:r>
              <a:rPr lang="en-US" b="1" dirty="0" smtClean="0"/>
              <a:t>-</a:t>
            </a:r>
            <a:r>
              <a:rPr lang="en-US" dirty="0" smtClean="0"/>
              <a:t>QA aims at developing Organizational procedures and standards for quality at Organizational level.</a:t>
            </a:r>
          </a:p>
          <a:p>
            <a:r>
              <a:rPr lang="en-US" b="1" dirty="0" smtClean="0">
                <a:solidFill>
                  <a:srgbClr val="FF0000"/>
                </a:solidFill>
              </a:rPr>
              <a:t>Software Quality Control</a:t>
            </a:r>
            <a:r>
              <a:rPr lang="en-US" dirty="0" smtClean="0">
                <a:solidFill>
                  <a:srgbClr val="FF0000"/>
                </a:solidFill>
              </a:rPr>
              <a:t> </a:t>
            </a:r>
            <a:r>
              <a:rPr lang="en-US" dirty="0" smtClean="0"/>
              <a:t>− Software Quality Control (SQC) is a set of activities to ensure the quality in software products. </a:t>
            </a:r>
          </a:p>
          <a:p>
            <a:r>
              <a:rPr lang="en-US" dirty="0" smtClean="0"/>
              <a:t>These activities focus on determining the defects in the actual products produced. It involves product-focused action.</a:t>
            </a:r>
          </a:p>
          <a:p>
            <a:endParaRPr lang="en-US" dirty="0" smtClean="0">
              <a:solidFill>
                <a:srgbClr val="C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3"/>
          </a:lnRef>
          <a:fillRef idx="2">
            <a:schemeClr val="accent3"/>
          </a:fillRef>
          <a:effectRef idx="1">
            <a:schemeClr val="accent3"/>
          </a:effectRef>
          <a:fontRef idx="minor">
            <a:schemeClr val="dk1"/>
          </a:fontRef>
        </p:style>
        <p:txBody>
          <a:bodyPr>
            <a:normAutofit/>
          </a:bodyPr>
          <a:lstStyle/>
          <a:p>
            <a:pPr algn="ctr"/>
            <a:r>
              <a:rPr lang="en-US" b="1" u="sng" smtClean="0">
                <a:solidFill>
                  <a:srgbClr val="C00000"/>
                </a:solidFill>
              </a:rPr>
              <a:t>Software Quality Management: Introduction </a:t>
            </a:r>
            <a:endParaRPr lang="en-US" b="1" smtClean="0">
              <a:solidFill>
                <a:srgbClr val="FF0000"/>
              </a:solidFill>
            </a:endParaRPr>
          </a:p>
          <a:p>
            <a:pPr algn="just"/>
            <a:r>
              <a:rPr lang="en-US" b="1" smtClean="0">
                <a:solidFill>
                  <a:srgbClr val="FF0000"/>
                </a:solidFill>
              </a:rPr>
              <a:t>Software </a:t>
            </a:r>
            <a:r>
              <a:rPr lang="en-US" b="1" dirty="0" smtClean="0">
                <a:solidFill>
                  <a:srgbClr val="FF0000"/>
                </a:solidFill>
              </a:rPr>
              <a:t>quality management</a:t>
            </a:r>
            <a:r>
              <a:rPr lang="en-US" dirty="0" smtClean="0"/>
              <a:t> (</a:t>
            </a:r>
            <a:r>
              <a:rPr lang="en-US" b="1" dirty="0" smtClean="0"/>
              <a:t>SQM</a:t>
            </a:r>
            <a:r>
              <a:rPr lang="en-US" dirty="0" smtClean="0"/>
              <a:t>) is a management process that aims to develop and manage the </a:t>
            </a:r>
            <a:r>
              <a:rPr lang="en-US" dirty="0" smtClean="0">
                <a:hlinkClick r:id="rId2" tooltip="Software quality"/>
              </a:rPr>
              <a:t>quality of software</a:t>
            </a:r>
            <a:r>
              <a:rPr lang="en-US" dirty="0" smtClean="0"/>
              <a:t> in such a way so as to best ensure that the product meets the quality standards expected by the customer while also meeting any necessary regulatory and developer requirements, Software quality managers require software to be tested before it is released to </a:t>
            </a:r>
            <a:r>
              <a:rPr lang="en-US" smtClean="0"/>
              <a:t>the market </a:t>
            </a:r>
            <a:r>
              <a:rPr lang="en-US" dirty="0" smtClean="0"/>
              <a:t>and they do this using a cyclical process-based quality assessment in order to reveal and fix bugs before release</a:t>
            </a:r>
            <a:r>
              <a:rPr lang="en-US" smtClean="0"/>
              <a:t>. </a:t>
            </a:r>
            <a:endParaRPr lang="en-US" dirty="0" smtClean="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3"/>
          </a:lnRef>
          <a:fillRef idx="2">
            <a:schemeClr val="accent3"/>
          </a:fillRef>
          <a:effectRef idx="1">
            <a:schemeClr val="accent3"/>
          </a:effectRef>
          <a:fontRef idx="minor">
            <a:schemeClr val="dk1"/>
          </a:fontRef>
        </p:style>
        <p:txBody>
          <a:bodyPr>
            <a:normAutofit/>
          </a:bodyPr>
          <a:lstStyle/>
          <a:p>
            <a:pPr algn="just"/>
            <a:r>
              <a:rPr lang="en-US" smtClean="0"/>
              <a:t>Quality </a:t>
            </a:r>
            <a:r>
              <a:rPr lang="en-US" dirty="0" smtClean="0"/>
              <a:t>management Control is the act of overseeing all activities and tasks needed to maintain a desired level of excellence. This includes the determination of a quality policy, creating and implementing quality planning and assurance, and quality control and quality improvement.</a:t>
            </a:r>
          </a:p>
          <a:p>
            <a:pPr algn="just"/>
            <a:r>
              <a:rPr lang="en-US" dirty="0" smtClean="0"/>
              <a:t>Their job is not only to ensure their software is in good shape for the consumer but also to encourage a culture of quality throughout the enterprise.</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70000" lnSpcReduction="20000"/>
          </a:bodyPr>
          <a:lstStyle/>
          <a:p>
            <a:pPr algn="ctr"/>
            <a:r>
              <a:rPr lang="en-US" sz="4600" b="1" u="sng" dirty="0" smtClean="0">
                <a:solidFill>
                  <a:srgbClr val="C00000"/>
                </a:solidFill>
              </a:rPr>
              <a:t>What is Software Quality Management</a:t>
            </a:r>
          </a:p>
          <a:p>
            <a:r>
              <a:rPr lang="en-US" sz="3400" dirty="0" smtClean="0"/>
              <a:t>A </a:t>
            </a:r>
            <a:r>
              <a:rPr lang="en-US" sz="3400" b="1" dirty="0" smtClean="0">
                <a:solidFill>
                  <a:srgbClr val="C00000"/>
                </a:solidFill>
              </a:rPr>
              <a:t>Software </a:t>
            </a:r>
            <a:r>
              <a:rPr lang="en-US" sz="3400" dirty="0" smtClean="0">
                <a:solidFill>
                  <a:srgbClr val="C00000"/>
                </a:solidFill>
              </a:rPr>
              <a:t>quality management </a:t>
            </a:r>
            <a:r>
              <a:rPr lang="en-US" sz="3400" dirty="0" smtClean="0"/>
              <a:t>software is defined as a formalized system that documents processes, procedures, and responsibilities for achieving quality policies and objectives. </a:t>
            </a:r>
          </a:p>
          <a:p>
            <a:r>
              <a:rPr lang="en-US" sz="3400" dirty="0" smtClean="0"/>
              <a:t>A SQM helps coordinate and direct an organization’s activities to meet customer and regulatory requirements and improve its effectiveness and efficiency on a continuous basis.</a:t>
            </a:r>
          </a:p>
          <a:p>
            <a:r>
              <a:rPr lang="en-US" sz="3400" b="1" dirty="0" smtClean="0">
                <a:solidFill>
                  <a:srgbClr val="C00000"/>
                </a:solidFill>
              </a:rPr>
              <a:t>Quality Management Process/Quality Management System Process</a:t>
            </a:r>
            <a:r>
              <a:rPr lang="en-US" sz="3400" b="1" dirty="0" smtClean="0"/>
              <a:t/>
            </a:r>
            <a:br>
              <a:rPr lang="en-US" sz="3400" b="1" dirty="0" smtClean="0"/>
            </a:br>
            <a:r>
              <a:rPr lang="en-US" sz="3400" dirty="0" smtClean="0"/>
              <a:t>A Quality Management Process is a set of procedures that are followed to ensure that the deliverables produced by a team are “fit for purpose”. The start of the Quality Management Process involves setting quality targets, which are agreed with the customer.</a:t>
            </a:r>
          </a:p>
          <a:p>
            <a:r>
              <a:rPr lang="en-US" sz="3400" dirty="0" smtClean="0">
                <a:solidFill>
                  <a:srgbClr val="C00000"/>
                </a:solidFill>
              </a:rPr>
              <a:t>Systems Quality Management serve many purposes, including</a:t>
            </a:r>
            <a:r>
              <a:rPr lang="en-US" sz="3400" dirty="0" smtClean="0"/>
              <a:t>:</a:t>
            </a:r>
          </a:p>
          <a:p>
            <a:r>
              <a:rPr lang="en-US" sz="3400" dirty="0" smtClean="0"/>
              <a:t>Improving processes</a:t>
            </a:r>
          </a:p>
          <a:p>
            <a:r>
              <a:rPr lang="en-US" sz="3400" dirty="0" smtClean="0"/>
              <a:t>Reducing waste</a:t>
            </a:r>
          </a:p>
          <a:p>
            <a:r>
              <a:rPr lang="en-US" sz="3400" dirty="0" smtClean="0"/>
              <a:t>Lowering costs</a:t>
            </a:r>
          </a:p>
          <a:p>
            <a:r>
              <a:rPr lang="en-US" sz="3400" dirty="0" smtClean="0"/>
              <a:t>Facilitating and identifying training opportunities</a:t>
            </a:r>
          </a:p>
          <a:p>
            <a:r>
              <a:rPr lang="en-US" sz="3400" dirty="0" smtClean="0"/>
              <a:t>Engaging staff</a:t>
            </a:r>
          </a:p>
          <a:p>
            <a:r>
              <a:rPr lang="en-US" sz="3400" dirty="0" smtClean="0"/>
              <a:t>Setting organization-wide direction.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77500" lnSpcReduction="20000"/>
          </a:bodyPr>
          <a:lstStyle/>
          <a:p>
            <a:r>
              <a:rPr lang="en-US" b="1" u="sng" dirty="0" smtClean="0">
                <a:solidFill>
                  <a:srgbClr val="C00000"/>
                </a:solidFill>
              </a:rPr>
              <a:t>Software Quality Management </a:t>
            </a:r>
          </a:p>
          <a:p>
            <a:r>
              <a:rPr lang="en-US" dirty="0" smtClean="0"/>
              <a:t>Customer focus.</a:t>
            </a:r>
          </a:p>
          <a:p>
            <a:r>
              <a:rPr lang="en-US" dirty="0" smtClean="0"/>
              <a:t>Leadership.</a:t>
            </a:r>
          </a:p>
          <a:p>
            <a:r>
              <a:rPr lang="en-US" dirty="0" smtClean="0"/>
              <a:t>Engagement of people.</a:t>
            </a:r>
          </a:p>
          <a:p>
            <a:r>
              <a:rPr lang="en-US" dirty="0" smtClean="0"/>
              <a:t>Process approach.</a:t>
            </a:r>
          </a:p>
          <a:p>
            <a:r>
              <a:rPr lang="en-US" dirty="0" smtClean="0"/>
              <a:t>Improvement.</a:t>
            </a:r>
          </a:p>
          <a:p>
            <a:r>
              <a:rPr lang="en-US" dirty="0" smtClean="0"/>
              <a:t>Evidence-based decision-making.</a:t>
            </a:r>
          </a:p>
          <a:p>
            <a:r>
              <a:rPr lang="en-US" dirty="0" smtClean="0"/>
              <a:t>Relationship management.</a:t>
            </a:r>
          </a:p>
          <a:p>
            <a:pPr algn="just"/>
            <a:r>
              <a:rPr lang="en-US" dirty="0" smtClean="0">
                <a:solidFill>
                  <a:srgbClr val="C00000"/>
                </a:solidFill>
              </a:rPr>
              <a:t>The Quality Management tools and Quality Management techniques most commonly used in Quality management and process improvement are:</a:t>
            </a:r>
          </a:p>
          <a:p>
            <a:r>
              <a:rPr lang="en-US" dirty="0" smtClean="0"/>
              <a:t>Check Sheet</a:t>
            </a:r>
          </a:p>
          <a:p>
            <a:r>
              <a:rPr lang="en-US" dirty="0" smtClean="0"/>
              <a:t>Pareto Diagram(bar graph)</a:t>
            </a:r>
          </a:p>
          <a:p>
            <a:r>
              <a:rPr lang="en-US" dirty="0" smtClean="0"/>
              <a:t>Cause And Effect Diagram</a:t>
            </a:r>
          </a:p>
          <a:p>
            <a:r>
              <a:rPr lang="en-US" dirty="0" smtClean="0"/>
              <a:t>Graphs</a:t>
            </a:r>
          </a:p>
          <a:p>
            <a:r>
              <a:rPr lang="en-US" dirty="0" smtClean="0"/>
              <a:t>Histograms</a:t>
            </a:r>
          </a:p>
          <a:p>
            <a:r>
              <a:rPr lang="en-US" dirty="0" smtClean="0"/>
              <a:t>Control Chart</a:t>
            </a:r>
          </a:p>
          <a:p>
            <a:r>
              <a:rPr lang="en-US" dirty="0" smtClean="0"/>
              <a:t>Scatter Diagram</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85000" lnSpcReduction="20000"/>
          </a:bodyPr>
          <a:lstStyle/>
          <a:p>
            <a:pPr algn="ctr"/>
            <a:r>
              <a:rPr lang="en-US" sz="3300" b="1" dirty="0" smtClean="0">
                <a:solidFill>
                  <a:srgbClr val="FF0000"/>
                </a:solidFill>
              </a:rPr>
              <a:t>What are the benefits of Software Quality Management?</a:t>
            </a:r>
          </a:p>
          <a:p>
            <a:r>
              <a:rPr lang="en-US" dirty="0" smtClean="0">
                <a:solidFill>
                  <a:srgbClr val="C00000"/>
                </a:solidFill>
              </a:rPr>
              <a:t>Some of the benefits of Software quality are -</a:t>
            </a:r>
          </a:p>
          <a:p>
            <a:r>
              <a:rPr lang="en-US" dirty="0" smtClean="0"/>
              <a:t>Increased productivity of the development team.</a:t>
            </a:r>
          </a:p>
          <a:p>
            <a:r>
              <a:rPr lang="en-US" dirty="0" smtClean="0"/>
              <a:t>Improved Product Quality - Test statistics and defect tracking are more precise and up to date.</a:t>
            </a:r>
          </a:p>
          <a:p>
            <a:r>
              <a:rPr lang="en-US" dirty="0" smtClean="0"/>
              <a:t>Decreased re-work costs as the detection of defects are found earlier in software project development life cycle in every stage.</a:t>
            </a:r>
          </a:p>
          <a:p>
            <a:r>
              <a:rPr lang="en-US" dirty="0" smtClean="0"/>
              <a:t>Increased confidence levels in existing product management and future product development.</a:t>
            </a:r>
          </a:p>
          <a:p>
            <a:r>
              <a:rPr lang="en-US" dirty="0" smtClean="0">
                <a:solidFill>
                  <a:srgbClr val="FF0000"/>
                </a:solidFill>
              </a:rPr>
              <a:t>Increased credibility as the software produced will be highly qualitative.</a:t>
            </a:r>
          </a:p>
          <a:p>
            <a:r>
              <a:rPr lang="en-US" dirty="0" smtClean="0">
                <a:solidFill>
                  <a:srgbClr val="002060"/>
                </a:solidFill>
              </a:rPr>
              <a:t>Saves Money.</a:t>
            </a:r>
          </a:p>
          <a:p>
            <a:r>
              <a:rPr lang="en-US" dirty="0" smtClean="0">
                <a:solidFill>
                  <a:srgbClr val="002060"/>
                </a:solidFill>
              </a:rPr>
              <a:t>Inspires Client Confidence.</a:t>
            </a:r>
          </a:p>
          <a:p>
            <a:r>
              <a:rPr lang="en-US" dirty="0" smtClean="0">
                <a:solidFill>
                  <a:srgbClr val="002060"/>
                </a:solidFill>
              </a:rPr>
              <a:t>Maintains Great User Experience.</a:t>
            </a:r>
          </a:p>
          <a:p>
            <a:r>
              <a:rPr lang="en-US" dirty="0" smtClean="0">
                <a:solidFill>
                  <a:srgbClr val="002060"/>
                </a:solidFill>
              </a:rPr>
              <a:t>Brings In More Profit.</a:t>
            </a:r>
          </a:p>
          <a:p>
            <a:r>
              <a:rPr lang="en-US" dirty="0" smtClean="0">
                <a:solidFill>
                  <a:srgbClr val="002060"/>
                </a:solidFill>
              </a:rPr>
              <a:t>Boosts Customer Satisfaction.</a:t>
            </a:r>
          </a:p>
          <a:p>
            <a:endParaRPr lang="en-US" dirty="0" smtClean="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70000" lnSpcReduction="20000"/>
          </a:bodyPr>
          <a:lstStyle/>
          <a:p>
            <a:pPr algn="ctr"/>
            <a:r>
              <a:rPr lang="en-US" sz="4000" b="1" dirty="0" smtClean="0">
                <a:solidFill>
                  <a:srgbClr val="FF0000"/>
                </a:solidFill>
              </a:rPr>
              <a:t>Why Software Quality Management is important?</a:t>
            </a:r>
          </a:p>
          <a:p>
            <a:r>
              <a:rPr lang="en-US" dirty="0" smtClean="0"/>
              <a:t>For a successful business that develops software, software quality must be the requirement- cannot be an exception. Consider the ways software quality can impact business.</a:t>
            </a:r>
          </a:p>
          <a:p>
            <a:r>
              <a:rPr lang="en-US" b="1" dirty="0" smtClean="0">
                <a:solidFill>
                  <a:srgbClr val="C00000"/>
                </a:solidFill>
              </a:rPr>
              <a:t>Predictability</a:t>
            </a:r>
          </a:p>
          <a:p>
            <a:r>
              <a:rPr lang="en-US" dirty="0" smtClean="0"/>
              <a:t>Software quality drives predictability. Predictability decreases as re-work grows, and lower quality product increases. Do it once and right, and there will be less variation in productivity, less re-work, and better performance overall. Products get delivered on time. Poor quality is hugely more difficult to manage.</a:t>
            </a:r>
          </a:p>
          <a:p>
            <a:r>
              <a:rPr lang="en-US" b="1" dirty="0" smtClean="0">
                <a:solidFill>
                  <a:srgbClr val="C00000"/>
                </a:solidFill>
              </a:rPr>
              <a:t>Reputation</a:t>
            </a:r>
          </a:p>
          <a:p>
            <a:r>
              <a:rPr lang="en-US" dirty="0" smtClean="0"/>
              <a:t>A significant, solid reputation is hard to establish and easy to lose, but when the company has it, it’s a powerful business driver. A few mistakes and fame can be gone, creating significant obstacles to sales, and consequently, your bottom line.</a:t>
            </a:r>
          </a:p>
          <a:p>
            <a:r>
              <a:rPr lang="en-US" b="1" dirty="0" smtClean="0">
                <a:solidFill>
                  <a:srgbClr val="C00000"/>
                </a:solidFill>
              </a:rPr>
              <a:t>Employee Morale</a:t>
            </a:r>
          </a:p>
          <a:p>
            <a:r>
              <a:rPr lang="en-US" dirty="0" smtClean="0"/>
              <a:t>The happiest and productive employees have pride in the work. Enabling employees to build software will drive a higher level of productivity and morale. Inferior products, lots of re-work, unhappy customers and difficulty making deadlines have the opposite effect, leading to a less productive workforce and high turnover.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85000" lnSpcReduction="10000"/>
          </a:bodyPr>
          <a:lstStyle/>
          <a:p>
            <a:r>
              <a:rPr lang="en-US" b="1" dirty="0" smtClean="0">
                <a:solidFill>
                  <a:srgbClr val="C00000"/>
                </a:solidFill>
              </a:rPr>
              <a:t>Customer Satisfaction:-</a:t>
            </a:r>
          </a:p>
          <a:p>
            <a:r>
              <a:rPr lang="en-US" dirty="0" smtClean="0"/>
              <a:t>A quality product satisfies the customer. A satisfied customer comes back for provides positive referrals. Customer loyalty heavily drives by the quality of the software produced and the service offer. With social media channels such as Face book and Twitter, positive references can spread quickly. Poor quality and dissatisfaction can also rapidly communicate, if not even quicker than the good ones.</a:t>
            </a:r>
          </a:p>
          <a:p>
            <a:r>
              <a:rPr lang="en-US" b="1" dirty="0" smtClean="0">
                <a:solidFill>
                  <a:srgbClr val="C00000"/>
                </a:solidFill>
              </a:rPr>
              <a:t>Bottom Line:-</a:t>
            </a:r>
          </a:p>
          <a:p>
            <a:r>
              <a:rPr lang="en-US" dirty="0" smtClean="0"/>
              <a:t>Predictable and productive performance, happy employees, a stellar reputation, and satisfied customers are the formula for a successful software business. It all drives the bottom line. Quality impact various areas of software development projects.</a:t>
            </a:r>
          </a:p>
          <a:p>
            <a:pPr algn="ctr"/>
            <a:r>
              <a:rPr lang="en-US" dirty="0" smtClean="0"/>
              <a:t>Big Data is the trend that is revolutionizing society and its organizations due to the capabilities it provides to take advantage of a wide variety of data. </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3"/>
          </a:lnRef>
          <a:fillRef idx="2">
            <a:schemeClr val="accent3"/>
          </a:fillRef>
          <a:effectRef idx="1">
            <a:schemeClr val="accent3"/>
          </a:effectRef>
          <a:fontRef idx="minor">
            <a:schemeClr val="dk1"/>
          </a:fontRef>
        </p:style>
        <p:txBody>
          <a:bodyPr>
            <a:normAutofit fontScale="85000" lnSpcReduction="10000"/>
          </a:bodyPr>
          <a:lstStyle/>
          <a:p>
            <a:pPr algn="ctr"/>
            <a:r>
              <a:rPr lang="en-US" b="1" dirty="0" smtClean="0">
                <a:solidFill>
                  <a:srgbClr val="C00000"/>
                </a:solidFill>
              </a:rPr>
              <a:t>How to adopt Software Quality Management?</a:t>
            </a:r>
          </a:p>
          <a:p>
            <a:r>
              <a:rPr lang="en-US" dirty="0" smtClean="0"/>
              <a:t>It’s essential to lower the cost of testing and improve the quality of software. These four points will help to enhance the quality of software and improve testing efficiency.</a:t>
            </a:r>
          </a:p>
          <a:p>
            <a:r>
              <a:rPr lang="en-US" b="1" dirty="0" smtClean="0">
                <a:solidFill>
                  <a:srgbClr val="C00000"/>
                </a:solidFill>
              </a:rPr>
              <a:t>Test at the right time</a:t>
            </a:r>
          </a:p>
          <a:p>
            <a:r>
              <a:rPr lang="en-US" dirty="0" smtClean="0"/>
              <a:t>By testing earlier, will be able to detect and solve defects rather than having to resolve them at the end of the process. The software bugs identified, the longer and more expensive they are to fix. Involved testers during the requirements and design so they can help formulate a more useful framework. More than 70 percent of issues in a live environment traced back to poor conditions.</a:t>
            </a:r>
          </a:p>
          <a:p>
            <a:r>
              <a:rPr lang="en-US" b="1" dirty="0" smtClean="0">
                <a:solidFill>
                  <a:srgbClr val="C00000"/>
                </a:solidFill>
              </a:rPr>
              <a:t>Improve testing organization</a:t>
            </a:r>
          </a:p>
          <a:p>
            <a:r>
              <a:rPr lang="en-US" dirty="0" smtClean="0"/>
              <a:t>Implement specific policies to direct a consistent approach like using repeatable industry standard testing processes and training testers within this framework.</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fontScale="92500" lnSpcReduction="10000"/>
          </a:bodyPr>
          <a:lstStyle/>
          <a:p>
            <a:r>
              <a:rPr lang="en-US" b="1" dirty="0" smtClean="0">
                <a:solidFill>
                  <a:srgbClr val="C00000"/>
                </a:solidFill>
              </a:rPr>
              <a:t>Innovation leads to improvement</a:t>
            </a:r>
          </a:p>
          <a:p>
            <a:r>
              <a:rPr lang="en-US" dirty="0" smtClean="0"/>
              <a:t>Do not get stuck in the same old routine – embrace new approaches.</a:t>
            </a:r>
          </a:p>
          <a:p>
            <a:r>
              <a:rPr lang="en-US" b="1" dirty="0" smtClean="0">
                <a:solidFill>
                  <a:srgbClr val="C00000"/>
                </a:solidFill>
              </a:rPr>
              <a:t>Keep reviewing</a:t>
            </a:r>
          </a:p>
          <a:p>
            <a:r>
              <a:rPr lang="en-US" dirty="0" smtClean="0"/>
              <a:t>Just because specific methods have worked in the past doesn’t mean they always will. Processes of evaluation and refactoring allow the testing team to maximize efficiency by reviewing what worked well. Implement a Cause analysis process which distinguishes whether issues were a ‘testing miss,’ a ‘development miss’ or a ‘requirements or design miss.’ Identify areas for improvement throughout the whole software development process.</a:t>
            </a:r>
          </a:p>
          <a:p>
            <a:r>
              <a:rPr lang="en-US" dirty="0" smtClean="0"/>
              <a:t>Performance Automation Testing continues to evolve to meet modern enterprise's growing demands. </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92500"/>
          </a:bodyPr>
          <a:lstStyle/>
          <a:p>
            <a:pPr algn="ctr"/>
            <a:r>
              <a:rPr lang="en-US" b="1" dirty="0" smtClean="0">
                <a:solidFill>
                  <a:srgbClr val="C00000"/>
                </a:solidFill>
              </a:rPr>
              <a:t>What is Total Quality Management</a:t>
            </a:r>
          </a:p>
          <a:p>
            <a:r>
              <a:rPr lang="en-US" dirty="0" smtClean="0"/>
              <a:t>The term Total quality management ( TQM ) was originally coined in 1985 by the Naval Air Systems Command to describe its Japanese-style management approach to quality improvement. </a:t>
            </a:r>
          </a:p>
          <a:p>
            <a:r>
              <a:rPr lang="en-US" dirty="0" smtClean="0"/>
              <a:t>The term has taken on a number of meanings, depending on who is interpreting it and how they are applying it.</a:t>
            </a:r>
          </a:p>
          <a:p>
            <a:r>
              <a:rPr lang="en-US" dirty="0" smtClean="0"/>
              <a:t> In general, however, it represents a style of management aimed at achieving long-term success by linking quality and customer satisfaction. </a:t>
            </a:r>
          </a:p>
          <a:p>
            <a:r>
              <a:rPr lang="en-US" dirty="0" smtClean="0"/>
              <a:t>Basic to the approach is the creation of a culture in which all members of the organization participate in the improvement of processes, products, and services.</a:t>
            </a:r>
            <a:endParaRPr lang="en-US" b="1" dirty="0" smtClean="0"/>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r>
              <a:rPr lang="en-US" sz="4400" b="1" u="sng" dirty="0" smtClean="0">
                <a:solidFill>
                  <a:srgbClr val="C00000"/>
                </a:solidFill>
              </a:rPr>
              <a:t>Total Quality Management</a:t>
            </a:r>
          </a:p>
          <a:p>
            <a:r>
              <a:rPr lang="en-US" sz="2800" dirty="0" smtClean="0"/>
              <a:t>Products &amp; Services that totally satisfy our customer needs &amp; expectations in every respect on a continuous basis.</a:t>
            </a:r>
          </a:p>
          <a:p>
            <a:r>
              <a:rPr lang="en-US" sz="2800" dirty="0" smtClean="0"/>
              <a:t>Despite variations in its implementation, the key elements of a TQM system can be summarized as follows :</a:t>
            </a:r>
          </a:p>
          <a:p>
            <a:r>
              <a:rPr lang="en-US" sz="2800" dirty="0" smtClean="0">
                <a:solidFill>
                  <a:srgbClr val="C00000"/>
                </a:solidFill>
              </a:rPr>
              <a:t>1. Customer focus</a:t>
            </a:r>
            <a:endParaRPr lang="en-US" sz="2800" dirty="0" smtClean="0"/>
          </a:p>
          <a:p>
            <a:r>
              <a:rPr lang="en-US" sz="2800" dirty="0" smtClean="0">
                <a:solidFill>
                  <a:srgbClr val="C00000"/>
                </a:solidFill>
              </a:rPr>
              <a:t>2. Process</a:t>
            </a:r>
            <a:endParaRPr lang="en-US" sz="2800" dirty="0" smtClean="0"/>
          </a:p>
          <a:p>
            <a:r>
              <a:rPr lang="en-US" sz="2800" dirty="0" smtClean="0">
                <a:solidFill>
                  <a:srgbClr val="C00000"/>
                </a:solidFill>
              </a:rPr>
              <a:t>3. Human side of quality</a:t>
            </a:r>
            <a:endParaRPr lang="en-US" sz="2800" dirty="0" smtClean="0"/>
          </a:p>
          <a:p>
            <a:r>
              <a:rPr lang="en-US" sz="2800" dirty="0" smtClean="0">
                <a:solidFill>
                  <a:srgbClr val="C00000"/>
                </a:solidFill>
              </a:rPr>
              <a:t>4. Measurement and analysis</a:t>
            </a:r>
            <a:endParaRPr lang="en-US" dirty="0"/>
          </a:p>
        </p:txBody>
      </p:sp>
      <p:pic>
        <p:nvPicPr>
          <p:cNvPr id="3074" name="Picture 2"/>
          <p:cNvPicPr>
            <a:picLocks noChangeAspect="1" noChangeArrowheads="1"/>
          </p:cNvPicPr>
          <p:nvPr/>
        </p:nvPicPr>
        <p:blipFill>
          <a:blip r:embed="rId2"/>
          <a:srcRect/>
          <a:stretch>
            <a:fillRect/>
          </a:stretch>
        </p:blipFill>
        <p:spPr bwMode="auto">
          <a:xfrm>
            <a:off x="4953000" y="2667000"/>
            <a:ext cx="4191000" cy="4191000"/>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77500" lnSpcReduction="20000"/>
          </a:bodyPr>
          <a:lstStyle/>
          <a:p>
            <a:r>
              <a:rPr lang="en-US" dirty="0" smtClean="0">
                <a:solidFill>
                  <a:srgbClr val="C00000"/>
                </a:solidFill>
              </a:rPr>
              <a:t>1. Customer focus: </a:t>
            </a:r>
            <a:r>
              <a:rPr lang="en-US" dirty="0" smtClean="0"/>
              <a:t>The objective is to achieve total customer satisfaction. Customer focus includes studying customers' wants and needs, gathering customers' requirements, and measuring and managing customers' satisfaction.</a:t>
            </a:r>
          </a:p>
          <a:p>
            <a:r>
              <a:rPr lang="en-US" dirty="0" smtClean="0">
                <a:solidFill>
                  <a:srgbClr val="C00000"/>
                </a:solidFill>
              </a:rPr>
              <a:t>2. Process:</a:t>
            </a:r>
            <a:r>
              <a:rPr lang="en-US" dirty="0" smtClean="0"/>
              <a:t> The objective is to reduce process variations and to achieve continuous process improvement. This element includes both the business process and the product development process. Through process improvement, product quality will be enhanced.</a:t>
            </a:r>
          </a:p>
          <a:p>
            <a:r>
              <a:rPr lang="en-US" dirty="0" smtClean="0">
                <a:solidFill>
                  <a:srgbClr val="C00000"/>
                </a:solidFill>
              </a:rPr>
              <a:t>3. Human side of quality: </a:t>
            </a:r>
            <a:r>
              <a:rPr lang="en-US" dirty="0" smtClean="0"/>
              <a:t>The objective is to create a companywide quality culture. Focus areas include leadership, management commitment, total participation, employee empowerment, and other social, psychological, and human factors.</a:t>
            </a:r>
          </a:p>
          <a:p>
            <a:r>
              <a:rPr lang="en-US" dirty="0" smtClean="0">
                <a:solidFill>
                  <a:srgbClr val="C00000"/>
                </a:solidFill>
              </a:rPr>
              <a:t>4. Measurement and analysis</a:t>
            </a:r>
            <a:r>
              <a:rPr lang="en-US" dirty="0" smtClean="0"/>
              <a:t>: The objective is to drive continuous improvement in all quality parameters by the goal-oriented measurement system.</a:t>
            </a:r>
          </a:p>
          <a:p>
            <a:r>
              <a:rPr lang="en-US" dirty="0" smtClean="0"/>
              <a:t>Furthermore, an organization that practices TQM must have executive leadership, must focus on infrastructure, training, and education, and must do strategic quality planning.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Autofit/>
          </a:bodyPr>
          <a:lstStyle/>
          <a:p>
            <a:r>
              <a:rPr lang="en-US" sz="2400" dirty="0" smtClean="0"/>
              <a:t>Various organizational frameworks have been proposed to improve quality that can be used to substantiate the TQM philosophy. </a:t>
            </a:r>
          </a:p>
          <a:p>
            <a:r>
              <a:rPr lang="en-US" sz="2400" dirty="0" smtClean="0"/>
              <a:t>Specific examples include Plan-Do-Check-Act (Deming, 1986; </a:t>
            </a:r>
            <a:r>
              <a:rPr lang="en-US" sz="2400" dirty="0" err="1" smtClean="0"/>
              <a:t>Shewhart</a:t>
            </a:r>
            <a:r>
              <a:rPr lang="en-US" sz="2400" dirty="0" smtClean="0"/>
              <a:t>, 1931), Quality Improvement Paradigm/ Experience Factory Organization (</a:t>
            </a:r>
            <a:r>
              <a:rPr lang="en-US" sz="2400" dirty="0" err="1" smtClean="0"/>
              <a:t>Basili</a:t>
            </a:r>
            <a:r>
              <a:rPr lang="en-US" sz="2400" dirty="0" smtClean="0"/>
              <a:t>, 1985, 1989; </a:t>
            </a:r>
            <a:r>
              <a:rPr lang="en-US" sz="2400" dirty="0" err="1" smtClean="0"/>
              <a:t>Basili</a:t>
            </a:r>
            <a:r>
              <a:rPr lang="en-US" sz="2400" dirty="0" smtClean="0"/>
              <a:t> and </a:t>
            </a:r>
            <a:r>
              <a:rPr lang="en-US" sz="2400" dirty="0" err="1" smtClean="0"/>
              <a:t>Rombach</a:t>
            </a:r>
            <a:r>
              <a:rPr lang="en-US" sz="2400" dirty="0" smtClean="0"/>
              <a:t>, 1987, 1988; </a:t>
            </a:r>
            <a:r>
              <a:rPr lang="en-US" sz="2400" dirty="0" err="1" smtClean="0"/>
              <a:t>Basili</a:t>
            </a:r>
            <a:r>
              <a:rPr lang="en-US" sz="2400" dirty="0" smtClean="0"/>
              <a:t> et al., 1992), Software Engineering Institute (SEI) Capability Maturity Model (Humphrey, 1989; </a:t>
            </a:r>
            <a:r>
              <a:rPr lang="en-US" sz="2400" dirty="0" err="1" smtClean="0"/>
              <a:t>Radice</a:t>
            </a:r>
            <a:r>
              <a:rPr lang="en-US" sz="2400" dirty="0" smtClean="0"/>
              <a:t> et al., 1985), and Lean Enterprise Management (Womack et al., 1990).</a:t>
            </a:r>
          </a:p>
          <a:p>
            <a:r>
              <a:rPr lang="en-US" sz="2400" dirty="0" smtClean="0"/>
              <a:t>Plan-Do-Check-Act is based on a feedback cycle for optimizing a single process or production line. </a:t>
            </a:r>
          </a:p>
          <a:p>
            <a:r>
              <a:rPr lang="en-US" sz="2400" dirty="0" smtClean="0"/>
              <a:t>It uses techniques, such as feedback loops and statistical quality control, to experiment with methods for improvement and to build predictive models of the product. </a:t>
            </a:r>
          </a:p>
          <a:p>
            <a:r>
              <a:rPr lang="en-US" sz="2400" dirty="0" smtClean="0"/>
              <a:t>Basic to the assumption is that a process is repeated multiple times, so that data models can be built that allow one to predict results of the process.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a:srcRect/>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92500" lnSpcReduction="10000"/>
          </a:bodyPr>
          <a:lstStyle/>
          <a:p>
            <a:pPr algn="ctr">
              <a:buNone/>
            </a:pPr>
            <a:r>
              <a:rPr lang="en-US" u="sng" dirty="0" smtClean="0">
                <a:solidFill>
                  <a:srgbClr val="C00000"/>
                </a:solidFill>
              </a:rPr>
              <a:t>Software Quality Models/Software Quality Factors:</a:t>
            </a:r>
            <a:r>
              <a:rPr lang="en-US" dirty="0" smtClean="0">
                <a:solidFill>
                  <a:srgbClr val="C00000"/>
                </a:solidFill>
              </a:rPr>
              <a:t>-</a:t>
            </a:r>
            <a:endParaRPr lang="en-US" dirty="0" smtClean="0"/>
          </a:p>
          <a:p>
            <a:pPr algn="ctr"/>
            <a:r>
              <a:rPr lang="en-US" sz="3600" dirty="0" smtClean="0">
                <a:solidFill>
                  <a:srgbClr val="C00000"/>
                </a:solidFill>
              </a:rPr>
              <a:t>What are software quality models?</a:t>
            </a:r>
          </a:p>
          <a:p>
            <a:r>
              <a:rPr lang="en-US" dirty="0" smtClean="0"/>
              <a:t>Software Quality Models are </a:t>
            </a:r>
            <a:r>
              <a:rPr lang="en-US" b="1" dirty="0" smtClean="0"/>
              <a:t>a standardized way of measuring a software product</a:t>
            </a:r>
            <a:r>
              <a:rPr lang="en-US" dirty="0" smtClean="0"/>
              <a:t>. With the increasing trend in software industry, new applications are planned and developed everyday.</a:t>
            </a:r>
          </a:p>
          <a:p>
            <a:r>
              <a:rPr lang="en-IN" dirty="0" smtClean="0">
                <a:solidFill>
                  <a:srgbClr val="FF0000"/>
                </a:solidFill>
              </a:rPr>
              <a:t>Or </a:t>
            </a:r>
          </a:p>
          <a:p>
            <a:pPr fontAlgn="ctr"/>
            <a:r>
              <a:rPr lang="en-US" dirty="0" smtClean="0"/>
              <a:t>Software quality models are frameworks that define and evaluate the characteristics and attributes of software quality, helping organizations understand and measure how well a software product meets specific standards and user needs. </a:t>
            </a:r>
          </a:p>
          <a:p>
            <a:r>
              <a:rPr lang="en-US" dirty="0" smtClean="0"/>
              <a:t>This eventually gives rise to the need for reassuring that the product so built meets at least the expected standards.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fontScale="92500"/>
          </a:bodyPr>
          <a:lstStyle/>
          <a:p>
            <a:r>
              <a:rPr lang="en-US" b="1" dirty="0" smtClean="0">
                <a:solidFill>
                  <a:srgbClr val="FF0000"/>
                </a:solidFill>
              </a:rPr>
              <a:t>Definition:</a:t>
            </a:r>
            <a:endParaRPr lang="en-US" dirty="0" smtClean="0">
              <a:solidFill>
                <a:srgbClr val="FF0000"/>
              </a:solidFill>
            </a:endParaRPr>
          </a:p>
          <a:p>
            <a:pPr fontAlgn="ctr"/>
            <a:r>
              <a:rPr lang="en-US" dirty="0" smtClean="0"/>
              <a:t>A software quality model is a structured approach to assessing and improving the quality of software products. It outlines the key aspects of quality, such as functionality, usability, reliability, and performance, and how these aspects relate to each other. </a:t>
            </a:r>
          </a:p>
          <a:p>
            <a:r>
              <a:rPr lang="en-US" b="1" dirty="0" smtClean="0">
                <a:solidFill>
                  <a:srgbClr val="FF0000"/>
                </a:solidFill>
              </a:rPr>
              <a:t>Purpose:</a:t>
            </a:r>
            <a:endParaRPr lang="en-US" dirty="0" smtClean="0">
              <a:solidFill>
                <a:srgbClr val="FF0000"/>
              </a:solidFill>
            </a:endParaRPr>
          </a:p>
          <a:p>
            <a:r>
              <a:rPr lang="en-US" dirty="0" smtClean="0"/>
              <a:t>These models help developers, testers, and stakeholders understand the different facets of software quality, enabling them to make informed decisions about development processes, testing strategies, and quality assurance activities. </a:t>
            </a:r>
          </a:p>
          <a:p>
            <a:r>
              <a:rPr lang="en-US" dirty="0" smtClean="0"/>
              <a:t>Following are few models that explains what kind of quality criteria is to be followed.</a:t>
            </a:r>
          </a:p>
          <a:p>
            <a:endParaRPr lang="en-US" dirty="0" smtClean="0"/>
          </a:p>
          <a:p>
            <a:endParaRPr lang="en-US" dirty="0" smtClean="0"/>
          </a:p>
          <a:p>
            <a:endParaRPr lang="en-US" dirty="0" smtClean="0"/>
          </a:p>
          <a:p>
            <a:endParaRPr lang="en-US" dirty="0" smtClean="0"/>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r>
              <a:rPr lang="en-US" sz="2800" u="sng" dirty="0" smtClean="0">
                <a:solidFill>
                  <a:srgbClr val="C00000"/>
                </a:solidFill>
              </a:rPr>
              <a:t>Common Objectives of a Software Quality Model are as Follows-</a:t>
            </a:r>
          </a:p>
          <a:p>
            <a:r>
              <a:rPr lang="en-US" dirty="0" smtClean="0"/>
              <a:t>Due to revolution, there are other </a:t>
            </a:r>
            <a:r>
              <a:rPr lang="en-US" b="1" u="sng" dirty="0" smtClean="0">
                <a:hlinkClick r:id="rId2"/>
              </a:rPr>
              <a:t>software quality models</a:t>
            </a:r>
            <a:r>
              <a:rPr lang="en-US" dirty="0" smtClean="0"/>
              <a:t> that are developed in the market. All of them are built with the common objectives and a common goal in consideration. </a:t>
            </a:r>
          </a:p>
          <a:p>
            <a:r>
              <a:rPr lang="en-US" dirty="0" smtClean="0"/>
              <a:t>A user may have lesser requirements than the already built models and since, innovation is the mother of creation. </a:t>
            </a:r>
          </a:p>
          <a:p>
            <a:r>
              <a:rPr lang="en-US" dirty="0" smtClean="0"/>
              <a:t>There are several models the market sharing a common goal according to the user demands and requirements. Enumerated, are the common objectives of a software quality model.</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7162800"/>
          </a:xfrm>
        </p:spPr>
        <p:style>
          <a:lnRef idx="1">
            <a:schemeClr val="accent1"/>
          </a:lnRef>
          <a:fillRef idx="2">
            <a:schemeClr val="accent1"/>
          </a:fillRef>
          <a:effectRef idx="1">
            <a:schemeClr val="accent1"/>
          </a:effectRef>
          <a:fontRef idx="minor">
            <a:schemeClr val="dk1"/>
          </a:fontRef>
        </p:style>
        <p:txBody>
          <a:bodyPr>
            <a:normAutofit/>
          </a:bodyPr>
          <a:lstStyle/>
          <a:p>
            <a:r>
              <a:rPr lang="en-US" dirty="0" smtClean="0"/>
              <a:t>The benefits and costs of the software are symbolized in their totality with no consideration in between the attributes or the high performance of the software.</a:t>
            </a:r>
          </a:p>
          <a:p>
            <a:r>
              <a:rPr lang="en-US" dirty="0" smtClean="0"/>
              <a:t>The presence, absence, of the attributes of the software can be measured objectively.</a:t>
            </a:r>
          </a:p>
          <a:p>
            <a:r>
              <a:rPr lang="en-US" dirty="0" smtClean="0"/>
              <a:t>The degree to which each of the attributes present gives out the overall quality of the built software.</a:t>
            </a:r>
          </a:p>
          <a:p>
            <a:r>
              <a:rPr lang="en-US" dirty="0" smtClean="0"/>
              <a:t>The attributes facilitate continuous improvement of the software in the future. It allows cause and effect of a particular change to be analyzed.</a:t>
            </a:r>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77500" lnSpcReduction="20000"/>
          </a:bodyPr>
          <a:lstStyle/>
          <a:p>
            <a:r>
              <a:rPr lang="en-US" sz="4600" u="sng" dirty="0" smtClean="0">
                <a:solidFill>
                  <a:srgbClr val="FF0000"/>
                </a:solidFill>
              </a:rPr>
              <a:t>Modeling Process:-</a:t>
            </a:r>
          </a:p>
          <a:p>
            <a:r>
              <a:rPr lang="en-US" dirty="0" smtClean="0">
                <a:solidFill>
                  <a:srgbClr val="FF0000"/>
                </a:solidFill>
              </a:rPr>
              <a:t>1. Examine the data</a:t>
            </a:r>
            <a:r>
              <a:rPr lang="en-US" dirty="0" smtClean="0"/>
              <a:t>: plot the data points against time in the form of a scatter diagram, analyze the data informally and gain an insight into the nature of the process being</a:t>
            </a:r>
          </a:p>
          <a:p>
            <a:r>
              <a:rPr lang="en-US" dirty="0" smtClean="0"/>
              <a:t>modeled.</a:t>
            </a:r>
          </a:p>
          <a:p>
            <a:r>
              <a:rPr lang="en-US" dirty="0" smtClean="0">
                <a:solidFill>
                  <a:srgbClr val="FF0000"/>
                </a:solidFill>
              </a:rPr>
              <a:t>2. Select a model </a:t>
            </a:r>
            <a:r>
              <a:rPr lang="en-US" dirty="0" smtClean="0"/>
              <a:t>or several model to fit the data based on an understanding of the test process, the data, and the assumptions of the models.</a:t>
            </a:r>
          </a:p>
          <a:p>
            <a:r>
              <a:rPr lang="en-US" dirty="0" smtClean="0">
                <a:solidFill>
                  <a:srgbClr val="FF0000"/>
                </a:solidFill>
              </a:rPr>
              <a:t>3. Estimate the parameters </a:t>
            </a:r>
            <a:r>
              <a:rPr lang="en-US" dirty="0" smtClean="0"/>
              <a:t>of the model using statistical techniques such as maximum Likelihood or least-squares methods.</a:t>
            </a:r>
          </a:p>
          <a:p>
            <a:r>
              <a:rPr lang="en-US" dirty="0" smtClean="0">
                <a:solidFill>
                  <a:srgbClr val="FF0000"/>
                </a:solidFill>
              </a:rPr>
              <a:t>4. Obtain the fitted model </a:t>
            </a:r>
            <a:r>
              <a:rPr lang="en-US" dirty="0" smtClean="0"/>
              <a:t>by substituting the estimates of the parameters into the chosen model.</a:t>
            </a:r>
          </a:p>
          <a:p>
            <a:r>
              <a:rPr lang="en-US" dirty="0" smtClean="0">
                <a:solidFill>
                  <a:srgbClr val="FF0000"/>
                </a:solidFill>
              </a:rPr>
              <a:t>5. Perform a goodness-of-fit test </a:t>
            </a:r>
            <a:r>
              <a:rPr lang="en-US" dirty="0" smtClean="0"/>
              <a:t>and assess the reasonableness of the model. If the model does not fit, a more reasonable model should be selected.</a:t>
            </a:r>
          </a:p>
          <a:p>
            <a:r>
              <a:rPr lang="en-US" dirty="0" smtClean="0">
                <a:solidFill>
                  <a:srgbClr val="FF0000"/>
                </a:solidFill>
              </a:rPr>
              <a:t>6. Make reliability predictions </a:t>
            </a:r>
            <a:r>
              <a:rPr lang="en-US" dirty="0" smtClean="0"/>
              <a:t>based on the fitted model. -To model software reliability, the following steps should be followed:</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a:bodyPr>
          <a:lstStyle/>
          <a:p>
            <a:r>
              <a:rPr lang="en-US" b="1" dirty="0" smtClean="0">
                <a:solidFill>
                  <a:srgbClr val="C00000"/>
                </a:solidFill>
              </a:rPr>
              <a:t>Types of Software Quality Models</a:t>
            </a:r>
          </a:p>
          <a:p>
            <a:r>
              <a:rPr lang="en-US" b="1" dirty="0" smtClean="0"/>
              <a:t>1. McCall Model </a:t>
            </a:r>
            <a:endParaRPr lang="en-US" dirty="0" smtClean="0"/>
          </a:p>
          <a:p>
            <a:r>
              <a:rPr lang="en-US" b="1" dirty="0" smtClean="0"/>
              <a:t>2. Boehm Model</a:t>
            </a:r>
          </a:p>
          <a:p>
            <a:r>
              <a:rPr lang="en-US" b="1" dirty="0" smtClean="0"/>
              <a:t>3. FURPS Model</a:t>
            </a:r>
          </a:p>
          <a:p>
            <a:r>
              <a:rPr lang="en-US" b="1" dirty="0" smtClean="0"/>
              <a:t>4. Dromey Model</a:t>
            </a:r>
            <a:endParaRPr lang="en-US" dirty="0" smtClean="0"/>
          </a:p>
          <a:p>
            <a:r>
              <a:rPr lang="en-US" b="1" dirty="0" smtClean="0"/>
              <a:t>5. ISO IEC 9126 Model</a:t>
            </a:r>
            <a:endParaRPr lang="en-US" dirty="0" smtClean="0"/>
          </a:p>
          <a:p>
            <a:endParaRPr lang="en-US" dirty="0" smtClean="0"/>
          </a:p>
          <a:p>
            <a:r>
              <a:rPr lang="en-US" dirty="0" smtClean="0"/>
              <a:t/>
            </a:r>
            <a:br>
              <a:rPr lang="en-US" dirty="0" smtClean="0"/>
            </a:br>
            <a:endParaRPr lang="en-US" dirty="0" smtClean="0"/>
          </a:p>
          <a:p>
            <a:endParaRPr lang="en-US" dirty="0" smtClean="0"/>
          </a:p>
        </p:txBody>
      </p:sp>
      <p:pic>
        <p:nvPicPr>
          <p:cNvPr id="1026" name="Picture 2"/>
          <p:cNvPicPr>
            <a:picLocks noChangeAspect="1" noChangeArrowheads="1"/>
          </p:cNvPicPr>
          <p:nvPr/>
        </p:nvPicPr>
        <p:blipFill>
          <a:blip r:embed="rId2"/>
          <a:srcRect/>
          <a:stretch>
            <a:fillRect/>
          </a:stretch>
        </p:blipFill>
        <p:spPr bwMode="auto">
          <a:xfrm>
            <a:off x="0" y="3886200"/>
            <a:ext cx="9144000" cy="2971800"/>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
            <a:ext cx="9144000" cy="6858000"/>
          </a:xfrm>
        </p:spPr>
        <p:style>
          <a:lnRef idx="1">
            <a:schemeClr val="accent1"/>
          </a:lnRef>
          <a:fillRef idx="2">
            <a:schemeClr val="accent1"/>
          </a:fillRef>
          <a:effectRef idx="1">
            <a:schemeClr val="accent1"/>
          </a:effectRef>
          <a:fontRef idx="minor">
            <a:schemeClr val="dk1"/>
          </a:fontRef>
        </p:style>
        <p:txBody>
          <a:bodyPr>
            <a:normAutofit fontScale="92500"/>
          </a:bodyPr>
          <a:lstStyle/>
          <a:p>
            <a:r>
              <a:rPr lang="en-US" sz="3600" b="1" u="sng" dirty="0" smtClean="0">
                <a:solidFill>
                  <a:srgbClr val="C00000"/>
                </a:solidFill>
              </a:rPr>
              <a:t>1. McCall Model:-</a:t>
            </a:r>
            <a:endParaRPr lang="en-US" sz="3600" u="sng" dirty="0" smtClean="0">
              <a:solidFill>
                <a:srgbClr val="C00000"/>
              </a:solidFill>
            </a:endParaRPr>
          </a:p>
          <a:p>
            <a:r>
              <a:rPr lang="en-US" dirty="0" smtClean="0"/>
              <a:t>McCall’s model was developed by the Rome air development center (RADC), the US air-force electronic system decision (ESD), general electric, in order to improve the quality of software products at </a:t>
            </a:r>
            <a:r>
              <a:rPr lang="en-US" b="1" dirty="0" smtClean="0">
                <a:hlinkClick r:id="rId2"/>
              </a:rPr>
              <a:t>software development companies</a:t>
            </a:r>
            <a:r>
              <a:rPr lang="en-US" dirty="0" smtClean="0"/>
              <a:t>. </a:t>
            </a:r>
          </a:p>
          <a:p>
            <a:r>
              <a:rPr lang="en-US" b="1" dirty="0" smtClean="0"/>
              <a:t> </a:t>
            </a:r>
            <a:r>
              <a:rPr lang="en-US" b="1" u="sng" dirty="0" smtClean="0">
                <a:hlinkClick r:id="rId3"/>
              </a:rPr>
              <a:t>McCall Model</a:t>
            </a:r>
            <a:r>
              <a:rPr lang="en-US" dirty="0" smtClean="0"/>
              <a:t> is the first quality model developed, which defines a layout of the various aspects that define the product's quality. </a:t>
            </a:r>
          </a:p>
          <a:p>
            <a:r>
              <a:rPr lang="en-US" dirty="0" smtClean="0"/>
              <a:t>It defines the product quality in the following manner – </a:t>
            </a:r>
          </a:p>
          <a:p>
            <a:r>
              <a:rPr lang="en-US" dirty="0" smtClean="0">
                <a:solidFill>
                  <a:srgbClr val="C00000"/>
                </a:solidFill>
              </a:rPr>
              <a:t>Product Revision </a:t>
            </a:r>
          </a:p>
          <a:p>
            <a:r>
              <a:rPr lang="en-US" dirty="0" smtClean="0">
                <a:solidFill>
                  <a:srgbClr val="C00000"/>
                </a:solidFill>
              </a:rPr>
              <a:t>Product Operation </a:t>
            </a:r>
          </a:p>
          <a:p>
            <a:r>
              <a:rPr lang="en-US" dirty="0" smtClean="0">
                <a:solidFill>
                  <a:srgbClr val="C00000"/>
                </a:solidFill>
              </a:rPr>
              <a:t>Product Transition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77500" lnSpcReduction="20000"/>
          </a:bodyPr>
          <a:lstStyle/>
          <a:p>
            <a:r>
              <a:rPr lang="en-US" u="sng" dirty="0" smtClean="0">
                <a:solidFill>
                  <a:srgbClr val="C00000"/>
                </a:solidFill>
              </a:rPr>
              <a:t>Three Main Perspectives of the Quality Attributes of the Software:</a:t>
            </a:r>
          </a:p>
          <a:p>
            <a:r>
              <a:rPr lang="en-US" dirty="0" smtClean="0"/>
              <a:t>A perspective is required for every approach. Be it, software niche or any other niche.</a:t>
            </a:r>
          </a:p>
          <a:p>
            <a:r>
              <a:rPr lang="en-US" dirty="0" smtClean="0">
                <a:solidFill>
                  <a:srgbClr val="C00000"/>
                </a:solidFill>
              </a:rPr>
              <a:t>Product Revision.</a:t>
            </a:r>
          </a:p>
          <a:p>
            <a:r>
              <a:rPr lang="en-US" dirty="0" smtClean="0">
                <a:solidFill>
                  <a:srgbClr val="C00000"/>
                </a:solidFill>
              </a:rPr>
              <a:t>Product Transition.</a:t>
            </a:r>
          </a:p>
          <a:p>
            <a:r>
              <a:rPr lang="en-US" dirty="0" smtClean="0">
                <a:solidFill>
                  <a:srgbClr val="C00000"/>
                </a:solidFill>
              </a:rPr>
              <a:t>Product Operations.</a:t>
            </a:r>
          </a:p>
          <a:p>
            <a:r>
              <a:rPr lang="en-US" u="sng" dirty="0" smtClean="0">
                <a:solidFill>
                  <a:srgbClr val="C00000"/>
                </a:solidFill>
              </a:rPr>
              <a:t>Product Revision:</a:t>
            </a:r>
          </a:p>
          <a:p>
            <a:r>
              <a:rPr lang="en-US" dirty="0" smtClean="0"/>
              <a:t>It encompasses the revision perspective identifiers quality factors that changes or enhances the ability to change the software product in the future according to the needs and requirements of the user.</a:t>
            </a:r>
          </a:p>
          <a:p>
            <a:r>
              <a:rPr lang="en-US" b="1" dirty="0" smtClean="0">
                <a:solidFill>
                  <a:srgbClr val="C00000"/>
                </a:solidFill>
              </a:rPr>
              <a:t>Maintainability</a:t>
            </a:r>
            <a:r>
              <a:rPr lang="en-US" dirty="0" smtClean="0"/>
              <a:t>- If there are defects in the software that are found in the later stage, this feature allows finding and fixing the defects.</a:t>
            </a:r>
          </a:p>
          <a:p>
            <a:r>
              <a:rPr lang="en-US" b="1" dirty="0" smtClean="0">
                <a:solidFill>
                  <a:srgbClr val="C00000"/>
                </a:solidFill>
              </a:rPr>
              <a:t>Flexibility</a:t>
            </a:r>
            <a:r>
              <a:rPr lang="en-US" dirty="0" smtClean="0">
                <a:solidFill>
                  <a:srgbClr val="C00000"/>
                </a:solidFill>
              </a:rPr>
              <a:t>- </a:t>
            </a:r>
            <a:r>
              <a:rPr lang="en-US" dirty="0" smtClean="0"/>
              <a:t>The ability to make changes in the software product according to the business demands.</a:t>
            </a:r>
          </a:p>
          <a:p>
            <a:r>
              <a:rPr lang="en-US" b="1" dirty="0" smtClean="0">
                <a:solidFill>
                  <a:srgbClr val="C00000"/>
                </a:solidFill>
              </a:rPr>
              <a:t>Testability</a:t>
            </a:r>
            <a:r>
              <a:rPr lang="en-US" dirty="0" smtClean="0"/>
              <a:t>- This enables the software product to validate the requirements.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92500" lnSpcReduction="20000"/>
          </a:bodyPr>
          <a:lstStyle/>
          <a:p>
            <a:r>
              <a:rPr lang="en-US" u="sng" dirty="0" smtClean="0">
                <a:solidFill>
                  <a:srgbClr val="C00000"/>
                </a:solidFill>
              </a:rPr>
              <a:t>Product Transition:</a:t>
            </a:r>
          </a:p>
          <a:p>
            <a:r>
              <a:rPr lang="en-US" dirty="0" smtClean="0"/>
              <a:t>Transition perspective enables the software to adapt itself in new environments. The identification of the quality factor which enables the ability of adaption of the software in the new environment is known as product transition.</a:t>
            </a:r>
          </a:p>
          <a:p>
            <a:r>
              <a:rPr lang="en-US" dirty="0" smtClean="0"/>
              <a:t>Let us take an example, our creator created the software named human. The creator incorporated ability to this software that enhances it to adapt in the new environment.</a:t>
            </a:r>
          </a:p>
          <a:p>
            <a:r>
              <a:rPr lang="en-US" b="1" dirty="0" smtClean="0">
                <a:solidFill>
                  <a:srgbClr val="C00000"/>
                </a:solidFill>
              </a:rPr>
              <a:t>Portability</a:t>
            </a:r>
            <a:r>
              <a:rPr lang="en-US" dirty="0" smtClean="0"/>
              <a:t>- This is the ability to transfer a software from one environment to another environment.</a:t>
            </a:r>
          </a:p>
          <a:p>
            <a:r>
              <a:rPr lang="en-US" b="1" dirty="0" smtClean="0">
                <a:solidFill>
                  <a:srgbClr val="C00000"/>
                </a:solidFill>
              </a:rPr>
              <a:t>Re-usability</a:t>
            </a:r>
            <a:r>
              <a:rPr lang="en-US" dirty="0" smtClean="0"/>
              <a:t>- The software components can be used in different contexts.</a:t>
            </a:r>
          </a:p>
          <a:p>
            <a:r>
              <a:rPr lang="en-US" b="1" dirty="0" smtClean="0">
                <a:solidFill>
                  <a:srgbClr val="C00000"/>
                </a:solidFill>
              </a:rPr>
              <a:t>Interoperability</a:t>
            </a:r>
            <a:r>
              <a:rPr lang="en-US" dirty="0" smtClean="0"/>
              <a:t>- The ease or the comfort zone in which all the components of the software works together.</a:t>
            </a:r>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lnSpcReduction="10000"/>
          </a:bodyPr>
          <a:lstStyle/>
          <a:p>
            <a:r>
              <a:rPr lang="en-US" u="sng" dirty="0" smtClean="0">
                <a:solidFill>
                  <a:srgbClr val="C00000"/>
                </a:solidFill>
              </a:rPr>
              <a:t>Product Operations:</a:t>
            </a:r>
          </a:p>
          <a:p>
            <a:r>
              <a:rPr lang="en-US" dirty="0" smtClean="0"/>
              <a:t>The software can run successfully in the market if it according to the specifications of the user and also it should run smoothly without any defects. The product operation perspective influences the extent to which the software fulfills its specifications-</a:t>
            </a:r>
          </a:p>
          <a:p>
            <a:r>
              <a:rPr lang="en-US" b="1" dirty="0" smtClean="0">
                <a:solidFill>
                  <a:srgbClr val="C00000"/>
                </a:solidFill>
              </a:rPr>
              <a:t>Correctness</a:t>
            </a:r>
            <a:r>
              <a:rPr lang="en-US" dirty="0" smtClean="0"/>
              <a:t>- The functionality should match the specification.</a:t>
            </a:r>
          </a:p>
          <a:p>
            <a:r>
              <a:rPr lang="en-US" b="1" dirty="0" smtClean="0">
                <a:solidFill>
                  <a:srgbClr val="C00000"/>
                </a:solidFill>
              </a:rPr>
              <a:t>Reliability</a:t>
            </a:r>
            <a:r>
              <a:rPr lang="en-US" dirty="0" smtClean="0"/>
              <a:t>- The extent to which the system fails.</a:t>
            </a:r>
          </a:p>
          <a:p>
            <a:r>
              <a:rPr lang="en-US" b="1" dirty="0" smtClean="0">
                <a:solidFill>
                  <a:srgbClr val="C00000"/>
                </a:solidFill>
              </a:rPr>
              <a:t>Efficiency</a:t>
            </a:r>
            <a:r>
              <a:rPr lang="en-US" dirty="0" smtClean="0"/>
              <a:t>- It enhances the usage of system resource.</a:t>
            </a:r>
          </a:p>
          <a:p>
            <a:r>
              <a:rPr lang="en-US" b="1" dirty="0" smtClean="0">
                <a:solidFill>
                  <a:srgbClr val="C00000"/>
                </a:solidFill>
              </a:rPr>
              <a:t>Usability</a:t>
            </a:r>
            <a:r>
              <a:rPr lang="en-US" dirty="0" smtClean="0"/>
              <a:t>- The software should be easy to use. Difficult software is tedious to work upon and difficulty irks the user.</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r>
              <a:rPr lang="en-US" sz="2800" dirty="0" smtClean="0">
                <a:latin typeface="Bahnschrift Light Condensed" pitchFamily="34" charset="0"/>
              </a:rPr>
              <a:t>The model was developed to assess the relationships between external factors and product quality criteria. </a:t>
            </a:r>
          </a:p>
          <a:p>
            <a:r>
              <a:rPr lang="en-US" sz="2800" dirty="0" smtClean="0">
                <a:latin typeface="Bahnschrift Light Condensed" pitchFamily="34" charset="0"/>
              </a:rPr>
              <a:t>The quality characteristics were classified in three major types, eleven(11) such factors which describe the external view of the software (user view), 23 quality criteria which describe the internal view of the software (developer view), and the metrics which define and are used to provide a scale and method for measurement. </a:t>
            </a:r>
          </a:p>
          <a:p>
            <a:r>
              <a:rPr lang="en-US" sz="2800" dirty="0" smtClean="0">
                <a:latin typeface="Bahnschrift Light Condensed" pitchFamily="34" charset="0"/>
              </a:rPr>
              <a:t>The total number of factors was reduced to eleven in order to simplify it. Those factors are Correctness, Integrity, Reliability, Efficiency, Usability, Flexibility, Maintainability, Reusability, Testability, Portability, and Interoperability. </a:t>
            </a:r>
          </a:p>
          <a:p>
            <a:r>
              <a:rPr lang="en-US" sz="2800" dirty="0" smtClean="0">
                <a:latin typeface="Bahnschrift Light Condensed" pitchFamily="34" charset="0"/>
              </a:rPr>
              <a:t>The major contribution of this model is the relationship between the quality characteristics and metrics. But, this model does not consider directly on the functionality of software products.</a:t>
            </a:r>
            <a:endParaRPr lang="en-US" dirty="0" smtClean="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92500" lnSpcReduction="20000"/>
          </a:bodyPr>
          <a:lstStyle/>
          <a:p>
            <a:r>
              <a:rPr lang="en-US" sz="3900" b="1" u="sng" dirty="0" smtClean="0">
                <a:solidFill>
                  <a:srgbClr val="C00000"/>
                </a:solidFill>
              </a:rPr>
              <a:t>2. Boehm Model:-</a:t>
            </a:r>
            <a:endParaRPr lang="en-US" sz="3900" u="sng" dirty="0" smtClean="0">
              <a:solidFill>
                <a:srgbClr val="C00000"/>
              </a:solidFill>
            </a:endParaRPr>
          </a:p>
          <a:p>
            <a:pPr algn="just"/>
            <a:r>
              <a:rPr lang="en-US" dirty="0" smtClean="0"/>
              <a:t>Boehm added new factors to McCall’s model with emphasis on the maintainability of software product at </a:t>
            </a:r>
            <a:r>
              <a:rPr lang="en-US" b="1" dirty="0" smtClean="0">
                <a:hlinkClick r:id="rId2"/>
              </a:rPr>
              <a:t>software development companies</a:t>
            </a:r>
            <a:r>
              <a:rPr lang="en-US" dirty="0" smtClean="0"/>
              <a:t>. </a:t>
            </a:r>
          </a:p>
          <a:p>
            <a:pPr algn="just"/>
            <a:r>
              <a:rPr lang="en-US" dirty="0" smtClean="0"/>
              <a:t>The main aim of this model is to address the contemporary shortcomings of models that automatically and quantitatively evaluate the quality of software. </a:t>
            </a:r>
          </a:p>
          <a:p>
            <a:pPr algn="just"/>
            <a:r>
              <a:rPr lang="en-US" dirty="0" smtClean="0"/>
              <a:t>Thus, Boehm model represents the characteristics of the software product hierarchically in order to get contribute in the total quality. </a:t>
            </a:r>
          </a:p>
          <a:p>
            <a:pPr algn="just"/>
            <a:r>
              <a:rPr lang="en-US" dirty="0" smtClean="0"/>
              <a:t>Also, the software product evaluation considered with respect to the utility of the program. But, this model contains only a diagram without any suggestion about measuring the quality characteristics.</a:t>
            </a:r>
            <a:br>
              <a:rPr lang="en-US" dirty="0" smtClean="0"/>
            </a:br>
            <a:endParaRPr lang="en-US" dirty="0" smtClean="0">
              <a:solidFill>
                <a:srgbClr val="00206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r>
              <a:rPr lang="en-US" dirty="0" smtClean="0"/>
              <a:t>The intermediate level characteristic represents Boehm’s 7 quality factors that together represent the qualities expected from a software system: </a:t>
            </a:r>
          </a:p>
          <a:p>
            <a:pPr>
              <a:buNone/>
            </a:pPr>
            <a:r>
              <a:rPr lang="en-US" dirty="0" smtClean="0"/>
              <a:t>• </a:t>
            </a:r>
            <a:r>
              <a:rPr lang="en-US" dirty="0" smtClean="0">
                <a:solidFill>
                  <a:srgbClr val="C00000"/>
                </a:solidFill>
              </a:rPr>
              <a:t>Portability </a:t>
            </a:r>
          </a:p>
          <a:p>
            <a:r>
              <a:rPr lang="en-US" dirty="0" smtClean="0">
                <a:solidFill>
                  <a:srgbClr val="C00000"/>
                </a:solidFill>
              </a:rPr>
              <a:t>Reliability </a:t>
            </a:r>
          </a:p>
          <a:p>
            <a:pPr>
              <a:buNone/>
            </a:pPr>
            <a:r>
              <a:rPr lang="en-US" dirty="0" smtClean="0">
                <a:solidFill>
                  <a:srgbClr val="C00000"/>
                </a:solidFill>
              </a:rPr>
              <a:t>• Efficiency </a:t>
            </a:r>
          </a:p>
          <a:p>
            <a:pPr>
              <a:buNone/>
            </a:pPr>
            <a:r>
              <a:rPr lang="en-US" dirty="0" smtClean="0">
                <a:solidFill>
                  <a:srgbClr val="C00000"/>
                </a:solidFill>
              </a:rPr>
              <a:t>• Usability </a:t>
            </a:r>
          </a:p>
          <a:p>
            <a:pPr>
              <a:buNone/>
            </a:pPr>
            <a:r>
              <a:rPr lang="en-US" dirty="0" smtClean="0">
                <a:solidFill>
                  <a:srgbClr val="C00000"/>
                </a:solidFill>
              </a:rPr>
              <a:t>• Testability </a:t>
            </a:r>
          </a:p>
          <a:p>
            <a:pPr>
              <a:buNone/>
            </a:pPr>
            <a:r>
              <a:rPr lang="en-US" dirty="0" smtClean="0">
                <a:solidFill>
                  <a:srgbClr val="C00000"/>
                </a:solidFill>
              </a:rPr>
              <a:t>• Understand ability </a:t>
            </a:r>
          </a:p>
          <a:p>
            <a:pPr>
              <a:buNone/>
            </a:pPr>
            <a:r>
              <a:rPr lang="en-US" dirty="0" smtClean="0">
                <a:solidFill>
                  <a:srgbClr val="C00000"/>
                </a:solidFill>
              </a:rPr>
              <a:t>• Flexibility</a:t>
            </a:r>
            <a:endParaRPr lang="en-US" dirty="0">
              <a:solidFill>
                <a:srgbClr val="C00000"/>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fontScale="77500" lnSpcReduction="20000"/>
          </a:bodyPr>
          <a:lstStyle/>
          <a:p>
            <a:r>
              <a:rPr lang="en-US" sz="3500" b="1" u="sng" dirty="0" smtClean="0">
                <a:solidFill>
                  <a:srgbClr val="C00000"/>
                </a:solidFill>
              </a:rPr>
              <a:t>3. FURPS Model:-</a:t>
            </a:r>
            <a:endParaRPr lang="en-US" sz="3500" u="sng" dirty="0" smtClean="0">
              <a:solidFill>
                <a:srgbClr val="C00000"/>
              </a:solidFill>
            </a:endParaRPr>
          </a:p>
          <a:p>
            <a:r>
              <a:rPr lang="en-US" dirty="0" smtClean="0"/>
              <a:t>FURPS model was proposed </a:t>
            </a:r>
            <a:r>
              <a:rPr lang="en-US" smtClean="0"/>
              <a:t>by Hewlett-Packard </a:t>
            </a:r>
            <a:r>
              <a:rPr lang="en-US" dirty="0" smtClean="0"/>
              <a:t>Co and Robert Grady. The attributes were classified into two main categories according to the user’s requirements, the functional and non-functional requirements. </a:t>
            </a:r>
          </a:p>
          <a:p>
            <a:r>
              <a:rPr lang="en-US" sz="2800" b="1" dirty="0" smtClean="0">
                <a:solidFill>
                  <a:srgbClr val="C00000"/>
                </a:solidFill>
              </a:rPr>
              <a:t>FURPS Model </a:t>
            </a:r>
            <a:r>
              <a:rPr lang="en-US" b="1" dirty="0" smtClean="0">
                <a:solidFill>
                  <a:srgbClr val="C00000"/>
                </a:solidFill>
              </a:rPr>
              <a:t>=</a:t>
            </a:r>
            <a:r>
              <a:rPr lang="en-US" sz="3100" dirty="0" smtClean="0"/>
              <a:t>Functional requirements (F)</a:t>
            </a:r>
            <a:r>
              <a:rPr lang="en-US" sz="3100" dirty="0" smtClean="0">
                <a:solidFill>
                  <a:srgbClr val="FF0000"/>
                </a:solidFill>
              </a:rPr>
              <a:t>+</a:t>
            </a:r>
            <a:r>
              <a:rPr lang="en-US" sz="3100" dirty="0" smtClean="0"/>
              <a:t>Non-functional requirements (URPS).</a:t>
            </a:r>
            <a:endParaRPr lang="en-US" sz="2400" b="1" dirty="0" smtClean="0">
              <a:solidFill>
                <a:srgbClr val="C00000"/>
              </a:solidFill>
            </a:endParaRPr>
          </a:p>
          <a:p>
            <a:r>
              <a:rPr lang="en-US" dirty="0" smtClean="0"/>
              <a:t>The FURPS-categories </a:t>
            </a:r>
            <a:r>
              <a:rPr lang="en-US" smtClean="0"/>
              <a:t>are  defined in two </a:t>
            </a:r>
            <a:r>
              <a:rPr lang="en-US" dirty="0" smtClean="0"/>
              <a:t>different types: Functional and Non-functional.</a:t>
            </a:r>
            <a:endParaRPr lang="en-US" dirty="0" smtClean="0">
              <a:solidFill>
                <a:srgbClr val="C00000"/>
              </a:solidFill>
            </a:endParaRPr>
          </a:p>
          <a:p>
            <a:r>
              <a:rPr lang="en-US" dirty="0" smtClean="0">
                <a:solidFill>
                  <a:srgbClr val="C00000"/>
                </a:solidFill>
              </a:rPr>
              <a:t>Functional requirements (F</a:t>
            </a:r>
            <a:r>
              <a:rPr lang="en-US" dirty="0" smtClean="0"/>
              <a:t>): Functionality-Defined by input and expected output. </a:t>
            </a:r>
          </a:p>
          <a:p>
            <a:r>
              <a:rPr lang="en-US" dirty="0" smtClean="0">
                <a:solidFill>
                  <a:srgbClr val="C00000"/>
                </a:solidFill>
              </a:rPr>
              <a:t>Non-functional requirements (URPS</a:t>
            </a:r>
            <a:r>
              <a:rPr lang="en-US" dirty="0" smtClean="0"/>
              <a:t>):Usability, reliability, performance, supportability. </a:t>
            </a:r>
          </a:p>
          <a:p>
            <a:r>
              <a:rPr lang="en-US" dirty="0" smtClean="0"/>
              <a:t>Also, this model was extended by IBM Rational Software – into FURPS+. </a:t>
            </a:r>
          </a:p>
          <a:p>
            <a:r>
              <a:rPr lang="en-US" dirty="0" smtClean="0"/>
              <a:t>Thus, this model considered only the user’s requirements and disregards the developer consideration. </a:t>
            </a:r>
          </a:p>
          <a:p>
            <a:r>
              <a:rPr lang="en-US" dirty="0" smtClean="0"/>
              <a:t>But, this model fails to take into account the software some of the product characteristics, like maintainability and portability.</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85000" lnSpcReduction="20000"/>
          </a:bodyPr>
          <a:lstStyle/>
          <a:p>
            <a:r>
              <a:rPr lang="en-US" sz="3800" dirty="0" smtClean="0">
                <a:solidFill>
                  <a:srgbClr val="C00000"/>
                </a:solidFill>
              </a:rPr>
              <a:t>FURPS stands for: </a:t>
            </a:r>
          </a:p>
          <a:p>
            <a:r>
              <a:rPr lang="en-US" smtClean="0">
                <a:solidFill>
                  <a:srgbClr val="C00000"/>
                </a:solidFill>
              </a:rPr>
              <a:t>Functionality </a:t>
            </a:r>
            <a:r>
              <a:rPr lang="en-US" dirty="0" smtClean="0">
                <a:solidFill>
                  <a:srgbClr val="C00000"/>
                </a:solidFill>
              </a:rPr>
              <a:t>–</a:t>
            </a:r>
            <a:r>
              <a:rPr lang="en-US" dirty="0" smtClean="0"/>
              <a:t> which may include feature sets, capabilities and security. </a:t>
            </a:r>
          </a:p>
          <a:p>
            <a:r>
              <a:rPr lang="en-US" smtClean="0">
                <a:solidFill>
                  <a:srgbClr val="C00000"/>
                </a:solidFill>
              </a:rPr>
              <a:t>Usability </a:t>
            </a:r>
            <a:r>
              <a:rPr lang="en-US" dirty="0" smtClean="0"/>
              <a:t>- which may include human factors, aesthetics, consistency in the user interface, online and context sensitive help, wizards and agents, user documentation, and training materials. </a:t>
            </a:r>
          </a:p>
          <a:p>
            <a:r>
              <a:rPr lang="en-US" smtClean="0">
                <a:solidFill>
                  <a:srgbClr val="C00000"/>
                </a:solidFill>
              </a:rPr>
              <a:t>Reliability </a:t>
            </a:r>
            <a:r>
              <a:rPr lang="en-US" dirty="0" smtClean="0"/>
              <a:t>- which may include frequency and severity of failure, recoverability, predictability, accuracy, and mean time between failure (MTBF). </a:t>
            </a:r>
          </a:p>
          <a:p>
            <a:r>
              <a:rPr lang="en-US" smtClean="0">
                <a:solidFill>
                  <a:srgbClr val="C00000"/>
                </a:solidFill>
              </a:rPr>
              <a:t>Performance </a:t>
            </a:r>
            <a:r>
              <a:rPr lang="en-US" dirty="0" smtClean="0"/>
              <a:t>- imposes conditions on functional requirements such as speed, efficiency, availability, accuracy, throughput, response time, recovery time, and resource usage.</a:t>
            </a:r>
          </a:p>
          <a:p>
            <a:r>
              <a:rPr lang="en-US" smtClean="0">
                <a:solidFill>
                  <a:srgbClr val="C00000"/>
                </a:solidFill>
              </a:rPr>
              <a:t>Supportability </a:t>
            </a:r>
            <a:r>
              <a:rPr lang="en-US" dirty="0" smtClean="0"/>
              <a:t>- which may include testability, extensibility, adaptability, maintainability, compatibility, configurability, serviceability, install ability, localizability (internationalization).</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r>
              <a:rPr lang="en-US" b="1" u="sng" dirty="0" smtClean="0">
                <a:solidFill>
                  <a:srgbClr val="C00000"/>
                </a:solidFill>
              </a:rPr>
              <a:t>4. Dromey Model:-</a:t>
            </a:r>
            <a:endParaRPr lang="en-US" u="sng" dirty="0" smtClean="0">
              <a:solidFill>
                <a:srgbClr val="C00000"/>
              </a:solidFill>
            </a:endParaRPr>
          </a:p>
          <a:p>
            <a:r>
              <a:rPr lang="en-US" sz="2800" dirty="0" smtClean="0">
                <a:hlinkClick r:id="rId2"/>
              </a:rPr>
              <a:t>Dromey (1995) </a:t>
            </a:r>
            <a:r>
              <a:rPr lang="en-US" sz="2800" dirty="0" smtClean="0"/>
              <a:t>states that the evaluation is different for each product, thus a dynamic idea for process modeling is required. </a:t>
            </a:r>
          </a:p>
          <a:p>
            <a:r>
              <a:rPr lang="en-US" sz="2800" dirty="0" smtClean="0"/>
              <a:t>Thus, the main idea of the proposed model was to obtain a model broad enough to work for different systems. </a:t>
            </a:r>
          </a:p>
          <a:p>
            <a:r>
              <a:rPr lang="en-US" sz="2800" dirty="0" smtClean="0"/>
              <a:t>Also the model seeks to increase understanding of the relationship between the attributes (characteristics) and the sub-attributes (sub-characteristics) of quality. </a:t>
            </a:r>
          </a:p>
          <a:p>
            <a:r>
              <a:rPr lang="en-US" sz="2800" dirty="0" smtClean="0"/>
              <a:t>Also this model defined two layers, the high-level attributes and subordinate attributes.</a:t>
            </a:r>
          </a:p>
          <a:p>
            <a:r>
              <a:rPr lang="en-US" sz="2800" dirty="0" smtClean="0"/>
              <a:t> Therefore, this model suffers from lack of criteria for measurement of software quality.</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r>
              <a:rPr lang="en-US" dirty="0" err="1" smtClean="0">
                <a:solidFill>
                  <a:srgbClr val="FF0000"/>
                </a:solidFill>
                <a:latin typeface="Arial Narrow" pitchFamily="34" charset="0"/>
              </a:rPr>
              <a:t>Dromey</a:t>
            </a:r>
            <a:r>
              <a:rPr lang="en-US" dirty="0" smtClean="0">
                <a:solidFill>
                  <a:srgbClr val="FF0000"/>
                </a:solidFill>
                <a:latin typeface="Arial Narrow" pitchFamily="34" charset="0"/>
              </a:rPr>
              <a:t> gives the following </a:t>
            </a:r>
            <a:r>
              <a:rPr lang="en-US" smtClean="0">
                <a:solidFill>
                  <a:srgbClr val="FF0000"/>
                </a:solidFill>
                <a:latin typeface="Arial Narrow" pitchFamily="34" charset="0"/>
              </a:rPr>
              <a:t>examples of the </a:t>
            </a:r>
            <a:r>
              <a:rPr lang="en-US" dirty="0" smtClean="0">
                <a:solidFill>
                  <a:srgbClr val="FF0000"/>
                </a:solidFill>
                <a:latin typeface="Arial Narrow" pitchFamily="34" charset="0"/>
              </a:rPr>
              <a:t>software components for each of the different models: </a:t>
            </a:r>
          </a:p>
          <a:p>
            <a:r>
              <a:rPr lang="en-US" dirty="0" smtClean="0">
                <a:latin typeface="Arial Narrow" pitchFamily="34" charset="0"/>
              </a:rPr>
              <a:t>• Variables, functions, statements, etc. can be considered components of the Implementation model; </a:t>
            </a:r>
          </a:p>
          <a:p>
            <a:r>
              <a:rPr lang="en-US" dirty="0" smtClean="0">
                <a:latin typeface="Arial Narrow" pitchFamily="34" charset="0"/>
              </a:rPr>
              <a:t>• A requirement can be considered a component of the requirements model; </a:t>
            </a:r>
          </a:p>
          <a:p>
            <a:r>
              <a:rPr lang="en-US" dirty="0" smtClean="0">
                <a:latin typeface="Arial Narrow" pitchFamily="34" charset="0"/>
              </a:rPr>
              <a:t>• A module can be considered a component of the design model;</a:t>
            </a:r>
          </a:p>
          <a:p>
            <a:r>
              <a:rPr lang="en-US" dirty="0" err="1" smtClean="0">
                <a:latin typeface="Arial Narrow" pitchFamily="34" charset="0"/>
              </a:rPr>
              <a:t>Dromey</a:t>
            </a:r>
            <a:r>
              <a:rPr lang="en-US" dirty="0" smtClean="0">
                <a:latin typeface="Arial Narrow" pitchFamily="34" charset="0"/>
              </a:rPr>
              <a:t> proposes a product based quality model that recognizes that quality evaluation differs for each product and that a more dynamic idea for modeling the process is needed to be wide enough to apply for different systems. </a:t>
            </a:r>
          </a:p>
          <a:p>
            <a:endParaRPr lang="en-US" dirty="0" smtClean="0"/>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r>
              <a:rPr lang="en-US" dirty="0" err="1" smtClean="0">
                <a:latin typeface="Arial Narrow" pitchFamily="34" charset="0"/>
              </a:rPr>
              <a:t>Dromey</a:t>
            </a:r>
            <a:r>
              <a:rPr lang="en-US" dirty="0" smtClean="0">
                <a:latin typeface="Arial Narrow" pitchFamily="34" charset="0"/>
              </a:rPr>
              <a:t> is focusing on the relationship between the quality attributes and the sub-attributes, as well as attempting to connect software product properties with software quality attributes.</a:t>
            </a:r>
          </a:p>
          <a:p>
            <a:r>
              <a:rPr lang="en-US" dirty="0" smtClean="0">
                <a:latin typeface="Arial Narrow" pitchFamily="34" charset="0"/>
              </a:rPr>
              <a:t>Implementation, Correctness Internal Contextual Descriptive, Functionality, efficiency, reliability, Maintainability, reusability, portability, reusability, usability.</a:t>
            </a:r>
            <a:endParaRPr lang="en-US" dirty="0">
              <a:latin typeface="Arial Narrow"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b="1" dirty="0"/>
          </a:p>
        </p:txBody>
      </p:sp>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fontScale="92500" lnSpcReduction="10000"/>
          </a:bodyPr>
          <a:lstStyle/>
          <a:p>
            <a:r>
              <a:rPr lang="en-US" sz="4000" b="1" u="sng" dirty="0" smtClean="0">
                <a:solidFill>
                  <a:srgbClr val="C00000"/>
                </a:solidFill>
              </a:rPr>
              <a:t>5. ISO IEC 9126 Model:-</a:t>
            </a:r>
            <a:endParaRPr lang="en-US" sz="4000" u="sng" dirty="0" smtClean="0">
              <a:solidFill>
                <a:srgbClr val="C00000"/>
              </a:solidFill>
            </a:endParaRPr>
          </a:p>
          <a:p>
            <a:r>
              <a:rPr lang="en-US" dirty="0" smtClean="0">
                <a:latin typeface="Arial Narrow" pitchFamily="34" charset="0"/>
              </a:rPr>
              <a:t>As, many software quality models were proposed, the confusion happened and new standard model was required. Thus, ISO/IEC JTC1 began to develop the required consensus and encourage standardization world-wide. The ISO 9126 is part of the ISO 9000 standard, and it is the most important standard for quality assurance. The first considerations originated in 1978, and in the year 1985 the development of </a:t>
            </a:r>
            <a:r>
              <a:rPr lang="en-US" dirty="0" smtClean="0">
                <a:latin typeface="Arial Narrow" pitchFamily="34" charset="0"/>
                <a:hlinkClick r:id="rId2"/>
              </a:rPr>
              <a:t>ISO/IEC 9126</a:t>
            </a:r>
            <a:r>
              <a:rPr lang="en-US" dirty="0" smtClean="0">
                <a:latin typeface="Arial Narrow" pitchFamily="34" charset="0"/>
              </a:rPr>
              <a:t> was started.</a:t>
            </a:r>
          </a:p>
          <a:p>
            <a:r>
              <a:rPr lang="en-US" dirty="0" smtClean="0">
                <a:latin typeface="Arial Narrow" pitchFamily="34" charset="0"/>
              </a:rPr>
              <a:t>In this model, for </a:t>
            </a:r>
            <a:r>
              <a:rPr lang="en-US" b="1" dirty="0" smtClean="0">
                <a:latin typeface="Arial Narrow" pitchFamily="34" charset="0"/>
                <a:hlinkClick r:id="rId3"/>
              </a:rPr>
              <a:t>software development companies</a:t>
            </a:r>
            <a:r>
              <a:rPr lang="en-US" b="1" dirty="0" smtClean="0">
                <a:latin typeface="Arial Narrow" pitchFamily="34" charset="0"/>
              </a:rPr>
              <a:t>, </a:t>
            </a:r>
            <a:r>
              <a:rPr lang="en-US" dirty="0" smtClean="0">
                <a:latin typeface="Arial Narrow" pitchFamily="34" charset="0"/>
              </a:rPr>
              <a:t>the totality of software product quality attributes was classified in a hierarchical tree structure of characteristics and sub characteristics. And the highest level of this structure consists of the quality characteristics and the lowest level consists of the software quality criteria.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r>
              <a:rPr lang="en-US" dirty="0" smtClean="0">
                <a:latin typeface="Arial Narrow" pitchFamily="34" charset="0"/>
              </a:rPr>
              <a:t>This model specified six characteristics including Functionality, the Reliability, Usability, Efficiency, Maintainability and the Portability; all of which are further divided into 21 sub characteristics. </a:t>
            </a:r>
          </a:p>
          <a:p>
            <a:r>
              <a:rPr lang="en-US" dirty="0" smtClean="0">
                <a:latin typeface="Arial Narrow" pitchFamily="34" charset="0"/>
              </a:rPr>
              <a:t>All these sub characteristics are manifested externally when the software is used as part of a computer system, and thus are the result of internal software attributes.</a:t>
            </a:r>
          </a:p>
          <a:p>
            <a:r>
              <a:rPr lang="en-US" dirty="0" smtClean="0">
                <a:latin typeface="Arial Narrow" pitchFamily="34" charset="0"/>
              </a:rPr>
              <a:t> All the defined characteristics are applicable to every kind of software, including computer programs and data contained in firmware and provide consistent terminology for software product quality. </a:t>
            </a:r>
          </a:p>
          <a:p>
            <a:r>
              <a:rPr lang="en-US" dirty="0" smtClean="0">
                <a:latin typeface="Arial Narrow" pitchFamily="34" charset="0"/>
              </a:rPr>
              <a:t>And they also provide a framework for making trade-offs between software product capabilities.</a:t>
            </a:r>
            <a:endParaRPr lang="en-US" dirty="0">
              <a:latin typeface="Arial Narrow"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r>
              <a:rPr lang="en-US" b="1" dirty="0" smtClean="0">
                <a:solidFill>
                  <a:srgbClr val="C00000"/>
                </a:solidFill>
              </a:rPr>
              <a:t>6. Capability Maturity Model (CM</a:t>
            </a:r>
            <a:r>
              <a:rPr lang="en-US" b="1" dirty="0" smtClean="0"/>
              <a:t>M)-</a:t>
            </a:r>
            <a:r>
              <a:rPr lang="en-US" dirty="0" smtClean="0"/>
              <a:t>One of the </a:t>
            </a:r>
            <a:r>
              <a:rPr lang="en-US" b="1" u="sng" dirty="0" smtClean="0">
                <a:hlinkClick r:id="rId2"/>
              </a:rPr>
              <a:t>most important quality models</a:t>
            </a:r>
            <a:r>
              <a:rPr lang="en-US" dirty="0" smtClean="0"/>
              <a:t> of software quality maintenance. The model lays down a very simple approach to define the quality standards. </a:t>
            </a:r>
          </a:p>
          <a:p>
            <a:r>
              <a:rPr lang="en-US" dirty="0" smtClean="0">
                <a:solidFill>
                  <a:srgbClr val="FF0000"/>
                </a:solidFill>
              </a:rPr>
              <a:t>It has five levels namely – </a:t>
            </a:r>
          </a:p>
          <a:p>
            <a:r>
              <a:rPr lang="en-US" dirty="0" smtClean="0">
                <a:solidFill>
                  <a:srgbClr val="FF0000"/>
                </a:solidFill>
              </a:rPr>
              <a:t>Initial Level , </a:t>
            </a:r>
          </a:p>
          <a:p>
            <a:r>
              <a:rPr lang="en-US" dirty="0" smtClean="0">
                <a:solidFill>
                  <a:srgbClr val="FF0000"/>
                </a:solidFill>
              </a:rPr>
              <a:t>Repeatable Level, </a:t>
            </a:r>
          </a:p>
          <a:p>
            <a:r>
              <a:rPr lang="en-US" dirty="0" smtClean="0">
                <a:solidFill>
                  <a:srgbClr val="FF0000"/>
                </a:solidFill>
              </a:rPr>
              <a:t>Defined Level, </a:t>
            </a:r>
          </a:p>
          <a:p>
            <a:r>
              <a:rPr lang="en-US" dirty="0" smtClean="0">
                <a:solidFill>
                  <a:srgbClr val="FF0000"/>
                </a:solidFill>
              </a:rPr>
              <a:t>Managed Level, </a:t>
            </a:r>
          </a:p>
          <a:p>
            <a:r>
              <a:rPr lang="en-US" dirty="0" smtClean="0">
                <a:solidFill>
                  <a:srgbClr val="FF0000"/>
                </a:solidFill>
              </a:rPr>
              <a:t>Optimizing Level. </a:t>
            </a:r>
          </a:p>
          <a:p>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2"/>
          </a:lnRef>
          <a:fillRef idx="2">
            <a:schemeClr val="accent2"/>
          </a:fillRef>
          <a:effectRef idx="1">
            <a:schemeClr val="accent2"/>
          </a:effectRef>
          <a:fontRef idx="minor">
            <a:schemeClr val="dk1"/>
          </a:fontRef>
        </p:style>
        <p:txBody>
          <a:bodyPr>
            <a:normAutofit fontScale="92500" lnSpcReduction="10000"/>
          </a:bodyPr>
          <a:lstStyle/>
          <a:p>
            <a:r>
              <a:rPr lang="en-US" dirty="0" smtClean="0">
                <a:solidFill>
                  <a:srgbClr val="FF0000"/>
                </a:solidFill>
              </a:rPr>
              <a:t>At the </a:t>
            </a:r>
            <a:r>
              <a:rPr lang="en-US" i="1" dirty="0" smtClean="0">
                <a:solidFill>
                  <a:srgbClr val="FF0000"/>
                </a:solidFill>
              </a:rPr>
              <a:t>initial</a:t>
            </a:r>
            <a:r>
              <a:rPr lang="en-US" dirty="0" smtClean="0">
                <a:solidFill>
                  <a:srgbClr val="FF0000"/>
                </a:solidFill>
              </a:rPr>
              <a:t> level, </a:t>
            </a:r>
            <a:r>
              <a:rPr lang="en-US" dirty="0" smtClean="0"/>
              <a:t>the company is quite small and it solely depends on an individual how he handles the company. </a:t>
            </a:r>
          </a:p>
          <a:p>
            <a:r>
              <a:rPr lang="en-US" dirty="0" smtClean="0">
                <a:solidFill>
                  <a:srgbClr val="FF0000"/>
                </a:solidFill>
              </a:rPr>
              <a:t>The </a:t>
            </a:r>
            <a:r>
              <a:rPr lang="en-US" i="1" dirty="0" smtClean="0">
                <a:solidFill>
                  <a:srgbClr val="FF0000"/>
                </a:solidFill>
              </a:rPr>
              <a:t>repeatable</a:t>
            </a:r>
            <a:r>
              <a:rPr lang="en-US" dirty="0" smtClean="0">
                <a:solidFill>
                  <a:srgbClr val="FF0000"/>
                </a:solidFill>
              </a:rPr>
              <a:t> level </a:t>
            </a:r>
            <a:r>
              <a:rPr lang="en-US" dirty="0" smtClean="0"/>
              <a:t>states that at least the basic requirements or techniques have been established and the organization has attained a certain level of success. </a:t>
            </a:r>
          </a:p>
          <a:p>
            <a:r>
              <a:rPr lang="en-US" dirty="0" smtClean="0">
                <a:solidFill>
                  <a:srgbClr val="FF0000"/>
                </a:solidFill>
              </a:rPr>
              <a:t>By the next level that i</a:t>
            </a:r>
            <a:r>
              <a:rPr lang="en-US" dirty="0" smtClean="0"/>
              <a:t>s , </a:t>
            </a:r>
            <a:r>
              <a:rPr lang="en-US" i="1" dirty="0" smtClean="0"/>
              <a:t>defined</a:t>
            </a:r>
            <a:r>
              <a:rPr lang="en-US" dirty="0" smtClean="0"/>
              <a:t>, the company has already established a set of standards for smooth functioning of a software project/process. </a:t>
            </a:r>
          </a:p>
          <a:p>
            <a:r>
              <a:rPr lang="en-US" dirty="0" smtClean="0">
                <a:solidFill>
                  <a:srgbClr val="FF0000"/>
                </a:solidFill>
              </a:rPr>
              <a:t>At the </a:t>
            </a:r>
            <a:r>
              <a:rPr lang="en-US" i="1" dirty="0" smtClean="0">
                <a:solidFill>
                  <a:srgbClr val="FF0000"/>
                </a:solidFill>
              </a:rPr>
              <a:t>managed</a:t>
            </a:r>
            <a:r>
              <a:rPr lang="en-US" dirty="0" smtClean="0">
                <a:solidFill>
                  <a:srgbClr val="FF0000"/>
                </a:solidFill>
              </a:rPr>
              <a:t> level, </a:t>
            </a:r>
            <a:r>
              <a:rPr lang="en-US" dirty="0" smtClean="0"/>
              <a:t>an organization monitors its own activities through a data collection and analysis. </a:t>
            </a:r>
          </a:p>
          <a:p>
            <a:r>
              <a:rPr lang="en-US" dirty="0" smtClean="0">
                <a:solidFill>
                  <a:srgbClr val="FF0000"/>
                </a:solidFill>
              </a:rPr>
              <a:t>At the fifth level that is the </a:t>
            </a:r>
            <a:r>
              <a:rPr lang="en-US" i="1" dirty="0" smtClean="0">
                <a:solidFill>
                  <a:srgbClr val="FF0000"/>
                </a:solidFill>
              </a:rPr>
              <a:t>optimizing</a:t>
            </a:r>
            <a:r>
              <a:rPr lang="en-US" dirty="0" smtClean="0">
                <a:solidFill>
                  <a:srgbClr val="FF0000"/>
                </a:solidFill>
              </a:rPr>
              <a:t> level</a:t>
            </a:r>
            <a:r>
              <a:rPr lang="en-US" dirty="0" smtClean="0"/>
              <a:t>, constant improvement of the prevailing process becomes a priority, a lot of innovative approach is applied towards the qualitative enhancement.</a:t>
            </a:r>
          </a:p>
          <a:p>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a:bodyPr>
          <a:lstStyle/>
          <a:p>
            <a:endParaRPr lang="en-US" dirty="0"/>
          </a:p>
        </p:txBody>
      </p:sp>
      <p:pic>
        <p:nvPicPr>
          <p:cNvPr id="5122" name="Picture 2"/>
          <p:cNvPicPr>
            <a:picLocks noChangeAspect="1" noChangeArrowheads="1"/>
          </p:cNvPicPr>
          <p:nvPr/>
        </p:nvPicPr>
        <p:blipFill>
          <a:blip r:embed="rId2"/>
          <a:srcRect/>
          <a:stretch>
            <a:fillRect/>
          </a:stretch>
        </p:blipFill>
        <p:spPr bwMode="auto">
          <a:xfrm>
            <a:off x="0" y="0"/>
            <a:ext cx="9143999" cy="6858000"/>
          </a:xfrm>
          <a:prstGeom prst="rect">
            <a:avLst/>
          </a:prstGeom>
          <a:noFill/>
          <a:ln w="9525">
            <a:noFill/>
            <a:miter lim="800000"/>
            <a:headEnd/>
            <a:tailEnd/>
          </a:ln>
          <a:effec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146" name="Picture 2"/>
          <p:cNvPicPr>
            <a:picLocks noGrp="1" noChangeAspect="1" noChangeArrowheads="1"/>
          </p:cNvPicPr>
          <p:nvPr>
            <p:ph idx="1"/>
          </p:nvPr>
        </p:nvPicPr>
        <p:blipFill>
          <a:blip r:embed="rId2"/>
          <a:srcRect/>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r>
              <a:rPr lang="en-US" sz="2800" dirty="0" smtClean="0"/>
              <a:t>Software quality engineering needs a quality model that is usable throughout the software lifecycle and that it embraces all the perspectives of quality model suitable for such a purpose, through the comparative evaluation of existing quality models and their respective support Quality engineering. From the research it is observed that the: </a:t>
            </a:r>
          </a:p>
          <a:p>
            <a:r>
              <a:rPr lang="en-US" sz="2800" dirty="0" smtClean="0"/>
              <a:t>Users play a role in the measurement of Software Quality.  </a:t>
            </a:r>
          </a:p>
          <a:p>
            <a:r>
              <a:rPr lang="en-US" sz="2800" dirty="0" smtClean="0"/>
              <a:t>Users have a direct and equal impact on the software quality.</a:t>
            </a:r>
          </a:p>
          <a:p>
            <a:r>
              <a:rPr lang="en-US" sz="2800" dirty="0" smtClean="0"/>
              <a:t>Identifies the requirements, which needs improvement </a:t>
            </a:r>
          </a:p>
          <a:p>
            <a:r>
              <a:rPr lang="en-US" sz="2800" dirty="0" smtClean="0"/>
              <a:t>Requires a good amount of time for the evaluation. </a:t>
            </a:r>
          </a:p>
          <a:p>
            <a:r>
              <a:rPr lang="en-US" sz="2800" dirty="0" smtClean="0"/>
              <a:t>Can be used to improve the quality of later versions of the software.</a:t>
            </a:r>
            <a:endParaRPr lang="en-US" sz="2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a:bodyPr>
          <a:lstStyle/>
          <a:p>
            <a:pPr algn="ctr"/>
            <a:r>
              <a:rPr lang="en-US" dirty="0" smtClean="0">
                <a:solidFill>
                  <a:srgbClr val="C00000"/>
                </a:solidFill>
              </a:rPr>
              <a:t>Which is the best software quality model?</a:t>
            </a:r>
          </a:p>
          <a:p>
            <a:r>
              <a:rPr lang="en-US" b="1" dirty="0" smtClean="0"/>
              <a:t>ISO 9126</a:t>
            </a:r>
            <a:r>
              <a:rPr lang="en-US" dirty="0" smtClean="0"/>
              <a:t>: The ISO 9126 quality model is the most useful model it has been figured on the basis of international agreements and accordance from all the countries which are members of the ISO organization</a:t>
            </a:r>
          </a:p>
          <a:p>
            <a:endParaRPr lang="en-US" dirty="0" smtClean="0">
              <a:latin typeface="Aparajit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098" name="Picture 2"/>
          <p:cNvPicPr>
            <a:picLocks noGrp="1" noChangeAspect="1" noChangeArrowheads="1"/>
          </p:cNvPicPr>
          <p:nvPr>
            <p:ph idx="1"/>
          </p:nvPr>
        </p:nvPicPr>
        <p:blipFill>
          <a:blip r:embed="rId2"/>
          <a:srcRect/>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fontScale="92500" lnSpcReduction="10000"/>
          </a:bodyPr>
          <a:lstStyle/>
          <a:p>
            <a:r>
              <a:rPr lang="en-US" sz="3800" u="sng" dirty="0" smtClean="0">
                <a:solidFill>
                  <a:srgbClr val="C00000"/>
                </a:solidFill>
                <a:latin typeface="Aparajita" pitchFamily="34" charset="0"/>
                <a:cs typeface="Aparajita" pitchFamily="34" charset="0"/>
              </a:rPr>
              <a:t>Software Reliability Models:-</a:t>
            </a:r>
          </a:p>
          <a:p>
            <a:r>
              <a:rPr lang="en-US" dirty="0" smtClean="0"/>
              <a:t>A software reliability model indicates the form of a random process that defines the behavior of software failures to time.</a:t>
            </a:r>
          </a:p>
          <a:p>
            <a:r>
              <a:rPr lang="en-US" b="1" dirty="0" smtClean="0">
                <a:solidFill>
                  <a:srgbClr val="002060"/>
                </a:solidFill>
              </a:rPr>
              <a:t>“Software Reliability Model is defined as a method used in Computer Science to predict the probability of error-free operation of a computer program over a specified time period in a specific environment, based on the number of bugs present in the software” </a:t>
            </a:r>
            <a:r>
              <a:rPr lang="en-US" i="1" dirty="0" smtClean="0"/>
              <a:t>.</a:t>
            </a:r>
          </a:p>
          <a:p>
            <a:r>
              <a:rPr lang="en-US" dirty="0" smtClean="0"/>
              <a:t>Software reliability models have appeared as people try to understand the features of how and why software fails, and attempt to quantify software reliability.</a:t>
            </a:r>
          </a:p>
          <a:p>
            <a:r>
              <a:rPr lang="en-US" dirty="0" smtClean="0"/>
              <a:t>Over 200 models have been established since the early 1970s, but how to quantify software reliability remains mostly unsolved.</a:t>
            </a:r>
          </a:p>
          <a:p>
            <a:endParaRPr lang="en-US" dirty="0" smtClean="0"/>
          </a:p>
          <a:p>
            <a:endParaRPr lang="en-US" dirty="0" smtClean="0"/>
          </a:p>
          <a:p>
            <a:endParaRPr lang="en-US" dirty="0" smtClean="0">
              <a:solidFill>
                <a:srgbClr val="C00000"/>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92500" lnSpcReduction="10000"/>
          </a:bodyPr>
          <a:lstStyle/>
          <a:p>
            <a:pPr algn="just"/>
            <a:r>
              <a:rPr lang="en-US" dirty="0" smtClean="0"/>
              <a:t>Software reliability can be defined as a characteristic of a software's quality that includes functionality, usability, performance, capability, maintainability, documentation, and so on.</a:t>
            </a:r>
          </a:p>
          <a:p>
            <a:pPr algn="just"/>
            <a:r>
              <a:rPr lang="en-US" dirty="0" smtClean="0"/>
              <a:t>As a software application grows, it will inevitably become more sophisticated. As a result, the estimations like its cost becomes difficult. Hence, various models have evolved, providing effective estimation techniques.</a:t>
            </a:r>
          </a:p>
          <a:p>
            <a:pPr algn="just"/>
            <a:r>
              <a:rPr lang="en-US" dirty="0" smtClean="0"/>
              <a:t>A software reliability model shows the form of a random process that describes how software failures behave over time.</a:t>
            </a:r>
          </a:p>
          <a:p>
            <a:pPr algn="just"/>
            <a:r>
              <a:rPr lang="en-US" dirty="0" smtClean="0"/>
              <a:t>There is no individual model that can be used in all situations. No model is complete or even representative.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85000" lnSpcReduction="20000"/>
          </a:bodyPr>
          <a:lstStyle/>
          <a:p>
            <a:r>
              <a:rPr lang="en-US" dirty="0" smtClean="0"/>
              <a:t>Some of the Software Reliability Models that are used to achieve reliability in Software Development are-</a:t>
            </a:r>
          </a:p>
          <a:p>
            <a:r>
              <a:rPr lang="en-US" b="1" dirty="0" err="1" smtClean="0">
                <a:solidFill>
                  <a:srgbClr val="002060"/>
                </a:solidFill>
              </a:rPr>
              <a:t>Jelinski</a:t>
            </a:r>
            <a:r>
              <a:rPr lang="en-US" b="1" dirty="0" smtClean="0">
                <a:solidFill>
                  <a:srgbClr val="002060"/>
                </a:solidFill>
              </a:rPr>
              <a:t> and </a:t>
            </a:r>
            <a:r>
              <a:rPr lang="en-US" b="1" dirty="0" err="1" smtClean="0">
                <a:solidFill>
                  <a:srgbClr val="002060"/>
                </a:solidFill>
              </a:rPr>
              <a:t>Moranda</a:t>
            </a:r>
            <a:r>
              <a:rPr lang="en-US" b="1" dirty="0" smtClean="0">
                <a:solidFill>
                  <a:srgbClr val="002060"/>
                </a:solidFill>
              </a:rPr>
              <a:t> Model</a:t>
            </a:r>
          </a:p>
          <a:p>
            <a:r>
              <a:rPr lang="en-US" b="1" dirty="0" smtClean="0">
                <a:solidFill>
                  <a:srgbClr val="002060"/>
                </a:solidFill>
              </a:rPr>
              <a:t>Basic Execution Time Model</a:t>
            </a:r>
          </a:p>
          <a:p>
            <a:r>
              <a:rPr lang="en-US" b="1" dirty="0" smtClean="0">
                <a:solidFill>
                  <a:srgbClr val="002060"/>
                </a:solidFill>
              </a:rPr>
              <a:t>Logarithmic Poisson Time Model</a:t>
            </a:r>
          </a:p>
          <a:p>
            <a:r>
              <a:rPr lang="en-US" b="1" dirty="0" smtClean="0">
                <a:solidFill>
                  <a:srgbClr val="002060"/>
                </a:solidFill>
              </a:rPr>
              <a:t>The Bug Seeding Model</a:t>
            </a:r>
          </a:p>
          <a:p>
            <a:r>
              <a:rPr lang="en-US" b="1" dirty="0" err="1" smtClean="0">
                <a:solidFill>
                  <a:srgbClr val="002060"/>
                </a:solidFill>
              </a:rPr>
              <a:t>Shooman</a:t>
            </a:r>
            <a:r>
              <a:rPr lang="en-US" b="1" dirty="0" smtClean="0">
                <a:solidFill>
                  <a:srgbClr val="002060"/>
                </a:solidFill>
              </a:rPr>
              <a:t> Model</a:t>
            </a:r>
          </a:p>
          <a:p>
            <a:r>
              <a:rPr lang="en-US" b="1" dirty="0" err="1" smtClean="0">
                <a:solidFill>
                  <a:srgbClr val="002060"/>
                </a:solidFill>
              </a:rPr>
              <a:t>Littlewood-Verrall</a:t>
            </a:r>
            <a:r>
              <a:rPr lang="en-US" b="1" dirty="0" smtClean="0">
                <a:solidFill>
                  <a:srgbClr val="002060"/>
                </a:solidFill>
              </a:rPr>
              <a:t> Model</a:t>
            </a:r>
          </a:p>
          <a:p>
            <a:r>
              <a:rPr lang="en-US" b="1" dirty="0" err="1" smtClean="0">
                <a:solidFill>
                  <a:srgbClr val="002060"/>
                </a:solidFill>
              </a:rPr>
              <a:t>Goel-Okumoto</a:t>
            </a:r>
            <a:r>
              <a:rPr lang="en-US" b="1" dirty="0" smtClean="0">
                <a:solidFill>
                  <a:srgbClr val="002060"/>
                </a:solidFill>
              </a:rPr>
              <a:t> Model</a:t>
            </a:r>
          </a:p>
          <a:p>
            <a:r>
              <a:rPr lang="en-US" b="1" dirty="0" smtClean="0">
                <a:solidFill>
                  <a:srgbClr val="002060"/>
                </a:solidFill>
              </a:rPr>
              <a:t>Musa-</a:t>
            </a:r>
            <a:r>
              <a:rPr lang="en-US" b="1" dirty="0" err="1" smtClean="0">
                <a:solidFill>
                  <a:srgbClr val="002060"/>
                </a:solidFill>
              </a:rPr>
              <a:t>Okumoto</a:t>
            </a:r>
            <a:r>
              <a:rPr lang="en-US" b="1" dirty="0" smtClean="0">
                <a:solidFill>
                  <a:srgbClr val="002060"/>
                </a:solidFill>
              </a:rPr>
              <a:t> Model</a:t>
            </a:r>
          </a:p>
          <a:p>
            <a:r>
              <a:rPr lang="en-US" dirty="0" smtClean="0">
                <a:solidFill>
                  <a:srgbClr val="C00000"/>
                </a:solidFill>
              </a:rPr>
              <a:t>Most software models contain the following parts</a:t>
            </a:r>
            <a:r>
              <a:rPr lang="en-US" dirty="0" smtClean="0"/>
              <a:t>:</a:t>
            </a:r>
          </a:p>
          <a:p>
            <a:r>
              <a:rPr lang="en-US" dirty="0" smtClean="0"/>
              <a:t>Assumptions Or prediction </a:t>
            </a:r>
          </a:p>
          <a:p>
            <a:r>
              <a:rPr lang="en-US" dirty="0" smtClean="0"/>
              <a:t>Factors</a:t>
            </a:r>
          </a:p>
          <a:p>
            <a:r>
              <a:rPr lang="en-US" dirty="0" smtClean="0"/>
              <a:t>A mathematical function that includes the reliability with the elements. The mathematical function is generally higher-order exponential or logarithmic.</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lnSpcReduction="10000"/>
          </a:bodyPr>
          <a:lstStyle/>
          <a:p>
            <a:r>
              <a:rPr lang="en-US" u="sng" dirty="0" smtClean="0">
                <a:solidFill>
                  <a:srgbClr val="C00000"/>
                </a:solidFill>
              </a:rPr>
              <a:t>Software Reliability </a:t>
            </a:r>
            <a:r>
              <a:rPr lang="en-US" u="sng" dirty="0" err="1" smtClean="0">
                <a:solidFill>
                  <a:srgbClr val="C00000"/>
                </a:solidFill>
              </a:rPr>
              <a:t>Modelling</a:t>
            </a:r>
            <a:r>
              <a:rPr lang="en-US" u="sng" dirty="0" smtClean="0">
                <a:solidFill>
                  <a:srgbClr val="C00000"/>
                </a:solidFill>
              </a:rPr>
              <a:t> Techniques:-</a:t>
            </a:r>
            <a:r>
              <a:rPr lang="en-US" sz="2800" dirty="0" smtClean="0"/>
              <a:t>These modeling techniques are based on observing and accumulating failure data and analyzing with statistical inference. Software Reliability Modeling techniques can be divided into two categories:-</a:t>
            </a:r>
          </a:p>
          <a:p>
            <a:r>
              <a:rPr lang="en-US" sz="2800" i="1" dirty="0" smtClean="0">
                <a:solidFill>
                  <a:srgbClr val="C00000"/>
                </a:solidFill>
              </a:rPr>
              <a:t>1. Estimation Models –              </a:t>
            </a:r>
            <a:r>
              <a:rPr lang="en-US" sz="2800" b="1" dirty="0" smtClean="0">
                <a:solidFill>
                  <a:srgbClr val="C00000"/>
                </a:solidFill>
              </a:rPr>
              <a:t>2. Prediction Models-</a:t>
            </a:r>
            <a:endParaRPr lang="en-US" sz="2800" dirty="0" smtClean="0">
              <a:solidFill>
                <a:srgbClr val="C00000"/>
              </a:solidFill>
            </a:endParaRPr>
          </a:p>
          <a:p>
            <a:r>
              <a:rPr lang="en-US" sz="2800" i="1" dirty="0" smtClean="0">
                <a:solidFill>
                  <a:srgbClr val="C00000"/>
                </a:solidFill>
              </a:rPr>
              <a:t>1. Estimation Models –</a:t>
            </a:r>
            <a:r>
              <a:rPr lang="en-US" sz="2800" dirty="0" smtClean="0"/>
              <a:t>This model uses the current</a:t>
            </a:r>
          </a:p>
          <a:p>
            <a:r>
              <a:rPr lang="en-US" sz="2800" dirty="0" smtClean="0"/>
              <a:t>data from the current software development effort and does not take into account the conceptual </a:t>
            </a:r>
            <a:r>
              <a:rPr lang="en-US" sz="2400" dirty="0" smtClean="0"/>
              <a:t>development phases. </a:t>
            </a:r>
            <a:r>
              <a:rPr lang="en-US" sz="2800" dirty="0" smtClean="0"/>
              <a:t>It can estimate at any point </a:t>
            </a:r>
          </a:p>
          <a:p>
            <a:r>
              <a:rPr lang="en-US" sz="2800" dirty="0" smtClean="0"/>
              <a:t>of time.</a:t>
            </a:r>
            <a:r>
              <a:rPr lang="en-US" dirty="0" smtClean="0"/>
              <a:t> </a:t>
            </a:r>
          </a:p>
          <a:p>
            <a:r>
              <a:rPr lang="en-US" sz="2400" dirty="0" smtClean="0"/>
              <a:t>The example of </a:t>
            </a:r>
            <a:r>
              <a:rPr lang="en-US" sz="2400" dirty="0" err="1" smtClean="0"/>
              <a:t>Weibull</a:t>
            </a:r>
            <a:r>
              <a:rPr lang="en-US" sz="2400" dirty="0" smtClean="0"/>
              <a:t> Model, </a:t>
            </a:r>
          </a:p>
          <a:p>
            <a:r>
              <a:rPr lang="en-US" sz="2400" dirty="0" smtClean="0"/>
              <a:t>Bayesian Model, J-M Model, </a:t>
            </a:r>
          </a:p>
          <a:p>
            <a:r>
              <a:rPr lang="en-US" sz="2400" dirty="0" err="1" smtClean="0"/>
              <a:t>Goel-Okumoto</a:t>
            </a:r>
            <a:r>
              <a:rPr lang="en-US" sz="2400" dirty="0" smtClean="0"/>
              <a:t> Model and Thompson and </a:t>
            </a:r>
          </a:p>
          <a:p>
            <a:r>
              <a:rPr lang="en-US" sz="2400" dirty="0" err="1" smtClean="0"/>
              <a:t>Chelson’s</a:t>
            </a:r>
            <a:r>
              <a:rPr lang="en-US" sz="2400" dirty="0" smtClean="0"/>
              <a:t> Model are the Estimation </a:t>
            </a:r>
          </a:p>
          <a:p>
            <a:r>
              <a:rPr lang="en-US" sz="2400" dirty="0" smtClean="0"/>
              <a:t>Models. </a:t>
            </a:r>
            <a:endParaRPr lang="en-US" dirty="0" smtClean="0"/>
          </a:p>
        </p:txBody>
      </p:sp>
      <p:pic>
        <p:nvPicPr>
          <p:cNvPr id="1027" name="Picture 3"/>
          <p:cNvPicPr>
            <a:picLocks noChangeAspect="1" noChangeArrowheads="1"/>
          </p:cNvPicPr>
          <p:nvPr/>
        </p:nvPicPr>
        <p:blipFill>
          <a:blip r:embed="rId2"/>
          <a:srcRect/>
          <a:stretch>
            <a:fillRect/>
          </a:stretch>
        </p:blipFill>
        <p:spPr bwMode="auto">
          <a:xfrm>
            <a:off x="5791200" y="3810000"/>
            <a:ext cx="3352800" cy="3048000"/>
          </a:xfrm>
          <a:prstGeom prst="rect">
            <a:avLst/>
          </a:prstGeom>
          <a:noFill/>
          <a:ln w="9525">
            <a:noFill/>
            <a:miter lim="800000"/>
            <a:headEnd/>
            <a:tailEnd/>
          </a:ln>
          <a:effec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85000" lnSpcReduction="10000"/>
          </a:bodyPr>
          <a:lstStyle/>
          <a:p>
            <a:r>
              <a:rPr lang="en-US" b="1" dirty="0" smtClean="0">
                <a:solidFill>
                  <a:srgbClr val="C00000"/>
                </a:solidFill>
              </a:rPr>
              <a:t>2. Prediction Models </a:t>
            </a:r>
            <a:r>
              <a:rPr lang="en-US" sz="2800" b="1" dirty="0" smtClean="0"/>
              <a:t>-</a:t>
            </a:r>
            <a:r>
              <a:rPr lang="en-US" sz="2800" dirty="0" smtClean="0"/>
              <a:t> This model is based on historical data. They analyze past data to conclude some facts to arrive at a consensus. They are usually made before development and regular test phases. The model follows the concept phase and the prediction from the future time. Musa Model, Putnam Model, Rome Lab TR-92-52 Model, and Raleigh Model are the Prediction Models.</a:t>
            </a:r>
          </a:p>
          <a:p>
            <a:pPr lvl="1"/>
            <a:r>
              <a:rPr lang="en-US" b="1" dirty="0" smtClean="0">
                <a:solidFill>
                  <a:srgbClr val="C00000"/>
                </a:solidFill>
              </a:rPr>
              <a:t>Musa Model </a:t>
            </a:r>
            <a:r>
              <a:rPr lang="en-US" b="1" dirty="0" smtClean="0"/>
              <a:t>:</a:t>
            </a:r>
            <a:r>
              <a:rPr lang="en-US" dirty="0" smtClean="0"/>
              <a:t> It is used to predict the failure rate before the beginning of the system testing. This model emphasizes on the assumption about the failure rate of a software based on the number of faults it contains.</a:t>
            </a:r>
          </a:p>
          <a:p>
            <a:pPr lvl="1"/>
            <a:r>
              <a:rPr lang="en-US" b="1" dirty="0" smtClean="0">
                <a:solidFill>
                  <a:srgbClr val="C00000"/>
                </a:solidFill>
              </a:rPr>
              <a:t>Putnam Model </a:t>
            </a:r>
            <a:r>
              <a:rPr lang="en-US" b="1" dirty="0" smtClean="0"/>
              <a:t>:</a:t>
            </a:r>
            <a:r>
              <a:rPr lang="en-US" dirty="0" smtClean="0"/>
              <a:t> It is the estimation of time and effort required to complete a software project, of a particular size. It has a mathematical equation for calculating productivity levels. </a:t>
            </a:r>
          </a:p>
          <a:p>
            <a:pPr lvl="1">
              <a:buNone/>
            </a:pPr>
            <a:r>
              <a:rPr lang="en-US" dirty="0" smtClean="0"/>
              <a:t>    </a:t>
            </a:r>
            <a:r>
              <a:rPr lang="en-US" dirty="0" smtClean="0">
                <a:solidFill>
                  <a:srgbClr val="FF0000"/>
                </a:solidFill>
              </a:rPr>
              <a:t>Effort</a:t>
            </a:r>
            <a:r>
              <a:rPr lang="en-US" dirty="0" smtClean="0"/>
              <a:t> =[size/productivity*time].B</a:t>
            </a:r>
          </a:p>
          <a:p>
            <a:pPr lvl="1"/>
            <a:r>
              <a:rPr lang="en-US" dirty="0" smtClean="0"/>
              <a:t>Where, size refers to the product size.</a:t>
            </a:r>
          </a:p>
          <a:p>
            <a:pPr lvl="1"/>
            <a:r>
              <a:rPr lang="en-US" dirty="0" smtClean="0"/>
              <a:t>B is the scaling factor, a function of the project size.</a:t>
            </a:r>
          </a:p>
          <a:p>
            <a:pPr lvl="1"/>
            <a:r>
              <a:rPr lang="en-US" dirty="0" smtClean="0"/>
              <a:t>Effort is the total effort in person years.</a:t>
            </a:r>
          </a:p>
          <a:p>
            <a:pPr lvl="1"/>
            <a:r>
              <a:rPr lang="en-US" dirty="0" smtClean="0"/>
              <a:t>Time refers to the total time allotted for the project.</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0" y="0"/>
          <a:ext cx="9144000" cy="6857999"/>
        </p:xfrm>
        <a:graphic>
          <a:graphicData uri="http://schemas.openxmlformats.org/drawingml/2006/table">
            <a:tbl>
              <a:tblPr firstRow="1" bandRow="1">
                <a:tableStyleId>{93296810-A885-4BE3-A3E7-6D5BEEA58F35}</a:tableStyleId>
              </a:tblPr>
              <a:tblGrid>
                <a:gridCol w="1981200"/>
                <a:gridCol w="3352800"/>
                <a:gridCol w="3810000"/>
              </a:tblGrid>
              <a:tr h="814872">
                <a:tc gridSpan="3">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2800" dirty="0" smtClean="0">
                          <a:solidFill>
                            <a:srgbClr val="002060"/>
                          </a:solidFill>
                        </a:rPr>
                        <a:t>Difference between Prediction Models &amp; Estimation Models</a:t>
                      </a:r>
                      <a:endParaRPr lang="en-US" sz="2000" dirty="0">
                        <a:solidFill>
                          <a:srgbClr val="002060"/>
                        </a:solidFill>
                        <a:latin typeface="times new roman"/>
                      </a:endParaRPr>
                    </a:p>
                  </a:txBody>
                  <a:tcPr marL="114300" marR="114300" marT="114300" marB="114300"/>
                </a:tc>
                <a:tc hMerge="1">
                  <a:txBody>
                    <a:bodyPr/>
                    <a:lstStyle/>
                    <a:p>
                      <a:pPr algn="l" fontAlgn="t"/>
                      <a:endParaRPr lang="en-US" dirty="0">
                        <a:solidFill>
                          <a:srgbClr val="000000"/>
                        </a:solidFill>
                        <a:latin typeface="times new roman"/>
                      </a:endParaRPr>
                    </a:p>
                  </a:txBody>
                  <a:tcPr marL="114300" marR="114300" marT="114300" marB="114300"/>
                </a:tc>
                <a:tc hMerge="1">
                  <a:txBody>
                    <a:bodyPr/>
                    <a:lstStyle/>
                    <a:p>
                      <a:pPr algn="l" fontAlgn="t"/>
                      <a:endParaRPr lang="en-US" dirty="0">
                        <a:solidFill>
                          <a:srgbClr val="000000"/>
                        </a:solidFill>
                        <a:latin typeface="times new roman"/>
                      </a:endParaRPr>
                    </a:p>
                  </a:txBody>
                  <a:tcPr marL="114300" marR="114300" marT="114300" marB="114300"/>
                </a:tc>
              </a:tr>
              <a:tr h="689507">
                <a:tc>
                  <a:txBody>
                    <a:bodyPr/>
                    <a:lstStyle/>
                    <a:p>
                      <a:pPr algn="l" fontAlgn="t"/>
                      <a:r>
                        <a:rPr lang="en-US" sz="2400" dirty="0">
                          <a:solidFill>
                            <a:srgbClr val="C00000"/>
                          </a:solidFill>
                        </a:rPr>
                        <a:t>Basics</a:t>
                      </a:r>
                      <a:endParaRPr lang="en-US" sz="2400" dirty="0">
                        <a:solidFill>
                          <a:srgbClr val="C00000"/>
                        </a:solidFill>
                        <a:latin typeface="times new roman"/>
                      </a:endParaRPr>
                    </a:p>
                  </a:txBody>
                  <a:tcPr marL="114300" marR="114300" marT="114300" marB="114300"/>
                </a:tc>
                <a:tc>
                  <a:txBody>
                    <a:bodyPr/>
                    <a:lstStyle/>
                    <a:p>
                      <a:pPr algn="l" fontAlgn="t"/>
                      <a:r>
                        <a:rPr lang="en-US" sz="2400" dirty="0">
                          <a:solidFill>
                            <a:srgbClr val="C00000"/>
                          </a:solidFill>
                        </a:rPr>
                        <a:t>Prediction Models</a:t>
                      </a:r>
                      <a:endParaRPr lang="en-US" sz="2400" dirty="0">
                        <a:solidFill>
                          <a:srgbClr val="C00000"/>
                        </a:solidFill>
                        <a:latin typeface="times new roman"/>
                      </a:endParaRPr>
                    </a:p>
                  </a:txBody>
                  <a:tcPr marL="114300" marR="114300" marT="114300" marB="114300"/>
                </a:tc>
                <a:tc>
                  <a:txBody>
                    <a:bodyPr/>
                    <a:lstStyle/>
                    <a:p>
                      <a:pPr algn="l" fontAlgn="t"/>
                      <a:r>
                        <a:rPr lang="en-US" sz="2400" dirty="0">
                          <a:solidFill>
                            <a:srgbClr val="C00000"/>
                          </a:solidFill>
                        </a:rPr>
                        <a:t>Estimation Models</a:t>
                      </a:r>
                      <a:endParaRPr lang="en-US" sz="2400" dirty="0">
                        <a:solidFill>
                          <a:srgbClr val="C00000"/>
                        </a:solidFill>
                        <a:latin typeface="times new roman"/>
                      </a:endParaRPr>
                    </a:p>
                  </a:txBody>
                  <a:tcPr marL="114300" marR="114300" marT="114300" marB="114300"/>
                </a:tc>
              </a:tr>
              <a:tr h="1002919">
                <a:tc>
                  <a:txBody>
                    <a:bodyPr/>
                    <a:lstStyle/>
                    <a:p>
                      <a:pPr algn="just" fontAlgn="t"/>
                      <a:r>
                        <a:rPr lang="en-US" sz="2400" dirty="0"/>
                        <a:t>Data Reference</a:t>
                      </a:r>
                      <a:endParaRPr lang="en-US" sz="2400" dirty="0">
                        <a:solidFill>
                          <a:srgbClr val="333333"/>
                        </a:solidFill>
                        <a:latin typeface="inter-regular"/>
                      </a:endParaRPr>
                    </a:p>
                  </a:txBody>
                  <a:tcPr marL="76200" marR="76200" marT="76200" marB="76200"/>
                </a:tc>
                <a:tc>
                  <a:txBody>
                    <a:bodyPr/>
                    <a:lstStyle/>
                    <a:p>
                      <a:pPr algn="just" fontAlgn="t"/>
                      <a:r>
                        <a:rPr lang="en-US" sz="2400" dirty="0"/>
                        <a:t>Uses historical information</a:t>
                      </a:r>
                      <a:endParaRPr lang="en-US" sz="2400" dirty="0">
                        <a:solidFill>
                          <a:srgbClr val="333333"/>
                        </a:solidFill>
                        <a:latin typeface="inter-regular"/>
                      </a:endParaRPr>
                    </a:p>
                  </a:txBody>
                  <a:tcPr marL="76200" marR="76200" marT="76200" marB="76200"/>
                </a:tc>
                <a:tc>
                  <a:txBody>
                    <a:bodyPr/>
                    <a:lstStyle/>
                    <a:p>
                      <a:pPr algn="just" fontAlgn="t"/>
                      <a:r>
                        <a:rPr lang="en-US" sz="2400" dirty="0"/>
                        <a:t>Uses data from the current software development effort.</a:t>
                      </a:r>
                      <a:endParaRPr lang="en-US" sz="2400" dirty="0">
                        <a:solidFill>
                          <a:srgbClr val="333333"/>
                        </a:solidFill>
                        <a:latin typeface="inter-regular"/>
                      </a:endParaRPr>
                    </a:p>
                  </a:txBody>
                  <a:tcPr marL="76200" marR="76200" marT="76200" marB="76200"/>
                </a:tc>
              </a:tr>
              <a:tr h="2193886">
                <a:tc>
                  <a:txBody>
                    <a:bodyPr/>
                    <a:lstStyle/>
                    <a:p>
                      <a:pPr algn="just" fontAlgn="t"/>
                      <a:r>
                        <a:rPr lang="en-US" sz="2400" dirty="0"/>
                        <a:t>When used in development cycle</a:t>
                      </a:r>
                      <a:endParaRPr lang="en-US" sz="2400" dirty="0">
                        <a:solidFill>
                          <a:srgbClr val="333333"/>
                        </a:solidFill>
                        <a:latin typeface="inter-regular"/>
                      </a:endParaRPr>
                    </a:p>
                  </a:txBody>
                  <a:tcPr marL="76200" marR="76200" marT="76200" marB="76200"/>
                </a:tc>
                <a:tc>
                  <a:txBody>
                    <a:bodyPr/>
                    <a:lstStyle/>
                    <a:p>
                      <a:pPr algn="just" fontAlgn="t"/>
                      <a:r>
                        <a:rPr lang="en-US" sz="2400" dirty="0"/>
                        <a:t>Usually made before development or test phases; can be used as early as concept phase.</a:t>
                      </a:r>
                      <a:endParaRPr lang="en-US" sz="2400" dirty="0">
                        <a:solidFill>
                          <a:srgbClr val="333333"/>
                        </a:solidFill>
                        <a:latin typeface="inter-regular"/>
                      </a:endParaRPr>
                    </a:p>
                  </a:txBody>
                  <a:tcPr marL="76200" marR="76200" marT="76200" marB="76200"/>
                </a:tc>
                <a:tc>
                  <a:txBody>
                    <a:bodyPr/>
                    <a:lstStyle/>
                    <a:p>
                      <a:pPr algn="just" fontAlgn="t"/>
                      <a:r>
                        <a:rPr lang="en-US" sz="2400" dirty="0"/>
                        <a:t>Usually made later in the life cycle (after some data have been collected); not typically used in concept or development phases.</a:t>
                      </a:r>
                      <a:endParaRPr lang="en-US" sz="2400" dirty="0">
                        <a:solidFill>
                          <a:srgbClr val="333333"/>
                        </a:solidFill>
                        <a:latin typeface="inter-regular"/>
                      </a:endParaRPr>
                    </a:p>
                  </a:txBody>
                  <a:tcPr marL="76200" marR="76200" marT="76200" marB="76200"/>
                </a:tc>
              </a:tr>
              <a:tr h="2156815">
                <a:tc>
                  <a:txBody>
                    <a:bodyPr/>
                    <a:lstStyle/>
                    <a:p>
                      <a:pPr algn="just" fontAlgn="t"/>
                      <a:r>
                        <a:rPr lang="en-US" sz="2400" dirty="0"/>
                        <a:t>Time Frame</a:t>
                      </a:r>
                      <a:endParaRPr lang="en-US" sz="2400" dirty="0">
                        <a:solidFill>
                          <a:srgbClr val="333333"/>
                        </a:solidFill>
                        <a:latin typeface="inter-regular"/>
                      </a:endParaRPr>
                    </a:p>
                  </a:txBody>
                  <a:tcPr marL="76200" marR="76200" marT="76200" marB="76200"/>
                </a:tc>
                <a:tc>
                  <a:txBody>
                    <a:bodyPr/>
                    <a:lstStyle/>
                    <a:p>
                      <a:pPr algn="just" fontAlgn="t"/>
                      <a:r>
                        <a:rPr lang="en-US" sz="2400" dirty="0"/>
                        <a:t>Predict reliability at some future time.</a:t>
                      </a:r>
                      <a:endParaRPr lang="en-US" sz="2400" dirty="0">
                        <a:solidFill>
                          <a:srgbClr val="333333"/>
                        </a:solidFill>
                        <a:latin typeface="inter-regular"/>
                      </a:endParaRPr>
                    </a:p>
                  </a:txBody>
                  <a:tcPr marL="76200" marR="76200" marT="76200" marB="76200"/>
                </a:tc>
                <a:tc>
                  <a:txBody>
                    <a:bodyPr/>
                    <a:lstStyle/>
                    <a:p>
                      <a:pPr algn="just" fontAlgn="t"/>
                      <a:r>
                        <a:rPr lang="en-US" sz="2400" dirty="0"/>
                        <a:t>Estimate reliability at either present or some next time.</a:t>
                      </a:r>
                      <a:endParaRPr lang="en-US" sz="2400" dirty="0">
                        <a:solidFill>
                          <a:srgbClr val="333333"/>
                        </a:solidFill>
                        <a:latin typeface="inter-regular"/>
                      </a:endParaRPr>
                    </a:p>
                  </a:txBody>
                  <a:tcPr marL="76200" marR="76200" marT="76200" marB="76200"/>
                </a:tc>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a:bodyPr>
          <a:lstStyle/>
          <a:p>
            <a:r>
              <a:rPr lang="en-US" dirty="0" smtClean="0">
                <a:solidFill>
                  <a:srgbClr val="C00000"/>
                </a:solidFill>
              </a:rPr>
              <a:t>Software Reliability Model</a:t>
            </a:r>
            <a:r>
              <a:rPr lang="en-US" dirty="0" smtClean="0"/>
              <a:t>:</a:t>
            </a:r>
          </a:p>
          <a:p>
            <a:r>
              <a:rPr lang="en-US" dirty="0" smtClean="0">
                <a:solidFill>
                  <a:srgbClr val="C00000"/>
                </a:solidFill>
              </a:rPr>
              <a:t>Such an estimate is important for two reasons: </a:t>
            </a:r>
          </a:p>
          <a:p>
            <a:r>
              <a:rPr lang="en-US" dirty="0" smtClean="0">
                <a:solidFill>
                  <a:srgbClr val="C00000"/>
                </a:solidFill>
              </a:rPr>
              <a:t>(1)</a:t>
            </a:r>
            <a:r>
              <a:rPr lang="en-US" dirty="0" smtClean="0"/>
              <a:t> as an objective statement of the quality of the product and </a:t>
            </a:r>
          </a:p>
          <a:p>
            <a:r>
              <a:rPr lang="en-US" dirty="0" smtClean="0">
                <a:solidFill>
                  <a:srgbClr val="C00000"/>
                </a:solidFill>
              </a:rPr>
              <a:t>(2)</a:t>
            </a:r>
            <a:r>
              <a:rPr lang="en-US" dirty="0" smtClean="0"/>
              <a:t> for resource planning for the software maintenance phase. </a:t>
            </a:r>
          </a:p>
          <a:p>
            <a:r>
              <a:rPr lang="en-US" dirty="0" smtClean="0"/>
              <a:t>The criterion variable under study is the number of defects (or defect rate normalized to lines of code or function points) in specified time intervals (weeks, months, etc.), or the time between failures . </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r>
              <a:rPr lang="en-US" dirty="0" smtClean="0">
                <a:solidFill>
                  <a:srgbClr val="C00000"/>
                </a:solidFill>
              </a:rPr>
              <a:t>Reliability models can be broadly classified into two categories: </a:t>
            </a:r>
          </a:p>
          <a:p>
            <a:r>
              <a:rPr lang="en-US" sz="3600" dirty="0" smtClean="0">
                <a:solidFill>
                  <a:srgbClr val="C00000"/>
                </a:solidFill>
              </a:rPr>
              <a:t>1. Static models and </a:t>
            </a:r>
          </a:p>
          <a:p>
            <a:r>
              <a:rPr lang="en-US" sz="3600" dirty="0" smtClean="0">
                <a:solidFill>
                  <a:srgbClr val="C00000"/>
                </a:solidFill>
              </a:rPr>
              <a:t>2. Dynamic models. </a:t>
            </a:r>
          </a:p>
          <a:p>
            <a:r>
              <a:rPr lang="en-US" sz="3600" dirty="0" smtClean="0">
                <a:latin typeface="Bahnschrift Light SemiCondensed" pitchFamily="34" charset="0"/>
              </a:rPr>
              <a:t>A static model uses other attributes of the project or program modules to estimate the number of defects in the software. </a:t>
            </a:r>
          </a:p>
          <a:p>
            <a:r>
              <a:rPr lang="en-US" sz="3600" dirty="0" smtClean="0">
                <a:latin typeface="Bahnschrift Light SemiCondensed" pitchFamily="34" charset="0"/>
              </a:rPr>
              <a:t>A dynamic model, usually based on statistical distributions, uses the current development defect patterns to estimate end-product reliability.</a:t>
            </a:r>
            <a:endParaRPr lang="en-US" dirty="0" smtClean="0">
              <a:latin typeface="Bahnschrift Light SemiCondensed" pitchFamily="34"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2"/>
          </a:lnRef>
          <a:fillRef idx="2">
            <a:schemeClr val="accent2"/>
          </a:fillRef>
          <a:effectRef idx="1">
            <a:schemeClr val="accent2"/>
          </a:effectRef>
          <a:fontRef idx="minor">
            <a:schemeClr val="dk1"/>
          </a:fontRef>
        </p:style>
        <p:txBody>
          <a:bodyPr>
            <a:normAutofit/>
          </a:bodyPr>
          <a:lstStyle/>
          <a:p>
            <a:r>
              <a:rPr lang="en-US" dirty="0" smtClean="0"/>
              <a:t>A static model of software quality estimation has the following general form:</a:t>
            </a:r>
          </a:p>
          <a:p>
            <a:endParaRPr lang="en-US" dirty="0" smtClean="0"/>
          </a:p>
          <a:p>
            <a:r>
              <a:rPr lang="en-US" dirty="0" smtClean="0"/>
              <a:t>Where the dependent variable y is the defect rate or the number of defects, and the independent variables x </a:t>
            </a:r>
            <a:r>
              <a:rPr lang="en-US" dirty="0" err="1" smtClean="0"/>
              <a:t>i</a:t>
            </a:r>
            <a:r>
              <a:rPr lang="en-US" dirty="0" smtClean="0"/>
              <a:t> are the attributes of the product, the project, or the process through which the product is developed. </a:t>
            </a:r>
          </a:p>
          <a:p>
            <a:r>
              <a:rPr lang="en-US" dirty="0" smtClean="0"/>
              <a:t>They could be size , complexity, skill level, count of decisions, and other meaningful measurements. </a:t>
            </a:r>
          </a:p>
          <a:p>
            <a:r>
              <a:rPr lang="en-US" dirty="0" smtClean="0"/>
              <a:t>The error term is e (because models don't completely explain the behavior of the dependent variable).</a:t>
            </a:r>
          </a:p>
          <a:p>
            <a:endParaRPr lang="en-US" dirty="0"/>
          </a:p>
        </p:txBody>
      </p:sp>
      <p:pic>
        <p:nvPicPr>
          <p:cNvPr id="4" name="Picture 3"/>
          <p:cNvPicPr>
            <a:picLocks noChangeAspect="1" noChangeArrowheads="1"/>
          </p:cNvPicPr>
          <p:nvPr/>
        </p:nvPicPr>
        <p:blipFill>
          <a:blip r:embed="rId2"/>
          <a:srcRect/>
          <a:stretch>
            <a:fillRect/>
          </a:stretch>
        </p:blipFill>
        <p:spPr bwMode="auto">
          <a:xfrm>
            <a:off x="1143000" y="1143000"/>
            <a:ext cx="7162800" cy="609600"/>
          </a:xfrm>
          <a:prstGeom prst="rect">
            <a:avLst/>
          </a:prstGeom>
          <a:noFill/>
          <a:ln w="9525">
            <a:noFill/>
            <a:miter lim="800000"/>
            <a:headEnd/>
            <a:tailEnd/>
          </a:ln>
          <a:effec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a:bodyPr>
          <a:lstStyle/>
          <a:p>
            <a:r>
              <a:rPr lang="en-US" u="sng" smtClean="0">
                <a:solidFill>
                  <a:srgbClr val="C00000"/>
                </a:solidFill>
              </a:rPr>
              <a:t>Dynamic Model :-</a:t>
            </a:r>
          </a:p>
          <a:p>
            <a:r>
              <a:rPr lang="en-US" u="sng" smtClean="0">
                <a:solidFill>
                  <a:srgbClr val="C00000"/>
                </a:solidFill>
              </a:rPr>
              <a:t>The </a:t>
            </a:r>
            <a:r>
              <a:rPr lang="en-US" u="sng" dirty="0" smtClean="0">
                <a:solidFill>
                  <a:srgbClr val="C00000"/>
                </a:solidFill>
              </a:rPr>
              <a:t>Rayleigh Model:- </a:t>
            </a:r>
            <a:r>
              <a:rPr lang="en-US" dirty="0" smtClean="0"/>
              <a:t>The Rayleigh model (or for that matter the phase-based defect model) provides a nice framework for quality management, covering the entire development process. </a:t>
            </a:r>
          </a:p>
          <a:p>
            <a:r>
              <a:rPr lang="en-US" dirty="0" smtClean="0"/>
              <a:t>The Rayleigh model is a parametric model in the sense that it is based on a specific statistical distribution. </a:t>
            </a:r>
          </a:p>
          <a:p>
            <a:r>
              <a:rPr lang="en-US" dirty="0" smtClean="0"/>
              <a:t>When the parameters of the statistical distribution are estimated based on the data from a software project, projections about the defect rate of the project can be made based on the </a:t>
            </a:r>
            <a:r>
              <a:rPr lang="en-US" smtClean="0"/>
              <a:t>model. </a:t>
            </a:r>
            <a:endParaRPr lang="en-US" dirty="0" smtClean="0"/>
          </a:p>
          <a:p>
            <a:endParaRPr lang="en-US" dirty="0" smtClean="0">
              <a:latin typeface="Aparajita"/>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92500" lnSpcReduction="10000"/>
          </a:bodyPr>
          <a:lstStyle/>
          <a:p>
            <a:r>
              <a:rPr lang="en-US" dirty="0" smtClean="0"/>
              <a:t>The Rayleigh model is a good overall model for quality management. It articulates the points on defect prevention and early defect removal related to the preceding items.                            </a:t>
            </a:r>
          </a:p>
          <a:p>
            <a:pPr algn="ctr">
              <a:buNone/>
            </a:pPr>
            <a:r>
              <a:rPr lang="en-US" dirty="0" smtClean="0"/>
              <a:t>   </a:t>
            </a:r>
            <a:r>
              <a:rPr lang="en-US" dirty="0" smtClean="0">
                <a:solidFill>
                  <a:srgbClr val="FF0000"/>
                </a:solidFill>
              </a:rPr>
              <a:t>Note :-What is statistical distribution</a:t>
            </a:r>
          </a:p>
          <a:p>
            <a:pPr algn="ctr">
              <a:buNone/>
            </a:pPr>
            <a:r>
              <a:rPr lang="en-US" dirty="0" smtClean="0"/>
              <a:t>    A statistical distribution, or probability distribution, describes how values are distributed for a field. In other words, the statistical distribution shows which values are common and uncommon. There are many kinds of statistical distributions, including the bell-shaped normal distribution.</a:t>
            </a:r>
          </a:p>
          <a:p>
            <a:pPr algn="ctr">
              <a:buNone/>
            </a:pPr>
            <a:r>
              <a:rPr lang="en-US" dirty="0" smtClean="0"/>
              <a:t>A </a:t>
            </a:r>
            <a:r>
              <a:rPr lang="en-US" b="1" dirty="0" smtClean="0"/>
              <a:t>probability distribution</a:t>
            </a:r>
            <a:r>
              <a:rPr lang="en-US" dirty="0" smtClean="0"/>
              <a:t> is a mathematical function that describes the probability of different possible values of a </a:t>
            </a:r>
            <a:r>
              <a:rPr lang="en-US" dirty="0" smtClean="0">
                <a:hlinkClick r:id="rId2"/>
              </a:rPr>
              <a:t>variable</a:t>
            </a:r>
            <a:r>
              <a:rPr lang="en-US" dirty="0" smtClean="0"/>
              <a:t>. Probability distributions are often depicted using graphs or probability tables.</a:t>
            </a:r>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92500" lnSpcReduction="20000"/>
          </a:bodyPr>
          <a:lstStyle/>
          <a:p>
            <a:r>
              <a:rPr lang="en-US" b="1" dirty="0" err="1" smtClean="0">
                <a:solidFill>
                  <a:srgbClr val="FF0000"/>
                </a:solidFill>
              </a:rPr>
              <a:t>Weibull</a:t>
            </a:r>
            <a:r>
              <a:rPr lang="en-US" b="1" dirty="0" smtClean="0">
                <a:solidFill>
                  <a:srgbClr val="FF0000"/>
                </a:solidFill>
              </a:rPr>
              <a:t> Distribution </a:t>
            </a:r>
            <a:r>
              <a:rPr lang="en-US" b="1" dirty="0" smtClean="0"/>
              <a:t>:-</a:t>
            </a:r>
            <a:r>
              <a:rPr lang="en-US" dirty="0" smtClean="0"/>
              <a:t>One of the most widely used distributions in reliability engineering is “</a:t>
            </a:r>
            <a:r>
              <a:rPr lang="en-US" b="1" dirty="0" err="1" smtClean="0"/>
              <a:t>Weibull</a:t>
            </a:r>
            <a:r>
              <a:rPr lang="en-US" b="1" dirty="0" smtClean="0"/>
              <a:t> Distribution</a:t>
            </a:r>
            <a:r>
              <a:rPr lang="en-US" dirty="0" smtClean="0"/>
              <a:t>“. </a:t>
            </a:r>
            <a:r>
              <a:rPr lang="en-US" smtClean="0"/>
              <a:t>It is a kind of versatile distribution that can take the values from the other distributions using the parameter called the shape parameter. </a:t>
            </a:r>
          </a:p>
          <a:p>
            <a:r>
              <a:rPr lang="en-US" dirty="0" smtClean="0"/>
              <a:t>In this article, let us discuss the definition of </a:t>
            </a:r>
            <a:r>
              <a:rPr lang="en-US" dirty="0" err="1" smtClean="0"/>
              <a:t>Weibull</a:t>
            </a:r>
            <a:r>
              <a:rPr lang="en-US" dirty="0" smtClean="0"/>
              <a:t> distribution, formulas, properties, reliability,</a:t>
            </a:r>
          </a:p>
          <a:p>
            <a:r>
              <a:rPr lang="en-US" dirty="0" err="1" smtClean="0"/>
              <a:t>Weibull</a:t>
            </a:r>
            <a:r>
              <a:rPr lang="en-US" dirty="0" smtClean="0"/>
              <a:t> Distribution Definition</a:t>
            </a:r>
          </a:p>
          <a:p>
            <a:r>
              <a:rPr lang="en-US" dirty="0" smtClean="0"/>
              <a:t>The </a:t>
            </a:r>
            <a:r>
              <a:rPr lang="en-US" b="1" dirty="0" err="1" smtClean="0"/>
              <a:t>Weibull</a:t>
            </a:r>
            <a:r>
              <a:rPr lang="en-US" b="1" dirty="0" smtClean="0"/>
              <a:t> Distribution</a:t>
            </a:r>
            <a:r>
              <a:rPr lang="en-US" dirty="0" smtClean="0"/>
              <a:t> is a continuous probability distribution used to </a:t>
            </a:r>
            <a:r>
              <a:rPr lang="en-US" dirty="0" err="1" smtClean="0"/>
              <a:t>analyse</a:t>
            </a:r>
            <a:r>
              <a:rPr lang="en-US" dirty="0" smtClean="0"/>
              <a:t> life data, model failure times and access product reliability. It can also fit a huge range of data from many other fields like economics, hydrology, biology, engineering sciences. It is an extreme value of probability distribution which is frequently used to model the reliability, survival, wind speeds and other data.</a:t>
            </a:r>
          </a:p>
          <a:p>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r>
              <a:rPr lang="en-US" smtClean="0"/>
              <a:t>The only reason to use Weibull distribution is because of its flexibility. Because it can simulate various distributions like normal and exponential distributions. </a:t>
            </a:r>
          </a:p>
          <a:p>
            <a:r>
              <a:rPr lang="en-US" smtClean="0"/>
              <a:t>Weibull’s distribution reliability is measured with the help of parameters. </a:t>
            </a:r>
          </a:p>
          <a:p>
            <a:r>
              <a:rPr lang="en-US" smtClean="0"/>
              <a:t>The two versions of Weibull probability density function(pdf) are</a:t>
            </a:r>
          </a:p>
          <a:p>
            <a:r>
              <a:rPr lang="en-US" smtClean="0">
                <a:solidFill>
                  <a:srgbClr val="FF0000"/>
                </a:solidFill>
              </a:rPr>
              <a:t>Two parameter pdf</a:t>
            </a:r>
          </a:p>
          <a:p>
            <a:r>
              <a:rPr lang="en-US" smtClean="0">
                <a:solidFill>
                  <a:srgbClr val="FF0000"/>
                </a:solidFill>
              </a:rPr>
              <a:t>Three parameter pdf</a:t>
            </a:r>
          </a:p>
          <a:p>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r>
              <a:rPr lang="en-US" smtClean="0">
                <a:solidFill>
                  <a:srgbClr val="FF0000"/>
                </a:solidFill>
              </a:rPr>
              <a:t>Weibull Distribution Formulas</a:t>
            </a:r>
          </a:p>
          <a:p>
            <a:r>
              <a:rPr lang="en-US" sz="2400" smtClean="0"/>
              <a:t>The formula general Weibull Distribution for </a:t>
            </a:r>
            <a:r>
              <a:rPr lang="en-US" sz="2400" b="1" smtClean="0"/>
              <a:t>three-parameter pdf </a:t>
            </a:r>
            <a:r>
              <a:rPr lang="en-US" sz="2400" smtClean="0"/>
              <a:t>is given as</a:t>
            </a:r>
          </a:p>
          <a:p>
            <a:endParaRPr lang="en-US" smtClean="0"/>
          </a:p>
          <a:p>
            <a:endParaRPr lang="en-US" smtClean="0"/>
          </a:p>
          <a:p>
            <a:r>
              <a:rPr lang="en-US" sz="2400" smtClean="0"/>
              <a:t>Where γ is the </a:t>
            </a:r>
            <a:r>
              <a:rPr lang="en-US" sz="2400" b="1" smtClean="0"/>
              <a:t>shape parameter</a:t>
            </a:r>
            <a:r>
              <a:rPr lang="en-US" sz="2400" smtClean="0"/>
              <a:t>, also called as the Weibull slope or the threshold parameter.</a:t>
            </a:r>
          </a:p>
          <a:p>
            <a:r>
              <a:rPr lang="en-US" sz="2400" smtClean="0"/>
              <a:t>α is the </a:t>
            </a:r>
            <a:r>
              <a:rPr lang="en-US" sz="2400" b="1" smtClean="0"/>
              <a:t>scale parameter</a:t>
            </a:r>
            <a:r>
              <a:rPr lang="en-US" sz="2400" smtClean="0"/>
              <a:t>, also called the characteristic life parameter.</a:t>
            </a:r>
          </a:p>
          <a:p>
            <a:r>
              <a:rPr lang="en-US" sz="2400" smtClean="0"/>
              <a:t>μ is the </a:t>
            </a:r>
            <a:r>
              <a:rPr lang="en-US" sz="2400" b="1" smtClean="0"/>
              <a:t>location parameter</a:t>
            </a:r>
            <a:r>
              <a:rPr lang="en-US" sz="2400" smtClean="0"/>
              <a:t>, also called the waiting time parameter or sometimes the shift parameter.</a:t>
            </a:r>
          </a:p>
          <a:p>
            <a:r>
              <a:rPr lang="en-US" sz="2400" smtClean="0"/>
              <a:t>The standard Weibull distribution is derived, when μ=0 and α =1, the formula is reduced and it becomes</a:t>
            </a:r>
          </a:p>
          <a:p>
            <a:endParaRPr lang="en-US" smtClean="0"/>
          </a:p>
          <a:p>
            <a:endParaRPr lang="en-US"/>
          </a:p>
        </p:txBody>
      </p:sp>
      <p:pic>
        <p:nvPicPr>
          <p:cNvPr id="1027" name="Picture 3"/>
          <p:cNvPicPr>
            <a:picLocks noChangeAspect="1" noChangeArrowheads="1"/>
          </p:cNvPicPr>
          <p:nvPr/>
        </p:nvPicPr>
        <p:blipFill>
          <a:blip r:embed="rId2"/>
          <a:srcRect/>
          <a:stretch>
            <a:fillRect/>
          </a:stretch>
        </p:blipFill>
        <p:spPr bwMode="auto">
          <a:xfrm>
            <a:off x="381000" y="1371600"/>
            <a:ext cx="8382000" cy="990600"/>
          </a:xfrm>
          <a:prstGeom prst="rect">
            <a:avLst/>
          </a:prstGeom>
          <a:noFill/>
          <a:ln w="9525">
            <a:noFill/>
            <a:miter lim="800000"/>
            <a:headEnd/>
            <a:tailEnd/>
          </a:ln>
          <a:effectLst/>
        </p:spPr>
      </p:pic>
      <p:pic>
        <p:nvPicPr>
          <p:cNvPr id="1029" name="Picture 5"/>
          <p:cNvPicPr>
            <a:picLocks noChangeAspect="1" noChangeArrowheads="1"/>
          </p:cNvPicPr>
          <p:nvPr/>
        </p:nvPicPr>
        <p:blipFill>
          <a:blip r:embed="rId3"/>
          <a:srcRect/>
          <a:stretch>
            <a:fillRect/>
          </a:stretch>
        </p:blipFill>
        <p:spPr bwMode="auto">
          <a:xfrm>
            <a:off x="457200" y="5410200"/>
            <a:ext cx="8315325" cy="685800"/>
          </a:xfrm>
          <a:prstGeom prst="rect">
            <a:avLst/>
          </a:prstGeom>
          <a:noFill/>
          <a:ln w="9525">
            <a:noFill/>
            <a:miter lim="800000"/>
            <a:headEnd/>
            <a:tailEnd/>
          </a:ln>
          <a:effec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r>
              <a:rPr lang="en-US" dirty="0" smtClean="0">
                <a:solidFill>
                  <a:srgbClr val="FF0000"/>
                </a:solidFill>
              </a:rPr>
              <a:t>Two-Parameter </a:t>
            </a:r>
            <a:r>
              <a:rPr lang="en-US" dirty="0" err="1" smtClean="0">
                <a:solidFill>
                  <a:srgbClr val="FF0000"/>
                </a:solidFill>
              </a:rPr>
              <a:t>Weibull</a:t>
            </a:r>
            <a:r>
              <a:rPr lang="en-US" dirty="0" smtClean="0">
                <a:solidFill>
                  <a:srgbClr val="FF0000"/>
                </a:solidFill>
              </a:rPr>
              <a:t> Distribution</a:t>
            </a:r>
          </a:p>
          <a:p>
            <a:r>
              <a:rPr lang="en-US" dirty="0" smtClean="0"/>
              <a:t>The formula is practically similar to the three parameters </a:t>
            </a:r>
            <a:r>
              <a:rPr lang="en-US" dirty="0" err="1" smtClean="0"/>
              <a:t>Weibull</a:t>
            </a:r>
            <a:r>
              <a:rPr lang="en-US" dirty="0" smtClean="0"/>
              <a:t>, except that μ isn’t included:</a:t>
            </a:r>
          </a:p>
          <a:p>
            <a:endParaRPr lang="en-US" dirty="0" smtClean="0"/>
          </a:p>
          <a:p>
            <a:endParaRPr lang="en-US" dirty="0" smtClean="0"/>
          </a:p>
          <a:p>
            <a:endParaRPr lang="en-US" dirty="0" smtClean="0"/>
          </a:p>
          <a:p>
            <a:r>
              <a:rPr lang="en-US" dirty="0" smtClean="0"/>
              <a:t>The failure rate is determined by the value of the shape parameter </a:t>
            </a:r>
            <a:r>
              <a:rPr lang="en-US" b="1" dirty="0" smtClean="0"/>
              <a:t>γ.</a:t>
            </a:r>
            <a:endParaRPr lang="en-US" dirty="0" smtClean="0"/>
          </a:p>
          <a:p>
            <a:r>
              <a:rPr lang="en-US" dirty="0" smtClean="0"/>
              <a:t>If γ &lt; 1, then the </a:t>
            </a:r>
            <a:r>
              <a:rPr lang="en-US" b="1" dirty="0" smtClean="0"/>
              <a:t>failure rate decreases with time</a:t>
            </a:r>
            <a:endParaRPr lang="en-US" dirty="0" smtClean="0"/>
          </a:p>
          <a:p>
            <a:r>
              <a:rPr lang="en-US" dirty="0" smtClean="0"/>
              <a:t>If γ = 1, then the </a:t>
            </a:r>
            <a:r>
              <a:rPr lang="en-US" b="1" dirty="0" smtClean="0"/>
              <a:t>failure rate is constant</a:t>
            </a:r>
            <a:endParaRPr lang="en-US" dirty="0" smtClean="0"/>
          </a:p>
          <a:p>
            <a:r>
              <a:rPr lang="en-US" dirty="0" smtClean="0"/>
              <a:t>If γ &gt; 1, the </a:t>
            </a:r>
            <a:r>
              <a:rPr lang="en-US" b="1" dirty="0" smtClean="0"/>
              <a:t>failure rate increases with time</a:t>
            </a:r>
            <a:endParaRPr lang="en-US" dirty="0" smtClean="0"/>
          </a:p>
          <a:p>
            <a:endParaRPr lang="en-US" dirty="0"/>
          </a:p>
        </p:txBody>
      </p:sp>
      <p:pic>
        <p:nvPicPr>
          <p:cNvPr id="2051" name="Picture 3"/>
          <p:cNvPicPr>
            <a:picLocks noChangeAspect="1" noChangeArrowheads="1"/>
          </p:cNvPicPr>
          <p:nvPr/>
        </p:nvPicPr>
        <p:blipFill>
          <a:blip r:embed="rId2"/>
          <a:srcRect/>
          <a:stretch>
            <a:fillRect/>
          </a:stretch>
        </p:blipFill>
        <p:spPr bwMode="auto">
          <a:xfrm>
            <a:off x="533400" y="1143000"/>
            <a:ext cx="7924800" cy="1905000"/>
          </a:xfrm>
          <a:prstGeom prst="rect">
            <a:avLst/>
          </a:prstGeom>
          <a:noFill/>
          <a:ln w="9525">
            <a:noFill/>
            <a:miter lim="800000"/>
            <a:headEnd/>
            <a:tailEnd/>
          </a:ln>
          <a:effec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2"/>
          </a:lnRef>
          <a:fillRef idx="2">
            <a:schemeClr val="accent2"/>
          </a:fillRef>
          <a:effectRef idx="1">
            <a:schemeClr val="accent2"/>
          </a:effectRef>
          <a:fontRef idx="minor">
            <a:schemeClr val="dk1"/>
          </a:fontRef>
        </p:style>
        <p:txBody>
          <a:bodyPr>
            <a:normAutofit fontScale="92500" lnSpcReduction="20000"/>
          </a:bodyPr>
          <a:lstStyle/>
          <a:p>
            <a:r>
              <a:rPr lang="en-US" smtClean="0">
                <a:solidFill>
                  <a:srgbClr val="FF0000"/>
                </a:solidFill>
              </a:rPr>
              <a:t>Weibull Plot</a:t>
            </a:r>
          </a:p>
          <a:p>
            <a:r>
              <a:rPr lang="en-US" smtClean="0"/>
              <a:t>The fit of Weibull distribution to data can be visually assessed using a Weibull plot. In other words, it is a graphical method for showing if a data set originates from a population that would inevitably be fit by a two-parameter Weibull distribution where the location is expected to be zero. This plot has unique scales that are designed so that if the data do support a Weibull distribution, the points will be linear or approximately linear. The least-squares fit of this line generates estimates for the shape and scale parameters of the Weibull distribution. In this case, the location is assumed to be zero. Precisely, the scale parameter is the exponent of the intercept and the shape parameter is the reciprocal of the slope of the fitted line. Thus, the below figure is a Weibull plot of a two-parameter distribution</a:t>
            </a:r>
          </a:p>
          <a:p>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2" descr="Weibull plot"/>
          <p:cNvPicPr>
            <a:picLocks noChangeAspect="1" noChangeArrowheads="1"/>
          </p:cNvPicPr>
          <p:nvPr/>
        </p:nvPicPr>
        <p:blipFill>
          <a:blip r:embed="rId2"/>
          <a:srcRect/>
          <a:stretch>
            <a:fillRect/>
          </a:stretch>
        </p:blipFill>
        <p:spPr bwMode="auto">
          <a:xfrm>
            <a:off x="0" y="0"/>
            <a:ext cx="9144000" cy="6858000"/>
          </a:xfrm>
          <a:prstGeom prst="rect">
            <a:avLst/>
          </a:prstGeom>
          <a:noFill/>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3"/>
          </a:lnRef>
          <a:fillRef idx="2">
            <a:schemeClr val="accent3"/>
          </a:fillRef>
          <a:effectRef idx="1">
            <a:schemeClr val="accent3"/>
          </a:effectRef>
          <a:fontRef idx="minor">
            <a:schemeClr val="dk1"/>
          </a:fontRef>
        </p:style>
        <p:txBody>
          <a:bodyPr>
            <a:normAutofit lnSpcReduction="10000"/>
          </a:bodyPr>
          <a:lstStyle/>
          <a:p>
            <a:r>
              <a:rPr lang="en-US" sz="4000" u="sng" dirty="0" smtClean="0">
                <a:solidFill>
                  <a:srgbClr val="FF0000"/>
                </a:solidFill>
              </a:rPr>
              <a:t>The Rayleigh Model: </a:t>
            </a:r>
          </a:p>
          <a:p>
            <a:pPr algn="just"/>
            <a:r>
              <a:rPr lang="en-US" dirty="0" smtClean="0"/>
              <a:t>The Rayleigh model is a member of the family of the </a:t>
            </a:r>
            <a:r>
              <a:rPr lang="en-US" dirty="0" err="1" smtClean="0"/>
              <a:t>Weibull</a:t>
            </a:r>
            <a:r>
              <a:rPr lang="en-US" dirty="0" smtClean="0"/>
              <a:t> distribution. The </a:t>
            </a:r>
            <a:r>
              <a:rPr lang="en-US" dirty="0" err="1" smtClean="0"/>
              <a:t>Weibull</a:t>
            </a:r>
            <a:r>
              <a:rPr lang="en-US" dirty="0" smtClean="0"/>
              <a:t> distribution has been used for decades in various fields of engineering for reliability analysis, ranging from the fatigue life of deep-groove ball bearings to electron tube failures and the overflow incidence of rivers. </a:t>
            </a:r>
          </a:p>
          <a:p>
            <a:pPr algn="just"/>
            <a:r>
              <a:rPr lang="en-US" dirty="0" smtClean="0"/>
              <a:t>It is one of the three known extreme-value distributions (Tobias, 1986). One of its marked characteristics is that the tail of its probability density function approaches zero asymptotically, but never reaches it. Its cumulative distribution function (CDF) and probability density function (PDF) are:</a:t>
            </a:r>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a:bodyPr>
          <a:lstStyle/>
          <a:p>
            <a:pPr>
              <a:buNone/>
            </a:pPr>
            <a:endParaRPr lang="en-US" dirty="0"/>
          </a:p>
        </p:txBody>
      </p:sp>
      <p:pic>
        <p:nvPicPr>
          <p:cNvPr id="9218" name="Picture 2"/>
          <p:cNvPicPr>
            <a:picLocks noChangeAspect="1" noChangeArrowheads="1"/>
          </p:cNvPicPr>
          <p:nvPr/>
        </p:nvPicPr>
        <p:blipFill>
          <a:blip r:embed="rId2"/>
          <a:srcRect/>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a:bodyPr>
          <a:lstStyle/>
          <a:p>
            <a:endParaRPr lang="en-US" dirty="0"/>
          </a:p>
        </p:txBody>
      </p:sp>
      <p:pic>
        <p:nvPicPr>
          <p:cNvPr id="10242" name="Picture 2"/>
          <p:cNvPicPr>
            <a:picLocks noChangeAspect="1" noChangeArrowheads="1"/>
          </p:cNvPicPr>
          <p:nvPr/>
        </p:nvPicPr>
        <p:blipFill>
          <a:blip r:embed="rId2"/>
          <a:srcRect/>
          <a:stretch>
            <a:fillRect/>
          </a:stretch>
        </p:blipFill>
        <p:spPr bwMode="auto">
          <a:xfrm>
            <a:off x="0" y="0"/>
            <a:ext cx="9144000" cy="6857999"/>
          </a:xfrm>
          <a:prstGeom prst="rect">
            <a:avLst/>
          </a:prstGeom>
          <a:noFill/>
          <a:ln w="9525">
            <a:noFill/>
            <a:miter lim="800000"/>
            <a:headEnd/>
            <a:tailEnd/>
          </a:ln>
          <a:effec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lnSpcReduction="10000"/>
          </a:bodyPr>
          <a:lstStyle/>
          <a:p>
            <a:r>
              <a:rPr lang="en-US" dirty="0" smtClean="0"/>
              <a:t>where m is the shape parameter, c is the scale parameter, and t is time. When applied to software, the PDF often means the defect density (rate) over time or the defect arrival pattern and the CDF means the cumulative defect arrival pattern.</a:t>
            </a:r>
          </a:p>
          <a:p>
            <a:r>
              <a:rPr lang="en-US" dirty="0" smtClean="0">
                <a:solidFill>
                  <a:srgbClr val="FF0000"/>
                </a:solidFill>
              </a:rPr>
              <a:t>Figure</a:t>
            </a:r>
            <a:r>
              <a:rPr lang="en-US" dirty="0" smtClean="0"/>
              <a:t>  shows several </a:t>
            </a:r>
            <a:r>
              <a:rPr lang="en-US" dirty="0" err="1" smtClean="0"/>
              <a:t>Weibull</a:t>
            </a:r>
            <a:r>
              <a:rPr lang="en-US" dirty="0" smtClean="0"/>
              <a:t> probability density curves with varying values for the shape parameter m . For reliability applications in an engineering field, the choice of a specific model is not arbitrary. The underlying assumptions must be considered and the model must be supported by empirical data. Of the </a:t>
            </a:r>
            <a:r>
              <a:rPr lang="en-US" dirty="0" err="1" smtClean="0"/>
              <a:t>Weibull</a:t>
            </a:r>
            <a:r>
              <a:rPr lang="en-US" dirty="0" smtClean="0"/>
              <a:t> family, the two models that have been applied in software reliability are the models with the shape parameter value m = 2 and m = 1.</a:t>
            </a:r>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r>
              <a:rPr lang="en-IN" dirty="0" smtClean="0"/>
              <a:t>Figure :1</a:t>
            </a:r>
            <a:endParaRPr lang="en-US" dirty="0"/>
          </a:p>
        </p:txBody>
      </p:sp>
      <p:pic>
        <p:nvPicPr>
          <p:cNvPr id="9218" name="Picture 2"/>
          <p:cNvPicPr>
            <a:picLocks noChangeAspect="1" noChangeArrowheads="1"/>
          </p:cNvPicPr>
          <p:nvPr/>
        </p:nvPicPr>
        <p:blipFill>
          <a:blip r:embed="rId2"/>
          <a:srcRect/>
          <a:stretch>
            <a:fillRect/>
          </a:stretch>
        </p:blipFill>
        <p:spPr bwMode="auto">
          <a:xfrm>
            <a:off x="0" y="685800"/>
            <a:ext cx="9143999" cy="6172200"/>
          </a:xfrm>
          <a:prstGeom prst="rect">
            <a:avLst/>
          </a:prstGeom>
          <a:noFill/>
          <a:ln w="9525">
            <a:noFill/>
            <a:miter lim="800000"/>
            <a:headEnd/>
            <a:tailEnd/>
          </a:ln>
          <a:effec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4"/>
          </a:lnRef>
          <a:fillRef idx="2">
            <a:schemeClr val="accent4"/>
          </a:fillRef>
          <a:effectRef idx="1">
            <a:schemeClr val="accent4"/>
          </a:effectRef>
          <a:fontRef idx="minor">
            <a:schemeClr val="dk1"/>
          </a:fontRef>
        </p:style>
        <p:txBody>
          <a:bodyPr>
            <a:normAutofit/>
          </a:bodyPr>
          <a:lstStyle/>
          <a:p>
            <a:r>
              <a:rPr lang="en-US" sz="2800" dirty="0" smtClean="0"/>
              <a:t>The Rayleigh model is a special case of the </a:t>
            </a:r>
            <a:r>
              <a:rPr lang="en-US" sz="2800" dirty="0" err="1" smtClean="0"/>
              <a:t>Weibull</a:t>
            </a:r>
            <a:r>
              <a:rPr lang="en-US" sz="2800" dirty="0" smtClean="0"/>
              <a:t> distribution when m = 2. Its CDF and PDF are</a:t>
            </a:r>
            <a:r>
              <a:rPr lang="en-US" sz="4000" dirty="0" smtClean="0"/>
              <a:t>:</a:t>
            </a:r>
          </a:p>
        </p:txBody>
      </p:sp>
      <p:pic>
        <p:nvPicPr>
          <p:cNvPr id="11266" name="Picture 2"/>
          <p:cNvPicPr>
            <a:picLocks noChangeAspect="1" noChangeArrowheads="1"/>
          </p:cNvPicPr>
          <p:nvPr/>
        </p:nvPicPr>
        <p:blipFill>
          <a:blip r:embed="rId2"/>
          <a:srcRect/>
          <a:stretch>
            <a:fillRect/>
          </a:stretch>
        </p:blipFill>
        <p:spPr bwMode="auto">
          <a:xfrm>
            <a:off x="0" y="1447800"/>
            <a:ext cx="9144000" cy="5410200"/>
          </a:xfrm>
          <a:prstGeom prst="rect">
            <a:avLst/>
          </a:prstGeom>
          <a:noFill/>
          <a:ln w="9525">
            <a:noFill/>
            <a:miter lim="800000"/>
            <a:headEnd/>
            <a:tailEnd/>
          </a:ln>
          <a:effectLst/>
        </p:spPr>
      </p:pic>
    </p:spTree>
    <p:extLst>
      <p:ext uri="{BB962C8B-B14F-4D97-AF65-F5344CB8AC3E}">
        <p14:creationId xmlns="" xmlns:p14="http://schemas.microsoft.com/office/powerpoint/2010/main" val="2140136932"/>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r>
              <a:rPr lang="en-US" dirty="0" smtClean="0"/>
              <a:t>The Rayleigh PDF first increases to a peak and then decreases at a decelerating rate. The c parameter is a function of t m , the time at which the curve reaches its peak. By taking the derivative of f ( t ) with respect to t , setting it to zero and solving the equation, t m can be obtained.</a:t>
            </a:r>
          </a:p>
          <a:p>
            <a:endParaRPr lang="en-IN" dirty="0" smtClean="0"/>
          </a:p>
          <a:p>
            <a:endParaRPr lang="en-IN" dirty="0" smtClean="0"/>
          </a:p>
          <a:p>
            <a:endParaRPr lang="en-IN" dirty="0" smtClean="0"/>
          </a:p>
          <a:p>
            <a:r>
              <a:rPr lang="en-US" dirty="0" smtClean="0"/>
              <a:t>in the formulas, we get the following. To specify a model from a set of data points, K and t m are the parameters that need to be estimated.</a:t>
            </a:r>
            <a:br>
              <a:rPr lang="en-US" dirty="0" smtClean="0"/>
            </a:br>
            <a:endParaRPr lang="en-US" dirty="0"/>
          </a:p>
        </p:txBody>
      </p:sp>
      <p:pic>
        <p:nvPicPr>
          <p:cNvPr id="10242" name="Picture 2"/>
          <p:cNvPicPr>
            <a:picLocks noChangeAspect="1" noChangeArrowheads="1"/>
          </p:cNvPicPr>
          <p:nvPr/>
        </p:nvPicPr>
        <p:blipFill>
          <a:blip r:embed="rId2"/>
          <a:srcRect/>
          <a:stretch>
            <a:fillRect/>
          </a:stretch>
        </p:blipFill>
        <p:spPr bwMode="auto">
          <a:xfrm>
            <a:off x="1752600" y="3352800"/>
            <a:ext cx="3733800" cy="1219200"/>
          </a:xfrm>
          <a:prstGeom prst="rect">
            <a:avLst/>
          </a:prstGeom>
          <a:noFill/>
          <a:ln w="9525">
            <a:noFill/>
            <a:miter lim="800000"/>
            <a:headEnd/>
            <a:tailEnd/>
          </a:ln>
          <a:effec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705600"/>
          </a:xfrm>
        </p:spPr>
        <p:style>
          <a:lnRef idx="1">
            <a:schemeClr val="accent1"/>
          </a:lnRef>
          <a:fillRef idx="2">
            <a:schemeClr val="accent1"/>
          </a:fillRef>
          <a:effectRef idx="1">
            <a:schemeClr val="accent1"/>
          </a:effectRef>
          <a:fontRef idx="minor">
            <a:schemeClr val="dk1"/>
          </a:fontRef>
        </p:style>
        <p:txBody>
          <a:bodyPr/>
          <a:lstStyle/>
          <a:p>
            <a:endParaRPr lang="en-US" dirty="0"/>
          </a:p>
        </p:txBody>
      </p:sp>
      <p:pic>
        <p:nvPicPr>
          <p:cNvPr id="11266" name="Picture 2"/>
          <p:cNvPicPr>
            <a:picLocks noChangeAspect="1" noChangeArrowheads="1"/>
          </p:cNvPicPr>
          <p:nvPr/>
        </p:nvPicPr>
        <p:blipFill>
          <a:blip r:embed="rId2"/>
          <a:srcRect/>
          <a:stretch>
            <a:fillRect/>
          </a:stretch>
        </p:blipFill>
        <p:spPr bwMode="auto">
          <a:xfrm>
            <a:off x="1066800" y="3733800"/>
            <a:ext cx="5943600" cy="1524000"/>
          </a:xfrm>
          <a:prstGeom prst="rect">
            <a:avLst/>
          </a:prstGeom>
          <a:noFill/>
          <a:ln w="9525">
            <a:noFill/>
            <a:miter lim="800000"/>
            <a:headEnd/>
            <a:tailEnd/>
          </a:ln>
          <a:effectLst/>
        </p:spPr>
      </p:pic>
      <p:pic>
        <p:nvPicPr>
          <p:cNvPr id="11268" name="Picture 4"/>
          <p:cNvPicPr>
            <a:picLocks noChangeAspect="1" noChangeArrowheads="1"/>
          </p:cNvPicPr>
          <p:nvPr/>
        </p:nvPicPr>
        <p:blipFill>
          <a:blip r:embed="rId3"/>
          <a:srcRect/>
          <a:stretch>
            <a:fillRect/>
          </a:stretch>
        </p:blipFill>
        <p:spPr bwMode="auto">
          <a:xfrm>
            <a:off x="990600" y="1524000"/>
            <a:ext cx="6172200" cy="1066800"/>
          </a:xfrm>
          <a:prstGeom prst="rect">
            <a:avLst/>
          </a:prstGeom>
          <a:noFill/>
          <a:ln w="9525">
            <a:noFill/>
            <a:miter lim="800000"/>
            <a:headEnd/>
            <a:tailEnd/>
          </a:ln>
          <a:effec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fontScale="77500" lnSpcReduction="20000"/>
          </a:bodyPr>
          <a:lstStyle/>
          <a:p>
            <a:r>
              <a:rPr lang="en-US" dirty="0" smtClean="0"/>
              <a:t>It has been empirically well established that software projects follow a lifecycle pattern described by the Rayleigh density curve (</a:t>
            </a:r>
            <a:r>
              <a:rPr lang="en-US" dirty="0" err="1" smtClean="0"/>
              <a:t>Norden</a:t>
            </a:r>
            <a:r>
              <a:rPr lang="en-US" dirty="0" smtClean="0"/>
              <a:t>, 1963; Putnam, 1978). </a:t>
            </a:r>
          </a:p>
          <a:p>
            <a:r>
              <a:rPr lang="en-US" dirty="0" smtClean="0"/>
              <a:t>Early applications of the model in software were mainly for staffing estimation over time for the life cycle of software projects. More recent work demonstrated that the defect removal pattern of software projects also follows the Rayleigh pattern.</a:t>
            </a:r>
          </a:p>
          <a:p>
            <a:r>
              <a:rPr lang="en-US" dirty="0" smtClean="0"/>
              <a:t>In 1982 Trachtenberg (1982) examined the month-by-month error histories of software projects and found that the composite error pattern of those projects resembled a Rayleigh-like curve. </a:t>
            </a:r>
          </a:p>
          <a:p>
            <a:r>
              <a:rPr lang="en-US" dirty="0" smtClean="0"/>
              <a:t>In 1984 Gaffney of the IBM Federal Systems Division reported the development of a model based on defect counts at six phases of the development process commonly used in IBM: high-level design inspections, low-level design inspections, code inspections, unit test, integration test, and system test. </a:t>
            </a:r>
          </a:p>
          <a:p>
            <a:r>
              <a:rPr lang="en-US" dirty="0" smtClean="0"/>
              <a:t>Gaffney observed that the defect pattern of his data by the six-phase development process followed a Rayleigh curve. Following the system test phase is the phase of field use (customer use). The number of latent defects in the field is the target for estimation</a:t>
            </a:r>
          </a:p>
          <a:p>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3"/>
          </a:lnRef>
          <a:fillRef idx="2">
            <a:schemeClr val="accent3"/>
          </a:fillRef>
          <a:effectRef idx="1">
            <a:schemeClr val="accent3"/>
          </a:effectRef>
          <a:fontRef idx="minor">
            <a:schemeClr val="dk1"/>
          </a:fontRef>
        </p:style>
        <p:txBody>
          <a:bodyPr>
            <a:normAutofit fontScale="70000" lnSpcReduction="20000"/>
          </a:bodyPr>
          <a:lstStyle/>
          <a:p>
            <a:r>
              <a:rPr lang="en-US" dirty="0" smtClean="0"/>
              <a:t>By developing a Rayleigh model to fit his data, Gaffney was able to project the expected latent defects in the field. Putnam's work includes the application of the Rayleigh model in estimating the number of software defects, in addition to his well-known work on software size and resource estimation (Putnam and Myers, 1992). By validating the model with systems for which defect data are available (including the space shuttle development and radar development projects), Putnam and Myers (1992) found that the total actual defects were within 5% to 10% of the defects predicted from the model. Data fits of a few other systems, for which the validity of the data is doubtful, however, were not so good. As in Trachtenberg's study, the time unit for the Rayleigh model in Putnam and Myers's application is expressed in terms of months from the project start.</a:t>
            </a:r>
          </a:p>
          <a:p>
            <a:r>
              <a:rPr lang="en-US" dirty="0" smtClean="0"/>
              <a:t>Figure 2 shows a Rayleigh curve that models the defect removal pattern of an IBM AS/400 product in relation to a six-step development process, which is very similar to that used by Gaffney. Given the defect removal pattern up through system test (ST), the purpose is to estimate the defect rate when the product is shipped: the post general-availability phase (GA) in the figure. In this example the X -axis is the development phase, which can be regarded as one form of logical equivalent of time. The phases other than ST and GA in the figure are: high-level design review (I0), low-level design review (I1), code inspection (I2), unit test (UT), and component test (CT).</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85800"/>
            <a:ext cx="9144000" cy="6172200"/>
          </a:xfrm>
        </p:spPr>
        <p:txBody>
          <a:bodyPr/>
          <a:lstStyle/>
          <a:p>
            <a:endParaRPr lang="en-US" dirty="0"/>
          </a:p>
        </p:txBody>
      </p:sp>
      <p:pic>
        <p:nvPicPr>
          <p:cNvPr id="12291" name="Picture 3"/>
          <p:cNvPicPr>
            <a:picLocks noChangeAspect="1" noChangeArrowheads="1"/>
          </p:cNvPicPr>
          <p:nvPr/>
        </p:nvPicPr>
        <p:blipFill>
          <a:blip r:embed="rId2"/>
          <a:srcRect/>
          <a:stretch>
            <a:fillRect/>
          </a:stretch>
        </p:blipFill>
        <p:spPr bwMode="auto">
          <a:xfrm>
            <a:off x="0" y="685800"/>
            <a:ext cx="9144000" cy="6172200"/>
          </a:xfrm>
          <a:prstGeom prst="rect">
            <a:avLst/>
          </a:prstGeom>
          <a:noFill/>
          <a:ln w="9525">
            <a:noFill/>
            <a:miter lim="800000"/>
            <a:headEnd/>
            <a:tailEnd/>
          </a:ln>
          <a:effectLst/>
        </p:spPr>
      </p:pic>
      <p:sp>
        <p:nvSpPr>
          <p:cNvPr id="6" name="TextBox 5"/>
          <p:cNvSpPr txBox="1"/>
          <p:nvPr/>
        </p:nvSpPr>
        <p:spPr>
          <a:xfrm>
            <a:off x="0" y="0"/>
            <a:ext cx="9144000" cy="738664"/>
          </a:xfrm>
          <a:prstGeom prst="rect">
            <a:avLst/>
          </a:prstGeom>
          <a:noFill/>
        </p:spPr>
        <p:txBody>
          <a:bodyPr wrap="square" rtlCol="0">
            <a:spAutoFit/>
          </a:bodyPr>
          <a:lstStyle/>
          <a:p>
            <a:r>
              <a:rPr lang="en-IN" sz="2400" dirty="0" smtClean="0"/>
              <a:t>Figure -2</a:t>
            </a:r>
          </a:p>
          <a:p>
            <a:endParaRPr 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52400" y="0"/>
            <a:ext cx="9296400" cy="6858000"/>
          </a:xfrm>
        </p:spPr>
        <p:style>
          <a:lnRef idx="1">
            <a:schemeClr val="accent5"/>
          </a:lnRef>
          <a:fillRef idx="2">
            <a:schemeClr val="accent5"/>
          </a:fillRef>
          <a:effectRef idx="1">
            <a:schemeClr val="accent5"/>
          </a:effectRef>
          <a:fontRef idx="minor">
            <a:schemeClr val="dk1"/>
          </a:fontRef>
        </p:style>
        <p:txBody>
          <a:bodyPr>
            <a:normAutofit/>
          </a:bodyPr>
          <a:lstStyle/>
          <a:p>
            <a:endParaRPr lang="en-US" dirty="0"/>
          </a:p>
        </p:txBody>
      </p:sp>
      <p:pic>
        <p:nvPicPr>
          <p:cNvPr id="13315" name="Picture 3"/>
          <p:cNvPicPr>
            <a:picLocks noChangeAspect="1" noChangeArrowheads="1"/>
          </p:cNvPicPr>
          <p:nvPr/>
        </p:nvPicPr>
        <p:blipFill>
          <a:blip r:embed="rId2"/>
          <a:srcRect/>
          <a:stretch>
            <a:fillRect/>
          </a:stretch>
        </p:blipFill>
        <p:spPr bwMode="auto">
          <a:xfrm>
            <a:off x="-228600" y="0"/>
            <a:ext cx="9372600" cy="6858000"/>
          </a:xfrm>
          <a:prstGeom prst="rect">
            <a:avLst/>
          </a:prstGeom>
          <a:noFill/>
          <a:ln w="9525">
            <a:noFill/>
            <a:miter lim="800000"/>
            <a:headEnd/>
            <a:tailEnd/>
          </a:ln>
          <a:effec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a:bodyPr>
          <a:lstStyle/>
          <a:p>
            <a:endParaRPr lang="en-US" dirty="0" smtClean="0"/>
          </a:p>
        </p:txBody>
      </p:sp>
      <p:pic>
        <p:nvPicPr>
          <p:cNvPr id="12292" name="Picture 4"/>
          <p:cNvPicPr>
            <a:picLocks noChangeAspect="1" noChangeArrowheads="1"/>
          </p:cNvPicPr>
          <p:nvPr/>
        </p:nvPicPr>
        <p:blipFill>
          <a:blip r:embed="rId2"/>
          <a:srcRect/>
          <a:stretch>
            <a:fillRect/>
          </a:stretch>
        </p:blipFill>
        <p:spPr bwMode="auto">
          <a:xfrm>
            <a:off x="0" y="0"/>
            <a:ext cx="9144000" cy="3200400"/>
          </a:xfrm>
          <a:prstGeom prst="rect">
            <a:avLst/>
          </a:prstGeom>
          <a:noFill/>
          <a:ln w="9525">
            <a:noFill/>
            <a:miter lim="800000"/>
            <a:headEnd/>
            <a:tailEnd/>
          </a:ln>
          <a:effectLst/>
        </p:spPr>
      </p:pic>
      <p:pic>
        <p:nvPicPr>
          <p:cNvPr id="12293" name="Picture 5"/>
          <p:cNvPicPr>
            <a:picLocks noChangeAspect="1" noChangeArrowheads="1"/>
          </p:cNvPicPr>
          <p:nvPr/>
        </p:nvPicPr>
        <p:blipFill>
          <a:blip r:embed="rId3"/>
          <a:srcRect/>
          <a:stretch>
            <a:fillRect/>
          </a:stretch>
        </p:blipFill>
        <p:spPr bwMode="auto">
          <a:xfrm>
            <a:off x="0" y="3200400"/>
            <a:ext cx="9144000" cy="3657600"/>
          </a:xfrm>
          <a:prstGeom prst="rect">
            <a:avLst/>
          </a:prstGeom>
          <a:noFill/>
          <a:ln w="9525">
            <a:noFill/>
            <a:miter lim="800000"/>
            <a:headEnd/>
            <a:tailEnd/>
          </a:ln>
          <a:effec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7170" name="Picture 2"/>
          <p:cNvPicPr>
            <a:picLocks noChangeAspect="1" noChangeArrowheads="1"/>
          </p:cNvPicPr>
          <p:nvPr/>
        </p:nvPicPr>
        <p:blipFill>
          <a:blip r:embed="rId2"/>
          <a:srcRect/>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fontScale="92500" lnSpcReduction="20000"/>
          </a:bodyPr>
          <a:lstStyle/>
          <a:p>
            <a:r>
              <a:rPr lang="en-US" sz="3600" b="1" u="sng" dirty="0" smtClean="0">
                <a:solidFill>
                  <a:srgbClr val="FF0000"/>
                </a:solidFill>
              </a:rPr>
              <a:t>Software Reliability Growth Models:-</a:t>
            </a:r>
            <a:r>
              <a:rPr lang="en-US" sz="3600" dirty="0" smtClean="0"/>
              <a:t>The reliability growth group of models measures and predicts the improvement of reliability programs through the testing process. </a:t>
            </a:r>
          </a:p>
          <a:p>
            <a:r>
              <a:rPr lang="en-US" sz="3600" dirty="0" smtClean="0"/>
              <a:t>The growth model represents the reliability or failure rate of a system as a function of time or the number of test cases. </a:t>
            </a:r>
          </a:p>
          <a:p>
            <a:r>
              <a:rPr lang="en-US" sz="3600" dirty="0" smtClean="0"/>
              <a:t>A reliability growth model is a simulation of how system dependability evolves overtime throughout the testing process. </a:t>
            </a:r>
          </a:p>
          <a:p>
            <a:r>
              <a:rPr lang="en-US" sz="3600" dirty="0" smtClean="0"/>
              <a:t>When system failures are identified, the underlying flaws that are generating these failures are corrected, and the system's dependability should improve through system testing and debugging. </a:t>
            </a:r>
          </a:p>
          <a:p>
            <a:endParaRPr lang="en-US" sz="3600" b="1" u="sng" dirty="0" smtClean="0">
              <a:solidFill>
                <a:srgbClr val="FF0000"/>
              </a:solidFill>
            </a:endParaRPr>
          </a:p>
          <a:p>
            <a:endParaRPr lang="en-US" sz="2800" dirty="0" smtClean="0"/>
          </a:p>
        </p:txBody>
      </p:sp>
    </p:spTree>
    <p:extLst>
      <p:ext uri="{BB962C8B-B14F-4D97-AF65-F5344CB8AC3E}">
        <p14:creationId xmlns="" xmlns:p14="http://schemas.microsoft.com/office/powerpoint/2010/main" val="16543865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r>
              <a:rPr lang="en-US" dirty="0" smtClean="0">
                <a:solidFill>
                  <a:srgbClr val="C00000"/>
                </a:solidFill>
              </a:rPr>
              <a:t>Software Reliability Growth Modeling:-</a:t>
            </a:r>
          </a:p>
          <a:p>
            <a:pPr algn="just"/>
            <a:r>
              <a:rPr lang="en-US" sz="3600" dirty="0" smtClean="0"/>
              <a:t>A reliability growth model is a simulation of how system dependability evolves overtime throughout the testing process. When system failures are identified, the underlying flaws that are generating these failures are corrected, and the system's dependability should improve through system testing and debugging. </a:t>
            </a:r>
          </a:p>
          <a:p>
            <a:pPr algn="just"/>
            <a:r>
              <a:rPr lang="en-US" sz="3600" dirty="0" smtClean="0"/>
              <a:t>The conceptual reliability growth model must next be converted into a mathematical model in order to forecast dependability.</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lnSpcReduction="10000"/>
          </a:bodyPr>
          <a:lstStyle/>
          <a:p>
            <a:r>
              <a:rPr lang="en-US" smtClean="0"/>
              <a:t>Reliability growth modeling entails comparing observed reliability at various periods in time with known functions that demonstrate potential changes in reliability. An equal step function, for example, implies that the dependability of a system rises linearly with each release. </a:t>
            </a:r>
          </a:p>
          <a:p>
            <a:r>
              <a:rPr lang="en-US" smtClean="0"/>
              <a:t>It is feasible to forecast the system's dependability at some future point in time by comparing observed reliability increase with one of these functions. As a result, reliability growth models may be utilized to help in project planning.</a:t>
            </a:r>
          </a:p>
          <a:p>
            <a:r>
              <a:rPr lang="en-US" smtClean="0"/>
              <a:t>The reliability growth model group measures and forecasts the improvement of reliability programs through testing. </a:t>
            </a:r>
          </a:p>
          <a:p>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92500"/>
          </a:bodyPr>
          <a:lstStyle/>
          <a:p>
            <a:r>
              <a:rPr lang="en-US" dirty="0" smtClean="0"/>
              <a:t>The growth model depicts a system's dependability or failure rate as a function of time or the number of test cases. The models in this category are listed below.</a:t>
            </a:r>
          </a:p>
          <a:p>
            <a:r>
              <a:rPr lang="en-US" dirty="0" smtClean="0">
                <a:solidFill>
                  <a:srgbClr val="C00000"/>
                </a:solidFill>
              </a:rPr>
              <a:t>1. </a:t>
            </a:r>
            <a:r>
              <a:rPr lang="en-US" dirty="0" err="1" smtClean="0">
                <a:solidFill>
                  <a:srgbClr val="C00000"/>
                </a:solidFill>
              </a:rPr>
              <a:t>Coutinho</a:t>
            </a:r>
            <a:r>
              <a:rPr lang="en-US" dirty="0" smtClean="0">
                <a:solidFill>
                  <a:srgbClr val="C00000"/>
                </a:solidFill>
              </a:rPr>
              <a:t> Model</a:t>
            </a:r>
          </a:p>
          <a:p>
            <a:r>
              <a:rPr lang="en-US" dirty="0" smtClean="0"/>
              <a:t>In the log-log paper, </a:t>
            </a:r>
            <a:r>
              <a:rPr lang="en-US" dirty="0" err="1" smtClean="0"/>
              <a:t>Coutinho</a:t>
            </a:r>
            <a:r>
              <a:rPr lang="en-US" dirty="0" smtClean="0"/>
              <a:t> charted the cumulative number of defects identified and the number of corrective measures taken vs. the cumulative testing weeks. Let N(t) represent the total number of failures and t represent the entire testing duration. The model's failure rate, lambda (t), may be represented as,</a:t>
            </a:r>
          </a:p>
          <a:p>
            <a:r>
              <a:rPr lang="en-US" i="1" dirty="0" smtClean="0">
                <a:solidFill>
                  <a:srgbClr val="C00000"/>
                </a:solidFill>
              </a:rPr>
              <a:t>[Math Processing Error]λ(t)=N(t)/t=β0t−β1</a:t>
            </a:r>
            <a:endParaRPr lang="en-US" dirty="0" smtClean="0">
              <a:solidFill>
                <a:srgbClr val="C00000"/>
              </a:solidFill>
            </a:endParaRPr>
          </a:p>
          <a:p>
            <a:r>
              <a:rPr lang="en-US" dirty="0" smtClean="0"/>
              <a:t>where </a:t>
            </a:r>
            <a:r>
              <a:rPr lang="en-US" i="1" dirty="0" smtClean="0"/>
              <a:t>[Math Processing Error]β0</a:t>
            </a:r>
            <a:r>
              <a:rPr lang="en-US" dirty="0" smtClean="0"/>
              <a:t> are </a:t>
            </a:r>
            <a:r>
              <a:rPr lang="en-US" i="1" dirty="0" smtClean="0"/>
              <a:t>[Math Processing Error]β1</a:t>
            </a:r>
            <a:r>
              <a:rPr lang="en-US" dirty="0" smtClean="0"/>
              <a:t> model parameters. This model's parameters may be estimated using the least-squares approach.</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lnSpcReduction="10000"/>
          </a:bodyPr>
          <a:lstStyle/>
          <a:p>
            <a:r>
              <a:rPr lang="en-US" smtClean="0">
                <a:solidFill>
                  <a:srgbClr val="C00000"/>
                </a:solidFill>
              </a:rPr>
              <a:t>2. Wall and Ferguson Model</a:t>
            </a:r>
          </a:p>
          <a:p>
            <a:r>
              <a:rPr lang="en-US" smtClean="0"/>
              <a:t>The total number of failures at time t, </a:t>
            </a:r>
            <a:r>
              <a:rPr lang="en-US" i="1" smtClean="0"/>
              <a:t>m(t),</a:t>
            </a:r>
            <a:r>
              <a:rPr lang="en-US" smtClean="0"/>
              <a:t> may be written as,</a:t>
            </a:r>
          </a:p>
          <a:p>
            <a:r>
              <a:rPr lang="en-US" i="1" smtClean="0">
                <a:solidFill>
                  <a:srgbClr val="C00000"/>
                </a:solidFill>
              </a:rPr>
              <a:t>[Math Processing Error]m(t)=a0[b(t)]3</a:t>
            </a:r>
            <a:endParaRPr lang="en-US" smtClean="0">
              <a:solidFill>
                <a:srgbClr val="C00000"/>
              </a:solidFill>
            </a:endParaRPr>
          </a:p>
          <a:p>
            <a:r>
              <a:rPr lang="en-US" smtClean="0"/>
              <a:t>where alpha0: and alpha1: are unidentified parameters The number of test cases or total testing time can be used to calculate the function b(t). Similarly, at time t, the failure rate function is given by,</a:t>
            </a:r>
          </a:p>
          <a:p>
            <a:r>
              <a:rPr lang="en-US" i="1" smtClean="0">
                <a:solidFill>
                  <a:srgbClr val="C00000"/>
                </a:solidFill>
              </a:rPr>
              <a:t>[Math Processing Error]λ(t)=m′(t)=a0βb′(t)[b(t)]β−1</a:t>
            </a:r>
            <a:endParaRPr lang="en-US" smtClean="0">
              <a:solidFill>
                <a:srgbClr val="C00000"/>
              </a:solidFill>
            </a:endParaRPr>
          </a:p>
          <a:p>
            <a:r>
              <a:rPr lang="en-US" smtClean="0"/>
              <a:t>Wall and Ferguson evaluated their model using a variety of software failure data and discovered that the failure data correlated well with the model.</a:t>
            </a:r>
          </a:p>
          <a:p>
            <a:endParaRPr lang="en-US" smtClean="0"/>
          </a:p>
          <a:p>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8194" name="Picture 2"/>
          <p:cNvPicPr>
            <a:picLocks noChangeAspect="1" noChangeArrowheads="1"/>
          </p:cNvPicPr>
          <p:nvPr/>
        </p:nvPicPr>
        <p:blipFill>
          <a:blip r:embed="rId2"/>
          <a:srcRect/>
          <a:stretch>
            <a:fillRect/>
          </a:stretch>
        </p:blipFill>
        <p:spPr bwMode="auto">
          <a:xfrm>
            <a:off x="0" y="0"/>
            <a:ext cx="9143999" cy="6858000"/>
          </a:xfrm>
          <a:prstGeom prst="rect">
            <a:avLst/>
          </a:prstGeom>
          <a:noFill/>
          <a:ln w="9525">
            <a:noFill/>
            <a:miter lim="800000"/>
            <a:headEnd/>
            <a:tailEnd/>
          </a:ln>
          <a:effectLst/>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92500" lnSpcReduction="20000"/>
          </a:bodyPr>
          <a:lstStyle/>
          <a:p>
            <a:r>
              <a:rPr lang="en-US" u="sng" dirty="0" smtClean="0">
                <a:solidFill>
                  <a:srgbClr val="FF0000"/>
                </a:solidFill>
              </a:rPr>
              <a:t>Notions of Reliability Growth Model:-</a:t>
            </a:r>
          </a:p>
          <a:p>
            <a:r>
              <a:rPr lang="en-US" dirty="0" smtClean="0"/>
              <a:t>-In contrast to Rayleigh, which models the defect pattern of the entire development process, reliability growth models are usually based on data from the formal testing phases.</a:t>
            </a:r>
          </a:p>
          <a:p>
            <a:r>
              <a:rPr lang="en-US" dirty="0" smtClean="0"/>
              <a:t>•In practice, such models are applied during the final testing phase when the development is virtually completed.</a:t>
            </a:r>
          </a:p>
          <a:p>
            <a:r>
              <a:rPr lang="en-US" dirty="0" smtClean="0"/>
              <a:t>•The rationale is that defect arrival or failure patterns during such testing are good indicators of the product’s reliability when it is used by customers.</a:t>
            </a:r>
          </a:p>
          <a:p>
            <a:r>
              <a:rPr lang="en-US" dirty="0" smtClean="0"/>
              <a:t>•During such post-development testing, when failures occur and defects are identified and fixed, the software becomes more stable, and reliability grows over time.</a:t>
            </a:r>
          </a:p>
          <a:p>
            <a:r>
              <a:rPr lang="en-US" dirty="0" smtClean="0"/>
              <a:t>•</a:t>
            </a:r>
            <a:r>
              <a:rPr lang="en-US" dirty="0" smtClean="0">
                <a:solidFill>
                  <a:srgbClr val="FF0000"/>
                </a:solidFill>
              </a:rPr>
              <a:t>Hence models that address such a process are called </a:t>
            </a:r>
            <a:r>
              <a:rPr lang="en-US" sz="3500" b="1" dirty="0" smtClean="0">
                <a:solidFill>
                  <a:srgbClr val="FF0000"/>
                </a:solidFill>
              </a:rPr>
              <a:t>reliability growth models.</a:t>
            </a:r>
            <a:endParaRPr lang="en-US" b="1" dirty="0">
              <a:solidFill>
                <a:srgbClr val="FF0000"/>
              </a:solidFill>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lstStyle/>
          <a:p>
            <a:r>
              <a:rPr lang="en-US" dirty="0" smtClean="0"/>
              <a:t>There are two types of models:</a:t>
            </a:r>
          </a:p>
          <a:p>
            <a:r>
              <a:rPr lang="en-US" smtClean="0"/>
              <a:t>those </a:t>
            </a:r>
            <a:r>
              <a:rPr lang="en-US" dirty="0" smtClean="0"/>
              <a:t>that predict times between failures, and</a:t>
            </a:r>
          </a:p>
          <a:p>
            <a:r>
              <a:rPr lang="en-US" smtClean="0"/>
              <a:t>those </a:t>
            </a:r>
            <a:r>
              <a:rPr lang="en-US" dirty="0" smtClean="0"/>
              <a:t>that predict the number of failures that</a:t>
            </a:r>
          </a:p>
          <a:p>
            <a:pPr>
              <a:buNone/>
            </a:pPr>
            <a:r>
              <a:rPr lang="en-US" dirty="0" smtClean="0"/>
              <a:t>will be found in future test intervals.</a:t>
            </a:r>
          </a:p>
          <a:p>
            <a:endParaRPr lang="en-US" dirty="0"/>
          </a:p>
        </p:txBody>
      </p:sp>
      <p:pic>
        <p:nvPicPr>
          <p:cNvPr id="2050" name="Picture 2"/>
          <p:cNvPicPr>
            <a:picLocks noChangeAspect="1" noChangeArrowheads="1"/>
          </p:cNvPicPr>
          <p:nvPr/>
        </p:nvPicPr>
        <p:blipFill>
          <a:blip r:embed="rId2"/>
          <a:srcRect/>
          <a:stretch>
            <a:fillRect/>
          </a:stretch>
        </p:blipFill>
        <p:spPr bwMode="auto">
          <a:xfrm>
            <a:off x="0" y="2438400"/>
            <a:ext cx="9144000" cy="4419600"/>
          </a:xfrm>
          <a:prstGeom prst="rect">
            <a:avLst/>
          </a:prstGeom>
          <a:noFill/>
          <a:ln w="9525">
            <a:noFill/>
            <a:miter lim="800000"/>
            <a:headEnd/>
            <a:tailEnd/>
          </a:ln>
          <a:effectLst/>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a:bodyPr>
          <a:lstStyle/>
          <a:p>
            <a:r>
              <a:rPr lang="en-US" b="1" u="sng" dirty="0" smtClean="0">
                <a:solidFill>
                  <a:srgbClr val="FF0000"/>
                </a:solidFill>
              </a:rPr>
              <a:t>1. Time between failures models:-</a:t>
            </a:r>
          </a:p>
        </p:txBody>
      </p:sp>
      <p:pic>
        <p:nvPicPr>
          <p:cNvPr id="3075" name="Picture 3"/>
          <p:cNvPicPr>
            <a:picLocks noChangeAspect="1" noChangeArrowheads="1"/>
          </p:cNvPicPr>
          <p:nvPr/>
        </p:nvPicPr>
        <p:blipFill>
          <a:blip r:embed="rId2"/>
          <a:srcRect/>
          <a:stretch>
            <a:fillRect/>
          </a:stretch>
        </p:blipFill>
        <p:spPr bwMode="auto">
          <a:xfrm>
            <a:off x="0" y="533400"/>
            <a:ext cx="9144000" cy="6324600"/>
          </a:xfrm>
          <a:prstGeom prst="rect">
            <a:avLst/>
          </a:prstGeom>
          <a:noFill/>
          <a:ln w="9525">
            <a:noFill/>
            <a:miter lim="800000"/>
            <a:headEnd/>
            <a:tailEnd/>
          </a:ln>
          <a:effectLst/>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a:srcRect/>
          <a:stretch>
            <a:fillRect/>
          </a:stretch>
        </p:blipFill>
        <p:spPr bwMode="auto">
          <a:xfrm>
            <a:off x="0" y="0"/>
            <a:ext cx="9143999" cy="6858000"/>
          </a:xfrm>
          <a:prstGeom prst="rect">
            <a:avLst/>
          </a:prstGeom>
          <a:noFill/>
          <a:ln w="9525">
            <a:noFill/>
            <a:miter lim="800000"/>
            <a:headEnd/>
            <a:tailEnd/>
          </a:ln>
          <a:effectLst/>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lstStyle/>
          <a:p>
            <a:r>
              <a:rPr lang="en-IN" dirty="0" smtClean="0">
                <a:solidFill>
                  <a:srgbClr val="FF0000"/>
                </a:solidFill>
              </a:rPr>
              <a:t>2.</a:t>
            </a:r>
            <a:r>
              <a:rPr lang="en-US" dirty="0" smtClean="0">
                <a:solidFill>
                  <a:srgbClr val="FF0000"/>
                </a:solidFill>
              </a:rPr>
              <a:t> Failure Count Models</a:t>
            </a:r>
            <a:r>
              <a:rPr lang="en-IN" dirty="0" smtClean="0">
                <a:solidFill>
                  <a:srgbClr val="FF0000"/>
                </a:solidFill>
              </a:rPr>
              <a:t> </a:t>
            </a:r>
            <a:endParaRPr lang="en-US" dirty="0">
              <a:solidFill>
                <a:srgbClr val="FF0000"/>
              </a:solidFill>
            </a:endParaRPr>
          </a:p>
        </p:txBody>
      </p:sp>
      <p:pic>
        <p:nvPicPr>
          <p:cNvPr id="5122" name="Picture 2"/>
          <p:cNvPicPr>
            <a:picLocks noChangeAspect="1" noChangeArrowheads="1"/>
          </p:cNvPicPr>
          <p:nvPr/>
        </p:nvPicPr>
        <p:blipFill>
          <a:blip r:embed="rId2"/>
          <a:srcRect/>
          <a:stretch>
            <a:fillRect/>
          </a:stretch>
        </p:blipFill>
        <p:spPr bwMode="auto">
          <a:xfrm>
            <a:off x="0" y="533400"/>
            <a:ext cx="9144000" cy="6324600"/>
          </a:xfrm>
          <a:prstGeom prst="rect">
            <a:avLst/>
          </a:prstGeom>
          <a:noFill/>
          <a:ln w="9525">
            <a:noFill/>
            <a:miter lim="800000"/>
            <a:headEnd/>
            <a:tailEnd/>
          </a:ln>
          <a:effectLst/>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2"/>
          </a:lnRef>
          <a:fillRef idx="2">
            <a:schemeClr val="accent2"/>
          </a:fillRef>
          <a:effectRef idx="1">
            <a:schemeClr val="accent2"/>
          </a:effectRef>
          <a:fontRef idx="minor">
            <a:schemeClr val="dk1"/>
          </a:fontRef>
        </p:style>
        <p:txBody>
          <a:bodyPr>
            <a:normAutofit fontScale="92500" lnSpcReduction="10000"/>
          </a:bodyPr>
          <a:lstStyle/>
          <a:p>
            <a:r>
              <a:rPr lang="en-US" dirty="0" smtClean="0"/>
              <a:t>The conceptual reliability growth model must next be converted into a mathematical model in order to forecast dependability.</a:t>
            </a:r>
          </a:p>
          <a:p>
            <a:r>
              <a:rPr lang="en-US" dirty="0" smtClean="0"/>
              <a:t>Reliability growth modeling entails comparing observed reliability at various periods in time with known functions that demonstrate potential changes in reliability. </a:t>
            </a:r>
          </a:p>
          <a:p>
            <a:r>
              <a:rPr lang="en-US" dirty="0" smtClean="0"/>
              <a:t>An equal step function, for example, implies that the dependability of a system rises linearly with each release. </a:t>
            </a:r>
          </a:p>
          <a:p>
            <a:r>
              <a:rPr lang="en-US" dirty="0" smtClean="0"/>
              <a:t>It is feasible to forecast the system's dependability at some future point in time by comparing observed reliability increase with one of these functions. </a:t>
            </a:r>
          </a:p>
          <a:p>
            <a:r>
              <a:rPr lang="en-US" dirty="0" smtClean="0"/>
              <a:t>As a result, reliability growth models may be utilized to help in project planning.</a:t>
            </a:r>
          </a:p>
          <a:p>
            <a:endParaRPr lang="en-US"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2"/>
          </a:lnRef>
          <a:fillRef idx="2">
            <a:schemeClr val="accent2"/>
          </a:fillRef>
          <a:effectRef idx="1">
            <a:schemeClr val="accent2"/>
          </a:effectRef>
          <a:fontRef idx="minor">
            <a:schemeClr val="dk1"/>
          </a:fontRef>
        </p:style>
        <p:txBody>
          <a:bodyPr>
            <a:normAutofit fontScale="77500" lnSpcReduction="20000"/>
          </a:bodyPr>
          <a:lstStyle/>
          <a:p>
            <a:r>
              <a:rPr lang="en-US" dirty="0" smtClean="0"/>
              <a:t>The reliability growth model group measures and forecasts the improvement of reliability programs through testing. The growth model depicts a system's dependability or failure rate as a function of time or the number of test cases. The models in this category are listed below.</a:t>
            </a:r>
          </a:p>
          <a:p>
            <a:r>
              <a:rPr lang="en-US" dirty="0" smtClean="0"/>
              <a:t>The exponential model can be regarded as the basic form of the software reliability growth models. For the past two decades, software reliability modeling has been one of the most active areas in software engineering. </a:t>
            </a:r>
          </a:p>
          <a:p>
            <a:r>
              <a:rPr lang="en-US" dirty="0" smtClean="0"/>
              <a:t>More than a hundred models have been proposed in professional journals and at software conferences, each with its own assumptions, applicability, and limitations. Unfortunately, not many models have been tested in practical environments with real data, and even fewer models are in use. </a:t>
            </a:r>
          </a:p>
          <a:p>
            <a:r>
              <a:rPr lang="en-US" b="1" dirty="0" smtClean="0">
                <a:solidFill>
                  <a:srgbClr val="FF0000"/>
                </a:solidFill>
              </a:rPr>
              <a:t>1. Coutinho Model</a:t>
            </a:r>
          </a:p>
          <a:p>
            <a:r>
              <a:rPr lang="en-IN" b="1" dirty="0" smtClean="0">
                <a:solidFill>
                  <a:srgbClr val="FF0000"/>
                </a:solidFill>
              </a:rPr>
              <a:t>2. </a:t>
            </a:r>
            <a:r>
              <a:rPr lang="en-US" b="1" dirty="0" smtClean="0">
                <a:solidFill>
                  <a:srgbClr val="FF0000"/>
                </a:solidFill>
              </a:rPr>
              <a:t>Wall and Ferguson Model</a:t>
            </a:r>
          </a:p>
          <a:p>
            <a:r>
              <a:rPr lang="en-US" dirty="0" smtClean="0"/>
              <a:t>From the practical software development point of view, for some models the cost of gathering data is too expensive; some models are not understandable; and some simply do not work when examined. </a:t>
            </a:r>
          </a:p>
          <a:p>
            <a:endParaRPr lang="en-US" dirty="0" smtClean="0"/>
          </a:p>
          <a:p>
            <a:endParaRPr 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r>
              <a:rPr lang="en-US" dirty="0" smtClean="0">
                <a:solidFill>
                  <a:srgbClr val="FF0000"/>
                </a:solidFill>
              </a:rPr>
              <a:t>For instance, </a:t>
            </a:r>
            <a:r>
              <a:rPr lang="en-US" dirty="0" smtClean="0"/>
              <a:t>Elbert and associates (1992) examined seven reliability models with data from a large and complex software system that contained millions of lines of source code. </a:t>
            </a:r>
          </a:p>
          <a:p>
            <a:r>
              <a:rPr lang="en-US" dirty="0" smtClean="0"/>
              <a:t>They found that some models gave reasonable results, and others provided unrealistic estimates. Despite a good fit between the model and the data, some models predicted the </a:t>
            </a:r>
            <a:r>
              <a:rPr lang="en-US" dirty="0" err="1" smtClean="0"/>
              <a:t>prob</a:t>
            </a:r>
            <a:r>
              <a:rPr lang="en-US" dirty="0" smtClean="0"/>
              <a:t>-ability of error detection as a negative value. </a:t>
            </a:r>
          </a:p>
          <a:p>
            <a:r>
              <a:rPr lang="en-US" dirty="0" smtClean="0"/>
              <a:t>The range of the estimates of the defects of the system from these models is incredibly wide ”from 5 to 6 defects up to 50,000.</a:t>
            </a:r>
            <a:endParaRPr lang="en-US"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85000" lnSpcReduction="10000"/>
          </a:bodyPr>
          <a:lstStyle/>
          <a:p>
            <a:pPr fontAlgn="base"/>
            <a:r>
              <a:rPr lang="en-US" dirty="0" smtClean="0"/>
              <a:t>For the time between failures models, the variable under study is the time between failures. This is the earliest class of models proposed for software reliability assessment. </a:t>
            </a:r>
          </a:p>
          <a:p>
            <a:pPr fontAlgn="base"/>
            <a:r>
              <a:rPr lang="en-US" dirty="0" smtClean="0"/>
              <a:t>It is expected that the failure times will get longer as defects are removed from the software product. </a:t>
            </a:r>
          </a:p>
          <a:p>
            <a:pPr fontAlgn="base"/>
            <a:r>
              <a:rPr lang="en-US" dirty="0" smtClean="0"/>
              <a:t>A common approach of this class of model is to assume that the time between, say, the ( </a:t>
            </a:r>
            <a:r>
              <a:rPr lang="en-US" dirty="0" err="1" smtClean="0"/>
              <a:t>i</a:t>
            </a:r>
            <a:r>
              <a:rPr lang="en-US" dirty="0" smtClean="0"/>
              <a:t> - 1)</a:t>
            </a:r>
            <a:r>
              <a:rPr lang="en-US" dirty="0" err="1" smtClean="0"/>
              <a:t>st</a:t>
            </a:r>
            <a:r>
              <a:rPr lang="en-US" dirty="0" smtClean="0"/>
              <a:t> and the </a:t>
            </a:r>
            <a:r>
              <a:rPr lang="en-US" dirty="0" err="1" smtClean="0"/>
              <a:t>i</a:t>
            </a:r>
            <a:r>
              <a:rPr lang="en-US" dirty="0" smtClean="0"/>
              <a:t> </a:t>
            </a:r>
            <a:r>
              <a:rPr lang="en-US" dirty="0" err="1" smtClean="0"/>
              <a:t>th</a:t>
            </a:r>
            <a:r>
              <a:rPr lang="en-US" dirty="0" smtClean="0"/>
              <a:t> failures follows a distribution whose parameters are related to the number of latent defects remaining in the product after the (</a:t>
            </a:r>
            <a:r>
              <a:rPr lang="en-US" dirty="0" err="1" smtClean="0"/>
              <a:t>i</a:t>
            </a:r>
            <a:r>
              <a:rPr lang="en-US" dirty="0" smtClean="0"/>
              <a:t> - 1)</a:t>
            </a:r>
            <a:r>
              <a:rPr lang="en-US" dirty="0" err="1" smtClean="0"/>
              <a:t>st</a:t>
            </a:r>
            <a:r>
              <a:rPr lang="en-US" dirty="0" smtClean="0"/>
              <a:t> failure. </a:t>
            </a:r>
          </a:p>
          <a:p>
            <a:pPr fontAlgn="base"/>
            <a:r>
              <a:rPr lang="en-US" dirty="0" smtClean="0"/>
              <a:t>The distribution used is supposed to reflect the improvement in reliability as defects are detected and removed from the product. </a:t>
            </a:r>
          </a:p>
          <a:p>
            <a:pPr fontAlgn="base"/>
            <a:r>
              <a:rPr lang="en-US" dirty="0" smtClean="0"/>
              <a:t>The parameters of the distribution are to be estimated from the observed values of times between failures. Mean time to next failure is usually the parameter to be estimated for the model.</a:t>
            </a:r>
            <a:endParaRPr lang="en-US" dirty="0"/>
          </a:p>
        </p:txBody>
      </p:sp>
    </p:spTree>
    <p:extLst>
      <p:ext uri="{BB962C8B-B14F-4D97-AF65-F5344CB8AC3E}">
        <p14:creationId xmlns="" xmlns:p14="http://schemas.microsoft.com/office/powerpoint/2010/main" val="4162030896"/>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fontScale="70000" lnSpcReduction="20000"/>
          </a:bodyPr>
          <a:lstStyle/>
          <a:p>
            <a:endParaRPr lang="en-US" dirty="0" smtClean="0">
              <a:hlinkClick r:id="rId2"/>
            </a:endParaRPr>
          </a:p>
          <a:p>
            <a:r>
              <a:rPr lang="en-US" dirty="0" smtClean="0">
                <a:hlinkClick r:id="rId2"/>
              </a:rPr>
              <a:t>https://www.analytixlabs.co.in/blog/types-of-distribution/</a:t>
            </a:r>
            <a:endParaRPr lang="en-US" dirty="0" smtClean="0"/>
          </a:p>
          <a:p>
            <a:r>
              <a:rPr lang="en-US" dirty="0" smtClean="0">
                <a:hlinkClick r:id="rId2"/>
              </a:rPr>
              <a:t>https://www.scribbr.com/statistics/probability-distributions/</a:t>
            </a:r>
          </a:p>
          <a:p>
            <a:r>
              <a:rPr lang="en-US" dirty="0" smtClean="0">
                <a:hlinkClick r:id="rId3"/>
              </a:rPr>
              <a:t>https://www.mycompiler.io/new/octave</a:t>
            </a:r>
            <a:endParaRPr lang="en-US" dirty="0" smtClean="0"/>
          </a:p>
          <a:p>
            <a:r>
              <a:rPr lang="en-US" dirty="0" smtClean="0">
                <a:hlinkClick r:id="rId4"/>
              </a:rPr>
              <a:t>https://www.w3schools.com/python/numpy/numpy_random_rayleigh.asp</a:t>
            </a:r>
            <a:endParaRPr lang="en-US" dirty="0" smtClean="0"/>
          </a:p>
          <a:p>
            <a:r>
              <a:rPr lang="en-US" dirty="0" smtClean="0">
                <a:hlinkClick r:id="rId5"/>
              </a:rPr>
              <a:t>https://en.wikipedia.org/wiki/Rayleigh_distribution</a:t>
            </a:r>
            <a:endParaRPr lang="en-US" dirty="0" smtClean="0"/>
          </a:p>
          <a:p>
            <a:r>
              <a:rPr lang="en-US" dirty="0" smtClean="0">
                <a:hlinkClick r:id="rId6"/>
              </a:rPr>
              <a:t>https://in.mathworks.com/help/stats/rayleigh-distribution.html</a:t>
            </a:r>
            <a:endParaRPr lang="en-US" dirty="0" smtClean="0"/>
          </a:p>
          <a:p>
            <a:r>
              <a:rPr lang="en-US" dirty="0" smtClean="0">
                <a:hlinkClick r:id="rId4"/>
              </a:rPr>
              <a:t>https://www.w3schools.com/python/numpy/numpy_random_rayleigh.asp</a:t>
            </a:r>
            <a:endParaRPr lang="en-US" dirty="0" smtClean="0"/>
          </a:p>
          <a:p>
            <a:r>
              <a:rPr lang="en-US" dirty="0" smtClean="0">
                <a:hlinkClick r:id="rId7"/>
              </a:rPr>
              <a:t>https://www.statisticshowto.com/rayleigh-distribution/</a:t>
            </a:r>
            <a:endParaRPr lang="en-US" dirty="0" smtClean="0"/>
          </a:p>
          <a:p>
            <a:r>
              <a:rPr lang="en-US" dirty="0" smtClean="0">
                <a:hlinkClick r:id="rId8"/>
              </a:rPr>
              <a:t>https://www.erykfaracik.com/blog/rayleigh-distribution-definition-formulas-and-more</a:t>
            </a:r>
            <a:endParaRPr lang="en-US" dirty="0" smtClean="0"/>
          </a:p>
          <a:p>
            <a:r>
              <a:rPr lang="en-US" dirty="0" smtClean="0"/>
              <a:t>https://in.mathworks.com/help/stats/exponential-distribution.html</a:t>
            </a:r>
          </a:p>
          <a:p>
            <a:endParaRPr lang="en-US"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92500" lnSpcReduction="20000"/>
          </a:bodyPr>
          <a:lstStyle/>
          <a:p>
            <a:r>
              <a:rPr lang="en-US" sz="4400" u="sng" dirty="0" smtClean="0">
                <a:solidFill>
                  <a:srgbClr val="FF0000"/>
                </a:solidFill>
              </a:rPr>
              <a:t>Criteria for Model Evaluation:- </a:t>
            </a:r>
          </a:p>
          <a:p>
            <a:r>
              <a:rPr lang="en-US" dirty="0" smtClean="0"/>
              <a:t>For reliability models, in 1984 a group of experts (</a:t>
            </a:r>
            <a:r>
              <a:rPr lang="en-US" dirty="0" err="1" smtClean="0"/>
              <a:t>Iannino</a:t>
            </a:r>
            <a:r>
              <a:rPr lang="en-US" dirty="0" smtClean="0"/>
              <a:t> et al., 1984) devised a set of criteria for model assessment and comparison. </a:t>
            </a:r>
          </a:p>
          <a:p>
            <a:r>
              <a:rPr lang="en-US" dirty="0" smtClean="0"/>
              <a:t>The criteria are listed as follows , by order of importance as determined by the group :</a:t>
            </a:r>
          </a:p>
          <a:p>
            <a:r>
              <a:rPr lang="en-US" dirty="0" smtClean="0">
                <a:solidFill>
                  <a:srgbClr val="FF0000"/>
                </a:solidFill>
              </a:rPr>
              <a:t>1. Predictive validity</a:t>
            </a:r>
            <a:endParaRPr lang="en-US" dirty="0" smtClean="0"/>
          </a:p>
          <a:p>
            <a:r>
              <a:rPr lang="en-US" dirty="0" smtClean="0">
                <a:solidFill>
                  <a:srgbClr val="FF0000"/>
                </a:solidFill>
              </a:rPr>
              <a:t>2. Capability</a:t>
            </a:r>
            <a:endParaRPr lang="en-US" dirty="0" smtClean="0"/>
          </a:p>
          <a:p>
            <a:r>
              <a:rPr lang="en-US" dirty="0" smtClean="0">
                <a:solidFill>
                  <a:srgbClr val="FF0000"/>
                </a:solidFill>
              </a:rPr>
              <a:t>3. Quality of assumptions</a:t>
            </a:r>
            <a:endParaRPr lang="en-US" dirty="0" smtClean="0"/>
          </a:p>
          <a:p>
            <a:r>
              <a:rPr lang="en-US" dirty="0" smtClean="0">
                <a:solidFill>
                  <a:srgbClr val="FF0000"/>
                </a:solidFill>
              </a:rPr>
              <a:t>4. Applicability</a:t>
            </a:r>
            <a:endParaRPr lang="en-US" dirty="0" smtClean="0"/>
          </a:p>
          <a:p>
            <a:r>
              <a:rPr lang="en-US" dirty="0" smtClean="0">
                <a:solidFill>
                  <a:srgbClr val="FF0000"/>
                </a:solidFill>
              </a:rPr>
              <a:t>5. Simplicity</a:t>
            </a:r>
          </a:p>
          <a:p>
            <a:r>
              <a:rPr lang="en-US" dirty="0" smtClean="0">
                <a:solidFill>
                  <a:srgbClr val="FF0000"/>
                </a:solidFill>
              </a:rPr>
              <a:t>1. Predictive validity: </a:t>
            </a:r>
            <a:r>
              <a:rPr lang="en-US" dirty="0" smtClean="0"/>
              <a:t>The capability of the model to predict failure behavior or the number of defects for a specified time period based on the current data in the model.</a:t>
            </a:r>
          </a:p>
          <a:p>
            <a:endParaRPr lang="en-US" dirty="0" smtClean="0"/>
          </a:p>
        </p:txBody>
      </p:sp>
    </p:spTree>
    <p:extLst>
      <p:ext uri="{BB962C8B-B14F-4D97-AF65-F5344CB8AC3E}">
        <p14:creationId xmlns="" xmlns:p14="http://schemas.microsoft.com/office/powerpoint/2010/main" val="2305331826"/>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lnSpcReduction="10000"/>
          </a:bodyPr>
          <a:lstStyle/>
          <a:p>
            <a:r>
              <a:rPr lang="en-US" dirty="0" smtClean="0">
                <a:solidFill>
                  <a:srgbClr val="FF0000"/>
                </a:solidFill>
              </a:rPr>
              <a:t>2. Capability: </a:t>
            </a:r>
            <a:r>
              <a:rPr lang="en-US" dirty="0" smtClean="0"/>
              <a:t>The ability of the model to estimate with satisfactory accuracy quantities needed by software managers, engineers , and users in planning and managing software development projects or controlling change in operational software systems.</a:t>
            </a:r>
          </a:p>
          <a:p>
            <a:r>
              <a:rPr lang="en-US" dirty="0" smtClean="0">
                <a:solidFill>
                  <a:srgbClr val="FF0000"/>
                </a:solidFill>
              </a:rPr>
              <a:t>3. Quality of assumptions: </a:t>
            </a:r>
            <a:r>
              <a:rPr lang="en-US" dirty="0" smtClean="0"/>
              <a:t>The likelihood that the model assumptions can be met, and the assumptions' plausibility from the viewpoint of logical consistency and software engineering experience.</a:t>
            </a:r>
          </a:p>
          <a:p>
            <a:r>
              <a:rPr lang="en-US" dirty="0" smtClean="0">
                <a:solidFill>
                  <a:srgbClr val="FF0000"/>
                </a:solidFill>
              </a:rPr>
              <a:t>4. Applicability: </a:t>
            </a:r>
            <a:r>
              <a:rPr lang="en-US" dirty="0" smtClean="0"/>
              <a:t>The model's degree of applicability across different software products ( size , structure, functions, etc.).</a:t>
            </a:r>
          </a:p>
        </p:txBody>
      </p:sp>
    </p:spTree>
    <p:extLst>
      <p:ext uri="{BB962C8B-B14F-4D97-AF65-F5344CB8AC3E}">
        <p14:creationId xmlns="" xmlns:p14="http://schemas.microsoft.com/office/powerpoint/2010/main" val="2349831435"/>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28600"/>
            <a:ext cx="9144000" cy="7086600"/>
          </a:xfrm>
        </p:spPr>
        <p:style>
          <a:lnRef idx="1">
            <a:schemeClr val="accent5"/>
          </a:lnRef>
          <a:fillRef idx="2">
            <a:schemeClr val="accent5"/>
          </a:fillRef>
          <a:effectRef idx="1">
            <a:schemeClr val="accent5"/>
          </a:effectRef>
          <a:fontRef idx="minor">
            <a:schemeClr val="dk1"/>
          </a:fontRef>
        </p:style>
        <p:txBody>
          <a:bodyPr>
            <a:normAutofit/>
          </a:bodyPr>
          <a:lstStyle/>
          <a:p>
            <a:pPr>
              <a:buNone/>
            </a:pPr>
            <a:r>
              <a:rPr lang="en-US" dirty="0" smtClean="0">
                <a:solidFill>
                  <a:srgbClr val="FF0000"/>
                </a:solidFill>
              </a:rPr>
              <a:t>   5. Simplicity: </a:t>
            </a:r>
            <a:r>
              <a:rPr lang="en-US" dirty="0" smtClean="0"/>
              <a:t>A model should be simple in three aspects: </a:t>
            </a:r>
          </a:p>
          <a:p>
            <a:pPr marL="514350" indent="-514350">
              <a:buAutoNum type="arabicParenBoth"/>
            </a:pPr>
            <a:r>
              <a:rPr lang="en-US" dirty="0" smtClean="0"/>
              <a:t>simple and inexpensive to collect data, </a:t>
            </a:r>
          </a:p>
          <a:p>
            <a:pPr marL="514350" indent="-514350">
              <a:buNone/>
            </a:pPr>
            <a:r>
              <a:rPr lang="en-US" dirty="0" smtClean="0"/>
              <a:t>(2) simple in concept and does not require extensive mathematical background for software development practitioners to comprehend, and </a:t>
            </a:r>
          </a:p>
          <a:p>
            <a:pPr marL="514350" indent="-514350">
              <a:buNone/>
            </a:pPr>
            <a:r>
              <a:rPr lang="en-US" dirty="0" smtClean="0"/>
              <a:t>(3) readily implemented by computer programs.</a:t>
            </a:r>
          </a:p>
          <a:p>
            <a:pPr marL="514350" indent="-514350">
              <a:buNone/>
            </a:pPr>
            <a:endParaRPr lang="en-US" sz="1000" dirty="0" smtClean="0"/>
          </a:p>
          <a:p>
            <a:pPr>
              <a:buNone/>
            </a:pPr>
            <a:r>
              <a:rPr lang="en-US" dirty="0" smtClean="0"/>
              <a:t>    </a:t>
            </a:r>
            <a:r>
              <a:rPr lang="en-US" b="1" dirty="0" smtClean="0">
                <a:solidFill>
                  <a:srgbClr val="002060"/>
                </a:solidFill>
              </a:rPr>
              <a:t>From the practitioner's point of view and with recent observations of software reliability models, we contend that the most important criteria are predictive validity, simplicity, and quality of assumptions, in that order of importance. Capability and applicability are less significant. </a:t>
            </a:r>
          </a:p>
          <a:p>
            <a:pPr>
              <a:buNone/>
            </a:pPr>
            <a:endParaRPr lang="en-US" dirty="0" smtClean="0"/>
          </a:p>
        </p:txBody>
      </p:sp>
    </p:spTree>
    <p:extLst>
      <p:ext uri="{BB962C8B-B14F-4D97-AF65-F5344CB8AC3E}">
        <p14:creationId xmlns="" xmlns:p14="http://schemas.microsoft.com/office/powerpoint/2010/main" val="2488684988"/>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4"/>
          </a:lnRef>
          <a:fillRef idx="2">
            <a:schemeClr val="accent4"/>
          </a:fillRef>
          <a:effectRef idx="1">
            <a:schemeClr val="accent4"/>
          </a:effectRef>
          <a:fontRef idx="minor">
            <a:schemeClr val="dk1"/>
          </a:fontRef>
        </p:style>
        <p:txBody>
          <a:bodyPr>
            <a:normAutofit fontScale="85000" lnSpcReduction="10000"/>
          </a:bodyPr>
          <a:lstStyle/>
          <a:p>
            <a:r>
              <a:rPr lang="en-US" sz="5200" b="1" u="sng" dirty="0" smtClean="0">
                <a:solidFill>
                  <a:srgbClr val="FF0000"/>
                </a:solidFill>
              </a:rPr>
              <a:t>Software Quality Assessment:-</a:t>
            </a:r>
          </a:p>
          <a:p>
            <a:endParaRPr lang="en-US" sz="1100" b="1" u="sng" dirty="0" smtClean="0">
              <a:solidFill>
                <a:srgbClr val="FF0000"/>
              </a:solidFill>
            </a:endParaRPr>
          </a:p>
          <a:p>
            <a:pPr algn="just"/>
            <a:r>
              <a:rPr lang="en-US" dirty="0" smtClean="0"/>
              <a:t>According to the created and approved plan, we perform software quality assessment. This involves </a:t>
            </a:r>
            <a:r>
              <a:rPr lang="en-US" b="1" dirty="0" smtClean="0"/>
              <a:t>partial or complete code review, architecture review, testing, assessing a software product's compliance with development standards and industry regulations to find the defects in your software product</a:t>
            </a:r>
            <a:r>
              <a:rPr lang="en-US" dirty="0" smtClean="0"/>
              <a:t>.</a:t>
            </a:r>
          </a:p>
          <a:p>
            <a:pPr algn="just"/>
            <a:r>
              <a:rPr lang="en-US" dirty="0" smtClean="0"/>
              <a:t>Quality model is regarded as a well-accepted approach for assessing, managing and improving software product quality. There are three categories of quality models for software products, i.e., </a:t>
            </a:r>
            <a:r>
              <a:rPr lang="en-US" dirty="0" smtClean="0">
                <a:solidFill>
                  <a:srgbClr val="FF0000"/>
                </a:solidFill>
              </a:rPr>
              <a:t>definition model, assessment model, and prediction model. </a:t>
            </a:r>
          </a:p>
          <a:p>
            <a:pPr algn="just"/>
            <a:r>
              <a:rPr lang="en-US" dirty="0" smtClean="0"/>
              <a:t>Quality assessment model (QAM) is a metric-based approach to assess the software quality. </a:t>
            </a:r>
          </a:p>
          <a:p>
            <a:pPr algn="just"/>
            <a:r>
              <a:rPr lang="en-US" dirty="0" smtClean="0"/>
              <a:t>It is typically regarded as of high importance for its clear method on how to assess a system.</a:t>
            </a:r>
          </a:p>
          <a:p>
            <a:endParaRPr lang="en-US" sz="1800" b="1" dirty="0" smtClean="0"/>
          </a:p>
        </p:txBody>
      </p:sp>
    </p:spTree>
    <p:extLst>
      <p:ext uri="{BB962C8B-B14F-4D97-AF65-F5344CB8AC3E}">
        <p14:creationId xmlns="" xmlns:p14="http://schemas.microsoft.com/office/powerpoint/2010/main" val="50768623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fontScale="77500" lnSpcReduction="20000"/>
          </a:bodyPr>
          <a:lstStyle/>
          <a:p>
            <a:r>
              <a:rPr lang="en-US" b="1" dirty="0" smtClean="0">
                <a:solidFill>
                  <a:srgbClr val="FF0000"/>
                </a:solidFill>
              </a:rPr>
              <a:t>Stages to Software Quality Assessment</a:t>
            </a:r>
          </a:p>
          <a:p>
            <a:r>
              <a:rPr lang="en-US" dirty="0" smtClean="0"/>
              <a:t>Our approach to quality assessment comprises the following stages:</a:t>
            </a:r>
          </a:p>
          <a:p>
            <a:r>
              <a:rPr lang="en-US" b="1" dirty="0" smtClean="0">
                <a:solidFill>
                  <a:srgbClr val="FF0000"/>
                </a:solidFill>
              </a:rPr>
              <a:t>1. Assessment planning</a:t>
            </a:r>
          </a:p>
          <a:p>
            <a:r>
              <a:rPr lang="en-US" dirty="0" smtClean="0"/>
              <a:t>We set up quality assessment objectives, prepare necessary scenarios for performing assessment, identify time frames, estimate costs, appoint responsible QA specialists and software consultants and prepare a documented assessment plan.</a:t>
            </a:r>
          </a:p>
          <a:p>
            <a:r>
              <a:rPr lang="en-US" b="1" dirty="0" smtClean="0">
                <a:solidFill>
                  <a:srgbClr val="FF0000"/>
                </a:solidFill>
              </a:rPr>
              <a:t>2. Assessment implementation</a:t>
            </a:r>
          </a:p>
          <a:p>
            <a:r>
              <a:rPr lang="en-US" dirty="0" smtClean="0"/>
              <a:t>According to the created and approved plan, we perform software quality assessment. This involves partial or complete code review, architecture review, testing, assessing a software product’s compliance with development standards and industry regulations to find the defects in your software product.</a:t>
            </a:r>
          </a:p>
          <a:p>
            <a:r>
              <a:rPr lang="en-US" b="1" dirty="0" smtClean="0">
                <a:solidFill>
                  <a:srgbClr val="FF0000"/>
                </a:solidFill>
              </a:rPr>
              <a:t>3. Assessment report</a:t>
            </a:r>
          </a:p>
          <a:p>
            <a:r>
              <a:rPr lang="en-US" dirty="0" smtClean="0"/>
              <a:t>We deliver a detailed report containing detected issues and recommendations to address them.</a:t>
            </a:r>
          </a:p>
          <a:p>
            <a:r>
              <a:rPr lang="en-US" dirty="0" smtClean="0"/>
              <a:t>If needed, we are also ready to step in and solve the found software problems (including partial or complete redesign of the solution).</a:t>
            </a:r>
          </a:p>
          <a:p>
            <a:endParaRPr lang="en-US" dirty="0"/>
          </a:p>
        </p:txBody>
      </p:sp>
    </p:spTree>
    <p:extLst>
      <p:ext uri="{BB962C8B-B14F-4D97-AF65-F5344CB8AC3E}">
        <p14:creationId xmlns="" xmlns:p14="http://schemas.microsoft.com/office/powerpoint/2010/main" val="1727975781"/>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lnSpcReduction="10000"/>
          </a:bodyPr>
          <a:lstStyle/>
          <a:p>
            <a:pPr algn="just"/>
            <a:r>
              <a:rPr lang="en-US" sz="2400" b="1" dirty="0" smtClean="0">
                <a:solidFill>
                  <a:srgbClr val="FF0000"/>
                </a:solidFill>
              </a:rPr>
              <a:t>QUALITY ASSESSMENT:- </a:t>
            </a:r>
            <a:r>
              <a:rPr lang="en-US" sz="2800" dirty="0" smtClean="0"/>
              <a:t>Quality assessment model (QAM) is </a:t>
            </a:r>
            <a:r>
              <a:rPr lang="en-US" sz="2800" b="1" dirty="0" smtClean="0"/>
              <a:t>a metric-based approach to assess the software quality</a:t>
            </a:r>
            <a:r>
              <a:rPr lang="en-US" sz="2800" dirty="0" smtClean="0"/>
              <a:t>. It is typically regarded as of high importance for its clear method on how to assess a system.</a:t>
            </a:r>
          </a:p>
          <a:p>
            <a:pPr algn="just"/>
            <a:r>
              <a:rPr lang="en-US" sz="2800" dirty="0" smtClean="0"/>
              <a:t>Quality assessment is likely to focus on the following elements of the economic evaluation, each of which can have an important impact on the validity of the overall results of that study.</a:t>
            </a:r>
            <a:endParaRPr lang="en-US" sz="2800" b="1" dirty="0" smtClean="0"/>
          </a:p>
          <a:p>
            <a:pPr algn="just"/>
            <a:r>
              <a:rPr lang="en-US" sz="2800" dirty="0" smtClean="0">
                <a:solidFill>
                  <a:srgbClr val="FF0000"/>
                </a:solidFill>
              </a:rPr>
              <a:t>1. Methods of deriving the effectiveness data.</a:t>
            </a:r>
          </a:p>
          <a:p>
            <a:pPr algn="just"/>
            <a:r>
              <a:rPr lang="en-US" sz="2800" dirty="0" smtClean="0">
                <a:solidFill>
                  <a:srgbClr val="FF0000"/>
                </a:solidFill>
              </a:rPr>
              <a:t>2. Measurement of resource data.</a:t>
            </a:r>
          </a:p>
          <a:p>
            <a:pPr algn="just"/>
            <a:r>
              <a:rPr lang="en-US" sz="2800" dirty="0" smtClean="0">
                <a:solidFill>
                  <a:srgbClr val="FF0000"/>
                </a:solidFill>
              </a:rPr>
              <a:t>3. Valuation of resource data.</a:t>
            </a:r>
          </a:p>
          <a:p>
            <a:pPr algn="just"/>
            <a:r>
              <a:rPr lang="en-US" sz="2800" dirty="0" smtClean="0">
                <a:solidFill>
                  <a:srgbClr val="FF0000"/>
                </a:solidFill>
              </a:rPr>
              <a:t>4. Measurement and valuation of health benefits (utilities)</a:t>
            </a:r>
          </a:p>
          <a:p>
            <a:pPr algn="just"/>
            <a:r>
              <a:rPr lang="en-US" sz="2800" dirty="0" smtClean="0">
                <a:solidFill>
                  <a:srgbClr val="FF0000"/>
                </a:solidFill>
              </a:rPr>
              <a:t>5. Method of synthesizing the costs and effects.</a:t>
            </a:r>
          </a:p>
          <a:p>
            <a:pPr algn="just"/>
            <a:r>
              <a:rPr lang="en-US" sz="2800" dirty="0" smtClean="0">
                <a:solidFill>
                  <a:srgbClr val="FF0000"/>
                </a:solidFill>
              </a:rPr>
              <a:t>6. Analysis of uncertainty.</a:t>
            </a:r>
          </a:p>
          <a:p>
            <a:pPr algn="just"/>
            <a:r>
              <a:rPr lang="en-US" sz="2800" dirty="0" smtClean="0">
                <a:solidFill>
                  <a:srgbClr val="FF0000"/>
                </a:solidFill>
              </a:rPr>
              <a:t>7. Generalisability of the results.</a:t>
            </a:r>
          </a:p>
        </p:txBody>
      </p:sp>
    </p:spTree>
    <p:extLst>
      <p:ext uri="{BB962C8B-B14F-4D97-AF65-F5344CB8AC3E}">
        <p14:creationId xmlns="" xmlns:p14="http://schemas.microsoft.com/office/powerpoint/2010/main" val="337678945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lnSpcReduction="10000"/>
          </a:bodyPr>
          <a:lstStyle/>
          <a:p>
            <a:pPr algn="just"/>
            <a:r>
              <a:rPr lang="en-US" sz="2800" dirty="0" smtClean="0"/>
              <a:t>This is not an exhaustive list, but an understanding of these issues, which are discussed in more detail below, will provide insight into the quality assessment of economic evaluations. Quality assessment of decision models is not covered in detail here due to the technical nature of the material. It is recommended that more detailed information on good practice in decision </a:t>
            </a:r>
            <a:r>
              <a:rPr lang="en-US" sz="2800" dirty="0" err="1" smtClean="0"/>
              <a:t>modelling</a:t>
            </a:r>
            <a:r>
              <a:rPr lang="en-US" sz="2800" dirty="0" smtClean="0"/>
              <a:t> be consulted.</a:t>
            </a:r>
          </a:p>
          <a:p>
            <a:r>
              <a:rPr lang="en-US" sz="3600" b="1" dirty="0" smtClean="0">
                <a:solidFill>
                  <a:srgbClr val="FF0000"/>
                </a:solidFill>
              </a:rPr>
              <a:t>5.5.1 Methods of deriving effectiveness data</a:t>
            </a:r>
          </a:p>
          <a:p>
            <a:r>
              <a:rPr lang="en-US" sz="2800" dirty="0" smtClean="0"/>
              <a:t>There is a hierarchy of sources of evidence ranging from a formal systematic review to expert opinion and authors’ assumptions.</a:t>
            </a:r>
            <a:r>
              <a:rPr lang="en-US" sz="2800" u="sng" baseline="30000" dirty="0" smtClean="0"/>
              <a:t>16</a:t>
            </a:r>
            <a:r>
              <a:rPr lang="en-US" sz="2800" dirty="0" smtClean="0"/>
              <a:t> Where possible economic evaluations should use effectiveness data obtained from a systematic review. However, non-systematic synthesis of effectiveness data may be justifiable when it is the only available source of evidence.</a:t>
            </a:r>
          </a:p>
          <a:p>
            <a:pPr algn="just"/>
            <a:endParaRPr lang="en-US" sz="2800" dirty="0" smtClean="0"/>
          </a:p>
        </p:txBody>
      </p:sp>
    </p:spTree>
    <p:extLst>
      <p:ext uri="{BB962C8B-B14F-4D97-AF65-F5344CB8AC3E}">
        <p14:creationId xmlns="" xmlns:p14="http://schemas.microsoft.com/office/powerpoint/2010/main" val="3677217277"/>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92500" lnSpcReduction="20000"/>
          </a:bodyPr>
          <a:lstStyle/>
          <a:p>
            <a:r>
              <a:rPr lang="en-US" dirty="0" smtClean="0"/>
              <a:t>The type of effectiveness data included in an economic evaluation can vary from a single efficacy parameter obtained from a meta-analysis of RCTs to epidemiological data mapping the natural history of disease. Quality assessment of the clinical effectiveness data incorporated in an economic evaluation will depend on the type of clinical data used; whether the data were obtained from a single study or from the literature or from expert opinion; and whether modeling techniques were used.</a:t>
            </a:r>
          </a:p>
          <a:p>
            <a:r>
              <a:rPr lang="en-US" dirty="0" smtClean="0"/>
              <a:t>However, additional elements will also need to be assessed. For example, whether the study time horizon is adequate to capture all the relevant health outcomes required and, if statistical modeling techniques have been used to extrapolate the data, whether the extrapolation methods and assumptions used were appropriate.</a:t>
            </a:r>
          </a:p>
        </p:txBody>
      </p:sp>
    </p:spTree>
    <p:extLst>
      <p:ext uri="{BB962C8B-B14F-4D97-AF65-F5344CB8AC3E}">
        <p14:creationId xmlns="" xmlns:p14="http://schemas.microsoft.com/office/powerpoint/2010/main" val="237541006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3"/>
          </a:lnRef>
          <a:fillRef idx="2">
            <a:schemeClr val="accent3"/>
          </a:fillRef>
          <a:effectRef idx="1">
            <a:schemeClr val="accent3"/>
          </a:effectRef>
          <a:fontRef idx="minor">
            <a:schemeClr val="dk1"/>
          </a:fontRef>
        </p:style>
        <p:txBody>
          <a:bodyPr>
            <a:normAutofit fontScale="85000" lnSpcReduction="10000"/>
          </a:bodyPr>
          <a:lstStyle/>
          <a:p>
            <a:r>
              <a:rPr lang="en-US" dirty="0" smtClean="0"/>
              <a:t>When the effectiveness data has been synthesized from a variety of sources assessment should focus on the quality of the literature review and the methods used to synthesize the data including:</a:t>
            </a:r>
          </a:p>
          <a:p>
            <a:r>
              <a:rPr lang="en-US" dirty="0" smtClean="0"/>
              <a:t>Whether a search strategy was used</a:t>
            </a:r>
          </a:p>
          <a:p>
            <a:r>
              <a:rPr lang="en-US" dirty="0" smtClean="0"/>
              <a:t>Which databases were searched</a:t>
            </a:r>
          </a:p>
          <a:p>
            <a:r>
              <a:rPr lang="en-US" dirty="0" smtClean="0"/>
              <a:t>Whether there were clear inclusion and exclusion criteria</a:t>
            </a:r>
          </a:p>
          <a:p>
            <a:r>
              <a:rPr lang="en-US" dirty="0" smtClean="0"/>
              <a:t>Whether sufficient information was given about the quality of the included studies</a:t>
            </a:r>
          </a:p>
          <a:p>
            <a:r>
              <a:rPr lang="en-US" b="1" dirty="0" smtClean="0">
                <a:solidFill>
                  <a:srgbClr val="C00000"/>
                </a:solidFill>
              </a:rPr>
              <a:t>5.5.2 Cost analysis:-</a:t>
            </a:r>
          </a:p>
          <a:p>
            <a:r>
              <a:rPr lang="en-US" dirty="0" smtClean="0"/>
              <a:t>Quality assessment of cost analysis should consider which costs were evaluated in the study, the measurement of the associated resource quantities, and the valuation (cost) of those resources. Some of the issues that need to be assessed are common to all economic evaluations, while others are specific to the type of approach used.</a:t>
            </a:r>
          </a:p>
          <a:p>
            <a:endParaRPr lang="en-US"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
            <a:ext cx="9144000" cy="6858000"/>
          </a:xfrm>
        </p:spPr>
        <p:style>
          <a:lnRef idx="1">
            <a:schemeClr val="accent5"/>
          </a:lnRef>
          <a:fillRef idx="2">
            <a:schemeClr val="accent5"/>
          </a:fillRef>
          <a:effectRef idx="1">
            <a:schemeClr val="accent5"/>
          </a:effectRef>
          <a:fontRef idx="minor">
            <a:schemeClr val="dk1"/>
          </a:fontRef>
        </p:style>
        <p:txBody>
          <a:bodyPr>
            <a:normAutofit fontScale="70000" lnSpcReduction="20000"/>
          </a:bodyPr>
          <a:lstStyle/>
          <a:p>
            <a:r>
              <a:rPr lang="en-US" sz="4000" b="1" dirty="0" smtClean="0">
                <a:solidFill>
                  <a:srgbClr val="FF0000"/>
                </a:solidFill>
              </a:rPr>
              <a:t>2. Measurement of resources data</a:t>
            </a:r>
          </a:p>
          <a:p>
            <a:pPr algn="just"/>
            <a:r>
              <a:rPr lang="en-US" sz="3400" dirty="0" smtClean="0"/>
              <a:t>Resource use is measured in physical units such as equipment, staff, dressings and drugs. Issues to consider are as follows:</a:t>
            </a:r>
          </a:p>
          <a:p>
            <a:pPr algn="just"/>
            <a:r>
              <a:rPr lang="en-US" sz="3400" dirty="0" smtClean="0"/>
              <a:t>The sources used to collect resource utilization data should be reported clearly (e.g. clinical trials, administrative databases, clinical databases, medical records and published literature)</a:t>
            </a:r>
          </a:p>
          <a:p>
            <a:pPr algn="just"/>
            <a:r>
              <a:rPr lang="en-US" sz="3400" dirty="0" smtClean="0"/>
              <a:t>Resource quantities should be reported independently from the costs, so that assessment of the measurement method is facilitated</a:t>
            </a:r>
          </a:p>
          <a:p>
            <a:pPr algn="just"/>
            <a:r>
              <a:rPr lang="en-US" sz="3400" dirty="0" smtClean="0"/>
              <a:t>Any assumptions in the measurement of resources should be explicitly reported and justified</a:t>
            </a:r>
          </a:p>
          <a:p>
            <a:pPr algn="just"/>
            <a:r>
              <a:rPr lang="en-US" sz="3400" dirty="0" smtClean="0"/>
              <a:t>If an expert was consulted to estimate some of the resources, the methods used should be described</a:t>
            </a:r>
          </a:p>
          <a:p>
            <a:pPr algn="just"/>
            <a:r>
              <a:rPr lang="en-US" sz="3400" dirty="0" smtClean="0"/>
              <a:t>For trial-based economic evaluations, the most valid resource estimates are considered to be those collected prospectively alongside effectiveness data, utilizing the robust infrastructure established for the trial.</a:t>
            </a:r>
            <a:r>
              <a:rPr lang="en-US" sz="3400" u="sng" baseline="30000" dirty="0" smtClean="0"/>
              <a:t>18</a:t>
            </a:r>
            <a:endParaRPr lang="en-US" sz="3400" dirty="0" smtClean="0"/>
          </a:p>
          <a:p>
            <a:pPr algn="just"/>
            <a:r>
              <a:rPr lang="en-US" sz="3400" dirty="0" smtClean="0"/>
              <a:t>If resources utilized were identified through a review of the literature, details of the process employed to identify and select the patterns of resource utilization and the quantities used should have been given.</a:t>
            </a:r>
          </a:p>
        </p:txBody>
      </p:sp>
    </p:spTree>
    <p:extLst>
      <p:ext uri="{BB962C8B-B14F-4D97-AF65-F5344CB8AC3E}">
        <p14:creationId xmlns="" xmlns:p14="http://schemas.microsoft.com/office/powerpoint/2010/main" val="1189022928"/>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92500" lnSpcReduction="10000"/>
          </a:bodyPr>
          <a:lstStyle/>
          <a:p>
            <a:r>
              <a:rPr lang="en-US" b="1" dirty="0" smtClean="0">
                <a:solidFill>
                  <a:srgbClr val="FF0000"/>
                </a:solidFill>
              </a:rPr>
              <a:t>3. Valuation of resource data:-</a:t>
            </a:r>
          </a:p>
          <a:p>
            <a:r>
              <a:rPr lang="en-US" dirty="0" smtClean="0">
                <a:solidFill>
                  <a:srgbClr val="FF0000"/>
                </a:solidFill>
              </a:rPr>
              <a:t>For the valuation of resources, the relevant issues to consider are as follows:</a:t>
            </a:r>
          </a:p>
          <a:p>
            <a:r>
              <a:rPr lang="en-US" dirty="0" smtClean="0"/>
              <a:t>All the sources used to obtain unit costs should be reported and be relevant for the specific study setting</a:t>
            </a:r>
          </a:p>
          <a:p>
            <a:r>
              <a:rPr lang="en-US" dirty="0" smtClean="0"/>
              <a:t>All costs should be adjusted to a specific price year so that the effects of inflation are removed from the cost estimation</a:t>
            </a:r>
          </a:p>
          <a:p>
            <a:r>
              <a:rPr lang="en-US" dirty="0" smtClean="0"/>
              <a:t>If the time horizon for estimating costs was longer than one year, discounting should have been performed in order to reflect time preferences</a:t>
            </a:r>
            <a:r>
              <a:rPr lang="en-US" u="sng" baseline="30000" dirty="0" smtClean="0"/>
              <a:t>.</a:t>
            </a:r>
            <a:endParaRPr lang="en-US" dirty="0" smtClean="0"/>
          </a:p>
          <a:p>
            <a:r>
              <a:rPr lang="en-US" dirty="0" smtClean="0"/>
              <a:t>If prices were used instead of costs and cost-to-charge ratios calculated these should reflect the true opportunity costs of the strategies compared</a:t>
            </a:r>
          </a:p>
          <a:p>
            <a:endParaRPr lang="en-IN" dirty="0"/>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
            <a:ext cx="9144000" cy="6858000"/>
          </a:xfrm>
        </p:spPr>
        <p:style>
          <a:lnRef idx="1">
            <a:schemeClr val="accent5"/>
          </a:lnRef>
          <a:fillRef idx="2">
            <a:schemeClr val="accent5"/>
          </a:fillRef>
          <a:effectRef idx="1">
            <a:schemeClr val="accent5"/>
          </a:effectRef>
          <a:fontRef idx="minor">
            <a:schemeClr val="dk1"/>
          </a:fontRef>
        </p:style>
        <p:txBody>
          <a:bodyPr>
            <a:normAutofit fontScale="92500" lnSpcReduction="20000"/>
          </a:bodyPr>
          <a:lstStyle/>
          <a:p>
            <a:r>
              <a:rPr lang="en-US" b="1" dirty="0" smtClean="0">
                <a:solidFill>
                  <a:srgbClr val="FF0000"/>
                </a:solidFill>
              </a:rPr>
              <a:t>5.5.3 Measurement and valuation of health benefits (utilities)</a:t>
            </a:r>
          </a:p>
          <a:p>
            <a:r>
              <a:rPr lang="en-US" dirty="0" smtClean="0"/>
              <a:t>Utilities may be measured using either a generic valuation tool, such as the SF-6D or the EQ-5D, or a disease specific tool which may have been obtained using either standard gamble or time trade off techniques. Tools differ considerably (a full discussion is given in the books by Drummond</a:t>
            </a:r>
            <a:r>
              <a:rPr lang="en-US" u="sng" baseline="30000" dirty="0" smtClean="0"/>
              <a:t>12</a:t>
            </a:r>
            <a:r>
              <a:rPr lang="en-US" dirty="0" smtClean="0"/>
              <a:t> and Brazier</a:t>
            </a:r>
            <a:r>
              <a:rPr lang="en-US" u="sng" baseline="30000" dirty="0" smtClean="0"/>
              <a:t>21</a:t>
            </a:r>
            <a:r>
              <a:rPr lang="en-US" dirty="0" smtClean="0"/>
              <a:t>) and choice of tool can impact on the results obtained and on their usefulness in priority setting. As a minimum assessment should consider who provided the scores (patients, clinicians, general public, etc.), which tool was used (EQ-5D, SF-6D, etc.) and when the scores were elicited (at baseline, during treatment, after treatment, etc.). A useful overview and comparison of the impact of different measures in rheumatoid arthritis is available.</a:t>
            </a:r>
            <a:r>
              <a:rPr lang="en-US" u="sng" baseline="30000" dirty="0" smtClean="0"/>
              <a:t>22</a:t>
            </a:r>
            <a:endParaRPr lang="en-US" dirty="0" smtClean="0"/>
          </a:p>
          <a:p>
            <a:endParaRPr lang="en-US" dirty="0"/>
          </a:p>
        </p:txBody>
      </p:sp>
    </p:spTree>
    <p:extLst>
      <p:ext uri="{BB962C8B-B14F-4D97-AF65-F5344CB8AC3E}">
        <p14:creationId xmlns="" xmlns:p14="http://schemas.microsoft.com/office/powerpoint/2010/main" val="1189022928"/>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85000" lnSpcReduction="20000"/>
          </a:bodyPr>
          <a:lstStyle/>
          <a:p>
            <a:r>
              <a:rPr lang="en-US" b="1" dirty="0" smtClean="0">
                <a:solidFill>
                  <a:srgbClr val="FF0000"/>
                </a:solidFill>
              </a:rPr>
              <a:t>5.5.4 Methods of synthesizing costs and effects</a:t>
            </a:r>
          </a:p>
          <a:p>
            <a:r>
              <a:rPr lang="en-US" dirty="0" smtClean="0"/>
              <a:t>The true economic value of an intervention compared to another depends on the additional costs and benefits. Incremental cost-effectiveness ratios are the ratios that capture this relative value. Unless a treatment is clearly dominant (both cheaper and more effective), incremental cost-effectiveness ratios (ICERs) should have been calculated as this is the only appropriate way of capturing the true economic value.</a:t>
            </a:r>
            <a:r>
              <a:rPr lang="en-US" u="sng" baseline="30000" dirty="0" smtClean="0"/>
              <a:t>12</a:t>
            </a:r>
            <a:r>
              <a:rPr lang="en-US" dirty="0" smtClean="0"/>
              <a:t> A paper should report sufficient data to ascertain dominance from the figures given, rather than relying on a statement from the authors which can be made in error and be potentially misleading. Cost-effectiveness results should have been reported in both a disaggregated and an aggregated way. That is, undiscounted and discounted health benefit and cost results should have been reported both separately and as part of the ICERs. It is also appropriate to report the net benefit statistic, which is sometimes used to overcome the statistical issues raised when dealing with a ratio, like the ICER.</a:t>
            </a:r>
          </a:p>
          <a:p>
            <a:endParaRPr lang="en-IN" dirty="0"/>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
            <a:ext cx="9144000" cy="6858000"/>
          </a:xfrm>
        </p:spPr>
        <p:style>
          <a:lnRef idx="1">
            <a:schemeClr val="accent5"/>
          </a:lnRef>
          <a:fillRef idx="2">
            <a:schemeClr val="accent5"/>
          </a:fillRef>
          <a:effectRef idx="1">
            <a:schemeClr val="accent5"/>
          </a:effectRef>
          <a:fontRef idx="minor">
            <a:schemeClr val="dk1"/>
          </a:fontRef>
        </p:style>
        <p:txBody>
          <a:bodyPr>
            <a:normAutofit fontScale="70000" lnSpcReduction="20000"/>
          </a:bodyPr>
          <a:lstStyle/>
          <a:p>
            <a:r>
              <a:rPr lang="en-US" b="1" dirty="0" smtClean="0">
                <a:solidFill>
                  <a:srgbClr val="FF0000"/>
                </a:solidFill>
              </a:rPr>
              <a:t>5.5.5 Analysis of uncertainty</a:t>
            </a:r>
          </a:p>
          <a:p>
            <a:r>
              <a:rPr lang="en-US" dirty="0" smtClean="0"/>
              <a:t>A well-conducted economic evaluation should investigate as thoroughly as possible, the following sources of uncertainty:</a:t>
            </a:r>
          </a:p>
          <a:p>
            <a:r>
              <a:rPr lang="en-US" dirty="0" smtClean="0"/>
              <a:t>Parameter uncertainty, which occurs because parameters are estimated from samples and their true value is unknown</a:t>
            </a:r>
          </a:p>
          <a:p>
            <a:r>
              <a:rPr lang="en-US" dirty="0" smtClean="0"/>
              <a:t>Methodological uncertainty, which arises from the analytical methods used in the evaluation, particularly where there is disagreement around the methods used (e.g. the inclusion of indirect costs, discounting of health benefits, discount rate)</a:t>
            </a:r>
          </a:p>
          <a:p>
            <a:r>
              <a:rPr lang="en-US" dirty="0" err="1" smtClean="0"/>
              <a:t>Modelling</a:t>
            </a:r>
            <a:r>
              <a:rPr lang="en-US" dirty="0" smtClean="0"/>
              <a:t> uncertainty which can arise due to the simplifying assumptions that are often required to facilitate </a:t>
            </a:r>
            <a:r>
              <a:rPr lang="en-US" dirty="0" err="1" smtClean="0"/>
              <a:t>modelling</a:t>
            </a:r>
            <a:endParaRPr lang="en-US" dirty="0" smtClean="0"/>
          </a:p>
          <a:p>
            <a:r>
              <a:rPr lang="en-US" dirty="0" smtClean="0"/>
              <a:t>Methods of evaluating uncertainty include statistical comparisons, bootstrapping, sensitivity analyses (one-way or multi-way sensitivity analyses, threshold analyses and analyses of extremes or worst/best case analysis) and probabilistic sensitivity analyses. The method(s) employed will vary depending on what is being assessed and the types of data that were used as input parameters in the economic evaluation.</a:t>
            </a:r>
          </a:p>
          <a:p>
            <a:r>
              <a:rPr lang="en-US" b="1" i="1" dirty="0" smtClean="0"/>
              <a:t>5.5.5.1 Statistical comparisons</a:t>
            </a:r>
          </a:p>
          <a:p>
            <a:r>
              <a:rPr lang="en-US" dirty="0" smtClean="0"/>
              <a:t>Statistical tests comparing effects, costs or cost-effectiveness are appropriate for studies that have derived their effectiveness and costs from patient level data. The quality assessment of the statistical comparisons performed should focus on the appropriateness of the type of tests used and the results reported (e.g. 95% confidence intervals; p-values).</a:t>
            </a:r>
          </a:p>
        </p:txBody>
      </p:sp>
    </p:spTree>
    <p:extLst>
      <p:ext uri="{BB962C8B-B14F-4D97-AF65-F5344CB8AC3E}">
        <p14:creationId xmlns="" xmlns:p14="http://schemas.microsoft.com/office/powerpoint/2010/main" val="1189022928"/>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70000" lnSpcReduction="20000"/>
          </a:bodyPr>
          <a:lstStyle/>
          <a:p>
            <a:r>
              <a:rPr lang="en-US" b="1" i="1" dirty="0" smtClean="0">
                <a:solidFill>
                  <a:srgbClr val="FF0000"/>
                </a:solidFill>
              </a:rPr>
              <a:t>5.5.5.2 Bootstrapping</a:t>
            </a:r>
          </a:p>
          <a:p>
            <a:r>
              <a:rPr lang="en-US" dirty="0" smtClean="0"/>
              <a:t>Bootstrapping is a statistical method that can be applied to capture uncertainty where patient level data are used.</a:t>
            </a:r>
            <a:r>
              <a:rPr lang="en-US" u="sng" baseline="30000" dirty="0" smtClean="0"/>
              <a:t>23</a:t>
            </a:r>
            <a:r>
              <a:rPr lang="en-US" dirty="0" smtClean="0"/>
              <a:t> Due to the fact that the ICER is a ratio, normal parametric statistical methods based on the standard error cannot be used. Non-parametric bootstrapping is an alternative method which allows a comparison of the arithmetic means without making any assumptions about the sampling distribution. However, it should be noted that economic evaluations can use a net benefit statistic rather than an ICER to overcome the statistical problems associated with a ratio.</a:t>
            </a:r>
          </a:p>
          <a:p>
            <a:r>
              <a:rPr lang="en-US" b="1" i="1" dirty="0" smtClean="0">
                <a:solidFill>
                  <a:srgbClr val="FF0000"/>
                </a:solidFill>
              </a:rPr>
              <a:t>5.5.5.3 Sensitivity analysis - parameter uncertainty</a:t>
            </a:r>
          </a:p>
          <a:p>
            <a:r>
              <a:rPr lang="en-US" dirty="0" smtClean="0"/>
              <a:t>Sensitivity analyses of parameter uncertainty are usual in economic evaluations that obtain their data from systematic or other reviews. The aim of the sensitivity analyses is to evaluate the sensitivity of the results to changes in the parameter estimates. N-way sensitivity analyses and threshold analysis can only vary a few parameters at the same time in practice. In contrast, probabilistic sensitivity analysis (PSA) (see below) can vary all parameters at the same time, subject to data availability.</a:t>
            </a:r>
          </a:p>
          <a:p>
            <a:r>
              <a:rPr lang="en-US" dirty="0" smtClean="0"/>
              <a:t>The following issues should be assessed:</a:t>
            </a:r>
          </a:p>
          <a:p>
            <a:r>
              <a:rPr lang="en-US" dirty="0" smtClean="0"/>
              <a:t>Whether the parameters chosen were justified</a:t>
            </a:r>
          </a:p>
          <a:p>
            <a:r>
              <a:rPr lang="en-US" dirty="0" smtClean="0"/>
              <a:t>Whether variations were performed across meaningful ranges of values</a:t>
            </a:r>
          </a:p>
          <a:p>
            <a:r>
              <a:rPr lang="en-US" dirty="0" smtClean="0"/>
              <a:t>Whether the robustness of the results was assessed according to a previously agreed level of ‘acceptable variation’</a:t>
            </a:r>
          </a:p>
          <a:p>
            <a:endParaRPr lang="en-US" dirty="0" smtClean="0"/>
          </a:p>
          <a:p>
            <a:endParaRPr lang="en-US"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
            <a:ext cx="9144000" cy="6858000"/>
          </a:xfrm>
        </p:spPr>
        <p:style>
          <a:lnRef idx="1">
            <a:schemeClr val="accent5"/>
          </a:lnRef>
          <a:fillRef idx="2">
            <a:schemeClr val="accent5"/>
          </a:fillRef>
          <a:effectRef idx="1">
            <a:schemeClr val="accent5"/>
          </a:effectRef>
          <a:fontRef idx="minor">
            <a:schemeClr val="dk1"/>
          </a:fontRef>
        </p:style>
        <p:txBody>
          <a:bodyPr>
            <a:normAutofit fontScale="70000" lnSpcReduction="20000"/>
          </a:bodyPr>
          <a:lstStyle/>
          <a:p>
            <a:r>
              <a:rPr lang="en-US" b="1" i="1" dirty="0" smtClean="0">
                <a:solidFill>
                  <a:srgbClr val="FF0000"/>
                </a:solidFill>
              </a:rPr>
              <a:t>5.5.5.5 Probabilistic sensitivity analyses</a:t>
            </a:r>
          </a:p>
          <a:p>
            <a:r>
              <a:rPr lang="en-US" dirty="0" smtClean="0"/>
              <a:t>This method can only be used to deal with parameter uncertainty in </a:t>
            </a:r>
            <a:r>
              <a:rPr lang="en-US" dirty="0" err="1" smtClean="0"/>
              <a:t>modelling</a:t>
            </a:r>
            <a:r>
              <a:rPr lang="en-US" dirty="0" smtClean="0"/>
              <a:t>-based economic evaluations. PSA, also referred to as second-order uncertainty, considers the uncertainty surrounding the value of a parameter. This is achieved by assigning a probability distribution rather than a point estimate to each parameter. The quality assessment in this case should focus on whether:</a:t>
            </a:r>
          </a:p>
          <a:p>
            <a:r>
              <a:rPr lang="en-US" dirty="0" smtClean="0"/>
              <a:t>Appropriate distributions were assigned to the model parameters</a:t>
            </a:r>
            <a:r>
              <a:rPr lang="en-US" u="sng" baseline="30000" dirty="0" smtClean="0"/>
              <a:t>6</a:t>
            </a:r>
            <a:r>
              <a:rPr lang="en-US" baseline="30000" dirty="0" smtClean="0"/>
              <a:t>, </a:t>
            </a:r>
            <a:r>
              <a:rPr lang="en-US" u="sng" baseline="30000" dirty="0" smtClean="0"/>
              <a:t>25</a:t>
            </a:r>
            <a:endParaRPr lang="en-US" dirty="0" smtClean="0"/>
          </a:p>
          <a:p>
            <a:r>
              <a:rPr lang="en-US" dirty="0" smtClean="0"/>
              <a:t>Relevant assumptions were tested. For example, assumptions about model structure or interpretation of the available evidence</a:t>
            </a:r>
            <a:r>
              <a:rPr lang="en-US" u="sng" baseline="30000" dirty="0" smtClean="0"/>
              <a:t>12</a:t>
            </a:r>
            <a:endParaRPr lang="en-US" dirty="0" smtClean="0"/>
          </a:p>
          <a:p>
            <a:r>
              <a:rPr lang="en-US" b="1" dirty="0" smtClean="0">
                <a:solidFill>
                  <a:srgbClr val="FF0000"/>
                </a:solidFill>
              </a:rPr>
              <a:t>5.5.6 Generalisability of the results</a:t>
            </a:r>
          </a:p>
          <a:p>
            <a:r>
              <a:rPr lang="en-US" dirty="0" smtClean="0"/>
              <a:t>Generalisability refers to the extent to which the results obtained can be applied to different settings. The relevance of the intervention, the patient population and the resources which have been included in the economic evaluation will determine whether the results can be </a:t>
            </a:r>
            <a:r>
              <a:rPr lang="en-US" dirty="0" err="1" smtClean="0"/>
              <a:t>generalised</a:t>
            </a:r>
            <a:r>
              <a:rPr lang="en-US" dirty="0" smtClean="0"/>
              <a:t>. Uncertainty regarding the </a:t>
            </a:r>
            <a:r>
              <a:rPr lang="en-US" dirty="0" err="1" smtClean="0"/>
              <a:t>generalisability</a:t>
            </a:r>
            <a:r>
              <a:rPr lang="en-US" dirty="0" smtClean="0"/>
              <a:t> of the results to the relevant study setting would usually be assessed through sensitivity analyses. A useful discussion on this issue is available.</a:t>
            </a:r>
            <a:r>
              <a:rPr lang="en-US" u="sng" baseline="30000" dirty="0" smtClean="0"/>
              <a:t>26</a:t>
            </a:r>
            <a:endParaRPr lang="en-US" dirty="0" smtClean="0"/>
          </a:p>
          <a:p>
            <a:endParaRPr lang="en-US" dirty="0"/>
          </a:p>
        </p:txBody>
      </p:sp>
    </p:spTree>
    <p:extLst>
      <p:ext uri="{BB962C8B-B14F-4D97-AF65-F5344CB8AC3E}">
        <p14:creationId xmlns="" xmlns:p14="http://schemas.microsoft.com/office/powerpoint/2010/main" val="1189022928"/>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55000" lnSpcReduction="20000"/>
          </a:bodyPr>
          <a:lstStyle/>
          <a:p>
            <a:r>
              <a:rPr lang="en-US" b="1" dirty="0" smtClean="0">
                <a:solidFill>
                  <a:srgbClr val="FF0000"/>
                </a:solidFill>
              </a:rPr>
              <a:t>5.5.7 Use of checklists to assess the quality of economic evaluations</a:t>
            </a:r>
          </a:p>
          <a:p>
            <a:r>
              <a:rPr lang="en-US" dirty="0" smtClean="0"/>
              <a:t>Several reliable, comprehensive, and easy to use checklists are available to guide the quality assessment of economic evaluations. The most widely used is the BMJ checklist.</a:t>
            </a:r>
            <a:r>
              <a:rPr lang="en-US" u="sng" baseline="30000" dirty="0" smtClean="0"/>
              <a:t>27</a:t>
            </a:r>
            <a:r>
              <a:rPr lang="en-US" dirty="0" smtClean="0"/>
              <a:t> Both a 10-item version and an expanded 35-item version are available. In addition, a 36</a:t>
            </a:r>
            <a:r>
              <a:rPr lang="en-US" baseline="30000" dirty="0" smtClean="0"/>
              <a:t>th</a:t>
            </a:r>
            <a:r>
              <a:rPr lang="en-US" dirty="0" smtClean="0"/>
              <a:t> item relating to </a:t>
            </a:r>
            <a:r>
              <a:rPr lang="en-US" dirty="0" err="1" smtClean="0"/>
              <a:t>generalisability</a:t>
            </a:r>
            <a:r>
              <a:rPr lang="en-US" dirty="0" smtClean="0"/>
              <a:t> may be added if it is relevant to the review (see </a:t>
            </a:r>
            <a:r>
              <a:rPr lang="en-US" i="1" dirty="0" smtClean="0"/>
              <a:t>Box 5.3</a:t>
            </a:r>
            <a:r>
              <a:rPr lang="en-US" dirty="0" smtClean="0"/>
              <a:t>). Although, this checklist does not provide detailed coverage of some issues relevant to </a:t>
            </a:r>
            <a:r>
              <a:rPr lang="en-US" dirty="0" err="1" smtClean="0"/>
              <a:t>modelling</a:t>
            </a:r>
            <a:r>
              <a:rPr lang="en-US" dirty="0" smtClean="0"/>
              <a:t> studies, it can be augmented using specific items such as model type, structural assumptions, time horizon, cycle length and health states. Alternatively, a checklist developed to assess the quality of the models used in economic evaluations can be used as a complement to the BMJ checklist.</a:t>
            </a:r>
            <a:r>
              <a:rPr lang="en-US" u="sng" baseline="30000" dirty="0" smtClean="0"/>
              <a:t>15</a:t>
            </a:r>
            <a:endParaRPr lang="en-US" dirty="0" smtClean="0"/>
          </a:p>
          <a:p>
            <a:r>
              <a:rPr lang="en-US" dirty="0" smtClean="0"/>
              <a:t>In some cases the validity of an economic evaluation may be difficult to assess due to limitations in reporting, an issue common to many studies and covered in </a:t>
            </a:r>
            <a:r>
              <a:rPr lang="en-US" i="1" dirty="0" smtClean="0"/>
              <a:t>Chapter 1</a:t>
            </a:r>
            <a:r>
              <a:rPr lang="en-US" dirty="0" smtClean="0"/>
              <a:t>.</a:t>
            </a:r>
          </a:p>
          <a:p>
            <a:r>
              <a:rPr lang="en-US" b="1" dirty="0" smtClean="0">
                <a:solidFill>
                  <a:srgbClr val="FF0000"/>
                </a:solidFill>
              </a:rPr>
              <a:t>5.5.8 Quality scoring systems</a:t>
            </a:r>
          </a:p>
          <a:p>
            <a:r>
              <a:rPr lang="en-US" dirty="0" smtClean="0"/>
              <a:t>Several quality scoring systems have been devised for use in assessing the methodological quality of economic evaluations. These are generally based on completing checklists, assigning values to the different items considered, and summing these values to obtain a final score, which is intended to reflect the quality level of the appraised study.</a:t>
            </a:r>
          </a:p>
          <a:p>
            <a:r>
              <a:rPr lang="en-US" dirty="0" smtClean="0"/>
              <a:t>Six published quality scoring systems for economic evaluations have been identified, but none of these are considered to be sufficiently valid and reliable for use as a method of quality assessment.</a:t>
            </a:r>
            <a:r>
              <a:rPr lang="en-US" u="sng" baseline="30000" dirty="0" smtClean="0"/>
              <a:t>28</a:t>
            </a:r>
            <a:r>
              <a:rPr lang="en-US" dirty="0" smtClean="0"/>
              <a:t> Given the limitations presented by quality scoring systems, their use is not recommended. Rather, it is preferable to present a checklist or a descriptive critical assessment based on appropriate guidelines or checklists, which should describe the methods and results, strengths and weaknesses and the implications of the strengths and weaknesses on the reliability of the conclusions.</a:t>
            </a:r>
          </a:p>
          <a:p>
            <a:endParaRPr lang="en-IN" dirty="0"/>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4"/>
          </a:lnRef>
          <a:fillRef idx="2">
            <a:schemeClr val="accent4"/>
          </a:fillRef>
          <a:effectRef idx="1">
            <a:schemeClr val="accent4"/>
          </a:effectRef>
          <a:fontRef idx="minor">
            <a:schemeClr val="dk1"/>
          </a:fontRef>
        </p:style>
        <p:txBody>
          <a:bodyPr>
            <a:normAutofit/>
          </a:bodyPr>
          <a:lstStyle/>
          <a:p>
            <a:r>
              <a:rPr lang="en-US" dirty="0" smtClean="0"/>
              <a:t>What is quality assessment and standardization?</a:t>
            </a:r>
          </a:p>
          <a:p>
            <a:r>
              <a:rPr lang="en-US" b="1" dirty="0" smtClean="0"/>
              <a:t>To assess the results of your standardization process and verify that the results meet your data quality objectives</a:t>
            </a:r>
            <a:r>
              <a:rPr lang="en-US" dirty="0" smtClean="0"/>
              <a:t>, you can use a Standardization Quality Assessment (SQA) stage. The SQA stage processes records that have been processed through the Standardize stage.</a:t>
            </a:r>
          </a:p>
          <a:p>
            <a:endParaRPr lang="en-US" dirty="0" smtClean="0">
              <a:latin typeface="Aparajita" pitchFamily="34" charset="0"/>
              <a:cs typeface="Aparajita" pitchFamily="34" charset="0"/>
            </a:endParaRPr>
          </a:p>
        </p:txBody>
      </p:sp>
    </p:spTree>
    <p:extLst>
      <p:ext uri="{BB962C8B-B14F-4D97-AF65-F5344CB8AC3E}">
        <p14:creationId xmlns="" xmlns:p14="http://schemas.microsoft.com/office/powerpoint/2010/main" val="3397362432"/>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7162800"/>
          </a:xfrm>
        </p:spPr>
        <p:style>
          <a:lnRef idx="1">
            <a:schemeClr val="accent4"/>
          </a:lnRef>
          <a:fillRef idx="2">
            <a:schemeClr val="accent4"/>
          </a:fillRef>
          <a:effectRef idx="1">
            <a:schemeClr val="accent4"/>
          </a:effectRef>
          <a:fontRef idx="minor">
            <a:schemeClr val="dk1"/>
          </a:fontRef>
        </p:style>
        <p:txBody>
          <a:bodyPr/>
          <a:lstStyle/>
          <a:p>
            <a:r>
              <a:rPr lang="en-US" dirty="0" smtClean="0">
                <a:solidFill>
                  <a:srgbClr val="C00000"/>
                </a:solidFill>
              </a:rPr>
              <a:t>What is hierarchical model of quality?</a:t>
            </a:r>
          </a:p>
          <a:p>
            <a:r>
              <a:rPr lang="en-US" dirty="0" smtClean="0"/>
              <a:t>The model represents a hierarchical quality model similar to McCall Quality Model to </a:t>
            </a:r>
            <a:r>
              <a:rPr lang="en-US" b="1" dirty="0" smtClean="0"/>
              <a:t>define software quality using a predefined set of attributes and metrics, each of which contributes to overall quality of software</a:t>
            </a:r>
            <a:r>
              <a:rPr lang="en-US" dirty="0" smtClean="0"/>
              <a:t>.</a:t>
            </a:r>
          </a:p>
          <a:p>
            <a:endParaRPr lang="en-US" dirty="0"/>
          </a:p>
        </p:txBody>
      </p:sp>
    </p:spTree>
    <p:extLst>
      <p:ext uri="{BB962C8B-B14F-4D97-AF65-F5344CB8AC3E}">
        <p14:creationId xmlns="" xmlns:p14="http://schemas.microsoft.com/office/powerpoint/2010/main" val="200481445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3"/>
          </a:lnRef>
          <a:fillRef idx="2">
            <a:schemeClr val="accent3"/>
          </a:fillRef>
          <a:effectRef idx="1">
            <a:schemeClr val="accent3"/>
          </a:effectRef>
          <a:fontRef idx="minor">
            <a:schemeClr val="dk1"/>
          </a:fontRef>
        </p:style>
        <p:txBody>
          <a:bodyPr>
            <a:normAutofit fontScale="92500" lnSpcReduction="10000"/>
          </a:bodyPr>
          <a:lstStyle/>
          <a:p>
            <a:r>
              <a:rPr lang="en-US" dirty="0" smtClean="0">
                <a:solidFill>
                  <a:srgbClr val="C00000"/>
                </a:solidFill>
              </a:rPr>
              <a:t>SOFTWARE RELIABILITY ALLOCATION:</a:t>
            </a:r>
          </a:p>
          <a:p>
            <a:r>
              <a:rPr lang="en-US" dirty="0" smtClean="0"/>
              <a:t> Reliability Allocation deals with the setting of reliability goals for individual subsystems such that a specified reliability goal is met and the hardware and software subsystem goals are well balanced among themselves. Well-balanced usually refers to approximate relative equality of development time, difficulty, risk, or to the minimization of overall development cost. </a:t>
            </a:r>
          </a:p>
          <a:p>
            <a:r>
              <a:rPr lang="en-US" dirty="0" smtClean="0">
                <a:solidFill>
                  <a:srgbClr val="C00000"/>
                </a:solidFill>
              </a:rPr>
              <a:t>1. System Reliability Allocation: </a:t>
            </a:r>
            <a:r>
              <a:rPr lang="en-US" dirty="0" smtClean="0"/>
              <a:t>Reliability allocations for hardware/software systems can be started as soon as the system reliability models have been created. The initial values allocated to the system itself should either be the specified values for the various reliability metrics for the system, or a set of reliability values which are marginally more difficult to achieve than the specified values</a:t>
            </a:r>
            <a:endParaRPr lang="en-US"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85000" lnSpcReduction="10000"/>
          </a:bodyPr>
          <a:lstStyle/>
          <a:p>
            <a:r>
              <a:rPr lang="en-US" smtClean="0"/>
              <a:t>Reliability values that are slightly more aggressive than the required values are sometimes allocated to the system to allow for later system functionality growth and to allow those parts of the system which cannot achieve their allocated values to be given some additional reliability margin later in the design process. The apportionment of reliability values between the various subsystems and elements can be made on the basis of complexity, criticality, estimated achievable reliability, or any other factors considered appropriate by the analyst making the allocation. The procedures provided for allocation of software failure rates can be applied to both hardware and system elements provided the user recognizes that these elements typically operate concurrently. System-level allocations are successively decomposed using the reliability model(s) until an appropriate set of reliability measures has been apportioned to each hardware and hardware/software component of the system. </a:t>
            </a:r>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92500" lnSpcReduction="10000"/>
          </a:bodyPr>
          <a:lstStyle/>
          <a:p>
            <a:r>
              <a:rPr lang="en-US" smtClean="0">
                <a:solidFill>
                  <a:srgbClr val="C00000"/>
                </a:solidFill>
              </a:rPr>
              <a:t>2 Hardware Reliability Allocation: </a:t>
            </a:r>
            <a:r>
              <a:rPr lang="en-US" smtClean="0"/>
              <a:t>The allocation of reliability values to lower-tiered hardware elements is a continuation of the allocation process begun at the system level. The system level hardware reliability models are used to successively apportion the required reliability measures among the various individual pieces of hardware and from the hardware equipment level to the various internal elements. For existing hardware items, the reliability allocations used should be based on the reliability performance of previously produced equipment. Reliability allocations to internal elements of existing hardware are not typically performed. Hardware equipment level allocations are further allocated to various internal elements within the equipment. </a:t>
            </a:r>
          </a:p>
          <a:p>
            <a:endParaRPr lang="en-US" smtClean="0"/>
          </a:p>
          <a:p>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2"/>
          </a:lnRef>
          <a:fillRef idx="2">
            <a:schemeClr val="accent2"/>
          </a:fillRef>
          <a:effectRef idx="1">
            <a:schemeClr val="accent2"/>
          </a:effectRef>
          <a:fontRef idx="minor">
            <a:schemeClr val="dk1"/>
          </a:fontRef>
        </p:style>
        <p:txBody>
          <a:bodyPr>
            <a:normAutofit/>
          </a:bodyPr>
          <a:lstStyle/>
          <a:p>
            <a:r>
              <a:rPr lang="en-US" smtClean="0">
                <a:solidFill>
                  <a:srgbClr val="C00000"/>
                </a:solidFill>
              </a:rPr>
              <a:t>3. Software Reliability Allocation:</a:t>
            </a:r>
          </a:p>
          <a:p>
            <a:r>
              <a:rPr lang="en-US" smtClean="0"/>
              <a:t> The first step in the allocation process is to describe the system configuration (system reliability model). Next, trial component reliability allocations are selected, using best engineering judgment. Compute system reliability for this set of component reliability values. Compare the result against the goal. Adjust component reliability values to move system reliability toward the 6-2 goal, and component reliability values toward better balance. Repeat the process until the desired goal and good balance are achieved1 .</a:t>
            </a:r>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a:bodyPr>
          <a:lstStyle/>
          <a:p>
            <a:r>
              <a:rPr lang="en-US" dirty="0" smtClean="0">
                <a:solidFill>
                  <a:srgbClr val="C00000"/>
                </a:solidFill>
              </a:rPr>
              <a:t>Software Reliability Metrics:-</a:t>
            </a:r>
            <a:r>
              <a:rPr lang="en-US" sz="2400" dirty="0" smtClean="0"/>
              <a:t>Reliability metrics are used to quantitatively expressed the reliability of the software product. The option of which metric is to be used depends upon the type of system to which it applies &amp; the requirements of the application domain.</a:t>
            </a:r>
          </a:p>
          <a:p>
            <a:r>
              <a:rPr lang="en-US" sz="2400" dirty="0" smtClean="0"/>
              <a:t>Some reliability metrics which can be used to quantify the reliability of the software product are as follows:</a:t>
            </a:r>
          </a:p>
          <a:p>
            <a:endParaRPr lang="en-US" dirty="0"/>
          </a:p>
        </p:txBody>
      </p:sp>
      <p:pic>
        <p:nvPicPr>
          <p:cNvPr id="1026" name="Picture 2"/>
          <p:cNvPicPr>
            <a:picLocks noChangeAspect="1" noChangeArrowheads="1"/>
          </p:cNvPicPr>
          <p:nvPr/>
        </p:nvPicPr>
        <p:blipFill>
          <a:blip r:embed="rId2"/>
          <a:srcRect/>
          <a:stretch>
            <a:fillRect/>
          </a:stretch>
        </p:blipFill>
        <p:spPr bwMode="auto">
          <a:xfrm>
            <a:off x="0" y="3048000"/>
            <a:ext cx="9144000" cy="3810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a:bodyPr>
          <a:lstStyle/>
          <a:p>
            <a:r>
              <a:rPr lang="en-US" dirty="0" smtClean="0"/>
              <a:t>1. </a:t>
            </a:r>
            <a:r>
              <a:rPr lang="en-US" dirty="0" smtClean="0">
                <a:solidFill>
                  <a:srgbClr val="C00000"/>
                </a:solidFill>
              </a:rPr>
              <a:t>Mean Time to Failure (MTTF)</a:t>
            </a:r>
          </a:p>
          <a:p>
            <a:r>
              <a:rPr lang="en-US" sz="2400" b="1" dirty="0" smtClean="0"/>
              <a:t>MTTF</a:t>
            </a:r>
            <a:r>
              <a:rPr lang="en-US" sz="2400" dirty="0" smtClean="0"/>
              <a:t> is described as the time interval between the two successive failures. An </a:t>
            </a:r>
            <a:r>
              <a:rPr lang="en-US" sz="2400" b="1" dirty="0" smtClean="0"/>
              <a:t>MTTF</a:t>
            </a:r>
            <a:r>
              <a:rPr lang="en-US" sz="2400" dirty="0" smtClean="0"/>
              <a:t> of 200 mean that one failure can be expected each 200-time units. The time units are entirely dependent on the system &amp; it can even be stated in the number of transactions. </a:t>
            </a:r>
            <a:r>
              <a:rPr lang="en-US" sz="2400" b="1" dirty="0" smtClean="0"/>
              <a:t>MTTF</a:t>
            </a:r>
            <a:r>
              <a:rPr lang="en-US" sz="2400" dirty="0" smtClean="0"/>
              <a:t> is consistent for systems with large transactions.</a:t>
            </a:r>
          </a:p>
          <a:p>
            <a:r>
              <a:rPr lang="en-US" sz="2400" dirty="0" smtClean="0"/>
              <a:t>For example, It is suitable for computer-aided design systems where a designer will work on a design for several hours as well as for Word-processor systems.</a:t>
            </a:r>
          </a:p>
          <a:p>
            <a:r>
              <a:rPr lang="en-US" dirty="0" smtClean="0"/>
              <a:t>To measure </a:t>
            </a:r>
            <a:r>
              <a:rPr lang="en-US" b="1" dirty="0" smtClean="0"/>
              <a:t>MTTF</a:t>
            </a:r>
            <a:r>
              <a:rPr lang="en-US" dirty="0" smtClean="0"/>
              <a:t>, we can evidence the failure data for n failures. Let the failures appear at the time instants </a:t>
            </a:r>
            <a:r>
              <a:rPr lang="en-US" b="1" dirty="0" smtClean="0"/>
              <a:t>t</a:t>
            </a:r>
            <a:r>
              <a:rPr lang="en-US" b="1" baseline="-25000" dirty="0" smtClean="0"/>
              <a:t>1</a:t>
            </a:r>
            <a:r>
              <a:rPr lang="en-US" b="1" dirty="0" smtClean="0"/>
              <a:t>,t</a:t>
            </a:r>
            <a:r>
              <a:rPr lang="en-US" b="1" baseline="-25000" dirty="0" smtClean="0"/>
              <a:t>2</a:t>
            </a:r>
            <a:r>
              <a:rPr lang="en-US" b="1" dirty="0" smtClean="0"/>
              <a:t>.....t</a:t>
            </a:r>
            <a:r>
              <a:rPr lang="en-US" b="1" baseline="-25000" dirty="0" smtClean="0"/>
              <a:t>n</a:t>
            </a:r>
            <a:r>
              <a:rPr lang="en-US" dirty="0" smtClean="0"/>
              <a:t>.</a:t>
            </a:r>
          </a:p>
          <a:p>
            <a:r>
              <a:rPr lang="en-US" b="1" dirty="0" smtClean="0">
                <a:solidFill>
                  <a:srgbClr val="C00000"/>
                </a:solidFill>
              </a:rPr>
              <a:t>MTTF can be calculated as</a:t>
            </a:r>
            <a:endParaRPr lang="en-US" dirty="0" smtClean="0">
              <a:solidFill>
                <a:srgbClr val="C00000"/>
              </a:solidFill>
            </a:endParaRPr>
          </a:p>
          <a:p>
            <a:endParaRPr lang="en-US" dirty="0"/>
          </a:p>
        </p:txBody>
      </p:sp>
      <p:pic>
        <p:nvPicPr>
          <p:cNvPr id="2051" name="Picture 3"/>
          <p:cNvPicPr>
            <a:picLocks noChangeAspect="1" noChangeArrowheads="1"/>
          </p:cNvPicPr>
          <p:nvPr/>
        </p:nvPicPr>
        <p:blipFill>
          <a:blip r:embed="rId2"/>
          <a:srcRect/>
          <a:stretch>
            <a:fillRect/>
          </a:stretch>
        </p:blipFill>
        <p:spPr bwMode="auto">
          <a:xfrm>
            <a:off x="1066800" y="5715000"/>
            <a:ext cx="7315200" cy="838200"/>
          </a:xfrm>
          <a:prstGeom prst="rect">
            <a:avLst/>
          </a:prstGeom>
          <a:noFill/>
          <a:ln w="9525">
            <a:noFill/>
            <a:miter lim="800000"/>
            <a:headEnd/>
            <a:tailEnd/>
          </a:ln>
          <a:effectLst/>
        </p:spPr>
      </p:pic>
    </p:spTree>
    <p:extLst>
      <p:ext uri="{BB962C8B-B14F-4D97-AF65-F5344CB8AC3E}">
        <p14:creationId xmlns="" xmlns:p14="http://schemas.microsoft.com/office/powerpoint/2010/main" val="498071684"/>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4"/>
          </a:lnRef>
          <a:fillRef idx="2">
            <a:schemeClr val="accent4"/>
          </a:fillRef>
          <a:effectRef idx="1">
            <a:schemeClr val="accent4"/>
          </a:effectRef>
          <a:fontRef idx="minor">
            <a:schemeClr val="dk1"/>
          </a:fontRef>
        </p:style>
        <p:txBody>
          <a:bodyPr>
            <a:normAutofit lnSpcReduction="10000"/>
          </a:bodyPr>
          <a:lstStyle/>
          <a:p>
            <a:r>
              <a:rPr lang="en-US" dirty="0" smtClean="0">
                <a:solidFill>
                  <a:srgbClr val="C00000"/>
                </a:solidFill>
              </a:rPr>
              <a:t>2. Mean Time to Repair (MTTR)</a:t>
            </a:r>
          </a:p>
          <a:p>
            <a:r>
              <a:rPr lang="en-US" dirty="0" smtClean="0"/>
              <a:t>Once failure occurs, some-time is required to fix the error. </a:t>
            </a:r>
            <a:r>
              <a:rPr lang="en-US" b="1" dirty="0" smtClean="0"/>
              <a:t>MTTR</a:t>
            </a:r>
            <a:r>
              <a:rPr lang="en-US" dirty="0" smtClean="0"/>
              <a:t> measures the average time it takes to track the errors causing the failure and to fix them.</a:t>
            </a:r>
          </a:p>
          <a:p>
            <a:r>
              <a:rPr lang="en-US" dirty="0" smtClean="0">
                <a:solidFill>
                  <a:srgbClr val="C00000"/>
                </a:solidFill>
              </a:rPr>
              <a:t>3. Mean Time Between Failure (MTBR)</a:t>
            </a:r>
          </a:p>
          <a:p>
            <a:r>
              <a:rPr lang="en-US" dirty="0" smtClean="0"/>
              <a:t>We can merge </a:t>
            </a:r>
            <a:r>
              <a:rPr lang="en-US" b="1" dirty="0" smtClean="0"/>
              <a:t>MTTF</a:t>
            </a:r>
            <a:r>
              <a:rPr lang="en-US" dirty="0" smtClean="0"/>
              <a:t> &amp; </a:t>
            </a:r>
            <a:r>
              <a:rPr lang="en-US" b="1" dirty="0" smtClean="0"/>
              <a:t>MTTR</a:t>
            </a:r>
            <a:r>
              <a:rPr lang="en-US" dirty="0" smtClean="0"/>
              <a:t> metrics to get the MTBF metric.</a:t>
            </a:r>
          </a:p>
          <a:p>
            <a:r>
              <a:rPr lang="en-US" dirty="0" smtClean="0"/>
              <a:t>                  </a:t>
            </a:r>
            <a:r>
              <a:rPr lang="en-US" b="1" dirty="0" smtClean="0"/>
              <a:t>MTBF = MTTF + MTTR</a:t>
            </a:r>
            <a:endParaRPr lang="en-US" dirty="0" smtClean="0"/>
          </a:p>
          <a:p>
            <a:r>
              <a:rPr lang="en-US" dirty="0" smtClean="0"/>
              <a:t>Thus, an </a:t>
            </a:r>
            <a:r>
              <a:rPr lang="en-US" b="1" dirty="0" smtClean="0"/>
              <a:t>MTBF</a:t>
            </a:r>
            <a:r>
              <a:rPr lang="en-US" dirty="0" smtClean="0"/>
              <a:t> of 300 denoted that once the failure appears, the next failure is expected to appear only after 300 hours. In this method, the time measurements are real-time &amp; not the execution time as in </a:t>
            </a:r>
            <a:r>
              <a:rPr lang="en-US" b="1" dirty="0" smtClean="0"/>
              <a:t>MTTF</a:t>
            </a:r>
            <a:r>
              <a:rPr lang="en-US" dirty="0" smtClean="0"/>
              <a:t>.</a:t>
            </a:r>
          </a:p>
          <a:p>
            <a:pPr lvl="0"/>
            <a:endParaRPr lang="en-US" b="1" dirty="0">
              <a:solidFill>
                <a:srgbClr val="FF0000"/>
              </a:solidFill>
              <a:latin typeface="Aparajita" pitchFamily="34" charset="0"/>
              <a:cs typeface="Aparajita" pitchFamily="34" charset="0"/>
            </a:endParaRPr>
          </a:p>
        </p:txBody>
      </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4"/>
          </a:lnRef>
          <a:fillRef idx="2">
            <a:schemeClr val="accent4"/>
          </a:fillRef>
          <a:effectRef idx="1">
            <a:schemeClr val="accent4"/>
          </a:effectRef>
          <a:fontRef idx="minor">
            <a:schemeClr val="dk1"/>
          </a:fontRef>
        </p:style>
        <p:txBody>
          <a:bodyPr>
            <a:normAutofit fontScale="85000" lnSpcReduction="10000"/>
          </a:bodyPr>
          <a:lstStyle/>
          <a:p>
            <a:r>
              <a:rPr lang="en-US" dirty="0" smtClean="0">
                <a:solidFill>
                  <a:srgbClr val="C00000"/>
                </a:solidFill>
              </a:rPr>
              <a:t>4. Rate of occurrence of failure (ROCOF):-</a:t>
            </a:r>
          </a:p>
          <a:p>
            <a:r>
              <a:rPr lang="en-US" dirty="0" smtClean="0"/>
              <a:t>It is the number of failures appearing in a unit time interval. The number of unexpected events over a specific time of operation. </a:t>
            </a:r>
            <a:r>
              <a:rPr lang="en-US" b="1" dirty="0" smtClean="0"/>
              <a:t>ROCOF</a:t>
            </a:r>
            <a:r>
              <a:rPr lang="en-US" dirty="0" smtClean="0"/>
              <a:t> is the frequency of occurrence with which unexpected role is likely to appear. A </a:t>
            </a:r>
            <a:r>
              <a:rPr lang="en-US" b="1" dirty="0" smtClean="0"/>
              <a:t>ROCOF</a:t>
            </a:r>
            <a:r>
              <a:rPr lang="en-US" dirty="0" smtClean="0"/>
              <a:t> of 0.02 mean that two failures are likely to occur in each 100 operational time unit steps. It is also called the failure intensity metric.</a:t>
            </a:r>
          </a:p>
          <a:p>
            <a:r>
              <a:rPr lang="en-US" dirty="0" smtClean="0">
                <a:solidFill>
                  <a:srgbClr val="C00000"/>
                </a:solidFill>
              </a:rPr>
              <a:t>5. Probability of Failure on Demand (POFOD):-</a:t>
            </a:r>
          </a:p>
          <a:p>
            <a:r>
              <a:rPr lang="en-US" b="1" dirty="0" smtClean="0"/>
              <a:t>POFOD</a:t>
            </a:r>
            <a:r>
              <a:rPr lang="en-US" dirty="0" smtClean="0"/>
              <a:t> is described as the probability that the system will fail when a service is requested. It is the number of system deficiency given several systems inputs.</a:t>
            </a:r>
          </a:p>
          <a:p>
            <a:r>
              <a:rPr lang="en-US" b="1" dirty="0" smtClean="0"/>
              <a:t>POFOD</a:t>
            </a:r>
            <a:r>
              <a:rPr lang="en-US" dirty="0" smtClean="0"/>
              <a:t> is the possibility that the system will fail when a service request is made.</a:t>
            </a:r>
          </a:p>
          <a:p>
            <a:r>
              <a:rPr lang="en-US" dirty="0" smtClean="0"/>
              <a:t>A </a:t>
            </a:r>
            <a:r>
              <a:rPr lang="en-US" b="1" dirty="0" smtClean="0"/>
              <a:t>POFOD</a:t>
            </a:r>
            <a:r>
              <a:rPr lang="en-US" dirty="0" smtClean="0"/>
              <a:t> of 0.1 means that one out of ten service requests may fail. </a:t>
            </a:r>
            <a:r>
              <a:rPr lang="en-US" b="1" dirty="0" smtClean="0"/>
              <a:t>POFOD</a:t>
            </a:r>
            <a:r>
              <a:rPr lang="en-US" dirty="0" smtClean="0"/>
              <a:t> is an essential measure for safety-critical systems. POFOD is relevant for protection systems where services are demanded occasionally.</a:t>
            </a:r>
          </a:p>
          <a:p>
            <a:endParaRPr lang="en-US" dirty="0" smtClean="0"/>
          </a:p>
          <a:p>
            <a:pPr lvl="0"/>
            <a:endParaRPr lang="en-US" b="1" dirty="0">
              <a:solidFill>
                <a:srgbClr val="FF0000"/>
              </a:solidFill>
              <a:latin typeface="Aparajita" pitchFamily="34" charset="0"/>
              <a:cs typeface="Aparajita" pitchFamily="34" charset="0"/>
            </a:endParaRPr>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r>
              <a:rPr lang="en-US" dirty="0" smtClean="0">
                <a:solidFill>
                  <a:srgbClr val="C00000"/>
                </a:solidFill>
              </a:rPr>
              <a:t>6. Availability (AVAIL):-</a:t>
            </a:r>
          </a:p>
          <a:p>
            <a:r>
              <a:rPr lang="en-US" dirty="0" smtClean="0"/>
              <a:t>Availability is the probability that the system is applicable for use at a given time. It takes into account the repair time &amp; the restart time for the system. An availability of 0.995 means that in every 1000 time units, the system is feasible to be available for </a:t>
            </a:r>
            <a:r>
              <a:rPr lang="en-US" b="1" dirty="0" smtClean="0"/>
              <a:t>995</a:t>
            </a:r>
            <a:r>
              <a:rPr lang="en-US" dirty="0" smtClean="0"/>
              <a:t> of these. The percentage of time that a system is applicable for use, taking into account planned and unplanned downtime. If a system is down an average of four hours out of 100 hours of operation, its </a:t>
            </a:r>
            <a:r>
              <a:rPr lang="en-US" b="1" dirty="0" smtClean="0"/>
              <a:t>AVAIL</a:t>
            </a:r>
            <a:r>
              <a:rPr lang="en-US" dirty="0" smtClean="0"/>
              <a:t> is 96%.</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92500" lnSpcReduction="10000"/>
          </a:bodyPr>
          <a:lstStyle/>
          <a:p>
            <a:pPr algn="ctr"/>
            <a:r>
              <a:rPr lang="en-US" sz="3600" dirty="0" smtClean="0">
                <a:solidFill>
                  <a:srgbClr val="FF0000"/>
                </a:solidFill>
                <a:latin typeface="Arial Black" pitchFamily="34" charset="0"/>
              </a:rPr>
              <a:t>Reliability Allocation Models</a:t>
            </a:r>
          </a:p>
          <a:p>
            <a:pPr algn="just"/>
            <a:r>
              <a:rPr lang="en-US" dirty="0" smtClean="0">
                <a:solidFill>
                  <a:srgbClr val="002060"/>
                </a:solidFill>
                <a:latin typeface="Footlight MT Light" pitchFamily="18" charset="0"/>
              </a:rPr>
              <a:t>Reliability allocation models are mathematical tools used to assign reliability targets to individual components or subsystems of a system, based on a system-level reliability goal, to ensure a well-balanced in all or sub components and achievable design shape. </a:t>
            </a:r>
            <a:r>
              <a:rPr lang="en-IN" dirty="0" smtClean="0">
                <a:solidFill>
                  <a:srgbClr val="FF0000"/>
                </a:solidFill>
              </a:rPr>
              <a:t>or</a:t>
            </a:r>
            <a:endParaRPr lang="en-US" dirty="0" smtClean="0">
              <a:solidFill>
                <a:srgbClr val="FF0000"/>
              </a:solidFill>
            </a:endParaRPr>
          </a:p>
          <a:p>
            <a:pPr algn="just"/>
            <a:r>
              <a:rPr lang="en-US" sz="2800" dirty="0" smtClean="0">
                <a:latin typeface="Calisto MT" pitchFamily="18" charset="0"/>
              </a:rPr>
              <a:t>Reliability Allocation deals with the setting of reliability goals for individual subsystems such that a specified reliability goal is met, and the hardware and software subsystem goals are well-balanced among themselves. </a:t>
            </a:r>
          </a:p>
          <a:p>
            <a:pPr algn="just"/>
            <a:r>
              <a:rPr lang="en-US" sz="2800" dirty="0" smtClean="0">
                <a:latin typeface="Calisto MT" pitchFamily="18" charset="0"/>
              </a:rPr>
              <a:t>It involves a balancing act of determining how to allocate reliability to the components in the system so the system will meet its reliability goal while at the same time ensuring that the system meets all of the other associated performance specifications. </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85000" lnSpcReduction="10000"/>
          </a:bodyPr>
          <a:lstStyle/>
          <a:p>
            <a:pPr algn="just"/>
            <a:r>
              <a:rPr lang="en-US" dirty="0" smtClean="0">
                <a:solidFill>
                  <a:srgbClr val="002060"/>
                </a:solidFill>
                <a:latin typeface="Footlight MT Light" pitchFamily="18" charset="0"/>
              </a:rPr>
              <a:t>Reliability Allocation deals with the setting of reliability goals for individual subsystems such that a specified reliability goal is met and the hardware and software subsystem goals are well balanced among themselves. </a:t>
            </a:r>
          </a:p>
          <a:p>
            <a:pPr algn="just"/>
            <a:r>
              <a:rPr lang="en-US" dirty="0" smtClean="0">
                <a:solidFill>
                  <a:srgbClr val="002060"/>
                </a:solidFill>
                <a:latin typeface="Footlight MT Light" pitchFamily="18" charset="0"/>
              </a:rPr>
              <a:t>Well-balanced usually refers to approximate relative equality of development time, difficulty, risk, or to the minimization of overall development cost. </a:t>
            </a:r>
          </a:p>
          <a:p>
            <a:r>
              <a:rPr lang="en-US" sz="2800" dirty="0" smtClean="0">
                <a:solidFill>
                  <a:srgbClr val="FF0000"/>
                </a:solidFill>
                <a:latin typeface="Arial Black" pitchFamily="34" charset="0"/>
              </a:rPr>
              <a:t>Types of Reliability Allocation Models:-</a:t>
            </a:r>
          </a:p>
          <a:p>
            <a:pPr algn="just"/>
            <a:r>
              <a:rPr lang="en-US" dirty="0" smtClean="0">
                <a:solidFill>
                  <a:srgbClr val="002060"/>
                </a:solidFill>
                <a:latin typeface="Footlight MT Light" pitchFamily="18" charset="0"/>
              </a:rPr>
              <a:t>The three methods of reliability allocation are Equal Allocation Method, Weighted Allocation Method, and Reliability Based Sparing. Each method serves a purpose based on component importance and system goals. Understanding these methods is essential for effective reliability engineering.</a:t>
            </a:r>
          </a:p>
          <a:p>
            <a:r>
              <a:rPr lang="en-US" dirty="0" smtClean="0">
                <a:solidFill>
                  <a:srgbClr val="FF0000"/>
                </a:solidFill>
                <a:latin typeface="Footlight MT Light" pitchFamily="18" charset="0"/>
              </a:rPr>
              <a:t>(I)Equal Allocation Method</a:t>
            </a:r>
          </a:p>
          <a:p>
            <a:r>
              <a:rPr lang="en-US" dirty="0" smtClean="0">
                <a:solidFill>
                  <a:srgbClr val="FF0000"/>
                </a:solidFill>
                <a:latin typeface="Footlight MT Light" pitchFamily="18" charset="0"/>
              </a:rPr>
              <a:t>(II)Weighted Allocation Method</a:t>
            </a:r>
          </a:p>
          <a:p>
            <a:r>
              <a:rPr lang="en-US" dirty="0" smtClean="0">
                <a:solidFill>
                  <a:srgbClr val="FF0000"/>
                </a:solidFill>
              </a:rPr>
              <a:t>(III)Cost optimization allocation </a:t>
            </a:r>
            <a:r>
              <a:rPr lang="en-US" dirty="0" smtClean="0">
                <a:solidFill>
                  <a:schemeClr val="tx1"/>
                </a:solidFill>
              </a:rPr>
              <a:t>or</a:t>
            </a:r>
            <a:r>
              <a:rPr lang="en-US" dirty="0" smtClean="0">
                <a:solidFill>
                  <a:srgbClr val="FF0000"/>
                </a:solidFill>
              </a:rPr>
              <a:t> </a:t>
            </a:r>
            <a:r>
              <a:rPr lang="en-US" dirty="0" smtClean="0">
                <a:solidFill>
                  <a:srgbClr val="FF0000"/>
                </a:solidFill>
                <a:latin typeface="Footlight MT Light" pitchFamily="18" charset="0"/>
              </a:rPr>
              <a:t>Reliability Based Sparing</a:t>
            </a:r>
            <a:endParaRPr lang="en-US" dirty="0" smtClean="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r>
              <a:rPr lang="en-US" dirty="0" smtClean="0">
                <a:solidFill>
                  <a:srgbClr val="FF0000"/>
                </a:solidFill>
                <a:latin typeface="Footlight MT Light" pitchFamily="18" charset="0"/>
              </a:rPr>
              <a:t>(I)Equal Allocation Method:-</a:t>
            </a:r>
            <a:endParaRPr lang="en-US" dirty="0" smtClean="0"/>
          </a:p>
          <a:p>
            <a:r>
              <a:rPr lang="en-US" dirty="0" smtClean="0"/>
              <a:t>In software engineering, an "equal reliability model" (also known as a simple reliability growth model) assumes that all faults contribute equally to reliability and that each fault repair contributes the same amount of reliability growth.</a:t>
            </a:r>
          </a:p>
          <a:p>
            <a:r>
              <a:rPr lang="en-IN" dirty="0" smtClean="0">
                <a:solidFill>
                  <a:srgbClr val="002060"/>
                </a:solidFill>
                <a:latin typeface="Footlight MT Light" pitchFamily="18" charset="0"/>
              </a:rPr>
              <a:t>Or</a:t>
            </a:r>
          </a:p>
          <a:p>
            <a:r>
              <a:rPr lang="en-US" dirty="0" smtClean="0"/>
              <a:t>An "</a:t>
            </a:r>
            <a:r>
              <a:rPr lang="en-US" dirty="0" smtClean="0">
                <a:solidFill>
                  <a:srgbClr val="C00000"/>
                </a:solidFill>
              </a:rPr>
              <a:t>equal reliability model</a:t>
            </a:r>
            <a:r>
              <a:rPr lang="en-US" dirty="0" smtClean="0"/>
              <a:t>" in the context of reliability engineering and software reliability, refers to a model where components or items within a system are assumed to have the same or equal reliability characteristics, such as failure rates or probabilities. </a:t>
            </a:r>
            <a:endParaRPr lang="en-US" dirty="0" smtClean="0">
              <a:solidFill>
                <a:srgbClr val="002060"/>
              </a:solidFill>
              <a:latin typeface="Footlight MT Light" pitchFamily="18" charset="0"/>
            </a:endParaRPr>
          </a:p>
          <a:p>
            <a:endParaRPr lang="en-US" dirty="0" smtClean="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77500" lnSpcReduction="20000"/>
          </a:bodyPr>
          <a:lstStyle/>
          <a:p>
            <a:r>
              <a:rPr lang="en-US" sz="3600" dirty="0" smtClean="0">
                <a:solidFill>
                  <a:srgbClr val="FF0000"/>
                </a:solidFill>
                <a:latin typeface="Footlight MT Light" pitchFamily="18" charset="0"/>
              </a:rPr>
              <a:t>II)Weighted Allocation Method :-</a:t>
            </a:r>
          </a:p>
          <a:p>
            <a:pPr algn="just"/>
            <a:r>
              <a:rPr lang="en-US" i="1" dirty="0" smtClean="0"/>
              <a:t>It is a combination of two model know as a t</a:t>
            </a:r>
            <a:r>
              <a:rPr lang="en-US" dirty="0" smtClean="0"/>
              <a:t>he Software Reliability Growth Models (SRGMs) and Weighted Combinational Models.</a:t>
            </a:r>
          </a:p>
          <a:p>
            <a:pPr algn="just"/>
            <a:r>
              <a:rPr lang="en-US" dirty="0" smtClean="0"/>
              <a:t>In software reliability engineering, a weighted reliability model combines multiple software reliability growth models (SRGMs) using weighted averages to potentially improve prediction accuracy, especially when individual models have limitations. </a:t>
            </a:r>
          </a:p>
          <a:p>
            <a:r>
              <a:rPr lang="en-US" b="1" dirty="0" smtClean="0"/>
              <a:t>-Software Reliability Growth Models (SRGMs):</a:t>
            </a:r>
            <a:endParaRPr lang="en-US" dirty="0" smtClean="0"/>
          </a:p>
          <a:p>
            <a:pPr fontAlgn="ctr"/>
            <a:r>
              <a:rPr lang="en-US" dirty="0" smtClean="0"/>
              <a:t>The Software Reliability Growth Models (SRGMs) are mainly used to plan and execute system testing in the Software Development Life Cycle (SDLC). </a:t>
            </a:r>
          </a:p>
          <a:p>
            <a:pPr fontAlgn="ctr"/>
            <a:r>
              <a:rPr lang="en-US" dirty="0" smtClean="0"/>
              <a:t>These models predict the probability of error-free operation of a software system over time, based on the number of bugs and the time it takes to fix them. </a:t>
            </a:r>
          </a:p>
          <a:p>
            <a:r>
              <a:rPr lang="en-US" b="1" dirty="0" smtClean="0"/>
              <a:t>-Weighted Combinational Models:</a:t>
            </a:r>
            <a:endParaRPr lang="en-US" dirty="0" smtClean="0"/>
          </a:p>
          <a:p>
            <a:r>
              <a:rPr lang="en-US" dirty="0" smtClean="0"/>
              <a:t>These models take the output of multiple SRGMs and combine them using weights, which can be equal, linear, or nonlinear, to get a more accurate reliability prediction.</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lnSpcReduction="10000"/>
          </a:bodyPr>
          <a:lstStyle/>
          <a:p>
            <a:pPr algn="just"/>
            <a:r>
              <a:rPr lang="en-US" dirty="0" smtClean="0">
                <a:solidFill>
                  <a:srgbClr val="C00000"/>
                </a:solidFill>
                <a:latin typeface="Bodoni MT" pitchFamily="18" charset="0"/>
              </a:rPr>
              <a:t>Cost/Penalty optimization allocation: </a:t>
            </a:r>
          </a:p>
          <a:p>
            <a:pPr algn="just"/>
            <a:r>
              <a:rPr lang="en-US" dirty="0" smtClean="0">
                <a:solidFill>
                  <a:srgbClr val="002060"/>
                </a:solidFill>
              </a:rPr>
              <a:t>Cost optimization allocation is the process of identifying and assigning costs to specific activities, projects, departments, or other cost objects to understand where money is spent and improve financial transparency and decision-making.  </a:t>
            </a:r>
          </a:p>
          <a:p>
            <a:pPr algn="just"/>
            <a:r>
              <a:rPr lang="en-US" dirty="0" smtClean="0">
                <a:solidFill>
                  <a:srgbClr val="C00000"/>
                </a:solidFill>
                <a:latin typeface="Bodoni MT" pitchFamily="18" charset="0"/>
              </a:rPr>
              <a:t>Or </a:t>
            </a:r>
          </a:p>
          <a:p>
            <a:pPr algn="just"/>
            <a:r>
              <a:rPr lang="en-US" dirty="0" smtClean="0">
                <a:latin typeface="Bodoni MT" pitchFamily="18" charset="0"/>
              </a:rPr>
              <a:t>Developing the "cost of reliability" relationship will give the engineer an understanding of which components to improve and how to best concentrate the effort and allocate resources in doing so. The first step will be to obtain a relationship between the cost of improvement and reliability. </a:t>
            </a:r>
          </a:p>
          <a:p>
            <a:endParaRPr lang="en-US" dirty="0" smtClean="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lnSpcReduction="10000"/>
          </a:bodyPr>
          <a:lstStyle/>
          <a:p>
            <a:r>
              <a:rPr lang="en-US" b="1" dirty="0" smtClean="0">
                <a:solidFill>
                  <a:srgbClr val="C00000"/>
                </a:solidFill>
              </a:rPr>
              <a:t>Cost Allocation:</a:t>
            </a:r>
            <a:endParaRPr lang="en-US" dirty="0" smtClean="0">
              <a:solidFill>
                <a:srgbClr val="C00000"/>
              </a:solidFill>
            </a:endParaRPr>
          </a:p>
          <a:p>
            <a:pPr fontAlgn="ctr"/>
            <a:r>
              <a:rPr lang="en-US" dirty="0" smtClean="0"/>
              <a:t>This involves identifying all costs incurred by an organization and then assigning them to specific areas (e.g., projects, departments, products). </a:t>
            </a:r>
          </a:p>
          <a:p>
            <a:r>
              <a:rPr lang="en-US" b="1" dirty="0" smtClean="0">
                <a:solidFill>
                  <a:srgbClr val="C00000"/>
                </a:solidFill>
              </a:rPr>
              <a:t>Cost Optimization:</a:t>
            </a:r>
            <a:endParaRPr lang="en-US" dirty="0" smtClean="0">
              <a:solidFill>
                <a:srgbClr val="C00000"/>
              </a:solidFill>
            </a:endParaRPr>
          </a:p>
          <a:p>
            <a:r>
              <a:rPr lang="en-US" dirty="0" smtClean="0"/>
              <a:t>This is the broader process of reducing and managing expenses while maximizing value and efficiency, often involving cost allocation as a key step. </a:t>
            </a:r>
          </a:p>
          <a:p>
            <a:pPr algn="just"/>
            <a:r>
              <a:rPr lang="en-US" b="1" dirty="0" smtClean="0">
                <a:solidFill>
                  <a:srgbClr val="C00000"/>
                </a:solidFill>
                <a:latin typeface="Bodoni MT" pitchFamily="18" charset="0"/>
              </a:rPr>
              <a:t>Formula </a:t>
            </a:r>
            <a:r>
              <a:rPr lang="en-US" b="1" dirty="0" smtClean="0">
                <a:latin typeface="Bodoni MT" pitchFamily="18" charset="0"/>
              </a:rPr>
              <a:t>–finding the Quantifying the Cost/Penalty Function-</a:t>
            </a:r>
            <a:r>
              <a:rPr lang="en-US" dirty="0" smtClean="0">
                <a:latin typeface="Bodoni MT" pitchFamily="18" charset="0"/>
              </a:rPr>
              <a:t>One needs to quantify a cost function for each component, </a:t>
            </a:r>
            <a:r>
              <a:rPr lang="en-US" dirty="0" err="1" smtClean="0">
                <a:latin typeface="Bodoni MT" pitchFamily="18" charset="0"/>
              </a:rPr>
              <a:t>Ci</a:t>
            </a:r>
            <a:r>
              <a:rPr lang="en-US" dirty="0" smtClean="0">
                <a:latin typeface="Bodoni MT" pitchFamily="18" charset="0"/>
              </a:rPr>
              <a:t>, in terms of the reliability, </a:t>
            </a:r>
            <a:r>
              <a:rPr lang="en-US" dirty="0" err="1" smtClean="0">
                <a:latin typeface="Bodoni MT" pitchFamily="18" charset="0"/>
              </a:rPr>
              <a:t>Ri</a:t>
            </a:r>
            <a:r>
              <a:rPr lang="en-US" dirty="0" smtClean="0">
                <a:latin typeface="Bodoni MT" pitchFamily="18" charset="0"/>
              </a:rPr>
              <a:t>, of each component,</a:t>
            </a:r>
          </a:p>
          <a:p>
            <a:pPr algn="just"/>
            <a:r>
              <a:rPr lang="en-US" dirty="0" smtClean="0">
                <a:latin typeface="Bodoni MT" pitchFamily="18" charset="0"/>
              </a:rPr>
              <a:t>                                         </a:t>
            </a:r>
            <a:r>
              <a:rPr lang="en-US" dirty="0" err="1" smtClean="0">
                <a:solidFill>
                  <a:srgbClr val="C00000"/>
                </a:solidFill>
                <a:latin typeface="Bodoni MT" pitchFamily="18" charset="0"/>
              </a:rPr>
              <a:t>Ci</a:t>
            </a:r>
            <a:r>
              <a:rPr lang="en-US" dirty="0" smtClean="0">
                <a:solidFill>
                  <a:srgbClr val="C00000"/>
                </a:solidFill>
                <a:latin typeface="Bodoni MT" pitchFamily="18" charset="0"/>
              </a:rPr>
              <a:t>=f(</a:t>
            </a:r>
            <a:r>
              <a:rPr lang="en-US" dirty="0" err="1" smtClean="0">
                <a:solidFill>
                  <a:srgbClr val="C00000"/>
                </a:solidFill>
                <a:latin typeface="Bodoni MT" pitchFamily="18" charset="0"/>
              </a:rPr>
              <a:t>Ri</a:t>
            </a:r>
            <a:r>
              <a:rPr lang="en-US" dirty="0" smtClean="0">
                <a:solidFill>
                  <a:srgbClr val="C00000"/>
                </a:solidFill>
                <a:latin typeface="Bodoni MT" pitchFamily="18" charset="0"/>
              </a:rPr>
              <a:t>)</a:t>
            </a:r>
          </a:p>
          <a:p>
            <a:endParaRPr lang="en-US" dirty="0" smtClean="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lnSpcReduction="10000"/>
          </a:bodyPr>
          <a:lstStyle/>
          <a:p>
            <a:r>
              <a:rPr lang="en-US" b="1" dirty="0" smtClean="0">
                <a:solidFill>
                  <a:srgbClr val="FF0000"/>
                </a:solidFill>
              </a:rPr>
              <a:t>Model Evaluation </a:t>
            </a:r>
            <a:r>
              <a:rPr lang="en-US" b="1" dirty="0" smtClean="0">
                <a:solidFill>
                  <a:schemeClr val="tx1"/>
                </a:solidFill>
              </a:rPr>
              <a:t>Or</a:t>
            </a:r>
            <a:r>
              <a:rPr lang="en-US" b="1" dirty="0" smtClean="0">
                <a:solidFill>
                  <a:srgbClr val="FF0000"/>
                </a:solidFill>
              </a:rPr>
              <a:t> </a:t>
            </a:r>
            <a:r>
              <a:rPr lang="en-US" dirty="0" smtClean="0">
                <a:solidFill>
                  <a:srgbClr val="FF0000"/>
                </a:solidFill>
              </a:rPr>
              <a:t>Criteria for Model Evaluation</a:t>
            </a:r>
          </a:p>
          <a:p>
            <a:pPr algn="just"/>
            <a:r>
              <a:rPr lang="en-US" sz="2800" dirty="0" smtClean="0">
                <a:latin typeface="Segoe UI" pitchFamily="34" charset="0"/>
                <a:cs typeface="Segoe UI" pitchFamily="34" charset="0"/>
              </a:rPr>
              <a:t>Model evaluation is the process of using different evaluation metrics to understand a product performance, as well as its strengths and weaknesses or failure rate of a product. </a:t>
            </a:r>
          </a:p>
          <a:p>
            <a:pPr algn="just"/>
            <a:endParaRPr lang="en-US" sz="2800" dirty="0" smtClean="0">
              <a:latin typeface="Segoe UI" pitchFamily="34" charset="0"/>
              <a:cs typeface="Segoe UI" pitchFamily="34" charset="0"/>
            </a:endParaRPr>
          </a:p>
          <a:p>
            <a:pPr algn="just"/>
            <a:r>
              <a:rPr lang="en-US" sz="2800" dirty="0" smtClean="0">
                <a:latin typeface="Segoe UI" pitchFamily="34" charset="0"/>
                <a:cs typeface="Segoe UI" pitchFamily="34" charset="0"/>
              </a:rPr>
              <a:t>Model evaluation is important to assess the efficacy of a model during initial research and development phases, and it also plays a role in model monitoring for that product.</a:t>
            </a:r>
          </a:p>
          <a:p>
            <a:pPr algn="just"/>
            <a:endParaRPr lang="en-US" sz="2800" dirty="0" smtClean="0">
              <a:latin typeface="Segoe UI" pitchFamily="34" charset="0"/>
              <a:cs typeface="Segoe UI" pitchFamily="34" charset="0"/>
            </a:endParaRPr>
          </a:p>
          <a:p>
            <a:pPr algn="just"/>
            <a:r>
              <a:rPr lang="en-US" sz="2800" dirty="0" smtClean="0">
                <a:latin typeface="Segoe UI" pitchFamily="34" charset="0"/>
                <a:cs typeface="Segoe UI" pitchFamily="34" charset="0"/>
              </a:rPr>
              <a:t>Model evaluation is a crucial step in the field of Machine Learning that helps us determine how well a trained model performs on new data. It involves assessing the accuracy, reliability, and overall quality of a model's predictions.</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r>
              <a:rPr lang="en-US" sz="2800" dirty="0" smtClean="0">
                <a:latin typeface="Segoe UI" pitchFamily="34" charset="0"/>
                <a:cs typeface="Segoe UI" pitchFamily="34" charset="0"/>
              </a:rPr>
              <a:t>Model evaluation allows us to gauge the effectiveness and efficiency of a trained model. </a:t>
            </a:r>
          </a:p>
          <a:p>
            <a:endParaRPr lang="en-US" sz="2400" dirty="0" smtClean="0">
              <a:latin typeface="Segoe UI" pitchFamily="34" charset="0"/>
              <a:cs typeface="Segoe UI" pitchFamily="34" charset="0"/>
            </a:endParaRPr>
          </a:p>
          <a:p>
            <a:r>
              <a:rPr lang="en-US" sz="2800" dirty="0" smtClean="0">
                <a:latin typeface="Segoe UI" pitchFamily="34" charset="0"/>
                <a:cs typeface="Segoe UI" pitchFamily="34" charset="0"/>
              </a:rPr>
              <a:t>This process helps us assess the model's ability to generalize and make accurate predictions on unseen data. By understanding the strengths and weaknesses of a model, we can refine it further and enhance its performance.</a:t>
            </a:r>
          </a:p>
          <a:p>
            <a:endParaRPr lang="en-US" sz="2000" dirty="0" smtClean="0">
              <a:latin typeface="Segoe UI" pitchFamily="34" charset="0"/>
              <a:cs typeface="Segoe UI" pitchFamily="34" charset="0"/>
            </a:endParaRPr>
          </a:p>
          <a:p>
            <a:r>
              <a:rPr lang="en-US" sz="2800" dirty="0" smtClean="0">
                <a:latin typeface="Segoe UI" pitchFamily="34" charset="0"/>
                <a:cs typeface="Segoe UI" pitchFamily="34" charset="0"/>
              </a:rPr>
              <a:t>For reliability models, in 1984 a group of experts (</a:t>
            </a:r>
            <a:r>
              <a:rPr lang="en-US" sz="2800" dirty="0" err="1" smtClean="0">
                <a:latin typeface="Segoe UI" pitchFamily="34" charset="0"/>
                <a:cs typeface="Segoe UI" pitchFamily="34" charset="0"/>
              </a:rPr>
              <a:t>Iannino</a:t>
            </a:r>
            <a:r>
              <a:rPr lang="en-US" sz="2800" dirty="0" smtClean="0">
                <a:latin typeface="Segoe UI" pitchFamily="34" charset="0"/>
                <a:cs typeface="Segoe UI" pitchFamily="34" charset="0"/>
              </a:rPr>
              <a:t> et al., 1984) devised a set of criteria for model assessment and comparison. </a:t>
            </a:r>
          </a:p>
          <a:p>
            <a:r>
              <a:rPr lang="en-US" sz="2800" dirty="0" smtClean="0">
                <a:latin typeface="Segoe UI" pitchFamily="34" charset="0"/>
                <a:cs typeface="Segoe UI" pitchFamily="34" charset="0"/>
              </a:rPr>
              <a:t>The criteria are listed as follows , by order of importance as determined by the group :</a:t>
            </a:r>
          </a:p>
          <a:p>
            <a:endParaRPr lang="en-US" dirty="0" smtClean="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lnSpcReduction="10000"/>
          </a:bodyPr>
          <a:lstStyle/>
          <a:p>
            <a:r>
              <a:rPr lang="en-US" dirty="0" smtClean="0"/>
              <a:t>To evaluate software reliability models, you should consider criteria like accuracy, predictive power, and the ability to handle various failure patterns. Also, consider the model's simplicity, computational efficiency and the availability of data for training and validation. </a:t>
            </a:r>
          </a:p>
          <a:p>
            <a:r>
              <a:rPr lang="en-IN" dirty="0" smtClean="0"/>
              <a:t>Here, there are various criteria evolution available for a product-</a:t>
            </a:r>
            <a:endParaRPr lang="en-US" dirty="0" smtClean="0"/>
          </a:p>
          <a:p>
            <a:r>
              <a:rPr lang="en-US" dirty="0" smtClean="0">
                <a:solidFill>
                  <a:srgbClr val="C00000"/>
                </a:solidFill>
              </a:rPr>
              <a:t>1. Predictive validity</a:t>
            </a:r>
          </a:p>
          <a:p>
            <a:pPr lvl="0"/>
            <a:r>
              <a:rPr lang="en-US" dirty="0" smtClean="0">
                <a:solidFill>
                  <a:srgbClr val="C00000"/>
                </a:solidFill>
              </a:rPr>
              <a:t>2. Capability</a:t>
            </a:r>
          </a:p>
          <a:p>
            <a:pPr lvl="0"/>
            <a:r>
              <a:rPr lang="en-US" dirty="0" smtClean="0">
                <a:solidFill>
                  <a:srgbClr val="C00000"/>
                </a:solidFill>
              </a:rPr>
              <a:t>3. Quality of assumptions</a:t>
            </a:r>
          </a:p>
          <a:p>
            <a:pPr lvl="0"/>
            <a:r>
              <a:rPr lang="en-US" dirty="0" smtClean="0">
                <a:solidFill>
                  <a:srgbClr val="C00000"/>
                </a:solidFill>
              </a:rPr>
              <a:t>4. Applicability</a:t>
            </a:r>
          </a:p>
          <a:p>
            <a:pPr lvl="0"/>
            <a:r>
              <a:rPr lang="en-US" dirty="0" smtClean="0">
                <a:solidFill>
                  <a:srgbClr val="C00000"/>
                </a:solidFill>
              </a:rPr>
              <a:t>5. Simplicity</a:t>
            </a:r>
          </a:p>
          <a:p>
            <a:endParaRPr lang="en-US" dirty="0" smtClean="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92500"/>
          </a:bodyPr>
          <a:lstStyle/>
          <a:p>
            <a:pPr lvl="0"/>
            <a:r>
              <a:rPr lang="en-US" b="1" dirty="0" smtClean="0">
                <a:solidFill>
                  <a:srgbClr val="C00000"/>
                </a:solidFill>
              </a:rPr>
              <a:t>1. Predictive validity</a:t>
            </a:r>
            <a:r>
              <a:rPr lang="en-US" dirty="0" smtClean="0"/>
              <a:t>: The capability of the model to predict failure behavior or the number of defects for a specified time period based on the current data in the model.</a:t>
            </a:r>
          </a:p>
          <a:p>
            <a:pPr lvl="0"/>
            <a:r>
              <a:rPr lang="en-US" b="1" dirty="0" smtClean="0">
                <a:solidFill>
                  <a:srgbClr val="C00000"/>
                </a:solidFill>
              </a:rPr>
              <a:t>2. Capability</a:t>
            </a:r>
            <a:r>
              <a:rPr lang="en-US" dirty="0" smtClean="0">
                <a:solidFill>
                  <a:srgbClr val="C00000"/>
                </a:solidFill>
              </a:rPr>
              <a:t>:</a:t>
            </a:r>
            <a:r>
              <a:rPr lang="en-US" dirty="0" smtClean="0"/>
              <a:t> The ability of the model to estimate with satisfactory accuracy quantities needed by software managers, engineers , and users in planning and managing software development projects or controlling change in operational software systems.</a:t>
            </a:r>
          </a:p>
          <a:p>
            <a:pPr lvl="0"/>
            <a:r>
              <a:rPr lang="en-US" b="1" dirty="0" smtClean="0">
                <a:solidFill>
                  <a:srgbClr val="C00000"/>
                </a:solidFill>
              </a:rPr>
              <a:t>3. Quality of assumptions</a:t>
            </a:r>
            <a:r>
              <a:rPr lang="en-US" dirty="0" smtClean="0"/>
              <a:t>: The likelihood that the model assumptions can be met, and the assumptions' plausibility from the view point of logical consistency and software engineering experience.</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92500" lnSpcReduction="20000"/>
          </a:bodyPr>
          <a:lstStyle/>
          <a:p>
            <a:pPr lvl="0" algn="just"/>
            <a:r>
              <a:rPr lang="en-US" b="1" dirty="0" smtClean="0">
                <a:solidFill>
                  <a:srgbClr val="C00000"/>
                </a:solidFill>
              </a:rPr>
              <a:t>4. Applicability</a:t>
            </a:r>
            <a:r>
              <a:rPr lang="en-US" dirty="0" smtClean="0">
                <a:solidFill>
                  <a:srgbClr val="C00000"/>
                </a:solidFill>
              </a:rPr>
              <a:t>:</a:t>
            </a:r>
            <a:r>
              <a:rPr lang="en-US" dirty="0" smtClean="0"/>
              <a:t> The model's degree of applicability across different software Products (size, structure, functions, etc.).</a:t>
            </a:r>
          </a:p>
          <a:p>
            <a:pPr lvl="0" algn="just"/>
            <a:r>
              <a:rPr lang="en-US" b="1" dirty="0" smtClean="0">
                <a:solidFill>
                  <a:srgbClr val="C00000"/>
                </a:solidFill>
              </a:rPr>
              <a:t>5. Simplicity</a:t>
            </a:r>
            <a:r>
              <a:rPr lang="en-US" dirty="0" smtClean="0">
                <a:solidFill>
                  <a:srgbClr val="C00000"/>
                </a:solidFill>
              </a:rPr>
              <a:t>:</a:t>
            </a:r>
            <a:r>
              <a:rPr lang="en-US" dirty="0" smtClean="0"/>
              <a:t> A model should be simple in three aspects: </a:t>
            </a:r>
          </a:p>
          <a:p>
            <a:pPr lvl="0" algn="just"/>
            <a:r>
              <a:rPr lang="en-US" dirty="0" smtClean="0">
                <a:solidFill>
                  <a:srgbClr val="C00000"/>
                </a:solidFill>
              </a:rPr>
              <a:t>(1) </a:t>
            </a:r>
            <a:r>
              <a:rPr lang="en-US" dirty="0" smtClean="0"/>
              <a:t>simple and in expensive to collect data.</a:t>
            </a:r>
          </a:p>
          <a:p>
            <a:pPr lvl="0" algn="just"/>
            <a:r>
              <a:rPr lang="en-US" dirty="0" smtClean="0">
                <a:solidFill>
                  <a:srgbClr val="C00000"/>
                </a:solidFill>
              </a:rPr>
              <a:t>(2)</a:t>
            </a:r>
            <a:r>
              <a:rPr lang="en-US" dirty="0" smtClean="0"/>
              <a:t> simple in concept and does not require extensive mathematical background for software development practitioners to comprehend.</a:t>
            </a:r>
          </a:p>
          <a:p>
            <a:pPr lvl="0" algn="just"/>
            <a:r>
              <a:rPr lang="en-US" dirty="0" smtClean="0">
                <a:solidFill>
                  <a:srgbClr val="C00000"/>
                </a:solidFill>
              </a:rPr>
              <a:t>(3) </a:t>
            </a:r>
            <a:r>
              <a:rPr lang="en-US" dirty="0" smtClean="0"/>
              <a:t>readily implemented by computer programs.</a:t>
            </a:r>
          </a:p>
          <a:p>
            <a:pPr lvl="0" algn="just"/>
            <a:endParaRPr lang="en-US" sz="1900" b="1" dirty="0" smtClean="0">
              <a:solidFill>
                <a:srgbClr val="002060"/>
              </a:solidFill>
            </a:endParaRPr>
          </a:p>
          <a:p>
            <a:pPr lvl="0" algn="just"/>
            <a:r>
              <a:rPr lang="en-US" b="1" dirty="0" smtClean="0">
                <a:solidFill>
                  <a:srgbClr val="002060"/>
                </a:solidFill>
              </a:rPr>
              <a:t>From the practitioner's point of view and with recent observations of software reliability models, we contend that the most important criteria are predictive validity, simplicity, and quality of assumptions, in that order of importance. Capability and applicability are less significant. </a:t>
            </a:r>
            <a:endParaRPr lang="en-US" dirty="0" smtClean="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47500" lnSpcReduction="20000"/>
          </a:bodyPr>
          <a:lstStyle/>
          <a:p>
            <a:r>
              <a:rPr lang="en-US" sz="5100" b="1" dirty="0" smtClean="0">
                <a:solidFill>
                  <a:srgbClr val="C00000"/>
                </a:solidFill>
              </a:rPr>
              <a:t>Key Metrics for Model Evaluation:-</a:t>
            </a:r>
          </a:p>
          <a:p>
            <a:pPr algn="just"/>
            <a:r>
              <a:rPr lang="en-US" sz="5100" dirty="0" smtClean="0"/>
              <a:t>To evaluate a model, various metrics and techniques are employed. </a:t>
            </a:r>
          </a:p>
          <a:p>
            <a:pPr algn="just"/>
            <a:r>
              <a:rPr lang="en-US" sz="5100" dirty="0" smtClean="0"/>
              <a:t>These metrics provide different perspectives on model performance and help us understand the model's behavior:</a:t>
            </a:r>
          </a:p>
          <a:p>
            <a:pPr algn="just"/>
            <a:r>
              <a:rPr lang="en-US" sz="5100" b="1" dirty="0" smtClean="0">
                <a:solidFill>
                  <a:srgbClr val="C00000"/>
                </a:solidFill>
              </a:rPr>
              <a:t>Accuracy</a:t>
            </a:r>
            <a:r>
              <a:rPr lang="en-US" sz="5100" dirty="0" smtClean="0">
                <a:solidFill>
                  <a:srgbClr val="C00000"/>
                </a:solidFill>
              </a:rPr>
              <a:t>: </a:t>
            </a:r>
            <a:r>
              <a:rPr lang="en-US" sz="5100" dirty="0" smtClean="0"/>
              <a:t>Measures the percentage of correct predictions made by the model.</a:t>
            </a:r>
          </a:p>
          <a:p>
            <a:pPr algn="just"/>
            <a:r>
              <a:rPr lang="en-US" sz="5100" b="1" dirty="0" smtClean="0">
                <a:solidFill>
                  <a:srgbClr val="C00000"/>
                </a:solidFill>
              </a:rPr>
              <a:t>Precision</a:t>
            </a:r>
            <a:r>
              <a:rPr lang="en-US" sz="5100" dirty="0" smtClean="0">
                <a:solidFill>
                  <a:srgbClr val="C00000"/>
                </a:solidFill>
              </a:rPr>
              <a:t>:</a:t>
            </a:r>
            <a:r>
              <a:rPr lang="en-US" sz="5100" dirty="0" smtClean="0"/>
              <a:t> Determines the proportion of true positive predictions out of all positive predictions made by the model.</a:t>
            </a:r>
          </a:p>
          <a:p>
            <a:pPr algn="just"/>
            <a:r>
              <a:rPr lang="en-US" sz="5100" b="1" dirty="0" smtClean="0">
                <a:solidFill>
                  <a:srgbClr val="C00000"/>
                </a:solidFill>
              </a:rPr>
              <a:t>Recall</a:t>
            </a:r>
            <a:r>
              <a:rPr lang="en-US" sz="5100" dirty="0" smtClean="0">
                <a:solidFill>
                  <a:srgbClr val="C00000"/>
                </a:solidFill>
              </a:rPr>
              <a:t>:</a:t>
            </a:r>
            <a:r>
              <a:rPr lang="en-US" sz="5100" dirty="0" smtClean="0"/>
              <a:t> Identifies the proportion of true positive predictions out of all actual positive instances in the data.</a:t>
            </a:r>
          </a:p>
          <a:p>
            <a:pPr algn="just"/>
            <a:r>
              <a:rPr lang="en-US" sz="5100" b="1" dirty="0" smtClean="0">
                <a:solidFill>
                  <a:srgbClr val="C00000"/>
                </a:solidFill>
              </a:rPr>
              <a:t>F1 Score</a:t>
            </a:r>
            <a:r>
              <a:rPr lang="en-US" sz="5100" dirty="0" smtClean="0">
                <a:solidFill>
                  <a:srgbClr val="C00000"/>
                </a:solidFill>
              </a:rPr>
              <a:t>: </a:t>
            </a:r>
            <a:r>
              <a:rPr lang="en-US" sz="5100" dirty="0" smtClean="0"/>
              <a:t>Represents the harmonic mean of precision and recall, providing a balanced measure of a model's performance.</a:t>
            </a:r>
          </a:p>
          <a:p>
            <a:pPr algn="just"/>
            <a:r>
              <a:rPr lang="en-US" sz="5100" b="1" dirty="0" smtClean="0">
                <a:solidFill>
                  <a:srgbClr val="C00000"/>
                </a:solidFill>
              </a:rPr>
              <a:t>Confusion Matrix</a:t>
            </a:r>
            <a:r>
              <a:rPr lang="en-US" sz="5100" dirty="0" smtClean="0">
                <a:solidFill>
                  <a:srgbClr val="C00000"/>
                </a:solidFill>
              </a:rPr>
              <a:t>: </a:t>
            </a:r>
            <a:r>
              <a:rPr lang="en-US" sz="5100" dirty="0" smtClean="0"/>
              <a:t>Illustrates the classification results in a tabular form, enabling us to calculate various evaluation metrics.</a:t>
            </a:r>
          </a:p>
          <a:p>
            <a:pPr algn="just"/>
            <a:r>
              <a:rPr lang="en-US" sz="5100" b="1" dirty="0" smtClean="0">
                <a:solidFill>
                  <a:srgbClr val="C00000"/>
                </a:solidFill>
              </a:rPr>
              <a:t>Receiver Operating Characteristic (ROC) Curve</a:t>
            </a:r>
            <a:r>
              <a:rPr lang="en-US" sz="5100" dirty="0" smtClean="0">
                <a:solidFill>
                  <a:srgbClr val="C00000"/>
                </a:solidFill>
              </a:rPr>
              <a:t>: </a:t>
            </a:r>
            <a:r>
              <a:rPr lang="en-US" sz="5100" dirty="0" smtClean="0"/>
              <a:t>Plots the true positive rate against the false positive rate, visually exhibiting the model's performance.</a:t>
            </a:r>
          </a:p>
          <a:p>
            <a:pPr algn="just"/>
            <a:r>
              <a:rPr lang="en-US" sz="5100" b="1" dirty="0" smtClean="0">
                <a:solidFill>
                  <a:srgbClr val="C00000"/>
                </a:solidFill>
              </a:rPr>
              <a:t>Area Under the Curve (AUC)</a:t>
            </a:r>
            <a:r>
              <a:rPr lang="en-US" sz="5100" dirty="0" smtClean="0">
                <a:solidFill>
                  <a:srgbClr val="C00000"/>
                </a:solidFill>
              </a:rPr>
              <a:t>: </a:t>
            </a:r>
            <a:r>
              <a:rPr lang="en-US" sz="5100" dirty="0" smtClean="0"/>
              <a:t>Quantifies the overall quality of a classification model based on the ROC curve.</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r>
              <a:rPr lang="en-US" sz="4000" b="1" dirty="0" smtClean="0">
                <a:solidFill>
                  <a:srgbClr val="C00000"/>
                </a:solidFill>
              </a:rPr>
              <a:t>Software Quality Assessment Models:-</a:t>
            </a:r>
          </a:p>
          <a:p>
            <a:pPr fontAlgn="ctr"/>
            <a:r>
              <a:rPr lang="en-US" dirty="0" smtClean="0"/>
              <a:t>Software Quality Assessment Models (SQAMs) are frameworks used to evaluate and measure the quality of software products, helping developers and stakeholders understand and improve software performance and reliability. </a:t>
            </a:r>
          </a:p>
          <a:p>
            <a:pPr fontAlgn="ctr"/>
            <a:r>
              <a:rPr lang="en-IN" dirty="0" smtClean="0">
                <a:solidFill>
                  <a:srgbClr val="C00000"/>
                </a:solidFill>
              </a:rPr>
              <a:t>Or </a:t>
            </a:r>
          </a:p>
          <a:p>
            <a:pPr fontAlgn="ctr"/>
            <a:r>
              <a:rPr lang="en-US" dirty="0" smtClean="0"/>
              <a:t>Software Assessment is a standardized assessment process of software purchases ensures that: Technical and security requirements are met. Adequate resources are available. All requirements and risks are fully identified. Redundancy of software is avoided.</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pPr algn="just"/>
            <a:r>
              <a:rPr lang="en-US" dirty="0" smtClean="0"/>
              <a:t>The SQA provides a holistic, unbiased and data-driven assessment, covering not only the quality of the software itself but also the quality of the development process, knowledge distribution and key contributors. Based on evolution and defect removal technique.</a:t>
            </a:r>
          </a:p>
          <a:p>
            <a:pPr algn="just"/>
            <a:r>
              <a:rPr lang="en-US" dirty="0" smtClean="0"/>
              <a:t>Software quality assessment models help evaluate and improve software quality by providing frameworks for identifying, measuring, and managing quality attributes, with popular models including ISO/IEC 9126, McCall's model, Boehm's model, and FURPS. </a:t>
            </a:r>
          </a:p>
          <a:p>
            <a:endParaRPr lang="en-US"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85000" lnSpcReduction="10000"/>
          </a:bodyPr>
          <a:lstStyle/>
          <a:p>
            <a:r>
              <a:rPr lang="en-US" sz="3600" dirty="0" smtClean="0"/>
              <a:t>The various software quality matter where helps to calculating that actually matter-Code quality, Test coverage, Defect density, Mean time to recovery (MTTR), Lead time for changes, Customer-reported bugs, Release frequency, User satisfaction.</a:t>
            </a:r>
          </a:p>
          <a:p>
            <a:pPr fontAlgn="ctr"/>
            <a:r>
              <a:rPr lang="en-US" sz="3600" dirty="0" smtClean="0"/>
              <a:t>Here's a breakdown of some common software quality assessment models:</a:t>
            </a:r>
          </a:p>
          <a:p>
            <a:r>
              <a:rPr lang="en-US" sz="3600" dirty="0" smtClean="0">
                <a:solidFill>
                  <a:srgbClr val="C00000"/>
                </a:solidFill>
              </a:rPr>
              <a:t>1. ISO/IEC 9126 (and its successor ISO/IEC 25010):</a:t>
            </a:r>
          </a:p>
          <a:p>
            <a:r>
              <a:rPr lang="en-US" sz="3600" dirty="0" smtClean="0"/>
              <a:t>Defines and evaluates software quality through characteristics like functionality, reliability, usability, efficiency, maintainability, and portability.</a:t>
            </a:r>
          </a:p>
          <a:p>
            <a:r>
              <a:rPr lang="en-US" sz="3600" dirty="0" smtClean="0"/>
              <a:t>ISO/IEC 25010 defines eight quality characteristics for software products and four quality characteristics for software systems.</a:t>
            </a:r>
          </a:p>
          <a:p>
            <a:endParaRPr lang="en-US" sz="1600" dirty="0" smtClean="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92500" lnSpcReduction="10000"/>
          </a:bodyPr>
          <a:lstStyle/>
          <a:p>
            <a:r>
              <a:rPr lang="en-US" sz="4000" dirty="0" smtClean="0"/>
              <a:t>Example Characteristics: Functional suitability, reliability, performance efficiency, usability, security, compatibility, maintainability, and portability. </a:t>
            </a:r>
            <a:endParaRPr lang="en-US" sz="3600" dirty="0" smtClean="0"/>
          </a:p>
          <a:p>
            <a:r>
              <a:rPr lang="en-US" sz="4000" dirty="0" smtClean="0">
                <a:solidFill>
                  <a:srgbClr val="C00000"/>
                </a:solidFill>
              </a:rPr>
              <a:t>2. CMMI (Capability Maturity Model Integration): </a:t>
            </a:r>
          </a:p>
          <a:p>
            <a:r>
              <a:rPr lang="en-US" sz="4000" dirty="0" smtClean="0"/>
              <a:t>Emphasizes process maturity and improvement to enhance software quality indirectly.</a:t>
            </a:r>
          </a:p>
          <a:p>
            <a:pPr fontAlgn="ctr"/>
            <a:r>
              <a:rPr lang="en-US" sz="4000" dirty="0" smtClean="0"/>
              <a:t>Provides a framework for organizations to assess and improve their software development processes.</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55000" lnSpcReduction="20000"/>
          </a:bodyPr>
          <a:lstStyle/>
          <a:p>
            <a:r>
              <a:rPr lang="en-US" sz="4800" dirty="0" smtClean="0">
                <a:solidFill>
                  <a:srgbClr val="C00000"/>
                </a:solidFill>
              </a:rPr>
              <a:t>3. Software Development Models </a:t>
            </a:r>
            <a:r>
              <a:rPr lang="en-US" sz="4800" dirty="0" smtClean="0"/>
              <a:t>(e.g., Waterfall, V-Model, Agile, Spiral):</a:t>
            </a:r>
          </a:p>
          <a:p>
            <a:r>
              <a:rPr lang="en-US" sz="4800" b="1" dirty="0" smtClean="0"/>
              <a:t>Waterfall Model:</a:t>
            </a:r>
            <a:endParaRPr lang="en-US" sz="4800" dirty="0" smtClean="0"/>
          </a:p>
          <a:p>
            <a:pPr fontAlgn="ctr"/>
            <a:r>
              <a:rPr lang="en-US" sz="4800" dirty="0" smtClean="0"/>
              <a:t>A sequential model where each phase (requirements, design, implementation, testing, deployment) must be completed before the next begins. </a:t>
            </a:r>
          </a:p>
          <a:p>
            <a:r>
              <a:rPr lang="en-US" sz="4800" b="1" dirty="0" smtClean="0"/>
              <a:t>V-Model:</a:t>
            </a:r>
            <a:endParaRPr lang="en-US" sz="4800" dirty="0" smtClean="0"/>
          </a:p>
          <a:p>
            <a:pPr fontAlgn="ctr"/>
            <a:r>
              <a:rPr lang="en-US" sz="4800" dirty="0" smtClean="0"/>
              <a:t>A testing-oriented model where development and testing activities are carried out side by side, starting with unit testing and progressing to system integration. </a:t>
            </a:r>
          </a:p>
          <a:p>
            <a:r>
              <a:rPr lang="en-US" sz="4800" b="1" dirty="0" smtClean="0"/>
              <a:t>Agile Model:</a:t>
            </a:r>
            <a:endParaRPr lang="en-US" sz="4800" dirty="0" smtClean="0"/>
          </a:p>
          <a:p>
            <a:pPr fontAlgn="ctr"/>
            <a:r>
              <a:rPr lang="en-US" sz="4800" dirty="0" smtClean="0"/>
              <a:t>An iterative and incremental model that emphasizes flexibility, customer collaboration, and rapid delivery of working software. </a:t>
            </a:r>
          </a:p>
          <a:p>
            <a:r>
              <a:rPr lang="en-US" sz="4800" b="1" dirty="0" smtClean="0"/>
              <a:t>Spiral Model:</a:t>
            </a:r>
            <a:endParaRPr lang="en-US" sz="4800" dirty="0" smtClean="0"/>
          </a:p>
          <a:p>
            <a:pPr fontAlgn="ctr"/>
            <a:r>
              <a:rPr lang="en-US" sz="4800" dirty="0" smtClean="0"/>
              <a:t>A risk-based model that involves multiple iterations, with each iteration focusing on a specific aspect of the project and incorporating risk analysis. </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55000" lnSpcReduction="20000"/>
          </a:bodyPr>
          <a:lstStyle/>
          <a:p>
            <a:r>
              <a:rPr lang="en-US" sz="4800" dirty="0" smtClean="0">
                <a:solidFill>
                  <a:srgbClr val="C00000"/>
                </a:solidFill>
              </a:rPr>
              <a:t>4. Other Quality Assessment Approaches:</a:t>
            </a:r>
          </a:p>
          <a:p>
            <a:pPr fontAlgn="ctr"/>
            <a:r>
              <a:rPr lang="en-US" sz="4800" b="1" dirty="0" smtClean="0"/>
              <a:t>IEEE 829:</a:t>
            </a:r>
            <a:r>
              <a:rPr lang="en-US" sz="4800" dirty="0" smtClean="0"/>
              <a:t> A standard for software documentation, including test plans and procedures. </a:t>
            </a:r>
          </a:p>
          <a:p>
            <a:pPr fontAlgn="ctr"/>
            <a:r>
              <a:rPr lang="en-US" sz="4800" b="1" dirty="0" smtClean="0"/>
              <a:t>TQM (Total Quality Management):</a:t>
            </a:r>
            <a:r>
              <a:rPr lang="en-US" sz="4800" dirty="0" smtClean="0"/>
              <a:t> A holistic approach to quality improvement that involves all aspects of an organization. </a:t>
            </a:r>
          </a:p>
          <a:p>
            <a:pPr fontAlgn="ctr"/>
            <a:r>
              <a:rPr lang="en-US" sz="4800" b="1" dirty="0" smtClean="0"/>
              <a:t>Six Sigma:</a:t>
            </a:r>
            <a:r>
              <a:rPr lang="en-US" sz="4800" dirty="0" smtClean="0"/>
              <a:t> A data-driven methodology for identifying and eliminating defects in processes. </a:t>
            </a:r>
          </a:p>
          <a:p>
            <a:pPr fontAlgn="ctr"/>
            <a:r>
              <a:rPr lang="en-US" sz="4800" b="1" dirty="0" smtClean="0"/>
              <a:t>McCall's Model:</a:t>
            </a:r>
            <a:r>
              <a:rPr lang="en-US" sz="4800" dirty="0" smtClean="0"/>
              <a:t> Defines quality through 11 factors and 23 criteria across three perspectives: Product Operation, Product Revision, and Product Transition. </a:t>
            </a:r>
          </a:p>
          <a:p>
            <a:pPr fontAlgn="ctr"/>
            <a:r>
              <a:rPr lang="en-US" sz="4800" b="1" dirty="0" smtClean="0"/>
              <a:t>Boehm's Model:</a:t>
            </a:r>
            <a:r>
              <a:rPr lang="en-US" sz="4800" dirty="0" smtClean="0"/>
              <a:t> Uses a hierarchical structure of characteristics to assess software quality. </a:t>
            </a:r>
          </a:p>
          <a:p>
            <a:pPr fontAlgn="ctr"/>
            <a:r>
              <a:rPr lang="en-US" sz="4800" b="1" dirty="0" err="1" smtClean="0"/>
              <a:t>Dromey's</a:t>
            </a:r>
            <a:r>
              <a:rPr lang="en-US" sz="4800" b="1" dirty="0" smtClean="0"/>
              <a:t> Model:</a:t>
            </a:r>
            <a:r>
              <a:rPr lang="en-US" sz="4800" dirty="0" smtClean="0"/>
              <a:t> Focuses on product-based evaluation through a 5-step process. </a:t>
            </a:r>
          </a:p>
          <a:p>
            <a:r>
              <a:rPr lang="en-US" sz="4800" b="1" dirty="0" smtClean="0"/>
              <a:t>FURPS/FURPS+:</a:t>
            </a:r>
            <a:r>
              <a:rPr lang="en-US" sz="4800" dirty="0" smtClean="0"/>
              <a:t> Divides attributes into functional and non-functional categories. </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8991600" cy="914400"/>
          </a:xfrm>
        </p:spPr>
        <p:txBody>
          <a:bodyPr>
            <a:noAutofit/>
          </a:bodyPr>
          <a:lstStyle/>
          <a:p>
            <a:r>
              <a:rPr lang="en-US" sz="36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QUALITY</a:t>
            </a:r>
            <a:r>
              <a:rPr lang="en-US" sz="3600" b="1" dirty="0" smtClean="0"/>
              <a:t> </a:t>
            </a:r>
            <a:r>
              <a:rPr lang="en-US" sz="36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MODELS FOR QUALITY ASSESSMENT</a:t>
            </a:r>
            <a:endParaRPr lang="en-US" sz="3600" dirty="0"/>
          </a:p>
        </p:txBody>
      </p:sp>
      <p:sp>
        <p:nvSpPr>
          <p:cNvPr id="3" name="Content Placeholder 2"/>
          <p:cNvSpPr>
            <a:spLocks noGrp="1"/>
          </p:cNvSpPr>
          <p:nvPr>
            <p:ph idx="1"/>
          </p:nvPr>
        </p:nvSpPr>
        <p:spPr>
          <a:xfrm>
            <a:off x="0" y="990600"/>
            <a:ext cx="9144000" cy="5867400"/>
          </a:xfrm>
        </p:spPr>
        <p:txBody>
          <a:bodyPr>
            <a:noAutofit/>
          </a:bodyPr>
          <a:lstStyle/>
          <a:p>
            <a:pPr algn="just"/>
            <a:r>
              <a:rPr lang="en-US" sz="2400" dirty="0" smtClean="0">
                <a:latin typeface="Segoe UI Semibold" pitchFamily="34" charset="0"/>
                <a:cs typeface="Segoe UI Semibold" pitchFamily="34" charset="0"/>
              </a:rPr>
              <a:t>We define quality assessment models as analytical models that provide quantitative assessment of selected quality characteristics or sub-characteristics based on measurement data from software projects. These models can help us obtain an objective assessment of our current product quality, in contrast to the often unreliable subjective assessment based on personal judgment or imprecise qualitative assessment. </a:t>
            </a:r>
          </a:p>
          <a:p>
            <a:pPr algn="just"/>
            <a:endParaRPr lang="en-US" sz="2400" dirty="0" smtClean="0">
              <a:latin typeface="Segoe UI Semibold" pitchFamily="34" charset="0"/>
              <a:cs typeface="Segoe UI Semibold" pitchFamily="34" charset="0"/>
            </a:endParaRPr>
          </a:p>
          <a:p>
            <a:pPr algn="just"/>
            <a:r>
              <a:rPr lang="en-US" sz="2400" dirty="0" smtClean="0">
                <a:latin typeface="Segoe UI Semibold" pitchFamily="34" charset="0"/>
                <a:cs typeface="Segoe UI Semibold" pitchFamily="34" charset="0"/>
              </a:rPr>
              <a:t>When applied over time, these models can provide us with an accurate prediction of the future quality, which can be used to help us make project scheduling, resource allocation, and other management decisions.</a:t>
            </a:r>
            <a:endParaRPr lang="en-US" sz="2400" dirty="0">
              <a:latin typeface="Segoe UI Semibold" pitchFamily="34" charset="0"/>
              <a:cs typeface="Segoe UI Semibold" pitchFamily="34" charset="0"/>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763000" cy="1066800"/>
          </a:xfrm>
        </p:spPr>
        <p:txBody>
          <a:bodyPr>
            <a:normAutofit/>
          </a:bodyPr>
          <a:lstStyle/>
          <a:p>
            <a:r>
              <a:rPr lang="en-US" sz="3600" dirty="0" smtClean="0">
                <a:solidFill>
                  <a:srgbClr val="FF0000"/>
                </a:solidFill>
              </a:rPr>
              <a:t>Classification of quality assessment models</a:t>
            </a:r>
            <a:endParaRPr lang="en-US" sz="3600" dirty="0">
              <a:solidFill>
                <a:srgbClr val="FF0000"/>
              </a:solidFill>
            </a:endParaRPr>
          </a:p>
        </p:txBody>
      </p:sp>
      <p:sp>
        <p:nvSpPr>
          <p:cNvPr id="3" name="Content Placeholder 2"/>
          <p:cNvSpPr>
            <a:spLocks noGrp="1"/>
          </p:cNvSpPr>
          <p:nvPr>
            <p:ph idx="1"/>
          </p:nvPr>
        </p:nvSpPr>
        <p:spPr/>
        <p:txBody>
          <a:bodyPr/>
          <a:lstStyle/>
          <a:p>
            <a:endParaRPr lang="en-US" dirty="0"/>
          </a:p>
        </p:txBody>
      </p:sp>
      <p:pic>
        <p:nvPicPr>
          <p:cNvPr id="1026" name="Picture 2"/>
          <p:cNvPicPr>
            <a:picLocks noChangeAspect="1" noChangeArrowheads="1"/>
          </p:cNvPicPr>
          <p:nvPr/>
        </p:nvPicPr>
        <p:blipFill>
          <a:blip r:embed="rId2"/>
          <a:srcRect/>
          <a:stretch>
            <a:fillRect/>
          </a:stretch>
        </p:blipFill>
        <p:spPr bwMode="auto">
          <a:xfrm>
            <a:off x="0" y="1295400"/>
            <a:ext cx="8877300" cy="5133975"/>
          </a:xfrm>
          <a:prstGeom prst="rect">
            <a:avLst/>
          </a:prstGeom>
          <a:noFill/>
          <a:ln w="9525">
            <a:noFill/>
            <a:miter lim="800000"/>
            <a:headEnd/>
            <a:tailEnd/>
          </a:ln>
          <a:effectLst/>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70000" lnSpcReduction="20000"/>
          </a:bodyPr>
          <a:lstStyle/>
          <a:p>
            <a:r>
              <a:rPr lang="en-US" sz="5100" dirty="0" smtClean="0">
                <a:solidFill>
                  <a:srgbClr val="FF0000"/>
                </a:solidFill>
              </a:rPr>
              <a:t>Classification of quality assessment models-</a:t>
            </a:r>
            <a:r>
              <a:rPr lang="en-US" sz="5700" dirty="0" smtClean="0">
                <a:solidFill>
                  <a:srgbClr val="FF0000"/>
                </a:solidFill>
              </a:rPr>
              <a:t> </a:t>
            </a:r>
            <a:r>
              <a:rPr lang="en-US" sz="3800" dirty="0" smtClean="0">
                <a:solidFill>
                  <a:srgbClr val="FF0000"/>
                </a:solidFill>
              </a:rPr>
              <a:t>There are two types of Quality Model for Quality Assessment-</a:t>
            </a:r>
          </a:p>
          <a:p>
            <a:r>
              <a:rPr lang="en-US" sz="3800" b="1" dirty="0" smtClean="0"/>
              <a:t>1. GENERALIZED MODELS</a:t>
            </a:r>
          </a:p>
          <a:p>
            <a:r>
              <a:rPr lang="en-US" sz="3800" b="1" dirty="0" smtClean="0"/>
              <a:t>2. PRODUCT-SPECIFIC MODELS</a:t>
            </a:r>
          </a:p>
          <a:p>
            <a:r>
              <a:rPr lang="en-US" sz="3400" b="1" dirty="0" smtClean="0">
                <a:solidFill>
                  <a:srgbClr val="FF0000"/>
                </a:solidFill>
              </a:rPr>
              <a:t>1. GENERALIZED MODELS:-</a:t>
            </a:r>
          </a:p>
          <a:p>
            <a:r>
              <a:rPr lang="en-US" sz="3500" dirty="0" smtClean="0"/>
              <a:t>Many existing models provide rough estimates of product quality in the form of industrial averages or general trends for a wide variety of application environments with little or no project-specific data required. We call these models generalized quality assessment models, or </a:t>
            </a:r>
            <a:r>
              <a:rPr lang="en-US" sz="3500" b="1" i="1" dirty="0" smtClean="0"/>
              <a:t>generalized models for short. </a:t>
            </a:r>
          </a:p>
          <a:p>
            <a:r>
              <a:rPr lang="en-US" sz="3500" b="1" i="1" dirty="0" smtClean="0"/>
              <a:t>There are three subcategories of generalized models:</a:t>
            </a:r>
          </a:p>
          <a:p>
            <a:r>
              <a:rPr lang="en-US" sz="3800" b="1" i="1" dirty="0" smtClean="0">
                <a:solidFill>
                  <a:srgbClr val="FF0000"/>
                </a:solidFill>
              </a:rPr>
              <a:t>1. </a:t>
            </a:r>
            <a:r>
              <a:rPr lang="en-US" dirty="0" smtClean="0">
                <a:solidFill>
                  <a:srgbClr val="FF0000"/>
                </a:solidFill>
              </a:rPr>
              <a:t>An </a:t>
            </a:r>
            <a:r>
              <a:rPr lang="en-US" b="1" i="1" dirty="0" smtClean="0">
                <a:solidFill>
                  <a:srgbClr val="FF0000"/>
                </a:solidFill>
              </a:rPr>
              <a:t>overall model  2. A segmented model  3. A dynamic model</a:t>
            </a:r>
            <a:endParaRPr lang="en-US" sz="3800" b="1" i="1" dirty="0" smtClean="0">
              <a:solidFill>
                <a:srgbClr val="FF0000"/>
              </a:solidFill>
            </a:endParaRPr>
          </a:p>
          <a:p>
            <a:r>
              <a:rPr lang="en-US" sz="3400" b="1" i="1" dirty="0" smtClean="0"/>
              <a:t>1. </a:t>
            </a:r>
            <a:r>
              <a:rPr lang="en-US" sz="4400" b="1" i="1" dirty="0" smtClean="0">
                <a:solidFill>
                  <a:srgbClr val="FF0000"/>
                </a:solidFill>
              </a:rPr>
              <a:t>1. </a:t>
            </a:r>
            <a:r>
              <a:rPr lang="en-US" sz="3600" dirty="0" smtClean="0">
                <a:solidFill>
                  <a:srgbClr val="FF0000"/>
                </a:solidFill>
              </a:rPr>
              <a:t>An </a:t>
            </a:r>
            <a:r>
              <a:rPr lang="en-US" sz="3600" b="1" i="1" dirty="0" smtClean="0">
                <a:solidFill>
                  <a:srgbClr val="FF0000"/>
                </a:solidFill>
              </a:rPr>
              <a:t>overall model :- </a:t>
            </a:r>
            <a:r>
              <a:rPr lang="en-US" sz="3400" b="1" i="1" dirty="0" smtClean="0"/>
              <a:t>An overall model provides a single estimate of overall product quality. </a:t>
            </a:r>
            <a:r>
              <a:rPr lang="en-US" sz="3500" dirty="0" smtClean="0"/>
              <a:t>Overall quality models are the most general subtype of generalized quality models, which provide a rough estimate of product quality without requiring any product specific measurement or even a general characterization of the product segment.</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991600" cy="6400800"/>
          </a:xfrm>
        </p:spPr>
        <p:txBody>
          <a:bodyPr>
            <a:normAutofit fontScale="85000" lnSpcReduction="10000"/>
          </a:bodyPr>
          <a:lstStyle/>
          <a:p>
            <a:r>
              <a:rPr lang="en-US" dirty="0" smtClean="0"/>
              <a:t>Because of this general nature, such models only provide a very rough estimate of product quality. However, if some additional information is available about the product under study, better quality estimated can be provided by alternative models.</a:t>
            </a:r>
          </a:p>
          <a:p>
            <a:r>
              <a:rPr lang="en-US" dirty="0" smtClean="0"/>
              <a:t>As an example of overall models, defect density can be defined as:</a:t>
            </a:r>
          </a:p>
          <a:p>
            <a:r>
              <a:rPr lang="en-US" dirty="0" smtClean="0"/>
              <a:t>defect density = total defects/ product size </a:t>
            </a:r>
          </a:p>
          <a:p>
            <a:r>
              <a:rPr lang="en-US" dirty="0" smtClean="0"/>
              <a:t>where the product size is often measured by the lines of code (LOC), function points, etc.</a:t>
            </a:r>
          </a:p>
          <a:p>
            <a:r>
              <a:rPr lang="en-US" dirty="0" smtClean="0"/>
              <a:t>(Kan, 2002). This model would lump all products together, and provide a </a:t>
            </a:r>
            <a:r>
              <a:rPr lang="en-US" i="1" dirty="0" smtClean="0"/>
              <a:t>single defect </a:t>
            </a:r>
            <a:r>
              <a:rPr lang="en-US" dirty="0" smtClean="0"/>
              <a:t>density estimate based on all observed defects for all products. Various product sizing</a:t>
            </a:r>
          </a:p>
          <a:p>
            <a:r>
              <a:rPr lang="en-US" dirty="0" smtClean="0"/>
              <a:t>models can also be used in conjunction with defect density to estimate the total defects for a given product.</a:t>
            </a:r>
            <a:endParaRPr lang="en-US" b="1" i="1" dirty="0" smtClean="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70000" lnSpcReduction="20000"/>
          </a:bodyPr>
          <a:lstStyle/>
          <a:p>
            <a:r>
              <a:rPr lang="en-US" dirty="0" smtClean="0"/>
              <a:t>2. A </a:t>
            </a:r>
            <a:r>
              <a:rPr lang="en-US" i="1" dirty="0" smtClean="0"/>
              <a:t>segmented model :- </a:t>
            </a:r>
            <a:r>
              <a:rPr lang="en-US" dirty="0" smtClean="0"/>
              <a:t>A </a:t>
            </a:r>
            <a:r>
              <a:rPr lang="en-US" i="1" dirty="0" smtClean="0"/>
              <a:t>segmented model provides different quality estimates for different industrial segments.</a:t>
            </a:r>
          </a:p>
          <a:p>
            <a:r>
              <a:rPr lang="en-US" dirty="0" smtClean="0"/>
              <a:t>If some general information about the product under study is available, we can use segmented models instead of overall models to get a better quality estimate.</a:t>
            </a:r>
            <a:endParaRPr lang="en-US" i="1" dirty="0" smtClean="0"/>
          </a:p>
          <a:p>
            <a:r>
              <a:rPr lang="en-US" dirty="0" smtClean="0"/>
              <a:t>For example, the above defect density model can be refined into a segmented model if we use market segmentation to group products and provide different defect density estimates accordingly. </a:t>
            </a:r>
          </a:p>
          <a:p>
            <a:r>
              <a:rPr lang="en-US" dirty="0" smtClean="0"/>
              <a:t>Similarly, sizing models tailored for different product segments can be used with such defect density models to estimate the total defects for a given product.</a:t>
            </a:r>
          </a:p>
          <a:p>
            <a:r>
              <a:rPr lang="en-US" dirty="0" smtClean="0"/>
              <a:t>Table 19.1 gives another example of segmented models, based on empirical data (Leveson,1995; </a:t>
            </a:r>
            <a:r>
              <a:rPr lang="en-US" dirty="0" err="1" smtClean="0"/>
              <a:t>Lyu</a:t>
            </a:r>
            <a:r>
              <a:rPr lang="en-US" dirty="0" smtClean="0"/>
              <a:t>, 1995a), which estimates reliability levels for different product segments.</a:t>
            </a:r>
          </a:p>
          <a:p>
            <a:r>
              <a:rPr lang="en-US" dirty="0" smtClean="0"/>
              <a:t>There are three products segments: 1) safety-critical software, such as control software for medical devices or nuclear reactors, 2) commercial software, such as telecommunication software and business applications, and 3) auxiliary software, such as computer games</a:t>
            </a:r>
          </a:p>
          <a:p>
            <a:r>
              <a:rPr lang="en-US" dirty="0" smtClean="0"/>
              <a:t>and other low-cost PC software. The reliability level is measured by the failure rate, or the average number of failures per operating hour.</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400800"/>
          </a:xfrm>
        </p:spPr>
        <p:txBody>
          <a:bodyPr>
            <a:normAutofit fontScale="77500" lnSpcReduction="20000"/>
          </a:bodyPr>
          <a:lstStyle/>
          <a:p>
            <a:r>
              <a:rPr lang="en-US" b="1" i="1" dirty="0" smtClean="0"/>
              <a:t>3. A dynamic model :-provides quality trend or distribution over time or development </a:t>
            </a:r>
            <a:r>
              <a:rPr lang="en-US" dirty="0" smtClean="0"/>
              <a:t>phases.</a:t>
            </a:r>
          </a:p>
          <a:p>
            <a:r>
              <a:rPr lang="en-US" b="1" dirty="0" smtClean="0"/>
              <a:t>As a subset of generalized models, the </a:t>
            </a:r>
            <a:r>
              <a:rPr lang="en-US" b="1" i="1" dirty="0" smtClean="0"/>
              <a:t>dynamic models provide information about quality </a:t>
            </a:r>
            <a:r>
              <a:rPr lang="en-US" dirty="0" smtClean="0"/>
              <a:t>over time or development phases. For example, a general profile of defect distribution over different development phases can be considered a quality model of this type.</a:t>
            </a:r>
          </a:p>
          <a:p>
            <a:r>
              <a:rPr lang="en-US" dirty="0" smtClean="0"/>
              <a:t>Alternatively, fine grain dynamic models may measure the precise time instead of the rough time corresponding to development phases. The most well-known model in this category is the Putnam model (Putnam, 1978), that generalizes empirical effort and defect profiles over time into a Rayleigh curve. </a:t>
            </a:r>
          </a:p>
          <a:p>
            <a:r>
              <a:rPr lang="en-US" dirty="0" smtClean="0"/>
              <a:t>with failure rate </a:t>
            </a:r>
            <a:r>
              <a:rPr lang="en-US" i="1" dirty="0" smtClean="0"/>
              <a:t>r = 2Bc~te-"~*</a:t>
            </a:r>
          </a:p>
          <a:p>
            <a:r>
              <a:rPr lang="en-US" dirty="0" smtClean="0"/>
              <a:t>or, equivalently, with cumulative failures </a:t>
            </a:r>
            <a:r>
              <a:rPr lang="en-US" i="1" dirty="0" smtClean="0"/>
              <a:t>F = B( 1 - </a:t>
            </a:r>
            <a:r>
              <a:rPr lang="en-US" b="1" i="1" dirty="0" smtClean="0"/>
              <a:t>e--at2).</a:t>
            </a:r>
          </a:p>
          <a:p>
            <a:r>
              <a:rPr lang="en-US" dirty="0" smtClean="0"/>
              <a:t>Various other general observations about systems dynamic behavior related to defects or quality can also be considered as examples of dynamic models.</a:t>
            </a:r>
          </a:p>
          <a:p>
            <a:endParaRPr lang="en-US"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763000" cy="6324600"/>
          </a:xfrm>
        </p:spPr>
        <p:txBody>
          <a:bodyPr>
            <a:normAutofit fontScale="92500" lnSpcReduction="10000"/>
          </a:bodyPr>
          <a:lstStyle/>
          <a:p>
            <a:r>
              <a:rPr lang="en-US" b="1" dirty="0" smtClean="0"/>
              <a:t>2. PRODUCT-SPECIFIC MODELS</a:t>
            </a:r>
          </a:p>
          <a:p>
            <a:r>
              <a:rPr lang="en-US" dirty="0" smtClean="0"/>
              <a:t>Product-specific quality assessment models, or </a:t>
            </a:r>
            <a:r>
              <a:rPr lang="en-US" b="1" i="1" dirty="0" smtClean="0"/>
              <a:t>product-specific models for short, provide </a:t>
            </a:r>
            <a:r>
              <a:rPr lang="en-US" dirty="0" smtClean="0"/>
              <a:t>more precise quality assessments using product-specific data. They can be further divided into three sub-categories:</a:t>
            </a:r>
          </a:p>
          <a:p>
            <a:r>
              <a:rPr lang="en-US" b="1" i="1" dirty="0" smtClean="0"/>
              <a:t>1. Semi-customized models extrapolate product history to predict quality for the current </a:t>
            </a:r>
            <a:r>
              <a:rPr lang="en-US" dirty="0" smtClean="0"/>
              <a:t>project.</a:t>
            </a:r>
          </a:p>
          <a:p>
            <a:r>
              <a:rPr lang="en-US" b="1" i="1" dirty="0" smtClean="0"/>
              <a:t>2.  Observation-based models estimate quality based on observations from the current </a:t>
            </a:r>
            <a:r>
              <a:rPr lang="en-US" dirty="0" smtClean="0"/>
              <a:t>project.</a:t>
            </a:r>
          </a:p>
          <a:p>
            <a:r>
              <a:rPr lang="en-US" b="1" i="1" dirty="0" smtClean="0"/>
              <a:t>3. Measurement-driven predictive models establish predictive relations between various </a:t>
            </a:r>
            <a:r>
              <a:rPr lang="en-US" dirty="0" smtClean="0"/>
              <a:t>early measurements and product quality, and use them for </a:t>
            </a:r>
            <a:r>
              <a:rPr lang="en-US" b="1" dirty="0" smtClean="0"/>
              <a:t>QA and improvement.</a:t>
            </a:r>
            <a:endParaRPr lang="en-US"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77500" lnSpcReduction="20000"/>
          </a:bodyPr>
          <a:lstStyle/>
          <a:p>
            <a:r>
              <a:rPr lang="en-US" dirty="0" smtClean="0"/>
              <a:t>1. Semi-customized models make use of general characteristics and historical information about the product, process, or environment, to provide quality extrapolations. For example,</a:t>
            </a:r>
          </a:p>
          <a:p>
            <a:r>
              <a:rPr lang="en-US" dirty="0" smtClean="0"/>
              <a:t>various defect removal models (DRMs) commonly used in industry (Kan, 2002), such as the one in Table 19.2, provide a defect distribution profile over development phases based on previous releases of the same product. The difference between this DRM and the general</a:t>
            </a:r>
          </a:p>
          <a:p>
            <a:r>
              <a:rPr lang="en-US" dirty="0" smtClean="0"/>
              <a:t>defect profile we mentioned in the above generalized dynamic models is that it is based on the previous releases of the same product instead of a general profile for all available products. Consequently, the use of this relevant local information can help provide more accurate quality estimates.</a:t>
            </a:r>
          </a:p>
          <a:p>
            <a:r>
              <a:rPr lang="en-US" dirty="0" smtClean="0"/>
              <a:t>The information from these semi-customized models can be directly used to predict defect distribution for the current release. For example, with the DRM in Table 19.2, if we have found 20 design defects in the current product, we can predict that the total defects will be around 20/10% = 200.</a:t>
            </a:r>
            <a:endParaRPr lang="en-US"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228600"/>
            <a:ext cx="8534400" cy="6248400"/>
          </a:xfrm>
        </p:spPr>
        <p:txBody>
          <a:bodyPr>
            <a:normAutofit fontScale="85000" lnSpcReduction="10000"/>
          </a:bodyPr>
          <a:lstStyle/>
          <a:p>
            <a:r>
              <a:rPr lang="en-US" dirty="0" smtClean="0"/>
              <a:t>Observation-based models relate observations of the software system behavior to information about related activities to provide more precise quality assessments. Examples of such models include various software reliability growth models (SRGMs) (</a:t>
            </a:r>
            <a:r>
              <a:rPr lang="en-US" dirty="0" err="1" smtClean="0"/>
              <a:t>Lyu</a:t>
            </a:r>
            <a:r>
              <a:rPr lang="en-US" dirty="0" smtClean="0"/>
              <a:t>, 1995a), where</a:t>
            </a:r>
          </a:p>
          <a:p>
            <a:r>
              <a:rPr lang="en-US" dirty="0" smtClean="0"/>
              <a:t>observed failures and associated time intervals are fitted to SRGMs to evaluate product reliability. For example, in the </a:t>
            </a:r>
            <a:r>
              <a:rPr lang="en-US" dirty="0" err="1" smtClean="0"/>
              <a:t>Goel-Okumoto</a:t>
            </a:r>
            <a:r>
              <a:rPr lang="en-US" dirty="0" smtClean="0"/>
              <a:t> SRGM (</a:t>
            </a:r>
            <a:r>
              <a:rPr lang="en-US" dirty="0" err="1" smtClean="0"/>
              <a:t>Goel</a:t>
            </a:r>
            <a:r>
              <a:rPr lang="en-US" dirty="0" smtClean="0"/>
              <a:t> and </a:t>
            </a:r>
            <a:r>
              <a:rPr lang="en-US" dirty="0" err="1" smtClean="0"/>
              <a:t>Okumoto</a:t>
            </a:r>
            <a:r>
              <a:rPr lang="en-US" dirty="0" smtClean="0"/>
              <a:t>, 1979), the</a:t>
            </a:r>
          </a:p>
          <a:p>
            <a:r>
              <a:rPr lang="en-US" dirty="0" smtClean="0"/>
              <a:t>relationship between the expected number of failures </a:t>
            </a:r>
            <a:r>
              <a:rPr lang="en-US" i="1" dirty="0" smtClean="0"/>
              <a:t>m(t) and testing time t is given by </a:t>
            </a:r>
            <a:r>
              <a:rPr lang="en-US" dirty="0" smtClean="0"/>
              <a:t>the function:</a:t>
            </a:r>
          </a:p>
          <a:p>
            <a:r>
              <a:rPr lang="en-US" i="1" dirty="0" smtClean="0"/>
              <a:t>m(t)= ~ (- 1e--b t).</a:t>
            </a:r>
          </a:p>
          <a:p>
            <a:r>
              <a:rPr lang="en-US" i="1" dirty="0" smtClean="0"/>
              <a:t>N and b are model parameters that can be estimated from the observation data.</a:t>
            </a:r>
            <a:endParaRPr lang="en-US"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915400" cy="6324600"/>
          </a:xfrm>
        </p:spPr>
        <p:txBody>
          <a:bodyPr>
            <a:normAutofit fontScale="92500" lnSpcReduction="10000"/>
          </a:bodyPr>
          <a:lstStyle/>
          <a:p>
            <a:r>
              <a:rPr lang="en-US" b="1" dirty="0" smtClean="0"/>
              <a:t>Measurement-driven predictive models</a:t>
            </a:r>
          </a:p>
          <a:p>
            <a:r>
              <a:rPr lang="en-US" dirty="0" smtClean="0"/>
              <a:t>Measurement-driven predictive models establish predictive relations between quality and other measurements based on historical data, provide early predictions of quality, and identify problems early so that timely actions can be taken to improve product quality.</a:t>
            </a:r>
          </a:p>
          <a:p>
            <a:r>
              <a:rPr lang="en-US" dirty="0" smtClean="0"/>
              <a:t>Various statistical analysis techniques and learning algorithms can be used to establish such predictive relations (</a:t>
            </a:r>
            <a:r>
              <a:rPr lang="en-US" dirty="0" err="1" smtClean="0"/>
              <a:t>Tian</a:t>
            </a:r>
            <a:r>
              <a:rPr lang="en-US" dirty="0" smtClean="0"/>
              <a:t>, 2000), which are covered in Chapter 21.</a:t>
            </a:r>
          </a:p>
          <a:p>
            <a:r>
              <a:rPr lang="en-US" dirty="0" smtClean="0"/>
              <a:t>Once such predictive relations are established, we can affect the development process by using them to identify high-risk areas for focused remedial actions.</a:t>
            </a:r>
            <a:endParaRPr lang="en-US"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smtClean="0">
                <a:solidFill>
                  <a:srgbClr val="FF0000"/>
                </a:solidFill>
              </a:rPr>
              <a:t>SELECTING MEASUREMENTS AND MODELS</a:t>
            </a:r>
            <a:endParaRPr lang="en-US" sz="3200" dirty="0">
              <a:solidFill>
                <a:srgbClr val="FF0000"/>
              </a:solidFill>
            </a:endParaRPr>
          </a:p>
        </p:txBody>
      </p:sp>
      <p:sp>
        <p:nvSpPr>
          <p:cNvPr id="3" name="Content Placeholder 2"/>
          <p:cNvSpPr>
            <a:spLocks noGrp="1"/>
          </p:cNvSpPr>
          <p:nvPr>
            <p:ph idx="1"/>
          </p:nvPr>
        </p:nvSpPr>
        <p:spPr>
          <a:xfrm>
            <a:off x="457200" y="1295400"/>
            <a:ext cx="8229600" cy="5257800"/>
          </a:xfrm>
        </p:spPr>
        <p:txBody>
          <a:bodyPr/>
          <a:lstStyle/>
          <a:p>
            <a:pPr>
              <a:buNone/>
            </a:pPr>
            <a:r>
              <a:rPr lang="en-US" dirty="0" smtClean="0"/>
              <a:t>    </a:t>
            </a:r>
            <a:r>
              <a:rPr lang="en-US" sz="4000" dirty="0" smtClean="0"/>
              <a:t>Based on the characteristics of quality assessment models and the relationships between these models and relevant measurements discussed above, we next outline an approach for measurement and model selection, and illustrate it with some practical examples.</a:t>
            </a:r>
            <a:endParaRPr lang="en-US"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705600"/>
          </a:xfrm>
        </p:spPr>
        <p:txBody>
          <a:bodyPr>
            <a:normAutofit fontScale="47500" lnSpcReduction="20000"/>
          </a:bodyPr>
          <a:lstStyle/>
          <a:p>
            <a:r>
              <a:rPr lang="en-US" dirty="0" smtClean="0"/>
              <a:t>Using this approach, we can follow the following three steps to set quality goals and select appropriate models</a:t>
            </a:r>
          </a:p>
          <a:p>
            <a:r>
              <a:rPr lang="en-US" dirty="0" smtClean="0"/>
              <a:t>and measurements:</a:t>
            </a:r>
          </a:p>
          <a:p>
            <a:r>
              <a:rPr lang="en-US" b="1" dirty="0" smtClean="0"/>
              <a:t>Step 1. </a:t>
            </a:r>
            <a:r>
              <a:rPr lang="en-US" b="1" i="1" dirty="0" smtClean="0"/>
              <a:t>Set specific model  </a:t>
            </a:r>
            <a:r>
              <a:rPr lang="en-US" b="1" i="1" dirty="0" err="1" smtClean="0"/>
              <a:t>uality</a:t>
            </a:r>
            <a:r>
              <a:rPr lang="en-US" b="1" i="1" dirty="0" smtClean="0"/>
              <a:t> goals. For example, if we are concerned with problem-free</a:t>
            </a:r>
          </a:p>
          <a:p>
            <a:r>
              <a:rPr lang="en-US" dirty="0" smtClean="0"/>
              <a:t>services, reliability measurement and improvement should be the goal. This step</a:t>
            </a:r>
          </a:p>
          <a:p>
            <a:r>
              <a:rPr lang="en-US" dirty="0" smtClean="0"/>
              <a:t>restricts the </a:t>
            </a:r>
            <a:r>
              <a:rPr lang="en-US" b="1" i="1" dirty="0" smtClean="0"/>
              <a:t>“G” in the GQM-paradigm to specific quality goals instead of general</a:t>
            </a:r>
          </a:p>
          <a:p>
            <a:r>
              <a:rPr lang="en-US" dirty="0" smtClean="0"/>
              <a:t>measurement goals.</a:t>
            </a:r>
          </a:p>
          <a:p>
            <a:r>
              <a:rPr lang="en-US" b="1" dirty="0" smtClean="0"/>
              <a:t>Step 2. </a:t>
            </a:r>
            <a:r>
              <a:rPr lang="en-US" b="1" i="1" dirty="0" smtClean="0"/>
              <a:t>Choose </a:t>
            </a:r>
            <a:r>
              <a:rPr lang="en-US" b="1" i="1" dirty="0" err="1" smtClean="0"/>
              <a:t>spec@c</a:t>
            </a:r>
            <a:r>
              <a:rPr lang="en-US" b="1" i="1" dirty="0" smtClean="0"/>
              <a:t> quality assessment models that can answer our questions and concerns</a:t>
            </a:r>
          </a:p>
          <a:p>
            <a:r>
              <a:rPr lang="en-US" dirty="0" smtClean="0"/>
              <a:t>about the quality goals under the constraints of the application environment. For</a:t>
            </a:r>
          </a:p>
          <a:p>
            <a:r>
              <a:rPr lang="en-US" dirty="0" smtClean="0"/>
              <a:t>example, if we need precise reliability estimates, we can consider using SRGMs. This</a:t>
            </a:r>
          </a:p>
          <a:p>
            <a:r>
              <a:rPr lang="en-US" dirty="0" smtClean="0"/>
              <a:t>step roughly corresponds to “Q’ in the GQM-paradigm, but the model classification</a:t>
            </a:r>
          </a:p>
          <a:p>
            <a:r>
              <a:rPr lang="en-US" dirty="0" smtClean="0"/>
              <a:t>scheme in this chapter is used to select appropriate quality assessment models.</a:t>
            </a:r>
          </a:p>
          <a:p>
            <a:r>
              <a:rPr lang="en-US" b="1" dirty="0" smtClean="0"/>
              <a:t>QUALITY MODELS AND MEASUREMENTS</a:t>
            </a:r>
          </a:p>
          <a:p>
            <a:r>
              <a:rPr lang="en-US" b="1" dirty="0" smtClean="0"/>
              <a:t>Step </a:t>
            </a:r>
            <a:r>
              <a:rPr lang="en-US" b="1" i="1" dirty="0" smtClean="0"/>
              <a:t>3. Choose appropriate measurements based on the model data requirements. For</a:t>
            </a:r>
          </a:p>
          <a:p>
            <a:r>
              <a:rPr lang="en-US" dirty="0" smtClean="0"/>
              <a:t>example, we can take failure and test execution time measurements in order to evaluate</a:t>
            </a:r>
          </a:p>
          <a:p>
            <a:r>
              <a:rPr lang="en-US" dirty="0" smtClean="0"/>
              <a:t>product reliability using SRGMs. This step roughly corresponds to “M’ in the </a:t>
            </a:r>
            <a:r>
              <a:rPr lang="en-US" dirty="0" err="1" smtClean="0"/>
              <a:t>GQMparadigm</a:t>
            </a:r>
            <a:r>
              <a:rPr lang="en-US" dirty="0" smtClean="0"/>
              <a:t>,</a:t>
            </a:r>
          </a:p>
          <a:p>
            <a:r>
              <a:rPr lang="en-US" dirty="0" smtClean="0"/>
              <a:t>but the model-data relations summarized in Figure 19.3 are used to select</a:t>
            </a:r>
          </a:p>
          <a:p>
            <a:r>
              <a:rPr lang="en-US" dirty="0" smtClean="0"/>
              <a:t>appropriate measurements.</a:t>
            </a:r>
          </a:p>
          <a:p>
            <a:r>
              <a:rPr lang="en-US" dirty="0" smtClean="0"/>
              <a:t>We next consider actual scenarios during the testing </a:t>
            </a:r>
            <a:r>
              <a:rPr lang="en-US" dirty="0" err="1" smtClean="0"/>
              <a:t>ofof</a:t>
            </a:r>
            <a:r>
              <a:rPr lang="en-US" dirty="0" smtClean="0"/>
              <a:t> several large commercial software</a:t>
            </a:r>
          </a:p>
          <a:p>
            <a:r>
              <a:rPr lang="en-US" dirty="0" smtClean="0"/>
              <a:t>systems developed in IBM (</a:t>
            </a:r>
            <a:r>
              <a:rPr lang="en-US" dirty="0" err="1" smtClean="0"/>
              <a:t>Tian</a:t>
            </a:r>
            <a:r>
              <a:rPr lang="en-US" dirty="0" smtClean="0"/>
              <a:t>, 1998) to illustrate the use of this approach. These</a:t>
            </a:r>
          </a:p>
          <a:p>
            <a:r>
              <a:rPr lang="en-US" dirty="0" smtClean="0"/>
              <a:t>systems include relational data base products, compilers, and computing environments, for</a:t>
            </a:r>
          </a:p>
          <a:p>
            <a:r>
              <a:rPr lang="en-US" dirty="0" smtClean="0"/>
              <a:t>platforms ranging from mainframes to PCs. They can be characterized by their large size,</a:t>
            </a:r>
          </a:p>
          <a:p>
            <a:r>
              <a:rPr lang="en-US" dirty="0" smtClean="0"/>
              <a:t>usually exceeding several hundred thousand lines of source code, high complexity, diverse</a:t>
            </a:r>
          </a:p>
          <a:p>
            <a:r>
              <a:rPr lang="en-US" dirty="0" smtClean="0"/>
              <a:t>functionality, and components developed over a long period of time. The overall testing</a:t>
            </a:r>
          </a:p>
          <a:p>
            <a:r>
              <a:rPr lang="en-US" dirty="0" smtClean="0"/>
              <a:t>effort usually lasts from over several months to more than a year.</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12673</TotalTime>
  <Words>11520</Words>
  <Application>Microsoft Office PowerPoint</Application>
  <PresentationFormat>On-screen Show (4:3)</PresentationFormat>
  <Paragraphs>782</Paragraphs>
  <Slides>158</Slides>
  <Notes>2</Notes>
  <HiddenSlides>0</HiddenSlides>
  <MMClips>0</MMClips>
  <ScaleCrop>false</ScaleCrop>
  <HeadingPairs>
    <vt:vector size="4" baseType="variant">
      <vt:variant>
        <vt:lpstr>Theme</vt:lpstr>
      </vt:variant>
      <vt:variant>
        <vt:i4>1</vt:i4>
      </vt:variant>
      <vt:variant>
        <vt:lpstr>Slide Titles</vt:lpstr>
      </vt:variant>
      <vt:variant>
        <vt:i4>158</vt:i4>
      </vt:variant>
    </vt:vector>
  </HeadingPairs>
  <TitlesOfParts>
    <vt:vector size="159" baseType="lpstr">
      <vt:lpstr>Office Theme</vt:lpstr>
      <vt:lpstr>Slide 1</vt:lpstr>
      <vt:lpstr>Slide 2</vt:lpstr>
      <vt:lpstr>   BMC-035-Software Quality Engineering  </vt:lpstr>
      <vt:lpstr>   BMC-035-Software Quality Engineering  </vt:lpstr>
      <vt:lpstr>  BMC-035-Software Quality Engineering </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QUALITY MODELS FOR QUALITY ASSESSMENT</vt:lpstr>
      <vt:lpstr>Classification of quality assessment models</vt:lpstr>
      <vt:lpstr>Slide 149</vt:lpstr>
      <vt:lpstr>Slide 150</vt:lpstr>
      <vt:lpstr>Slide 151</vt:lpstr>
      <vt:lpstr>Slide 152</vt:lpstr>
      <vt:lpstr>Slide 153</vt:lpstr>
      <vt:lpstr>Slide 154</vt:lpstr>
      <vt:lpstr>Slide 155</vt:lpstr>
      <vt:lpstr>Slide 156</vt:lpstr>
      <vt:lpstr>SELECTING MEASUREMENTS AND MODELS</vt:lpstr>
      <vt:lpstr>Slide 158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RCA-E-31 Cloud Computing Syllabus</dc:title>
  <dc:creator>jim107</dc:creator>
  <cp:lastModifiedBy>Vishnu Shukla</cp:lastModifiedBy>
  <cp:revision>601</cp:revision>
  <dcterms:created xsi:type="dcterms:W3CDTF">2019-07-02T09:59:50Z</dcterms:created>
  <dcterms:modified xsi:type="dcterms:W3CDTF">2026-03-18T05:32:05Z</dcterms:modified>
</cp:coreProperties>
</file>