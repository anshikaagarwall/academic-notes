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sldIdLst>
    <p:sldId id="375" r:id="rId2"/>
    <p:sldId id="376" r:id="rId3"/>
    <p:sldId id="262" r:id="rId4"/>
    <p:sldId id="778" r:id="rId5"/>
    <p:sldId id="796" r:id="rId6"/>
    <p:sldId id="883" r:id="rId7"/>
    <p:sldId id="945" r:id="rId8"/>
    <p:sldId id="889" r:id="rId9"/>
    <p:sldId id="886" r:id="rId10"/>
    <p:sldId id="888" r:id="rId11"/>
    <p:sldId id="885" r:id="rId12"/>
    <p:sldId id="798" r:id="rId13"/>
    <p:sldId id="799" r:id="rId14"/>
    <p:sldId id="801" r:id="rId15"/>
    <p:sldId id="802" r:id="rId16"/>
    <p:sldId id="946" r:id="rId17"/>
    <p:sldId id="942" r:id="rId18"/>
    <p:sldId id="803" r:id="rId19"/>
    <p:sldId id="806" r:id="rId20"/>
    <p:sldId id="873" r:id="rId21"/>
    <p:sldId id="948" r:id="rId22"/>
    <p:sldId id="949" r:id="rId23"/>
    <p:sldId id="874" r:id="rId24"/>
    <p:sldId id="893" r:id="rId25"/>
    <p:sldId id="898" r:id="rId26"/>
    <p:sldId id="947" r:id="rId27"/>
    <p:sldId id="950" r:id="rId28"/>
    <p:sldId id="895" r:id="rId29"/>
    <p:sldId id="903" r:id="rId30"/>
    <p:sldId id="931" r:id="rId31"/>
    <p:sldId id="904" r:id="rId32"/>
    <p:sldId id="962" r:id="rId33"/>
    <p:sldId id="964" r:id="rId34"/>
    <p:sldId id="963" r:id="rId35"/>
    <p:sldId id="951" r:id="rId36"/>
    <p:sldId id="952" r:id="rId37"/>
    <p:sldId id="905" r:id="rId38"/>
    <p:sldId id="932" r:id="rId39"/>
    <p:sldId id="877" r:id="rId40"/>
    <p:sldId id="881" r:id="rId41"/>
    <p:sldId id="882" r:id="rId42"/>
    <p:sldId id="863" r:id="rId43"/>
    <p:sldId id="957" r:id="rId44"/>
    <p:sldId id="958" r:id="rId45"/>
    <p:sldId id="955" r:id="rId46"/>
    <p:sldId id="865" r:id="rId47"/>
    <p:sldId id="956" r:id="rId48"/>
    <p:sldId id="953" r:id="rId49"/>
    <p:sldId id="868" r:id="rId50"/>
    <p:sldId id="906" r:id="rId51"/>
    <p:sldId id="927" r:id="rId52"/>
    <p:sldId id="928" r:id="rId53"/>
    <p:sldId id="929" r:id="rId54"/>
    <p:sldId id="850" r:id="rId55"/>
    <p:sldId id="933" r:id="rId56"/>
    <p:sldId id="909" r:id="rId57"/>
    <p:sldId id="961" r:id="rId58"/>
    <p:sldId id="910" r:id="rId59"/>
    <p:sldId id="959" r:id="rId60"/>
    <p:sldId id="960" r:id="rId61"/>
    <p:sldId id="967" r:id="rId62"/>
    <p:sldId id="968" r:id="rId63"/>
    <p:sldId id="969" r:id="rId64"/>
    <p:sldId id="921" r:id="rId65"/>
    <p:sldId id="922" r:id="rId66"/>
    <p:sldId id="966" r:id="rId6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68" d="100"/>
          <a:sy n="68" d="100"/>
        </p:scale>
        <p:origin x="-1362" y="-11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B1C6687-8F17-4CAC-AE50-B3E9CE183B49}" type="datetimeFigureOut">
              <a:rPr lang="en-US" smtClean="0"/>
              <a:pPr/>
              <a:t>4/13/2026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10C3490-8F65-43C6-AF9D-2249F7812601}" type="slidenum">
              <a:rPr lang="en-US" smtClean="0"/>
              <a:pPr/>
              <a:t>‹#›</a:t>
            </a:fld>
            <a:endParaRPr lang="en-US"/>
          </a:p>
        </p:txBody>
      </p:sp>
    </p:spTree>
    <p:extLst>
      <p:ext uri="{BB962C8B-B14F-4D97-AF65-F5344CB8AC3E}">
        <p14:creationId xmlns="" xmlns:p14="http://schemas.microsoft.com/office/powerpoint/2010/main" val="2492224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2536789-80A9-426C-8E1D-F1025E96E76F}"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536789-80A9-426C-8E1D-F1025E96E76F}"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2536789-80A9-426C-8E1D-F1025E96E76F}"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2536789-80A9-426C-8E1D-F1025E96E76F}" type="datetimeFigureOut">
              <a:rPr lang="en-US" smtClean="0"/>
              <a:pPr/>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2536789-80A9-426C-8E1D-F1025E96E76F}" type="datetimeFigureOut">
              <a:rPr lang="en-US" smtClean="0"/>
              <a:pPr/>
              <a:t>4/13/2026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2536789-80A9-426C-8E1D-F1025E96E76F}" type="datetimeFigureOut">
              <a:rPr lang="en-US" smtClean="0"/>
              <a:pPr/>
              <a:t>4/13/2026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536789-80A9-426C-8E1D-F1025E96E76F}" type="datetimeFigureOut">
              <a:rPr lang="en-US" smtClean="0"/>
              <a:pPr/>
              <a:t>4/13/2026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2536789-80A9-426C-8E1D-F1025E96E76F}" type="datetimeFigureOut">
              <a:rPr lang="en-US" smtClean="0"/>
              <a:pPr/>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2536789-80A9-426C-8E1D-F1025E96E76F}" type="datetimeFigureOut">
              <a:rPr lang="en-US" smtClean="0"/>
              <a:pPr/>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536789-80A9-426C-8E1D-F1025E96E76F}"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536789-80A9-426C-8E1D-F1025E96E76F}"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46B490-8033-4666-8C58-6F6E7B3D3D8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536789-80A9-426C-8E1D-F1025E96E76F}" type="datetimeFigureOut">
              <a:rPr lang="en-US" smtClean="0"/>
              <a:pPr/>
              <a:t>4/13/2026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46B490-8033-4666-8C58-6F6E7B3D3D8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en.wikipedia.org/wiki/Software_engineerin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en.wikipedia.org/wiki/Software_testing"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en.wikipedia.org/wiki/Anti-pattern" TargetMode="External"/><Relationship Id="rId2" Type="http://schemas.openxmlformats.org/officeDocument/2006/relationships/hyperlink" Target="https://en.wikipedia.org/wiki/Code_conventions" TargetMode="External"/><Relationship Id="rId1" Type="http://schemas.openxmlformats.org/officeDocument/2006/relationships/slideLayout" Target="../slideLayouts/slideLayout2.xml"/><Relationship Id="rId5" Type="http://schemas.openxmlformats.org/officeDocument/2006/relationships/hyperlink" Target="https://en.wikipedia.org/wiki/Formal_verification" TargetMode="External"/><Relationship Id="rId4" Type="http://schemas.openxmlformats.org/officeDocument/2006/relationships/hyperlink" Target="https://en.wikipedia.org/wiki/Software_metric"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professionalqa.com/static-testing" TargetMode="External"/><Relationship Id="rId2" Type="http://schemas.openxmlformats.org/officeDocument/2006/relationships/hyperlink" Target="https://www.professionalqa.com/software-inspection"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professionalqa.com/software-development-life-cycle"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geeksforgeeks.org/software-engineering-incremental-process-model/" TargetMode="External"/><Relationship Id="rId2" Type="http://schemas.openxmlformats.org/officeDocument/2006/relationships/hyperlink" Target="https://www.geeksforgeeks.org/software-engineering-iterative-waterfall-model/"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www.geeksforgeeks.org/software-testing-basics/"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s://www.javatpoint.com/software-testing-tutorial"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https://www.geeksforgeeks.org/software-testing-basics/"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body" idx="1"/>
          </p:nvPr>
        </p:nvSpPr>
        <p:spPr>
          <a:xfrm>
            <a:off x="0" y="0"/>
            <a:ext cx="9144000" cy="6858000"/>
          </a:xfrm>
          <a:prstGeom prst="rect">
            <a:avLst/>
          </a:prstGeom>
          <a:ln>
            <a:headEnd type="none" w="sm" len="sm"/>
            <a:tailEnd type="none" w="sm" len="sm"/>
          </a:ln>
        </p:spPr>
        <p:style>
          <a:lnRef idx="1">
            <a:schemeClr val="accent2"/>
          </a:lnRef>
          <a:fillRef idx="3">
            <a:schemeClr val="accent2"/>
          </a:fillRef>
          <a:effectRef idx="2">
            <a:schemeClr val="accent2"/>
          </a:effectRef>
          <a:fontRef idx="minor">
            <a:schemeClr val="lt1"/>
          </a:fontRef>
        </p:style>
        <p:txBody>
          <a:bodyPr spcFirstLastPara="1" wrap="square" lIns="91425" tIns="45700" rIns="91425" bIns="45700" anchor="t" anchorCtr="0">
            <a:noAutofit/>
          </a:bodyPr>
          <a:lstStyle/>
          <a:p>
            <a:pPr marL="342900" lvl="0" indent="-342900" algn="ctr" rtl="0">
              <a:spcBef>
                <a:spcPts val="0"/>
              </a:spcBef>
              <a:spcAft>
                <a:spcPts val="0"/>
              </a:spcAft>
              <a:buClr>
                <a:srgbClr val="FFFF00"/>
              </a:buClr>
              <a:buSzPts val="3600"/>
              <a:buNone/>
            </a:pPr>
            <a:r>
              <a:rPr lang="en-US" sz="3600" dirty="0">
                <a:solidFill>
                  <a:srgbClr val="FFFF00"/>
                </a:solidFill>
                <a:latin typeface="Arial Black"/>
                <a:ea typeface="Arial Black"/>
                <a:cs typeface="Arial Black"/>
                <a:sym typeface="Arial Black"/>
              </a:rPr>
              <a:t>Jagran Institute Of Management</a:t>
            </a:r>
            <a:r>
              <a:rPr lang="en-US" sz="4800" b="1" dirty="0">
                <a:solidFill>
                  <a:srgbClr val="FFFF00"/>
                </a:solidFill>
                <a:latin typeface="Calibri"/>
                <a:ea typeface="Calibri"/>
                <a:cs typeface="Calibri"/>
                <a:sym typeface="Calibri"/>
              </a:rPr>
              <a:t> </a:t>
            </a:r>
            <a:endParaRPr dirty="0"/>
          </a:p>
          <a:p>
            <a:pPr algn="ctr">
              <a:spcBef>
                <a:spcPts val="720"/>
              </a:spcBef>
              <a:buClr>
                <a:srgbClr val="C00000"/>
              </a:buClr>
              <a:buSzPts val="3600"/>
            </a:pPr>
            <a:r>
              <a:rPr lang="en-US" sz="4000" dirty="0" smtClean="0">
                <a:solidFill>
                  <a:srgbClr val="002060"/>
                </a:solidFill>
                <a:latin typeface="Aharoni"/>
                <a:ea typeface="Aharoni"/>
                <a:cs typeface="Aharoni"/>
                <a:sym typeface="Aharoni"/>
              </a:rPr>
              <a:t>Department of MCA</a:t>
            </a:r>
          </a:p>
          <a:p>
            <a:pPr algn="ctr">
              <a:spcBef>
                <a:spcPts val="720"/>
              </a:spcBef>
              <a:buClr>
                <a:srgbClr val="C00000"/>
              </a:buClr>
              <a:buSzPts val="3600"/>
            </a:pPr>
            <a:r>
              <a:rPr lang="en-US" sz="3600" dirty="0" smtClean="0"/>
              <a:t>MASTER OF COMPUTER APPLICATION</a:t>
            </a:r>
            <a:endParaRPr lang="en-US" sz="3600" b="1" dirty="0" smtClean="0">
              <a:solidFill>
                <a:srgbClr val="002060"/>
              </a:solidFill>
            </a:endParaRPr>
          </a:p>
          <a:p>
            <a:pPr lvl="0" algn="ctr">
              <a:spcBef>
                <a:spcPts val="720"/>
              </a:spcBef>
              <a:buClr>
                <a:srgbClr val="C00000"/>
              </a:buClr>
              <a:buSzPts val="3600"/>
            </a:pPr>
            <a:r>
              <a:rPr lang="en-US" b="1" dirty="0" smtClean="0">
                <a:solidFill>
                  <a:schemeClr val="tx1"/>
                </a:solidFill>
                <a:latin typeface="Calibri"/>
                <a:ea typeface="Calibri"/>
                <a:cs typeface="Calibri"/>
                <a:sym typeface="Calibri"/>
              </a:rPr>
              <a:t>(Second Year-2025-26-</a:t>
            </a:r>
            <a:r>
              <a:rPr lang="en-US" sz="3600" b="1" dirty="0" smtClean="0">
                <a:solidFill>
                  <a:srgbClr val="002060"/>
                </a:solidFill>
                <a:ea typeface="Calibri"/>
                <a:cs typeface="Calibri"/>
                <a:sym typeface="Calibri"/>
              </a:rPr>
              <a:t>Semester:4</a:t>
            </a:r>
            <a:r>
              <a:rPr lang="en-US" sz="3600" b="1" baseline="30000" dirty="0" smtClean="0">
                <a:solidFill>
                  <a:srgbClr val="002060"/>
                </a:solidFill>
                <a:ea typeface="Calibri"/>
                <a:cs typeface="Calibri"/>
                <a:sym typeface="Calibri"/>
              </a:rPr>
              <a:t>th</a:t>
            </a:r>
            <a:r>
              <a:rPr lang="en-US" sz="3600" b="1" dirty="0" smtClean="0">
                <a:solidFill>
                  <a:srgbClr val="002060"/>
                </a:solidFill>
                <a:ea typeface="Calibri"/>
                <a:cs typeface="Calibri"/>
                <a:sym typeface="Calibri"/>
              </a:rPr>
              <a:t> )</a:t>
            </a:r>
            <a:endParaRPr lang="en-US" sz="3600" b="1" baseline="30000" dirty="0" smtClean="0">
              <a:solidFill>
                <a:srgbClr val="002060"/>
              </a:solidFill>
              <a:ea typeface="Calibri"/>
              <a:cs typeface="Calibri"/>
              <a:sym typeface="Calibri"/>
            </a:endParaRPr>
          </a:p>
          <a:p>
            <a:pPr marL="176213" lvl="0" indent="-203200" algn="ctr">
              <a:spcBef>
                <a:spcPts val="640"/>
              </a:spcBef>
              <a:buClr>
                <a:srgbClr val="C00000"/>
              </a:buClr>
              <a:buSzPts val="3200"/>
            </a:pPr>
            <a:r>
              <a:rPr lang="en-US" sz="4000" dirty="0" smtClean="0"/>
              <a:t>BMC-035-Software Quality Engineering</a:t>
            </a:r>
          </a:p>
          <a:p>
            <a:pPr marL="176213" lvl="0" indent="-203200" algn="ctr">
              <a:spcBef>
                <a:spcPts val="640"/>
              </a:spcBef>
              <a:buClr>
                <a:srgbClr val="C00000"/>
              </a:buClr>
              <a:buSzPts val="3200"/>
            </a:pPr>
            <a:r>
              <a:rPr lang="en-US" sz="3600" dirty="0" smtClean="0">
                <a:solidFill>
                  <a:srgbClr val="92D050"/>
                </a:solidFill>
                <a:latin typeface="Calibri"/>
                <a:ea typeface="Calibri"/>
                <a:cs typeface="Calibri"/>
                <a:sym typeface="Calibri"/>
              </a:rPr>
              <a:t>Subject </a:t>
            </a:r>
            <a:r>
              <a:rPr lang="en-US" sz="3600" dirty="0">
                <a:solidFill>
                  <a:srgbClr val="92D050"/>
                </a:solidFill>
                <a:latin typeface="Calibri"/>
                <a:ea typeface="Calibri"/>
                <a:cs typeface="Calibri"/>
                <a:sym typeface="Calibri"/>
              </a:rPr>
              <a:t>Start Date: </a:t>
            </a:r>
            <a:r>
              <a:rPr lang="en-US" sz="3600" dirty="0" smtClean="0">
                <a:solidFill>
                  <a:srgbClr val="92D050"/>
                </a:solidFill>
                <a:latin typeface="Calibri"/>
                <a:ea typeface="Calibri"/>
                <a:cs typeface="Calibri"/>
                <a:sym typeface="Calibri"/>
              </a:rPr>
              <a:t>2</a:t>
            </a:r>
            <a:r>
              <a:rPr lang="en-US" sz="3600" baseline="30000" dirty="0" smtClean="0">
                <a:solidFill>
                  <a:srgbClr val="92D050"/>
                </a:solidFill>
                <a:latin typeface="Calibri"/>
                <a:ea typeface="Calibri"/>
                <a:cs typeface="Calibri"/>
                <a:sym typeface="Calibri"/>
              </a:rPr>
              <a:t>nd</a:t>
            </a:r>
            <a:r>
              <a:rPr lang="en-US" sz="3600" dirty="0" smtClean="0">
                <a:solidFill>
                  <a:srgbClr val="92D050"/>
                </a:solidFill>
                <a:latin typeface="Calibri"/>
                <a:ea typeface="Calibri"/>
                <a:cs typeface="Calibri"/>
                <a:sym typeface="Calibri"/>
              </a:rPr>
              <a:t> February-202</a:t>
            </a:r>
            <a:r>
              <a:rPr lang="en-US" sz="3600" dirty="0" smtClean="0">
                <a:solidFill>
                  <a:srgbClr val="FFFF00"/>
                </a:solidFill>
                <a:latin typeface="Calibri"/>
                <a:ea typeface="Calibri"/>
                <a:cs typeface="Calibri"/>
                <a:sym typeface="Calibri"/>
              </a:rPr>
              <a:t>6</a:t>
            </a:r>
            <a:endParaRPr sz="6000" dirty="0">
              <a:solidFill>
                <a:srgbClr val="FFFF00"/>
              </a:solidFill>
            </a:endParaRPr>
          </a:p>
          <a:p>
            <a:pPr marL="342900" lvl="0" indent="-342900" algn="ctr" rtl="0">
              <a:lnSpc>
                <a:spcPct val="150000"/>
              </a:lnSpc>
              <a:spcBef>
                <a:spcPts val="720"/>
              </a:spcBef>
              <a:spcAft>
                <a:spcPts val="0"/>
              </a:spcAft>
              <a:buClr>
                <a:srgbClr val="92D050"/>
              </a:buClr>
              <a:buSzPts val="3600"/>
              <a:buNone/>
            </a:pPr>
            <a:r>
              <a:rPr lang="en-US" sz="4000" b="1" u="sng" dirty="0" smtClean="0">
                <a:solidFill>
                  <a:srgbClr val="002060"/>
                </a:solidFill>
                <a:latin typeface="Calibri"/>
                <a:ea typeface="Calibri"/>
                <a:cs typeface="Calibri"/>
                <a:sym typeface="Calibri"/>
              </a:rPr>
              <a:t>Name of Faculty: </a:t>
            </a:r>
          </a:p>
          <a:p>
            <a:pPr marL="342900" lvl="0" indent="-342900" algn="ctr" rtl="0">
              <a:spcBef>
                <a:spcPts val="640"/>
              </a:spcBef>
              <a:spcAft>
                <a:spcPts val="0"/>
              </a:spcAft>
              <a:buClr>
                <a:srgbClr val="002060"/>
              </a:buClr>
              <a:buSzPts val="3200"/>
              <a:buNone/>
            </a:pPr>
            <a:r>
              <a:rPr lang="en-US" sz="3600" b="1" dirty="0" smtClean="0">
                <a:solidFill>
                  <a:srgbClr val="FFFF00"/>
                </a:solidFill>
                <a:latin typeface="Calibri"/>
                <a:ea typeface="Calibri"/>
                <a:cs typeface="Calibri"/>
                <a:sym typeface="Calibri"/>
              </a:rPr>
              <a:t>Vishnu Kr. </a:t>
            </a:r>
            <a:r>
              <a:rPr lang="en-US" sz="3600" b="1" dirty="0" err="1" smtClean="0">
                <a:solidFill>
                  <a:srgbClr val="FFFF00"/>
                </a:solidFill>
                <a:latin typeface="Calibri"/>
                <a:ea typeface="Calibri"/>
                <a:cs typeface="Calibri"/>
                <a:sym typeface="Calibri"/>
              </a:rPr>
              <a:t>Shukla</a:t>
            </a:r>
            <a:r>
              <a:rPr lang="en-US" b="1" dirty="0" smtClean="0">
                <a:solidFill>
                  <a:srgbClr val="FFFF00"/>
                </a:solidFill>
                <a:latin typeface="Calibri"/>
                <a:ea typeface="Calibri"/>
                <a:cs typeface="Calibri"/>
                <a:sym typeface="Calibri"/>
              </a:rPr>
              <a:t>                                            </a:t>
            </a:r>
            <a:endParaRPr sz="3600" smtClean="0">
              <a:solidFill>
                <a:srgbClr val="FFFF00"/>
              </a:solidFill>
            </a:endParaRPr>
          </a:p>
          <a:p>
            <a:pPr marL="342900" lvl="0" indent="-342900" algn="ctr" rtl="0">
              <a:spcBef>
                <a:spcPts val="560"/>
              </a:spcBef>
              <a:spcAft>
                <a:spcPts val="0"/>
              </a:spcAft>
              <a:buClr>
                <a:srgbClr val="002060"/>
              </a:buClr>
              <a:buSzPts val="2800"/>
              <a:buNone/>
            </a:pPr>
            <a:r>
              <a:rPr lang="en-US" b="1" dirty="0" smtClean="0">
                <a:solidFill>
                  <a:srgbClr val="FFFF00"/>
                </a:solidFill>
                <a:latin typeface="Calibri"/>
                <a:ea typeface="Calibri"/>
                <a:cs typeface="Calibri"/>
                <a:sym typeface="Calibri"/>
              </a:rPr>
              <a:t>  </a:t>
            </a:r>
            <a:r>
              <a:rPr lang="en-US" sz="2800" b="1" dirty="0" smtClean="0">
                <a:solidFill>
                  <a:srgbClr val="FFFF00"/>
                </a:solidFill>
                <a:latin typeface="Calibri"/>
                <a:ea typeface="Calibri"/>
                <a:cs typeface="Calibri"/>
                <a:sym typeface="Calibri"/>
              </a:rPr>
              <a:t>(Assistant Professor )</a:t>
            </a:r>
            <a:endParaRPr sz="3600" smtClean="0">
              <a:solidFill>
                <a:srgbClr val="FFFF00"/>
              </a:solidFill>
            </a:endParaRPr>
          </a:p>
          <a:p>
            <a:pPr marL="342900" lvl="0" indent="-342900" algn="ctr" rtl="0">
              <a:spcBef>
                <a:spcPts val="560"/>
              </a:spcBef>
              <a:spcAft>
                <a:spcPts val="0"/>
              </a:spcAft>
              <a:buClr>
                <a:srgbClr val="002060"/>
              </a:buClr>
              <a:buSzPts val="2800"/>
              <a:buNone/>
            </a:pPr>
            <a:r>
              <a:rPr lang="en-US" sz="2800" dirty="0" smtClean="0">
                <a:solidFill>
                  <a:srgbClr val="FFFF00"/>
                </a:solidFill>
                <a:latin typeface="Aharoni"/>
                <a:ea typeface="Aharoni"/>
                <a:cs typeface="Aharoni"/>
                <a:sym typeface="Aharoni"/>
              </a:rPr>
              <a:t>Department of MCA</a:t>
            </a:r>
            <a:endParaRPr sz="2800" b="1" dirty="0">
              <a:solidFill>
                <a:srgbClr val="FFFF0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txBox="1">
            <a:spLocks noGrp="1"/>
          </p:cNvSpPr>
          <p:nvPr>
            <p:ph type="subTitle" idx="1"/>
          </p:nvPr>
        </p:nvSpPr>
        <p:spPr>
          <a:xfrm>
            <a:off x="0" y="0"/>
            <a:ext cx="9144000" cy="6858000"/>
          </a:xfrm>
          <a:prstGeom prst="rect">
            <a:avLst/>
          </a:prstGeom>
          <a:gradFill>
            <a:gsLst>
              <a:gs pos="0">
                <a:srgbClr val="2D5C97"/>
              </a:gs>
              <a:gs pos="80000">
                <a:srgbClr val="3C7AC5"/>
              </a:gs>
              <a:gs pos="100000">
                <a:srgbClr val="397BC9"/>
              </a:gs>
            </a:gsLst>
            <a:lin ang="16200000" scaled="0"/>
          </a:gra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t" anchorCtr="0">
            <a:normAutofit/>
          </a:bodyPr>
          <a:lstStyle/>
          <a:p>
            <a:pPr lvl="0">
              <a:spcBef>
                <a:spcPts val="0"/>
              </a:spcBef>
              <a:buClr>
                <a:srgbClr val="FFFF00"/>
              </a:buClr>
              <a:buSzPts val="4800"/>
            </a:pPr>
            <a:endParaRPr sz="4800" b="1">
              <a:solidFill>
                <a:schemeClr val="tx1"/>
              </a:solidFill>
              <a:latin typeface="Aparajita" pitchFamily="34" charset="0"/>
              <a:ea typeface="Aparajita"/>
              <a:cs typeface="Aparajita" pitchFamily="34" charset="0"/>
              <a:sym typeface="Aparajita"/>
            </a:endParaRPr>
          </a:p>
        </p:txBody>
      </p:sp>
      <p:pic>
        <p:nvPicPr>
          <p:cNvPr id="2" name="Picture 2"/>
          <p:cNvPicPr>
            <a:picLocks noChangeAspect="1" noChangeArrowheads="1"/>
          </p:cNvPicPr>
          <p:nvPr/>
        </p:nvPicPr>
        <p:blipFill>
          <a:blip r:embed="rId3"/>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09600"/>
            <a:ext cx="9144000" cy="7467600"/>
          </a:xfrm>
        </p:spPr>
        <p:style>
          <a:lnRef idx="1">
            <a:schemeClr val="accent5"/>
          </a:lnRef>
          <a:fillRef idx="2">
            <a:schemeClr val="accent5"/>
          </a:fillRef>
          <a:effectRef idx="1">
            <a:schemeClr val="accent5"/>
          </a:effectRef>
          <a:fontRef idx="minor">
            <a:schemeClr val="dk1"/>
          </a:fontRef>
        </p:style>
        <p:txBody>
          <a:bodyPr>
            <a:normAutofit fontScale="55000" lnSpcReduction="20000"/>
          </a:bodyPr>
          <a:lstStyle/>
          <a:p>
            <a:pPr marL="0" indent="0" algn="ctr">
              <a:buNone/>
            </a:pPr>
            <a:endParaRPr lang="en-US" sz="1050" b="1" dirty="0" smtClean="0"/>
          </a:p>
          <a:p>
            <a:pPr marL="0" indent="0" algn="ctr">
              <a:buNone/>
            </a:pPr>
            <a:r>
              <a:rPr lang="en-US" sz="23900" b="1" dirty="0" smtClean="0">
                <a:solidFill>
                  <a:srgbClr val="FF0000"/>
                </a:solidFill>
              </a:rPr>
              <a:t>UNIT</a:t>
            </a:r>
            <a:r>
              <a:rPr lang="en-US" sz="24000" b="1" dirty="0" smtClean="0">
                <a:solidFill>
                  <a:srgbClr val="FF0000"/>
                </a:solidFill>
              </a:rPr>
              <a:t>-</a:t>
            </a:r>
            <a:r>
              <a:rPr lang="en-US" sz="28700" b="1" dirty="0" smtClean="0">
                <a:solidFill>
                  <a:srgbClr val="FF0000"/>
                </a:solidFill>
              </a:rPr>
              <a:t>V</a:t>
            </a:r>
            <a:r>
              <a:rPr lang="en-US" sz="23900" b="1" dirty="0" smtClean="0">
                <a:solidFill>
                  <a:srgbClr val="FF0000"/>
                </a:solidFill>
              </a:rPr>
              <a:t>-</a:t>
            </a:r>
            <a:endParaRPr lang="en-US" sz="28700" b="1" dirty="0" smtClean="0">
              <a:solidFill>
                <a:srgbClr val="FF0000"/>
              </a:solidFill>
            </a:endParaRPr>
          </a:p>
          <a:p>
            <a:pPr marL="0" indent="0" algn="ctr">
              <a:buNone/>
            </a:pPr>
            <a:r>
              <a:rPr lang="en-US" sz="28800" b="1" dirty="0" smtClean="0">
                <a:solidFill>
                  <a:srgbClr val="FF0000"/>
                </a:solidFill>
              </a:rPr>
              <a:t>Start</a:t>
            </a:r>
            <a:r>
              <a:rPr lang="en-US" sz="49300" b="1" dirty="0" smtClean="0">
                <a:solidFill>
                  <a:srgbClr val="FF0000"/>
                </a:solidFill>
              </a:rPr>
              <a:t>-</a:t>
            </a:r>
            <a:endParaRPr lang="en-US" sz="28800" b="1" dirty="0" smtClean="0">
              <a:solidFill>
                <a:srgbClr val="FF0000"/>
              </a:solidFill>
            </a:endParaRPr>
          </a:p>
          <a:p>
            <a:pPr algn="ctr"/>
            <a:endParaRPr lang="en-US" sz="3800" b="1"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Autofit/>
          </a:bodyPr>
          <a:lstStyle/>
          <a:p>
            <a:r>
              <a:rPr lang="en-US" sz="4800" b="1" u="sng" dirty="0" smtClean="0">
                <a:solidFill>
                  <a:srgbClr val="FF0000"/>
                </a:solidFill>
                <a:latin typeface="Aparajita" pitchFamily="34" charset="0"/>
                <a:cs typeface="Aparajita" pitchFamily="34" charset="0"/>
              </a:rPr>
              <a:t>UNIT-V-</a:t>
            </a:r>
          </a:p>
          <a:p>
            <a:r>
              <a:rPr lang="en-US" b="1" dirty="0" smtClean="0">
                <a:solidFill>
                  <a:srgbClr val="C00000"/>
                </a:solidFill>
                <a:latin typeface="Aparajita" pitchFamily="34" charset="0"/>
                <a:cs typeface="Aparajita" pitchFamily="34" charset="0"/>
              </a:rPr>
              <a:t>Software Verification, Validation &amp; Testing</a:t>
            </a:r>
            <a:r>
              <a:rPr lang="en-US" dirty="0" smtClean="0">
                <a:latin typeface="Aparajita" pitchFamily="34" charset="0"/>
                <a:cs typeface="Aparajita" pitchFamily="34" charset="0"/>
              </a:rPr>
              <a:t>: </a:t>
            </a:r>
          </a:p>
          <a:p>
            <a:pPr algn="just"/>
            <a:r>
              <a:rPr lang="en-US" sz="3600" dirty="0" smtClean="0">
                <a:latin typeface="Aparajita" pitchFamily="34" charset="0"/>
                <a:cs typeface="Aparajita" pitchFamily="34" charset="0"/>
              </a:rPr>
              <a:t>Verification and Validation, Evolutionary Nature of Verification and Validation, Impracticality of Testing all Data and Paths, Software Testing, Proof of Correctness, Functional, Structural and Error-Oriented Analysis &amp; Testing, Static and Dynamic Testing Tools, Characteristics of Modern Testing Tools.</a:t>
            </a:r>
            <a:endParaRPr lang="en-US" sz="3600" u="sng" dirty="0" smtClean="0">
              <a:solidFill>
                <a:srgbClr val="FF0000"/>
              </a:solidFill>
              <a:latin typeface="Aparajita" pitchFamily="34" charset="0"/>
              <a:cs typeface="Aparajita" pitchFamily="34" charset="0"/>
            </a:endParaRPr>
          </a:p>
          <a:p>
            <a:endParaRPr lang="en-US" sz="3600" b="1" u="sng" dirty="0" smtClean="0">
              <a:solidFill>
                <a:srgbClr val="FF0000"/>
              </a:solidFill>
              <a:latin typeface="Aparajita" pitchFamily="34" charset="0"/>
              <a:cs typeface="Aparajita"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a:bodyPr>
          <a:lstStyle/>
          <a:p>
            <a:pPr algn="ctr"/>
            <a:r>
              <a:rPr lang="en-US" sz="3600" b="1" dirty="0" smtClean="0">
                <a:solidFill>
                  <a:srgbClr val="C00000"/>
                </a:solidFill>
                <a:latin typeface="Aparajita" pitchFamily="34" charset="0"/>
                <a:cs typeface="Aparajita" pitchFamily="34" charset="0"/>
              </a:rPr>
              <a:t>Introduction to Software Verification</a:t>
            </a:r>
            <a:r>
              <a:rPr lang="en-US" sz="3600" b="1" smtClean="0">
                <a:solidFill>
                  <a:srgbClr val="C00000"/>
                </a:solidFill>
                <a:latin typeface="Aparajita" pitchFamily="34" charset="0"/>
                <a:cs typeface="Aparajita" pitchFamily="34" charset="0"/>
              </a:rPr>
              <a:t>:</a:t>
            </a:r>
            <a:r>
              <a:rPr lang="en-US" sz="3600" b="1" smtClean="0"/>
              <a:t> </a:t>
            </a:r>
          </a:p>
          <a:p>
            <a:pPr algn="ctr"/>
            <a:r>
              <a:rPr lang="en-US" b="1" smtClean="0"/>
              <a:t>Software </a:t>
            </a:r>
            <a:r>
              <a:rPr lang="en-US" b="1" dirty="0" smtClean="0"/>
              <a:t>verification</a:t>
            </a:r>
            <a:r>
              <a:rPr lang="en-US" dirty="0" smtClean="0"/>
              <a:t> is a discipline of </a:t>
            </a:r>
            <a:r>
              <a:rPr lang="en-US" dirty="0" smtClean="0">
                <a:hlinkClick r:id="rId2" tooltip="Software engineering"/>
              </a:rPr>
              <a:t>software engineering</a:t>
            </a:r>
            <a:r>
              <a:rPr lang="en-US" dirty="0" smtClean="0"/>
              <a:t> whose goal is to assure that software fully satisfies all the expected requirements.</a:t>
            </a:r>
          </a:p>
          <a:p>
            <a:pPr algn="ctr"/>
            <a:r>
              <a:rPr lang="en-US" dirty="0" smtClean="0"/>
              <a:t>Verification in Software Testing is </a:t>
            </a:r>
            <a:r>
              <a:rPr lang="en-US" b="1" dirty="0" smtClean="0"/>
              <a:t>a process of checking documents, design, code, and program in order to check if the software has been built according to the requirements or not</a:t>
            </a:r>
            <a:r>
              <a:rPr lang="en-US" dirty="0" smtClean="0"/>
              <a:t>. The main goal of verification process is to ensure quality of software application, design, architecture etc</a:t>
            </a:r>
            <a:endParaRPr lang="en-US" b="1" dirty="0" smtClean="0">
              <a:solidFill>
                <a:srgbClr val="C00000"/>
              </a:solidFill>
              <a:latin typeface="Aparajita" pitchFamily="34" charset="0"/>
              <a:cs typeface="Aparajita"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10000"/>
          </a:bodyPr>
          <a:lstStyle/>
          <a:p>
            <a:pPr algn="just"/>
            <a:r>
              <a:rPr lang="en-US" b="1" dirty="0" smtClean="0">
                <a:solidFill>
                  <a:srgbClr val="FF0000"/>
                </a:solidFill>
              </a:rPr>
              <a:t>What is Software Verification? </a:t>
            </a:r>
            <a:r>
              <a:rPr lang="en-US" dirty="0" smtClean="0"/>
              <a:t/>
            </a:r>
            <a:br>
              <a:rPr lang="en-US" dirty="0" smtClean="0"/>
            </a:br>
            <a:r>
              <a:rPr lang="en-US" dirty="0" smtClean="0"/>
              <a:t>Reviewing of any software for the purpose of finding faults is known as software verification. Verification is the process of checking that a software achieves its goal without any bugs. </a:t>
            </a:r>
          </a:p>
          <a:p>
            <a:pPr algn="just"/>
            <a:r>
              <a:rPr lang="en-US" dirty="0" smtClean="0"/>
              <a:t>It is the process to ensure whether the product that is developed is right or not. The reviewing of a document can be done from the first phase of software development i.e. software requirement and analysis phase where the end product is the SRS document. </a:t>
            </a:r>
          </a:p>
          <a:p>
            <a:pPr algn="just"/>
            <a:r>
              <a:rPr lang="en-US" dirty="0" smtClean="0"/>
              <a:t>There are many methods for practicing the verification of the software like peer reviews, walkthroughs, inspections, etc that can help us in the prevention of potential faults otherwise, it may lead to the failure of software. </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b="1" dirty="0" smtClean="0">
                <a:solidFill>
                  <a:srgbClr val="FF0000"/>
                </a:solidFill>
              </a:rPr>
              <a:t>The Secret Code of Software Validation in 5 Steps</a:t>
            </a:r>
            <a:endParaRPr lang="en-US" dirty="0" smtClean="0">
              <a:solidFill>
                <a:srgbClr val="FF0000"/>
              </a:solidFill>
            </a:endParaRPr>
          </a:p>
          <a:p>
            <a:r>
              <a:rPr lang="en-US" dirty="0" smtClean="0">
                <a:solidFill>
                  <a:srgbClr val="FF0000"/>
                </a:solidFill>
              </a:rPr>
              <a:t>Step 1</a:t>
            </a:r>
            <a:r>
              <a:rPr lang="en-US" dirty="0" smtClean="0"/>
              <a:t>: Create the Validation Plan. ...</a:t>
            </a:r>
          </a:p>
          <a:p>
            <a:r>
              <a:rPr lang="en-US" dirty="0" smtClean="0">
                <a:solidFill>
                  <a:srgbClr val="FF0000"/>
                </a:solidFill>
              </a:rPr>
              <a:t>Step 2</a:t>
            </a:r>
            <a:r>
              <a:rPr lang="en-US" dirty="0" smtClean="0"/>
              <a:t>: Define System Requirements. ...</a:t>
            </a:r>
          </a:p>
          <a:p>
            <a:r>
              <a:rPr lang="en-US" dirty="0" smtClean="0">
                <a:solidFill>
                  <a:srgbClr val="FF0000"/>
                </a:solidFill>
              </a:rPr>
              <a:t>Step 3</a:t>
            </a:r>
            <a:r>
              <a:rPr lang="en-US" dirty="0" smtClean="0"/>
              <a:t>: Create the Validation Protocol &amp; Test Specifications. ...</a:t>
            </a:r>
          </a:p>
          <a:p>
            <a:r>
              <a:rPr lang="en-US" dirty="0" smtClean="0">
                <a:solidFill>
                  <a:srgbClr val="FF0000"/>
                </a:solidFill>
              </a:rPr>
              <a:t>Step 4:</a:t>
            </a:r>
            <a:r>
              <a:rPr lang="en-US" dirty="0" smtClean="0"/>
              <a:t> Testing. ...</a:t>
            </a:r>
          </a:p>
          <a:p>
            <a:r>
              <a:rPr lang="en-US" dirty="0" smtClean="0">
                <a:solidFill>
                  <a:srgbClr val="FF0000"/>
                </a:solidFill>
              </a:rPr>
              <a:t>Step 5: </a:t>
            </a:r>
            <a:r>
              <a:rPr lang="en-US" dirty="0" smtClean="0"/>
              <a:t>Develop/Revise Procedures &amp; Final Report.</a:t>
            </a:r>
          </a:p>
          <a:p>
            <a:endParaRPr lang="en-US"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6"/>
          </a:lnRef>
          <a:fillRef idx="2">
            <a:schemeClr val="accent6"/>
          </a:fillRef>
          <a:effectRef idx="1">
            <a:schemeClr val="accent6"/>
          </a:effectRef>
          <a:fontRef idx="minor">
            <a:schemeClr val="dk1"/>
          </a:fontRef>
        </p:style>
        <p:txBody>
          <a:bodyPr>
            <a:normAutofit fontScale="92500" lnSpcReduction="20000"/>
          </a:bodyPr>
          <a:lstStyle/>
          <a:p>
            <a:pPr>
              <a:buNone/>
            </a:pPr>
            <a:r>
              <a:rPr lang="en-US" b="1" dirty="0" smtClean="0">
                <a:solidFill>
                  <a:srgbClr val="FF0000"/>
                </a:solidFill>
              </a:rPr>
              <a:t>Methods of Verification :</a:t>
            </a:r>
          </a:p>
          <a:p>
            <a:pPr marL="514350" indent="-514350">
              <a:buAutoNum type="arabicPeriod"/>
            </a:pPr>
            <a:r>
              <a:rPr lang="en-US" b="1" dirty="0" smtClean="0">
                <a:solidFill>
                  <a:srgbClr val="FF0000"/>
                </a:solidFill>
              </a:rPr>
              <a:t>Peer Reviews – </a:t>
            </a:r>
            <a:r>
              <a:rPr lang="en-US" dirty="0" smtClean="0"/>
              <a:t/>
            </a:r>
            <a:br>
              <a:rPr lang="en-US" dirty="0" smtClean="0"/>
            </a:br>
            <a:r>
              <a:rPr lang="en-US" dirty="0" smtClean="0"/>
              <a:t>The very easiest method and informal way of reviewing the documents or the programs/software for the purpose of finding out the faults during the verification process is the peer-review method. </a:t>
            </a:r>
          </a:p>
          <a:p>
            <a:pPr marL="514350" indent="-514350">
              <a:buAutoNum type="arabicPeriod"/>
            </a:pPr>
            <a:r>
              <a:rPr lang="en-US" dirty="0" smtClean="0"/>
              <a:t>In this method, we give the document or software programs to others and ask them to review those documents or software programs where we expect their views about the quality of our product and also expect them to find the faults in the program/document. </a:t>
            </a:r>
          </a:p>
          <a:p>
            <a:pPr marL="514350" indent="-514350">
              <a:buAutoNum type="arabicPeriod"/>
            </a:pPr>
            <a:r>
              <a:rPr lang="en-US" dirty="0" smtClean="0"/>
              <a:t>The activities that are involved in this method may include SRS document verification, SDD verification, and program verification. In this method, the reviewers may also prepare a short report on their observations or findings, etc.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b="1" dirty="0" smtClean="0">
                <a:solidFill>
                  <a:srgbClr val="FF0000"/>
                </a:solidFill>
              </a:rPr>
              <a:t>2. Walk-through –</a:t>
            </a:r>
            <a:r>
              <a:rPr lang="en-US" b="1" dirty="0" smtClean="0"/>
              <a:t> </a:t>
            </a:r>
            <a:r>
              <a:rPr lang="en-US" dirty="0" smtClean="0"/>
              <a:t/>
            </a:r>
            <a:br>
              <a:rPr lang="en-US" dirty="0" smtClean="0"/>
            </a:br>
            <a:r>
              <a:rPr lang="en-US" dirty="0" smtClean="0"/>
              <a:t>Walk-</a:t>
            </a:r>
            <a:r>
              <a:rPr lang="en-US" dirty="0" err="1" smtClean="0"/>
              <a:t>throughs</a:t>
            </a:r>
            <a:r>
              <a:rPr lang="en-US" dirty="0" smtClean="0"/>
              <a:t> are the formal and very systematic type of verification method as compared to peer-review. In a walkthrough, the author of the software document presents the document to other persons which can range from 2 to 7. Participants are not expected to prepare anything. </a:t>
            </a:r>
          </a:p>
          <a:p>
            <a:r>
              <a:rPr lang="en-US" dirty="0" smtClean="0"/>
              <a:t>The presenter is responsible for preparing the meeting. The document(s) is/are distributed to all participants. At the time of the meeting of the walk-through, the author introduces the content in order to make them familiar with it and all the participants are free to ask their doubts.</a:t>
            </a:r>
            <a:endParaRPr lang="en-US" b="1" dirty="0">
              <a:solidFill>
                <a:srgbClr val="00206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lnSpcReduction="10000"/>
          </a:bodyPr>
          <a:lstStyle/>
          <a:p>
            <a:r>
              <a:rPr lang="en-US" b="1" dirty="0" smtClean="0">
                <a:solidFill>
                  <a:srgbClr val="FF0000"/>
                </a:solidFill>
              </a:rPr>
              <a:t>3. Inspections –</a:t>
            </a:r>
            <a:r>
              <a:rPr lang="en-US" dirty="0" smtClean="0"/>
              <a:t/>
            </a:r>
            <a:br>
              <a:rPr lang="en-US" dirty="0" smtClean="0"/>
            </a:br>
            <a:r>
              <a:rPr lang="en-US" dirty="0" smtClean="0"/>
              <a:t>Inspections are the most structured and most formal type of verification method and are commonly known as inspections. A team of three to six participants is constituted which is led by an impartial moderator. </a:t>
            </a:r>
          </a:p>
          <a:p>
            <a:r>
              <a:rPr lang="en-US" dirty="0" smtClean="0"/>
              <a:t>Every person in the group participates openly, actively, and follows the rules about how such a review is to be conducted. </a:t>
            </a:r>
          </a:p>
          <a:p>
            <a:r>
              <a:rPr lang="en-US" dirty="0" smtClean="0"/>
              <a:t>Everyone may get time to express their views, potential faults, and critical areas. After the meeting, a final report is prepared after incorporating necessary suggestions by the moderator.</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sz="2800" dirty="0" smtClean="0"/>
              <a:t>Hence, Verification is likely more effective than validation but it may find some faults that are somewhat impossible to find during the validation process. But at the same time, it allows us to find faults at the earliest possible phase/time of software development.</a:t>
            </a:r>
          </a:p>
          <a:p>
            <a:r>
              <a:rPr lang="en-IN" sz="2800" dirty="0" smtClean="0">
                <a:solidFill>
                  <a:srgbClr val="FF0000"/>
                </a:solidFill>
                <a:latin typeface="Aharoni"/>
              </a:rPr>
              <a:t>Another Point of view types of verification:-</a:t>
            </a:r>
          </a:p>
          <a:p>
            <a:r>
              <a:rPr lang="en-US" sz="2800" u="sng" dirty="0" smtClean="0">
                <a:solidFill>
                  <a:srgbClr val="FF0000"/>
                </a:solidFill>
              </a:rPr>
              <a:t>1. Verification by Test</a:t>
            </a:r>
          </a:p>
          <a:p>
            <a:r>
              <a:rPr lang="en-US" sz="2800" u="sng" dirty="0" smtClean="0">
                <a:solidFill>
                  <a:srgbClr val="FF0000"/>
                </a:solidFill>
              </a:rPr>
              <a:t>2. Verification by Demonstration</a:t>
            </a:r>
          </a:p>
          <a:p>
            <a:r>
              <a:rPr lang="en-US" sz="2800" u="sng" dirty="0" smtClean="0">
                <a:solidFill>
                  <a:srgbClr val="FF0000"/>
                </a:solidFill>
              </a:rPr>
              <a:t>3. Verification by Analysis</a:t>
            </a:r>
            <a:r>
              <a:rPr lang="en-US" sz="2800" dirty="0" smtClean="0">
                <a:solidFill>
                  <a:srgbClr val="FF0000"/>
                </a:solidFill>
              </a:rPr>
              <a:t> </a:t>
            </a:r>
          </a:p>
          <a:p>
            <a:r>
              <a:rPr lang="en-US" sz="2800" u="sng" dirty="0" smtClean="0">
                <a:solidFill>
                  <a:srgbClr val="FF0000"/>
                </a:solidFill>
              </a:rPr>
              <a:t>4. Verification by Inspection</a:t>
            </a:r>
            <a:endParaRPr lang="en-US" sz="2800" dirty="0">
              <a:solidFill>
                <a:srgbClr val="FF0000"/>
              </a:solidFill>
              <a:latin typeface="Aharon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28600"/>
            <a:ext cx="9144000" cy="7086600"/>
          </a:xfrm>
        </p:spPr>
        <p:style>
          <a:lnRef idx="1">
            <a:schemeClr val="accent5"/>
          </a:lnRef>
          <a:fillRef idx="2">
            <a:schemeClr val="accent5"/>
          </a:fillRef>
          <a:effectRef idx="1">
            <a:schemeClr val="accent5"/>
          </a:effectRef>
          <a:fontRef idx="minor">
            <a:schemeClr val="dk1"/>
          </a:fontRef>
        </p:style>
        <p:txBody>
          <a:bodyPr>
            <a:normAutofit fontScale="92500"/>
          </a:bodyPr>
          <a:lstStyle/>
          <a:p>
            <a:r>
              <a:rPr lang="en-US" sz="3600" dirty="0" smtClean="0">
                <a:solidFill>
                  <a:srgbClr val="FF0000"/>
                </a:solidFill>
              </a:rPr>
              <a:t>Broad scope and classification:-</a:t>
            </a:r>
          </a:p>
          <a:p>
            <a:r>
              <a:rPr lang="en-US" dirty="0" smtClean="0"/>
              <a:t>A broad definition of verification makes it equivalent to </a:t>
            </a:r>
            <a:r>
              <a:rPr lang="en-US" dirty="0" smtClean="0">
                <a:hlinkClick r:id="rId2" tooltip="Software testing"/>
              </a:rPr>
              <a:t>software testing</a:t>
            </a:r>
            <a:r>
              <a:rPr lang="en-US" dirty="0" smtClean="0"/>
              <a:t>. In that case, there are two fundamental approaches to verification:</a:t>
            </a:r>
          </a:p>
          <a:p>
            <a:r>
              <a:rPr lang="en-US" i="1" dirty="0" smtClean="0">
                <a:solidFill>
                  <a:srgbClr val="FF0000"/>
                </a:solidFill>
              </a:rPr>
              <a:t>Dynamic verification</a:t>
            </a:r>
            <a:r>
              <a:rPr lang="en-US" dirty="0" smtClean="0"/>
              <a:t>, also known as experimentation, dynamic testing or, simply testing. - This is good for finding faults (software bugs).</a:t>
            </a:r>
          </a:p>
          <a:p>
            <a:r>
              <a:rPr lang="en-US" i="1" dirty="0" smtClean="0">
                <a:solidFill>
                  <a:srgbClr val="FF0000"/>
                </a:solidFill>
              </a:rPr>
              <a:t>Static verification</a:t>
            </a:r>
            <a:r>
              <a:rPr lang="en-US" dirty="0" smtClean="0">
                <a:solidFill>
                  <a:srgbClr val="FF0000"/>
                </a:solidFill>
              </a:rPr>
              <a:t>, </a:t>
            </a:r>
            <a:r>
              <a:rPr lang="en-US" dirty="0" smtClean="0"/>
              <a:t>also known as analysis or, static testing - </a:t>
            </a:r>
          </a:p>
          <a:p>
            <a:r>
              <a:rPr lang="en-US" dirty="0" smtClean="0"/>
              <a:t>This is useful for proving the correctness of a program. Although it may result in false positives when there are one or more conflicts between the process a software really does and what the static verification assumes it does.</a:t>
            </a:r>
          </a:p>
          <a:p>
            <a:pPr lvl="0"/>
            <a:endParaRPr lang="en-IN" dirty="0">
              <a:latin typeface="Aparajita" pitchFamily="34" charset="0"/>
              <a:cs typeface="Aparajita"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9144000" cy="6858000"/>
          </a:xfrm>
        </p:spPr>
        <p:style>
          <a:lnRef idx="1">
            <a:schemeClr val="accent5"/>
          </a:lnRef>
          <a:fillRef idx="2">
            <a:schemeClr val="accent5"/>
          </a:fillRef>
          <a:effectRef idx="1">
            <a:schemeClr val="accent5"/>
          </a:effectRef>
          <a:fontRef idx="minor">
            <a:schemeClr val="dk1"/>
          </a:fontRef>
        </p:style>
        <p:txBody>
          <a:bodyPr>
            <a:normAutofit fontScale="70000" lnSpcReduction="20000"/>
          </a:bodyPr>
          <a:lstStyle/>
          <a:p>
            <a:r>
              <a:rPr lang="en-US" sz="5700" dirty="0" smtClean="0">
                <a:solidFill>
                  <a:srgbClr val="FF0000"/>
                </a:solidFill>
              </a:rPr>
              <a:t>Dynamic verification </a:t>
            </a:r>
            <a:r>
              <a:rPr lang="en-US" sz="5700" dirty="0" smtClean="0"/>
              <a:t>(Test</a:t>
            </a:r>
            <a:r>
              <a:rPr lang="en-US" dirty="0" smtClean="0"/>
              <a:t>):-</a:t>
            </a:r>
          </a:p>
          <a:p>
            <a:r>
              <a:rPr lang="en-US" dirty="0" smtClean="0"/>
              <a:t>Dynamic verification is performed during the execution of software, and dynamically checks its behavior; it is commonly known as the Test phase. Verification is a Review Process. Depending on the scope of tests, we can categorize them in three families:</a:t>
            </a:r>
          </a:p>
          <a:p>
            <a:r>
              <a:rPr lang="en-US" i="1" dirty="0" smtClean="0">
                <a:solidFill>
                  <a:srgbClr val="FF0000"/>
                </a:solidFill>
              </a:rPr>
              <a:t>Test in the small</a:t>
            </a:r>
            <a:r>
              <a:rPr lang="en-US" dirty="0" smtClean="0"/>
              <a:t>: a test that checks a single function or class (Unit test)</a:t>
            </a:r>
          </a:p>
          <a:p>
            <a:r>
              <a:rPr lang="en-US" i="1" dirty="0" smtClean="0">
                <a:solidFill>
                  <a:srgbClr val="FF0000"/>
                </a:solidFill>
              </a:rPr>
              <a:t>Test in the large</a:t>
            </a:r>
            <a:r>
              <a:rPr lang="en-US" dirty="0" smtClean="0"/>
              <a:t>: a test that checks a group of classes, such as</a:t>
            </a:r>
          </a:p>
          <a:p>
            <a:pPr lvl="1"/>
            <a:r>
              <a:rPr lang="en-US" dirty="0" smtClean="0"/>
              <a:t>Module test (a single module)</a:t>
            </a:r>
          </a:p>
          <a:p>
            <a:pPr lvl="1"/>
            <a:r>
              <a:rPr lang="en-US" dirty="0" smtClean="0"/>
              <a:t>Integration test (more than one module)</a:t>
            </a:r>
          </a:p>
          <a:p>
            <a:pPr lvl="1"/>
            <a:r>
              <a:rPr lang="en-US" dirty="0" smtClean="0"/>
              <a:t>System test (the entire system)</a:t>
            </a:r>
          </a:p>
          <a:p>
            <a:r>
              <a:rPr lang="en-US" i="1" dirty="0" smtClean="0">
                <a:solidFill>
                  <a:srgbClr val="FF0000"/>
                </a:solidFill>
              </a:rPr>
              <a:t>Acceptance test</a:t>
            </a:r>
            <a:r>
              <a:rPr lang="en-US" dirty="0" smtClean="0"/>
              <a:t>: a formal test defined to check acceptance criteria for a software</a:t>
            </a:r>
          </a:p>
          <a:p>
            <a:pPr lvl="1"/>
            <a:r>
              <a:rPr lang="en-US" dirty="0" smtClean="0">
                <a:solidFill>
                  <a:srgbClr val="FF0000"/>
                </a:solidFill>
              </a:rPr>
              <a:t>Functional test</a:t>
            </a:r>
          </a:p>
          <a:p>
            <a:pPr lvl="1"/>
            <a:r>
              <a:rPr lang="en-US" dirty="0" smtClean="0">
                <a:solidFill>
                  <a:srgbClr val="FF0000"/>
                </a:solidFill>
              </a:rPr>
              <a:t>Non functional test </a:t>
            </a:r>
            <a:r>
              <a:rPr lang="en-US" dirty="0" smtClean="0"/>
              <a:t>(performance, stress test)</a:t>
            </a:r>
          </a:p>
          <a:p>
            <a:r>
              <a:rPr lang="en-US" dirty="0" smtClean="0"/>
              <a:t>The aim of software dynamic verification is to find the errors introduced by an activity (for example, having a medical software to analyze bio-chemical data); or by the repetitive performance of one or more activities (such as a stress test for a web server, i.e. check if the current product of the activity is as correct as it was at the beginning of the activity)</a:t>
            </a:r>
            <a:endParaRPr lang="en-US" dirty="0"/>
          </a:p>
        </p:txBody>
      </p:sp>
    </p:spTree>
    <p:extLst>
      <p:ext uri="{BB962C8B-B14F-4D97-AF65-F5344CB8AC3E}">
        <p14:creationId xmlns="" xmlns:p14="http://schemas.microsoft.com/office/powerpoint/2010/main" val="192130148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4"/>
          </a:lnRef>
          <a:fillRef idx="2">
            <a:schemeClr val="accent4"/>
          </a:fillRef>
          <a:effectRef idx="1">
            <a:schemeClr val="accent4"/>
          </a:effectRef>
          <a:fontRef idx="minor">
            <a:schemeClr val="dk1"/>
          </a:fontRef>
        </p:style>
        <p:txBody>
          <a:bodyPr>
            <a:normAutofit fontScale="92500" lnSpcReduction="20000"/>
          </a:bodyPr>
          <a:lstStyle/>
          <a:p>
            <a:r>
              <a:rPr lang="en-US" dirty="0" smtClean="0">
                <a:solidFill>
                  <a:srgbClr val="FF0000"/>
                </a:solidFill>
              </a:rPr>
              <a:t>Static verification (Analysis</a:t>
            </a:r>
            <a:r>
              <a:rPr lang="en-US" dirty="0" smtClean="0"/>
              <a:t>)</a:t>
            </a:r>
          </a:p>
          <a:p>
            <a:r>
              <a:rPr lang="en-US" dirty="0" smtClean="0"/>
              <a:t>Static verification is the process of checking that software meets requirements by inspecting the code before it runs. For example:</a:t>
            </a:r>
          </a:p>
          <a:p>
            <a:r>
              <a:rPr lang="en-US" i="1" dirty="0" smtClean="0">
                <a:hlinkClick r:id="rId2" tooltip="Code conventions"/>
              </a:rPr>
              <a:t>Code conventions</a:t>
            </a:r>
            <a:r>
              <a:rPr lang="en-US" i="1" dirty="0" smtClean="0"/>
              <a:t> verification</a:t>
            </a:r>
            <a:endParaRPr lang="en-US" dirty="0" smtClean="0"/>
          </a:p>
          <a:p>
            <a:r>
              <a:rPr lang="en-US" i="1" dirty="0" smtClean="0"/>
              <a:t>Bad practices (</a:t>
            </a:r>
            <a:r>
              <a:rPr lang="en-US" i="1" dirty="0" smtClean="0">
                <a:hlinkClick r:id="rId3" tooltip="Anti-pattern"/>
              </a:rPr>
              <a:t>anti-pattern</a:t>
            </a:r>
            <a:r>
              <a:rPr lang="en-US" i="1" dirty="0" smtClean="0"/>
              <a:t>) detection</a:t>
            </a:r>
            <a:endParaRPr lang="en-US" dirty="0" smtClean="0"/>
          </a:p>
          <a:p>
            <a:r>
              <a:rPr lang="en-US" dirty="0" smtClean="0">
                <a:hlinkClick r:id="rId4" tooltip="Software metric"/>
              </a:rPr>
              <a:t>Software metrics</a:t>
            </a:r>
            <a:r>
              <a:rPr lang="en-US" dirty="0" smtClean="0"/>
              <a:t> calculation</a:t>
            </a:r>
          </a:p>
          <a:p>
            <a:r>
              <a:rPr lang="en-US" dirty="0" smtClean="0">
                <a:hlinkClick r:id="rId5" tooltip="Formal verification"/>
              </a:rPr>
              <a:t>Formal verification</a:t>
            </a:r>
            <a:endParaRPr lang="en-US" dirty="0" smtClean="0"/>
          </a:p>
          <a:p>
            <a:r>
              <a:rPr lang="en-US" dirty="0" smtClean="0"/>
              <a:t>Verification by Analysis - The analysis verification method applies to verification by investigation, mathematical calculations, logical evaluation, and calculations using classical textbook methods or accepted general use computer methods. Analysis includes sampling and correlating measured data and observed test results with calculated expected values to establish conformance with requirements.</a:t>
            </a:r>
          </a:p>
          <a:p>
            <a:endParaRPr lang="en-US" dirty="0" smtClean="0">
              <a:latin typeface="Aparajita" pitchFamily="34" charset="0"/>
              <a:cs typeface="Aparajita" pitchFamily="34" charset="0"/>
            </a:endParaRPr>
          </a:p>
        </p:txBody>
      </p:sp>
    </p:spTree>
    <p:extLst>
      <p:ext uri="{BB962C8B-B14F-4D97-AF65-F5344CB8AC3E}">
        <p14:creationId xmlns="" xmlns:p14="http://schemas.microsoft.com/office/powerpoint/2010/main" val="214013693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4"/>
          </a:lnRef>
          <a:fillRef idx="2">
            <a:schemeClr val="accent4"/>
          </a:fillRef>
          <a:effectRef idx="1">
            <a:schemeClr val="accent4"/>
          </a:effectRef>
          <a:fontRef idx="minor">
            <a:schemeClr val="dk1"/>
          </a:fontRef>
        </p:style>
        <p:txBody>
          <a:bodyPr>
            <a:normAutofit lnSpcReduction="10000"/>
          </a:bodyPr>
          <a:lstStyle/>
          <a:p>
            <a:pPr fontAlgn="base"/>
            <a:r>
              <a:rPr lang="en-US" b="1" dirty="0" smtClean="0">
                <a:solidFill>
                  <a:srgbClr val="FF0000"/>
                </a:solidFill>
              </a:rPr>
              <a:t>OR -Verification:</a:t>
            </a:r>
            <a:r>
              <a:rPr lang="en-US" dirty="0" smtClean="0"/>
              <a:t/>
            </a:r>
            <a:br>
              <a:rPr lang="en-US" dirty="0" smtClean="0"/>
            </a:br>
            <a:r>
              <a:rPr lang="en-US" dirty="0" smtClean="0"/>
              <a:t>Verification is the process of checking that a software achieves its goal without any bugs. It is the process to ensure whether the product that is developed is right or not. It verifies whether the developed product fulfills the requirements that we have.</a:t>
            </a:r>
            <a:br>
              <a:rPr lang="en-US" dirty="0" smtClean="0"/>
            </a:br>
            <a:r>
              <a:rPr lang="en-US" dirty="0" smtClean="0"/>
              <a:t>Verification is </a:t>
            </a:r>
            <a:r>
              <a:rPr lang="en-US" b="1" dirty="0" smtClean="0"/>
              <a:t>Static Testing</a:t>
            </a:r>
            <a:r>
              <a:rPr lang="en-US" dirty="0" smtClean="0"/>
              <a:t>.</a:t>
            </a:r>
          </a:p>
          <a:p>
            <a:pPr fontAlgn="base"/>
            <a:r>
              <a:rPr lang="en-US" dirty="0" smtClean="0"/>
              <a:t>Activities involved in verification:</a:t>
            </a:r>
          </a:p>
          <a:p>
            <a:pPr fontAlgn="base"/>
            <a:r>
              <a:rPr lang="en-US" dirty="0" smtClean="0"/>
              <a:t>Inspections</a:t>
            </a:r>
          </a:p>
          <a:p>
            <a:pPr fontAlgn="base"/>
            <a:r>
              <a:rPr lang="en-US" dirty="0" smtClean="0"/>
              <a:t>Reviews</a:t>
            </a:r>
          </a:p>
          <a:p>
            <a:pPr fontAlgn="base"/>
            <a:r>
              <a:rPr lang="en-US" dirty="0" smtClean="0"/>
              <a:t>Walkthroughs</a:t>
            </a:r>
          </a:p>
          <a:p>
            <a:pPr fontAlgn="base"/>
            <a:r>
              <a:rPr lang="en-US" dirty="0" smtClean="0"/>
              <a:t>Desk-checking</a:t>
            </a:r>
          </a:p>
          <a:p>
            <a:pPr fontAlgn="base"/>
            <a:endParaRPr lang="en-US" dirty="0" smtClean="0"/>
          </a:p>
        </p:txBody>
      </p:sp>
    </p:spTree>
    <p:extLst>
      <p:ext uri="{BB962C8B-B14F-4D97-AF65-F5344CB8AC3E}">
        <p14:creationId xmlns="" xmlns:p14="http://schemas.microsoft.com/office/powerpoint/2010/main" val="214013693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pPr>
              <a:buNone/>
            </a:pPr>
            <a:endParaRPr lang="en-US" dirty="0" smtClean="0"/>
          </a:p>
        </p:txBody>
      </p:sp>
      <p:pic>
        <p:nvPicPr>
          <p:cNvPr id="1026" name="Picture 2"/>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4"/>
          </a:lnRef>
          <a:fillRef idx="2">
            <a:schemeClr val="accent4"/>
          </a:fillRef>
          <a:effectRef idx="1">
            <a:schemeClr val="accent4"/>
          </a:effectRef>
          <a:fontRef idx="minor">
            <a:schemeClr val="dk1"/>
          </a:fontRef>
        </p:style>
        <p:txBody>
          <a:bodyPr>
            <a:normAutofit fontScale="92500" lnSpcReduction="20000"/>
          </a:bodyPr>
          <a:lstStyle/>
          <a:p>
            <a:pPr fontAlgn="base"/>
            <a:r>
              <a:rPr lang="en-US" b="1" dirty="0" smtClean="0">
                <a:solidFill>
                  <a:srgbClr val="C00000"/>
                </a:solidFill>
                <a:latin typeface="Aparajita" pitchFamily="34" charset="0"/>
                <a:cs typeface="Aparajita" pitchFamily="34" charset="0"/>
              </a:rPr>
              <a:t>Introduction to Software  Validation:-</a:t>
            </a:r>
            <a:r>
              <a:rPr lang="en-US" b="1" dirty="0" smtClean="0"/>
              <a:t> </a:t>
            </a:r>
            <a:r>
              <a:rPr lang="en-US" dirty="0" smtClean="0"/>
              <a:t/>
            </a:r>
            <a:br>
              <a:rPr lang="en-US" dirty="0" smtClean="0"/>
            </a:br>
            <a:r>
              <a:rPr lang="en-US" dirty="0" smtClean="0"/>
              <a:t>Validation is the process of checking whether the software product is up to the mark or in other words product has high level requirements. It is the process of checking the validation of product i.e. it checks what we are developing is the right product. it is validation of actual and expected product.</a:t>
            </a:r>
            <a:br>
              <a:rPr lang="en-US" dirty="0" smtClean="0"/>
            </a:br>
            <a:r>
              <a:rPr lang="en-US" dirty="0" smtClean="0"/>
              <a:t>Validation is the </a:t>
            </a:r>
            <a:r>
              <a:rPr lang="en-US" b="1" dirty="0" smtClean="0"/>
              <a:t>Dynamic Testing</a:t>
            </a:r>
            <a:r>
              <a:rPr lang="en-US" dirty="0" smtClean="0"/>
              <a:t>.</a:t>
            </a:r>
          </a:p>
          <a:p>
            <a:pPr fontAlgn="base"/>
            <a:r>
              <a:rPr lang="en-US" dirty="0" smtClean="0"/>
              <a:t>Activities involved in validation:</a:t>
            </a:r>
          </a:p>
          <a:p>
            <a:pPr fontAlgn="base"/>
            <a:r>
              <a:rPr lang="en-US" dirty="0" smtClean="0"/>
              <a:t>Black box testing</a:t>
            </a:r>
          </a:p>
          <a:p>
            <a:pPr fontAlgn="base"/>
            <a:r>
              <a:rPr lang="en-US" dirty="0" smtClean="0"/>
              <a:t>White box testing</a:t>
            </a:r>
          </a:p>
          <a:p>
            <a:pPr fontAlgn="base"/>
            <a:r>
              <a:rPr lang="en-US" dirty="0" smtClean="0"/>
              <a:t>Unit testing</a:t>
            </a:r>
          </a:p>
          <a:p>
            <a:pPr fontAlgn="base"/>
            <a:r>
              <a:rPr lang="en-US" dirty="0" smtClean="0"/>
              <a:t>Integration testing</a:t>
            </a:r>
          </a:p>
          <a:p>
            <a:pPr fontAlgn="base"/>
            <a:endParaRPr lang="en-US" dirty="0" smtClean="0"/>
          </a:p>
          <a:p>
            <a:pPr algn="ctr"/>
            <a:r>
              <a:rPr lang="en-US" b="1" dirty="0" smtClean="0">
                <a:solidFill>
                  <a:srgbClr val="FF0000"/>
                </a:solidFill>
              </a:rPr>
              <a:t>Note:</a:t>
            </a:r>
            <a:r>
              <a:rPr lang="en-US" dirty="0" smtClean="0"/>
              <a:t> Verification is followed by Validation.</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85000" lnSpcReduction="10000"/>
          </a:bodyPr>
          <a:lstStyle/>
          <a:p>
            <a:r>
              <a:rPr lang="en-US" sz="3300" u="sng" dirty="0" smtClean="0">
                <a:solidFill>
                  <a:srgbClr val="FF0000"/>
                </a:solidFill>
              </a:rPr>
              <a:t>In short (Methods Or approaches of Software verification)</a:t>
            </a:r>
          </a:p>
          <a:p>
            <a:r>
              <a:rPr lang="en-US" sz="2800" dirty="0" smtClean="0"/>
              <a:t>The process of software verification can be performed through following approaches:</a:t>
            </a:r>
          </a:p>
          <a:p>
            <a:r>
              <a:rPr lang="en-US" sz="2800" b="1" dirty="0" smtClean="0">
                <a:solidFill>
                  <a:srgbClr val="FF0000"/>
                </a:solidFill>
              </a:rPr>
              <a:t>Reviews</a:t>
            </a:r>
            <a:r>
              <a:rPr lang="en-US" sz="2800" b="1" dirty="0" smtClean="0"/>
              <a:t>:</a:t>
            </a:r>
            <a:r>
              <a:rPr lang="en-US" sz="2800" dirty="0" smtClean="0"/>
              <a:t> It is an organized way of examining the documents such as design specifications, requirements specifications, code, etc. by one or more than one person, to explore defects in the software.</a:t>
            </a:r>
          </a:p>
          <a:p>
            <a:r>
              <a:rPr lang="en-US" sz="2800" b="1" dirty="0" smtClean="0">
                <a:solidFill>
                  <a:srgbClr val="FF0000"/>
                </a:solidFill>
              </a:rPr>
              <a:t>Walkthroughs</a:t>
            </a:r>
            <a:r>
              <a:rPr lang="en-US" sz="2800" b="1" dirty="0" smtClean="0"/>
              <a:t>:</a:t>
            </a:r>
            <a:r>
              <a:rPr lang="en-US" sz="2800" dirty="0" smtClean="0"/>
              <a:t> It is, usually an informal way of evaluating the software product, where different teams, whether associated or non-associated with the software development, goes through the software product and have discussion on possible errors and other defects, present in the software.</a:t>
            </a:r>
          </a:p>
          <a:p>
            <a:r>
              <a:rPr lang="en-US" sz="2800" b="1" u="sng" dirty="0" smtClean="0">
                <a:solidFill>
                  <a:srgbClr val="FF0000"/>
                </a:solidFill>
                <a:hlinkClick r:id="rId2"/>
              </a:rPr>
              <a:t>Inspectio</a:t>
            </a:r>
            <a:r>
              <a:rPr lang="en-US" sz="2800" b="1" u="sng" dirty="0" smtClean="0">
                <a:hlinkClick r:id="rId2"/>
              </a:rPr>
              <a:t>n</a:t>
            </a:r>
            <a:r>
              <a:rPr lang="en-US" sz="2800" b="1" dirty="0" smtClean="0"/>
              <a:t>:</a:t>
            </a:r>
            <a:r>
              <a:rPr lang="en-US" sz="2800" dirty="0" smtClean="0"/>
              <a:t> It is one of the preferred and most common methods of the </a:t>
            </a:r>
            <a:r>
              <a:rPr lang="en-US" sz="2800" b="1" u="sng" dirty="0" smtClean="0">
                <a:hlinkClick r:id="rId3"/>
              </a:rPr>
              <a:t>static testing</a:t>
            </a:r>
            <a:r>
              <a:rPr lang="en-US" sz="2800" dirty="0" smtClean="0"/>
              <a:t>. </a:t>
            </a:r>
          </a:p>
          <a:p>
            <a:r>
              <a:rPr lang="en-US" sz="2800" dirty="0" smtClean="0"/>
              <a:t>Unlike, walkthroughs, it's a formal way of testing the software, through examination of documents, carried out by the skilled moderator. This method usually, checklist, rules, entry &amp; exist criteria along with preparation and sharing of reports, in order to take corrective &amp; necessary actions.</a:t>
            </a:r>
          </a:p>
          <a:p>
            <a:pPr lvl="0"/>
            <a:endParaRPr lang="en-IN" sz="2800" b="1" dirty="0">
              <a:latin typeface="Aparajita" pitchFamily="34" charset="0"/>
              <a:cs typeface="Aparajita"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92500" lnSpcReduction="20000"/>
          </a:bodyPr>
          <a:lstStyle/>
          <a:p>
            <a:r>
              <a:rPr lang="en-US" u="sng" dirty="0" smtClean="0">
                <a:solidFill>
                  <a:srgbClr val="FF0000"/>
                </a:solidFill>
              </a:rPr>
              <a:t>Advantages of Software Verification:</a:t>
            </a:r>
          </a:p>
          <a:p>
            <a:r>
              <a:rPr lang="en-US" dirty="0" smtClean="0"/>
              <a:t>The advantages offered by software verification are numerous. It is among those processes, which makes the process of software development easy and allows the team to create an end product that conforms to the rules and regulations, as well as customer’s requirements. Other advantages of this process are:</a:t>
            </a:r>
          </a:p>
          <a:p>
            <a:r>
              <a:rPr lang="en-US" dirty="0" smtClean="0"/>
              <a:t>It helps reduce the number of defects found during the later stages of development.</a:t>
            </a:r>
          </a:p>
          <a:p>
            <a:r>
              <a:rPr lang="en-US" dirty="0" smtClean="0"/>
              <a:t>Verifying the software in its initial development phase allows the team to get a better understanding of the product.</a:t>
            </a:r>
          </a:p>
          <a:p>
            <a:r>
              <a:rPr lang="en-US" dirty="0" smtClean="0"/>
              <a:t>It helps reduce the chances of system failures and crashes.</a:t>
            </a:r>
          </a:p>
          <a:p>
            <a:r>
              <a:rPr lang="en-US" dirty="0" smtClean="0"/>
              <a:t>Assists the team in developing a software product that conforms to the specified requirements and design specifications.</a:t>
            </a:r>
          </a:p>
          <a:p>
            <a:endParaRPr lang="en-US" dirty="0"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92500"/>
          </a:bodyPr>
          <a:lstStyle/>
          <a:p>
            <a:r>
              <a:rPr lang="en-US" sz="3600" dirty="0" smtClean="0">
                <a:solidFill>
                  <a:srgbClr val="FF0000"/>
                </a:solidFill>
              </a:rPr>
              <a:t>Introduction to Software Validation:</a:t>
            </a:r>
            <a:r>
              <a:rPr lang="en-US" sz="2800" dirty="0" smtClean="0"/>
              <a:t> </a:t>
            </a:r>
          </a:p>
          <a:p>
            <a:r>
              <a:rPr lang="en-US" sz="2800" b="1" dirty="0" smtClean="0"/>
              <a:t>Software Validation</a:t>
            </a:r>
            <a:r>
              <a:rPr lang="en-US" sz="2800" dirty="0" smtClean="0"/>
              <a:t> plays an immensely significant role during the </a:t>
            </a:r>
            <a:r>
              <a:rPr lang="en-US" sz="2800" dirty="0" smtClean="0">
                <a:hlinkClick r:id="rId2"/>
              </a:rPr>
              <a:t>software development life cycle (SDLC)</a:t>
            </a:r>
            <a:r>
              <a:rPr lang="en-US" sz="2800" dirty="0" smtClean="0"/>
              <a:t> and helps the testing and development teams to create a quality product. Therefore, in this article, we shall discuss the various aspects of software validation.</a:t>
            </a:r>
          </a:p>
          <a:p>
            <a:r>
              <a:rPr lang="en-US" sz="2800" b="1" dirty="0" smtClean="0"/>
              <a:t>The process of evaluating software during or at the end of the development process to determine whether it satisfies specified requirements.</a:t>
            </a:r>
          </a:p>
          <a:p>
            <a:r>
              <a:rPr lang="en-US" sz="2800" dirty="0" smtClean="0"/>
              <a:t>The process of evaluating software during the development process or at the end of the development process to determine whether it satisfies specified business requirements.</a:t>
            </a:r>
          </a:p>
          <a:p>
            <a:r>
              <a:rPr lang="en-US" sz="2800" dirty="0" smtClean="0"/>
              <a:t>Validation Testing ensures that the product actually meets the client's needs. It can also be defined as to demonstrate that the product fulfills its intended use when deployed on appropriate environment.</a:t>
            </a:r>
          </a:p>
          <a:p>
            <a:endParaRPr lang="en-US" sz="2800" dirty="0"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10000"/>
          </a:bodyPr>
          <a:lstStyle/>
          <a:p>
            <a:r>
              <a:rPr lang="en-US" u="sng" dirty="0" smtClean="0">
                <a:solidFill>
                  <a:srgbClr val="C00000"/>
                </a:solidFill>
              </a:rPr>
              <a:t>Or - What is Software Validation?</a:t>
            </a:r>
          </a:p>
          <a:p>
            <a:r>
              <a:rPr lang="en-US" dirty="0" smtClean="0"/>
              <a:t>Software Validation is a process of evaluating software product, so as to ensure that the software meets the pre-defined and specified business requirements as well as the end users/customers' demands and expectations.</a:t>
            </a:r>
          </a:p>
          <a:p>
            <a:r>
              <a:rPr lang="en-US" dirty="0" smtClean="0"/>
              <a:t>It is basically, performed with the intent to check that whether the developed software is built as per pre-decided software requirement specifications (SRS) and if it caters to fulfill the customers' actual needs in the real environment.</a:t>
            </a:r>
          </a:p>
          <a:p>
            <a:r>
              <a:rPr lang="en-US" dirty="0" smtClean="0"/>
              <a:t>Both, the </a:t>
            </a:r>
            <a:r>
              <a:rPr lang="en-US" b="1" dirty="0" smtClean="0"/>
              <a:t>verification</a:t>
            </a:r>
            <a:r>
              <a:rPr lang="en-US" dirty="0" smtClean="0"/>
              <a:t> and validation is a software testing activity, and verification is followed by the validation. Validation is usually carried out at the end of the software development.</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20000"/>
          </a:bodyPr>
          <a:lstStyle/>
          <a:p>
            <a:r>
              <a:rPr lang="en-US" u="sng" dirty="0" smtClean="0">
                <a:solidFill>
                  <a:srgbClr val="C00000"/>
                </a:solidFill>
              </a:rPr>
              <a:t>Software Validation Procedure:</a:t>
            </a:r>
          </a:p>
          <a:p>
            <a:r>
              <a:rPr lang="en-US" dirty="0" smtClean="0"/>
              <a:t>As stated earlier, validation is the actual testing performed on the software product. Thus, it requires proper testing strategy. According to ISO/IEC 12207:2008, validation process includes:</a:t>
            </a:r>
          </a:p>
          <a:p>
            <a:r>
              <a:rPr lang="en-US" dirty="0" smtClean="0">
                <a:solidFill>
                  <a:srgbClr val="C00000"/>
                </a:solidFill>
              </a:rPr>
              <a:t>Gathering </a:t>
            </a:r>
            <a:r>
              <a:rPr lang="en-US" dirty="0" smtClean="0"/>
              <a:t>and analysis of the specifications and requirements.</a:t>
            </a:r>
          </a:p>
          <a:p>
            <a:r>
              <a:rPr lang="en-US" dirty="0" smtClean="0">
                <a:solidFill>
                  <a:srgbClr val="C00000"/>
                </a:solidFill>
              </a:rPr>
              <a:t>Based on specifications </a:t>
            </a:r>
            <a:r>
              <a:rPr lang="en-US" dirty="0" smtClean="0"/>
              <a:t>and requirements, preparation of test strategies, plans and cases, that seems fit for use.</a:t>
            </a:r>
          </a:p>
          <a:p>
            <a:r>
              <a:rPr lang="en-US" dirty="0" smtClean="0">
                <a:solidFill>
                  <a:srgbClr val="C00000"/>
                </a:solidFill>
              </a:rPr>
              <a:t>Go for testing </a:t>
            </a:r>
            <a:r>
              <a:rPr lang="en-US" dirty="0" smtClean="0"/>
              <a:t>the boundary values along with stress and functionalities test.</a:t>
            </a:r>
          </a:p>
          <a:p>
            <a:r>
              <a:rPr lang="en-US" dirty="0" smtClean="0">
                <a:solidFill>
                  <a:srgbClr val="C00000"/>
                </a:solidFill>
              </a:rPr>
              <a:t>Test the </a:t>
            </a:r>
            <a:r>
              <a:rPr lang="en-US" dirty="0" smtClean="0"/>
              <a:t>error message.</a:t>
            </a:r>
          </a:p>
          <a:p>
            <a:r>
              <a:rPr lang="en-US" dirty="0" smtClean="0">
                <a:solidFill>
                  <a:srgbClr val="C00000"/>
                </a:solidFill>
              </a:rPr>
              <a:t>Conducts software evaluation</a:t>
            </a:r>
            <a:r>
              <a:rPr lang="en-US" dirty="0" smtClean="0"/>
              <a:t>, as it ensures that the software meets the all pre-decided requirements and is acceptable for use.</a:t>
            </a:r>
          </a:p>
          <a:p>
            <a:endParaRPr lang="en-US"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dirty="0" smtClean="0">
                <a:solidFill>
                  <a:srgbClr val="FF0000"/>
                </a:solidFill>
              </a:rPr>
              <a:t>Activities:</a:t>
            </a:r>
          </a:p>
          <a:p>
            <a:r>
              <a:rPr lang="en-US" sz="2800" dirty="0" smtClean="0"/>
              <a:t>Unit Testing</a:t>
            </a:r>
          </a:p>
          <a:p>
            <a:r>
              <a:rPr lang="en-US" sz="2800" dirty="0" smtClean="0"/>
              <a:t>Integration Testing</a:t>
            </a:r>
          </a:p>
          <a:p>
            <a:r>
              <a:rPr lang="en-US" sz="2800" dirty="0" smtClean="0"/>
              <a:t>System Testing</a:t>
            </a:r>
          </a:p>
          <a:p>
            <a:r>
              <a:rPr lang="en-US" sz="2800" dirty="0" smtClean="0"/>
              <a:t>User Acceptance Testing</a:t>
            </a:r>
          </a:p>
          <a:p>
            <a:endParaRPr lang="en-IN" b="1" dirty="0"/>
          </a:p>
        </p:txBody>
      </p:sp>
      <p:pic>
        <p:nvPicPr>
          <p:cNvPr id="2050" name="Picture 2"/>
          <p:cNvPicPr>
            <a:picLocks noChangeAspect="1" noChangeArrowheads="1"/>
          </p:cNvPicPr>
          <p:nvPr/>
        </p:nvPicPr>
        <p:blipFill>
          <a:blip r:embed="rId2"/>
          <a:srcRect/>
          <a:stretch>
            <a:fillRect/>
          </a:stretch>
        </p:blipFill>
        <p:spPr bwMode="auto">
          <a:xfrm>
            <a:off x="4114799" y="0"/>
            <a:ext cx="5029201" cy="6858000"/>
          </a:xfrm>
          <a:prstGeom prst="rect">
            <a:avLst/>
          </a:prstGeom>
          <a:noFill/>
          <a:ln w="9525">
            <a:noFill/>
            <a:miter lim="800000"/>
            <a:headEnd/>
            <a:tailEnd/>
          </a:ln>
          <a:effectLst/>
        </p:spPr>
      </p:pic>
    </p:spTree>
    <p:extLst>
      <p:ext uri="{BB962C8B-B14F-4D97-AF65-F5344CB8AC3E}">
        <p14:creationId xmlns="" xmlns:p14="http://schemas.microsoft.com/office/powerpoint/2010/main" val="69833852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3"/>
          </a:lnRef>
          <a:fillRef idx="2">
            <a:schemeClr val="accent3"/>
          </a:fillRef>
          <a:effectRef idx="1">
            <a:schemeClr val="accent3"/>
          </a:effectRef>
          <a:fontRef idx="minor">
            <a:schemeClr val="dk1"/>
          </a:fontRef>
        </p:style>
        <p:txBody>
          <a:bodyPr>
            <a:normAutofit/>
          </a:bodyPr>
          <a:lstStyle/>
          <a:p>
            <a:pPr algn="ctr"/>
            <a:r>
              <a:rPr lang="en-US" sz="3600" u="sng" dirty="0" smtClean="0">
                <a:solidFill>
                  <a:srgbClr val="FF0000"/>
                </a:solidFill>
              </a:rPr>
              <a:t>Difference Between Software Verification and Validation:</a:t>
            </a:r>
          </a:p>
          <a:p>
            <a:pPr algn="just"/>
            <a:r>
              <a:rPr lang="en-US" sz="3600" dirty="0" smtClean="0"/>
              <a:t>Software verification and validation are two of the most important processes used for ensuring the quality and accuracy of the product. </a:t>
            </a:r>
          </a:p>
          <a:p>
            <a:pPr algn="just"/>
            <a:r>
              <a:rPr lang="en-US" sz="3600" dirty="0" smtClean="0"/>
              <a:t>However, these are usually confused by people and used interchangeably. </a:t>
            </a:r>
          </a:p>
          <a:p>
            <a:pPr algn="just"/>
            <a:r>
              <a:rPr lang="en-US" sz="3600" dirty="0" smtClean="0"/>
              <a:t>Hence, to help you here is a comparison between these two software testing techniques.</a:t>
            </a:r>
            <a:endParaRPr lang="en-US" sz="4000" dirty="0" smtClean="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152400" y="0"/>
          <a:ext cx="8991600" cy="6667500"/>
        </p:xfrm>
        <a:graphic>
          <a:graphicData uri="http://schemas.openxmlformats.org/drawingml/2006/table">
            <a:tbl>
              <a:tblPr firstRow="1" bandRow="1">
                <a:tableStyleId>{5C22544A-7EE6-4342-B048-85BDC9FD1C3A}</a:tableStyleId>
              </a:tblPr>
              <a:tblGrid>
                <a:gridCol w="4267200"/>
                <a:gridCol w="4724400"/>
              </a:tblGrid>
              <a:tr h="802952">
                <a:tc>
                  <a:txBody>
                    <a:bodyPr/>
                    <a:lstStyle/>
                    <a:p>
                      <a:pPr algn="ctr"/>
                      <a:r>
                        <a:rPr lang="en-US" sz="2800" b="1" i="1" dirty="0"/>
                        <a:t>Software Verification</a:t>
                      </a:r>
                      <a:endParaRPr lang="en-US" sz="2800" dirty="0"/>
                    </a:p>
                  </a:txBody>
                  <a:tcPr marL="95250" marR="95250" marT="95250" marB="95250" anchor="ctr"/>
                </a:tc>
                <a:tc>
                  <a:txBody>
                    <a:bodyPr/>
                    <a:lstStyle/>
                    <a:p>
                      <a:pPr algn="ctr"/>
                      <a:r>
                        <a:rPr lang="en-US" sz="2800" b="1" i="1" dirty="0"/>
                        <a:t>Software Validation</a:t>
                      </a:r>
                      <a:endParaRPr lang="en-US" sz="2800" dirty="0"/>
                    </a:p>
                  </a:txBody>
                  <a:tcPr marL="95250" marR="95250" marT="95250" marB="95250" anchor="ctr"/>
                </a:tc>
              </a:tr>
              <a:tr h="1635448">
                <a:tc>
                  <a:txBody>
                    <a:bodyPr/>
                    <a:lstStyle/>
                    <a:p>
                      <a:pPr algn="ctr"/>
                      <a:r>
                        <a:rPr lang="en-US" sz="2000" dirty="0"/>
                        <a:t>1. Software verification is the process of evaluating the development phase to ensure the accuracy of the software.</a:t>
                      </a:r>
                    </a:p>
                  </a:txBody>
                  <a:tcPr marL="95250" marR="95250" marT="95250" marB="95250" anchor="ctr"/>
                </a:tc>
                <a:tc>
                  <a:txBody>
                    <a:bodyPr/>
                    <a:lstStyle/>
                    <a:p>
                      <a:pPr algn="ctr"/>
                      <a:r>
                        <a:rPr lang="en-US" sz="2000" dirty="0"/>
                        <a:t>1. </a:t>
                      </a:r>
                      <a:r>
                        <a:rPr lang="en-US" sz="2000" b="1" u="sng" strike="noStrike" dirty="0">
                          <a:solidFill>
                            <a:srgbClr val="007BFF"/>
                          </a:solidFill>
                        </a:rPr>
                        <a:t>Software validation</a:t>
                      </a:r>
                      <a:r>
                        <a:rPr lang="en-US" sz="2000" dirty="0"/>
                        <a:t> evaluates the software during the development phase to ensure its compliance with business requirements.</a:t>
                      </a:r>
                    </a:p>
                  </a:txBody>
                  <a:tcPr marL="95250" marR="95250" marT="95250" marB="95250" anchor="ctr"/>
                </a:tc>
              </a:tr>
              <a:tr h="1219200">
                <a:tc>
                  <a:txBody>
                    <a:bodyPr/>
                    <a:lstStyle/>
                    <a:p>
                      <a:pPr algn="ctr"/>
                      <a:r>
                        <a:rPr lang="en-US" sz="2400" dirty="0"/>
                        <a:t>2. It is performed before the execution of software validation.</a:t>
                      </a:r>
                    </a:p>
                  </a:txBody>
                  <a:tcPr marL="95250" marR="95250" marT="95250" marB="95250" anchor="ctr"/>
                </a:tc>
                <a:tc>
                  <a:txBody>
                    <a:bodyPr/>
                    <a:lstStyle/>
                    <a:p>
                      <a:pPr algn="ctr"/>
                      <a:r>
                        <a:rPr lang="en-US" sz="2400" dirty="0"/>
                        <a:t>2. It is performed once the process of software verification is completed.</a:t>
                      </a:r>
                    </a:p>
                  </a:txBody>
                  <a:tcPr marL="95250" marR="95250" marT="95250" marB="95250" anchor="ctr"/>
                </a:tc>
              </a:tr>
              <a:tr h="1607820">
                <a:tc>
                  <a:txBody>
                    <a:bodyPr/>
                    <a:lstStyle/>
                    <a:p>
                      <a:pPr algn="ctr"/>
                      <a:r>
                        <a:rPr lang="en-US" sz="2400" dirty="0"/>
                        <a:t>3. Verification ensures the product is being developed as per the requirements and design specification.</a:t>
                      </a:r>
                    </a:p>
                  </a:txBody>
                  <a:tcPr marL="95250" marR="95250" marT="95250" marB="95250" anchor="ctr"/>
                </a:tc>
                <a:tc>
                  <a:txBody>
                    <a:bodyPr/>
                    <a:lstStyle/>
                    <a:p>
                      <a:pPr algn="ctr"/>
                      <a:r>
                        <a:rPr lang="en-US" sz="2400" dirty="0"/>
                        <a:t>3. Validation ensures that the software meets the user’s needs and is fit to be used by them.</a:t>
                      </a:r>
                    </a:p>
                  </a:txBody>
                  <a:tcPr marL="95250" marR="95250" marT="95250" marB="95250" anchor="ctr"/>
                </a:tc>
              </a:tr>
              <a:tr h="1276825">
                <a:tc>
                  <a:txBody>
                    <a:bodyPr/>
                    <a:lstStyle/>
                    <a:p>
                      <a:pPr algn="ctr"/>
                      <a:r>
                        <a:rPr lang="en-US" sz="2400" dirty="0"/>
                        <a:t>4. Evaluates plans, requirement specification, documents, </a:t>
                      </a:r>
                      <a:r>
                        <a:rPr lang="en-US" sz="2400" b="1" u="sng" strike="noStrike" dirty="0">
                          <a:solidFill>
                            <a:srgbClr val="007BFF"/>
                          </a:solidFill>
                        </a:rPr>
                        <a:t>test cases</a:t>
                      </a:r>
                      <a:r>
                        <a:rPr lang="en-US" sz="2400" u="none" strike="noStrike" dirty="0">
                          <a:solidFill>
                            <a:srgbClr val="007BFF"/>
                          </a:solidFill>
                        </a:rPr>
                        <a:t>, etc.</a:t>
                      </a:r>
                      <a:endParaRPr lang="en-US" sz="2400" dirty="0"/>
                    </a:p>
                  </a:txBody>
                  <a:tcPr marL="95250" marR="95250" marT="95250" marB="95250" anchor="ctr"/>
                </a:tc>
                <a:tc>
                  <a:txBody>
                    <a:bodyPr/>
                    <a:lstStyle/>
                    <a:p>
                      <a:pPr algn="ctr"/>
                      <a:r>
                        <a:rPr lang="en-US" sz="2400" dirty="0"/>
                        <a:t>4. Evaluates the software product to verify its readiness to be released.</a:t>
                      </a:r>
                    </a:p>
                  </a:txBody>
                  <a:tcPr marL="95250" marR="95250" marT="95250" marB="95250" anchor="ct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a:bodyPr>
          <a:lstStyle/>
          <a:p>
            <a:pPr algn="ctr"/>
            <a:r>
              <a:rPr lang="en-US" dirty="0" smtClean="0">
                <a:solidFill>
                  <a:srgbClr val="FF0000"/>
                </a:solidFill>
              </a:rPr>
              <a:t>Software Verification and Validation(V &amp; V )</a:t>
            </a:r>
          </a:p>
          <a:p>
            <a:r>
              <a:rPr lang="en-US" dirty="0" smtClean="0"/>
              <a:t>Verification and validation assure that a software system meets a user's needs.</a:t>
            </a:r>
          </a:p>
          <a:p>
            <a:pPr algn="ctr"/>
            <a:r>
              <a:rPr lang="en-US" dirty="0" smtClean="0">
                <a:solidFill>
                  <a:srgbClr val="FF0000"/>
                </a:solidFill>
              </a:rPr>
              <a:t>Verification: </a:t>
            </a:r>
          </a:p>
          <a:p>
            <a:pPr algn="ctr">
              <a:buNone/>
            </a:pPr>
            <a:r>
              <a:rPr lang="en-US" dirty="0" smtClean="0">
                <a:solidFill>
                  <a:srgbClr val="002060"/>
                </a:solidFill>
              </a:rPr>
              <a:t>"Are we building the product right?" </a:t>
            </a:r>
          </a:p>
          <a:p>
            <a:pPr algn="ctr">
              <a:buNone/>
            </a:pPr>
            <a:r>
              <a:rPr lang="en-US" dirty="0" smtClean="0"/>
              <a:t>The software should conform to its specification.</a:t>
            </a:r>
          </a:p>
          <a:p>
            <a:pPr algn="ctr"/>
            <a:r>
              <a:rPr lang="en-US" dirty="0" smtClean="0">
                <a:solidFill>
                  <a:srgbClr val="FF0000"/>
                </a:solidFill>
              </a:rPr>
              <a:t>Validation: </a:t>
            </a:r>
          </a:p>
          <a:p>
            <a:pPr algn="ctr"/>
            <a:r>
              <a:rPr lang="en-US" dirty="0" smtClean="0">
                <a:solidFill>
                  <a:srgbClr val="002060"/>
                </a:solidFill>
              </a:rPr>
              <a:t>"Are we building the right product?" </a:t>
            </a:r>
          </a:p>
          <a:p>
            <a:pPr algn="ctr"/>
            <a:r>
              <a:rPr lang="en-US" dirty="0" smtClean="0"/>
              <a:t>The software should do what the user really requires.</a:t>
            </a:r>
          </a:p>
        </p:txBody>
      </p:sp>
    </p:spTree>
    <p:extLst>
      <p:ext uri="{BB962C8B-B14F-4D97-AF65-F5344CB8AC3E}">
        <p14:creationId xmlns:p14="http://schemas.microsoft.com/office/powerpoint/2010/main" xmlns="" val="192130148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20000"/>
          </a:bodyPr>
          <a:lstStyle/>
          <a:p>
            <a:r>
              <a:rPr lang="en-US" sz="3500" u="sng" dirty="0" smtClean="0">
                <a:solidFill>
                  <a:srgbClr val="C00000"/>
                </a:solidFill>
              </a:rPr>
              <a:t>Why Software Validation is Required?</a:t>
            </a:r>
          </a:p>
          <a:p>
            <a:r>
              <a:rPr lang="en-US" dirty="0" smtClean="0"/>
              <a:t>From ensuring the fulfillment of particular requirements of a specific intended use to investigating any deviations from the established parameters, there are various reasons for performing software validation. Other reasons for implementing software validation are:</a:t>
            </a:r>
          </a:p>
          <a:p>
            <a:r>
              <a:rPr lang="en-US" dirty="0" smtClean="0"/>
              <a:t>It ensures that the software has been built in conformance with the requirements of the customer.</a:t>
            </a:r>
          </a:p>
          <a:p>
            <a:r>
              <a:rPr lang="en-US" dirty="0" smtClean="0"/>
              <a:t>Helps catch errors that were missed or overlooked during the software verification.</a:t>
            </a:r>
          </a:p>
          <a:p>
            <a:r>
              <a:rPr lang="en-US" dirty="0" smtClean="0"/>
              <a:t>Enables the team to build a software that fulfils users requirements.</a:t>
            </a:r>
          </a:p>
          <a:p>
            <a:r>
              <a:rPr lang="en-US" dirty="0" smtClean="0"/>
              <a:t>Execution of code comes under software validation.</a:t>
            </a:r>
          </a:p>
          <a:p>
            <a:r>
              <a:rPr lang="en-US" dirty="0" smtClean="0"/>
              <a:t>Helps improve the quality and value of the software product.</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pPr algn="ctr"/>
            <a:r>
              <a:rPr lang="en-US" dirty="0" smtClean="0">
                <a:solidFill>
                  <a:srgbClr val="C00000"/>
                </a:solidFill>
              </a:rPr>
              <a:t>Evolutionary validation, verification and certification</a:t>
            </a:r>
            <a:r>
              <a:rPr lang="en-US" dirty="0" smtClean="0"/>
              <a:t>: </a:t>
            </a:r>
          </a:p>
          <a:p>
            <a:pPr algn="ctr"/>
            <a:r>
              <a:rPr lang="en-US" dirty="0" smtClean="0">
                <a:solidFill>
                  <a:srgbClr val="002060"/>
                </a:solidFill>
              </a:rPr>
              <a:t>(Enabling iterative and incremental development of certified software)</a:t>
            </a:r>
          </a:p>
          <a:p>
            <a:pPr algn="ctr"/>
            <a:r>
              <a:rPr lang="en-US" dirty="0" smtClean="0"/>
              <a:t>Reliable, accurate, fast and low-cost validation and verification of software products is a cornerstone of modern high-tech industry. The EVOLVE project will enforce the creation of a methodological framework for early verification and validation of evolutionary software products through the accredited and certified integration of each component during every iteration in an incremental model-driven engineering (MDE) context.</a:t>
            </a:r>
            <a:endParaRPr lang="en-US" dirty="0">
              <a:solidFill>
                <a:srgbClr val="00206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lnSpcReduction="10000"/>
          </a:bodyPr>
          <a:lstStyle/>
          <a:p>
            <a:pPr fontAlgn="base"/>
            <a:r>
              <a:rPr lang="en-US" b="1" u="sng" dirty="0" smtClean="0">
                <a:solidFill>
                  <a:srgbClr val="C00000"/>
                </a:solidFill>
              </a:rPr>
              <a:t>Concept of Evolutionary model</a:t>
            </a:r>
            <a:r>
              <a:rPr lang="en-US" u="sng" dirty="0" smtClean="0"/>
              <a:t> </a:t>
            </a:r>
            <a:r>
              <a:rPr lang="en-US" dirty="0" smtClean="0"/>
              <a:t>is a combination of </a:t>
            </a:r>
            <a:r>
              <a:rPr lang="en-US" u="sng" dirty="0" smtClean="0">
                <a:hlinkClick r:id="rId2"/>
              </a:rPr>
              <a:t>Iterative </a:t>
            </a:r>
            <a:r>
              <a:rPr lang="en-US" dirty="0" smtClean="0"/>
              <a:t>and </a:t>
            </a:r>
            <a:r>
              <a:rPr lang="en-US" u="sng" dirty="0" smtClean="0">
                <a:hlinkClick r:id="rId3"/>
              </a:rPr>
              <a:t>Incremental model</a:t>
            </a:r>
            <a:r>
              <a:rPr lang="en-US" dirty="0" smtClean="0"/>
              <a:t> of software development life cycle. Delivering your system in a big bang release, delivering it in incremental process over time is the action done in this model. Some initial requirements and architecture envisioning need to be done.</a:t>
            </a:r>
          </a:p>
          <a:p>
            <a:pPr fontAlgn="base"/>
            <a:r>
              <a:rPr lang="en-US" dirty="0" smtClean="0"/>
              <a:t>It is better for software products that have their feature sets redefined during development because of user feedback and other factors. </a:t>
            </a:r>
          </a:p>
          <a:p>
            <a:pPr fontAlgn="base"/>
            <a:r>
              <a:rPr lang="en-US" dirty="0" smtClean="0"/>
              <a:t>The Evolutionary development model divides the development cycle into smaller, incremental waterfall models in which users are able to get access to the product at the end of each cycle.</a:t>
            </a:r>
          </a:p>
          <a:p>
            <a:endParaRPr lang="en-US" dirty="0" smtClean="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85000" lnSpcReduction="20000"/>
          </a:bodyPr>
          <a:lstStyle/>
          <a:p>
            <a:pPr fontAlgn="base"/>
            <a:r>
              <a:rPr lang="en-US" dirty="0" smtClean="0"/>
              <a:t>Evolutionary model suggests breaking down of work into smaller chunks, prioritizing them and then delivering those chunks to the customer one by one. The number of chunks is huge and is the number of deliveries made to the customer. The main advantage is that the customer’s confidence increases as he constantly gets quantifiable goods or services from the beginning of the project to verify and validate his requirements. The model allows for changing requirements as well as all work in broken down into maintainable work chunks.</a:t>
            </a:r>
          </a:p>
          <a:p>
            <a:pPr fontAlgn="base"/>
            <a:r>
              <a:rPr lang="en-US" b="1" dirty="0" smtClean="0"/>
              <a:t>Application of Evolutionary Model:</a:t>
            </a:r>
            <a:endParaRPr lang="en-US" dirty="0" smtClean="0"/>
          </a:p>
          <a:p>
            <a:pPr fontAlgn="base"/>
            <a:r>
              <a:rPr lang="en-US" dirty="0" smtClean="0"/>
              <a:t>It is used in large projects where you can easily find modules for incremental implementation. Evolutionary model is commonly used when the customer wants to start using the core features instead of waiting for the full software.</a:t>
            </a:r>
          </a:p>
          <a:p>
            <a:pPr fontAlgn="base"/>
            <a:r>
              <a:rPr lang="en-US" dirty="0" smtClean="0"/>
              <a:t>Evolutionary model is also used in object oriented software development because the system can be easily portioned into units in terms of objects.</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3"/>
          </a:lnRef>
          <a:fillRef idx="2">
            <a:schemeClr val="accent3"/>
          </a:fillRef>
          <a:effectRef idx="1">
            <a:schemeClr val="accent3"/>
          </a:effectRef>
          <a:fontRef idx="minor">
            <a:schemeClr val="dk1"/>
          </a:fontRef>
        </p:style>
        <p:txBody>
          <a:bodyPr>
            <a:normAutofit/>
          </a:bodyPr>
          <a:lstStyle/>
          <a:p>
            <a:pPr fontAlgn="base"/>
            <a:r>
              <a:rPr lang="en-US" b="1" dirty="0" smtClean="0">
                <a:solidFill>
                  <a:srgbClr val="C00000"/>
                </a:solidFill>
              </a:rPr>
              <a:t>Advantages of Evolutionary Model: </a:t>
            </a:r>
            <a:endParaRPr lang="en-US" dirty="0" smtClean="0">
              <a:solidFill>
                <a:srgbClr val="C00000"/>
              </a:solidFill>
            </a:endParaRPr>
          </a:p>
          <a:p>
            <a:pPr fontAlgn="base"/>
            <a:r>
              <a:rPr lang="en-US" dirty="0" smtClean="0"/>
              <a:t>In evolutionary model, a user gets a chance to experiment partially developed system.</a:t>
            </a:r>
          </a:p>
          <a:p>
            <a:pPr fontAlgn="base"/>
            <a:r>
              <a:rPr lang="en-US" dirty="0" smtClean="0"/>
              <a:t>It reduces the error because the core modules get tested thoroughly.</a:t>
            </a:r>
          </a:p>
          <a:p>
            <a:pPr fontAlgn="base"/>
            <a:r>
              <a:rPr lang="en-US" b="1" dirty="0" smtClean="0">
                <a:solidFill>
                  <a:srgbClr val="C00000"/>
                </a:solidFill>
              </a:rPr>
              <a:t>Disadvantages of Evolutionary Model: </a:t>
            </a:r>
            <a:endParaRPr lang="en-US" dirty="0" smtClean="0">
              <a:solidFill>
                <a:srgbClr val="C00000"/>
              </a:solidFill>
            </a:endParaRPr>
          </a:p>
          <a:p>
            <a:pPr fontAlgn="base"/>
            <a:r>
              <a:rPr lang="en-US" dirty="0" smtClean="0"/>
              <a:t>Sometimes it is hard to divide the </a:t>
            </a:r>
            <a:r>
              <a:rPr lang="en-US" dirty="0" smtClean="0"/>
              <a:t>problem </a:t>
            </a:r>
            <a:r>
              <a:rPr lang="en-US" dirty="0" smtClean="0"/>
              <a:t>into several versions that would be acceptable to the customer which can be incrementally implemented and delivered.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style>
          <a:lnRef idx="1">
            <a:schemeClr val="accent2"/>
          </a:lnRef>
          <a:fillRef idx="2">
            <a:schemeClr val="accent2"/>
          </a:fillRef>
          <a:effectRef idx="1">
            <a:schemeClr val="accent2"/>
          </a:effectRef>
          <a:fontRef idx="minor">
            <a:schemeClr val="dk1"/>
          </a:fontRef>
        </p:style>
        <p:txBody>
          <a:bodyPr>
            <a:normAutofit/>
          </a:bodyPr>
          <a:lstStyle/>
          <a:p>
            <a:r>
              <a:rPr lang="en-US" sz="3200" dirty="0" smtClean="0"/>
              <a:t>Proof of correctness </a:t>
            </a:r>
            <a:endParaRPr lang="en-US" sz="3200" dirty="0"/>
          </a:p>
        </p:txBody>
      </p:sp>
      <p:sp>
        <p:nvSpPr>
          <p:cNvPr id="3" name="Content Placeholder 2"/>
          <p:cNvSpPr>
            <a:spLocks noGrp="1"/>
          </p:cNvSpPr>
          <p:nvPr>
            <p:ph idx="1"/>
          </p:nvPr>
        </p:nvSpPr>
        <p:spPr>
          <a:xfrm>
            <a:off x="0" y="533400"/>
            <a:ext cx="9144000" cy="6324600"/>
          </a:xfrm>
        </p:spPr>
        <p:style>
          <a:lnRef idx="1">
            <a:schemeClr val="accent1"/>
          </a:lnRef>
          <a:fillRef idx="2">
            <a:schemeClr val="accent1"/>
          </a:fillRef>
          <a:effectRef idx="1">
            <a:schemeClr val="accent1"/>
          </a:effectRef>
          <a:fontRef idx="minor">
            <a:schemeClr val="dk1"/>
          </a:fontRef>
        </p:style>
        <p:txBody>
          <a:bodyPr>
            <a:normAutofit fontScale="85000" lnSpcReduction="20000"/>
          </a:bodyPr>
          <a:lstStyle/>
          <a:p>
            <a:r>
              <a:rPr lang="en-US" b="1" dirty="0" smtClean="0">
                <a:solidFill>
                  <a:srgbClr val="C00000"/>
                </a:solidFill>
              </a:rPr>
              <a:t>What is-Proof of Correctness in software engineering?</a:t>
            </a:r>
          </a:p>
          <a:p>
            <a:r>
              <a:rPr lang="en-US" dirty="0" smtClean="0"/>
              <a:t>In </a:t>
            </a:r>
            <a:r>
              <a:rPr lang="en-US" dirty="0" smtClean="0"/>
              <a:t>software engineering, the </a:t>
            </a:r>
            <a:r>
              <a:rPr lang="en-US" b="1" dirty="0" smtClean="0"/>
              <a:t>correctness</a:t>
            </a:r>
            <a:r>
              <a:rPr lang="en-US" dirty="0" smtClean="0"/>
              <a:t> of a program or system is achieved if it behaves exactly as intended for all of its use-cases. </a:t>
            </a:r>
          </a:p>
          <a:p>
            <a:r>
              <a:rPr lang="en-US" dirty="0" smtClean="0"/>
              <a:t>Before software is developed, engineers craft a list of specifications that their system must adhere to in order to achieve correctness. Without achieving correctness, a system is not ready for use, as it might be unsafe or incomplete.</a:t>
            </a:r>
          </a:p>
          <a:p>
            <a:r>
              <a:rPr lang="en-US" dirty="0" smtClean="0">
                <a:solidFill>
                  <a:srgbClr val="FF0000"/>
                </a:solidFill>
              </a:rPr>
              <a:t>DEFINITION:-</a:t>
            </a:r>
          </a:p>
          <a:p>
            <a:pPr algn="just"/>
            <a:r>
              <a:rPr lang="en-US" dirty="0" smtClean="0"/>
              <a:t>Proof of correctness in software quality ensures a program's output meets its specific requirements through mathematical verification. It goes beyond testing by formally proving the program's behavior, guaranteeing it functions as intended under all specified conditions. This process involves using formal logic and mathematical reasoning to demonstrate that the code is free from errors and that its output is consistent with the initial design.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2"/>
          </a:lnRef>
          <a:fillRef idx="2">
            <a:schemeClr val="accent2"/>
          </a:fillRef>
          <a:effectRef idx="1">
            <a:schemeClr val="accent2"/>
          </a:effectRef>
          <a:fontRef idx="minor">
            <a:schemeClr val="dk1"/>
          </a:fontRef>
        </p:style>
        <p:txBody>
          <a:bodyPr>
            <a:normAutofit fontScale="85000" lnSpcReduction="20000"/>
          </a:bodyPr>
          <a:lstStyle/>
          <a:p>
            <a:pPr algn="just">
              <a:buNone/>
            </a:pPr>
            <a:r>
              <a:rPr lang="en-US" dirty="0" smtClean="0">
                <a:solidFill>
                  <a:srgbClr val="FF0000"/>
                </a:solidFill>
              </a:rPr>
              <a:t>OR-</a:t>
            </a:r>
            <a:r>
              <a:rPr lang="en-US" sz="2800" dirty="0" smtClean="0"/>
              <a:t>Proof </a:t>
            </a:r>
            <a:r>
              <a:rPr lang="en-US" sz="2800" dirty="0" smtClean="0"/>
              <a:t>of correctness in software quality refers to a mathematical approach to demonstrate that a program or part of it will produce the correct results when executed, fulfilling specific requirements. It's a formal verification method that aims to provide assurance about software's behavior by rigorously proving its correctness based on a defined specification.</a:t>
            </a:r>
            <a:r>
              <a:rPr lang="en-US" dirty="0" smtClean="0"/>
              <a:t> </a:t>
            </a:r>
          </a:p>
          <a:p>
            <a:r>
              <a:rPr lang="en-US" sz="3800" dirty="0" smtClean="0">
                <a:solidFill>
                  <a:srgbClr val="002060"/>
                </a:solidFill>
              </a:rPr>
              <a:t>Key aspects of proof of correctness:</a:t>
            </a:r>
          </a:p>
          <a:p>
            <a:r>
              <a:rPr lang="en-US" b="1" dirty="0" smtClean="0">
                <a:solidFill>
                  <a:srgbClr val="FF0000"/>
                </a:solidFill>
              </a:rPr>
              <a:t>Mathematical Verification:</a:t>
            </a:r>
            <a:endParaRPr lang="en-US" dirty="0" smtClean="0">
              <a:solidFill>
                <a:srgbClr val="FF0000"/>
              </a:solidFill>
            </a:endParaRPr>
          </a:p>
          <a:p>
            <a:pPr fontAlgn="ctr"/>
            <a:r>
              <a:rPr lang="en-US" dirty="0" smtClean="0"/>
              <a:t>Correctness proofs utilize formal methods and mathematical reasoning to prove that a program's output is accurate and consistent with its specifications. </a:t>
            </a:r>
          </a:p>
          <a:p>
            <a:r>
              <a:rPr lang="en-US" b="1" dirty="0" smtClean="0">
                <a:solidFill>
                  <a:srgbClr val="FF0000"/>
                </a:solidFill>
              </a:rPr>
              <a:t>Formal Logic:</a:t>
            </a:r>
            <a:endParaRPr lang="en-US" dirty="0" smtClean="0">
              <a:solidFill>
                <a:srgbClr val="FF0000"/>
              </a:solidFill>
            </a:endParaRPr>
          </a:p>
          <a:p>
            <a:pPr fontAlgn="ctr"/>
            <a:r>
              <a:rPr lang="en-US" dirty="0" smtClean="0"/>
              <a:t>Proving correctness often involves using formal logic to express the program's behavior and properties in a way that can be mathematically verified. </a:t>
            </a:r>
          </a:p>
          <a:p>
            <a:r>
              <a:rPr lang="en-US" b="1" dirty="0" smtClean="0">
                <a:solidFill>
                  <a:srgbClr val="FF0000"/>
                </a:solidFill>
              </a:rPr>
              <a:t>Specifications:</a:t>
            </a:r>
            <a:endParaRPr lang="en-US" dirty="0" smtClean="0">
              <a:solidFill>
                <a:srgbClr val="FF0000"/>
              </a:solidFill>
            </a:endParaRPr>
          </a:p>
          <a:p>
            <a:pPr fontAlgn="ctr"/>
            <a:r>
              <a:rPr lang="en-US" dirty="0" smtClean="0"/>
              <a:t>A clear and precise specification is crucial for correctness proofs, defining the expected input, output, and behavior of the program. </a:t>
            </a:r>
          </a:p>
          <a:p>
            <a:pPr algn="just">
              <a:buNone/>
            </a:pPr>
            <a:endParaRPr lang="en-US" dirty="0" smtClean="0"/>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77500" lnSpcReduction="20000"/>
          </a:bodyPr>
          <a:lstStyle/>
          <a:p>
            <a:r>
              <a:rPr lang="en-US" b="1" dirty="0" smtClean="0">
                <a:solidFill>
                  <a:srgbClr val="FF0000"/>
                </a:solidFill>
              </a:rPr>
              <a:t>Preconditions and Post conditions</a:t>
            </a:r>
            <a:r>
              <a:rPr lang="en-US" b="1" dirty="0" smtClean="0"/>
              <a:t>: </a:t>
            </a:r>
            <a:r>
              <a:rPr lang="en-US" dirty="0" smtClean="0"/>
              <a:t>Correctness proofs often rely on preconditions (conditions that must be true before the program executes) and post conditions (conditions that must be true after the program executes) to ensure the program behaves as expected. </a:t>
            </a:r>
          </a:p>
          <a:p>
            <a:r>
              <a:rPr lang="en-US" b="1" dirty="0" smtClean="0"/>
              <a:t>Beyond Testing: </a:t>
            </a:r>
            <a:r>
              <a:rPr lang="en-US" dirty="0" smtClean="0"/>
              <a:t>Proofs of correctness go beyond traditional testing, which relies on examining a limited set of inputs and outputs. They provide a more comprehensive guarantee of the program's accuracy. </a:t>
            </a:r>
          </a:p>
          <a:p>
            <a:r>
              <a:rPr lang="en-US" b="1" dirty="0" smtClean="0">
                <a:solidFill>
                  <a:srgbClr val="FF0000"/>
                </a:solidFill>
              </a:rPr>
              <a:t>Types of Proofs: </a:t>
            </a:r>
            <a:r>
              <a:rPr lang="en-US" dirty="0" smtClean="0"/>
              <a:t>Different techniques can be used for correctness proofs, including induction, formal verification tools, and program extraction from proofs. </a:t>
            </a:r>
          </a:p>
          <a:p>
            <a:r>
              <a:rPr lang="en-US" b="1" dirty="0" smtClean="0">
                <a:solidFill>
                  <a:srgbClr val="FF0000"/>
                </a:solidFill>
              </a:rPr>
              <a:t>Benefits: </a:t>
            </a:r>
            <a:r>
              <a:rPr lang="en-US" dirty="0" smtClean="0"/>
              <a:t>Proving correctness can lead to more reliable and robust software, especially in critical systems where even a small error can have significant consequences. </a:t>
            </a:r>
          </a:p>
          <a:p>
            <a:r>
              <a:rPr lang="en-US" dirty="0" smtClean="0">
                <a:solidFill>
                  <a:srgbClr val="FF0000"/>
                </a:solidFill>
              </a:rPr>
              <a:t>In essence</a:t>
            </a:r>
            <a:r>
              <a:rPr lang="en-US" dirty="0" smtClean="0"/>
              <a:t>, proof of correctness is a formal process of verifying that a software program, or a part thereof, will produce the correct results under specified conditions, providing a higher degree of confidence in the software's reliability than testing alone.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sz="3300" b="1" dirty="0" smtClean="0">
                <a:solidFill>
                  <a:srgbClr val="C00000"/>
                </a:solidFill>
              </a:rPr>
              <a:t>Establishing correctness of Software:-</a:t>
            </a:r>
          </a:p>
          <a:p>
            <a:r>
              <a:rPr lang="en-US" dirty="0" smtClean="0"/>
              <a:t>We can establish correctness via rigorous software verification and testing. The brute-force method would be to test the system with a wide range of inputs and detect erroneous output if any exists.</a:t>
            </a:r>
          </a:p>
          <a:p>
            <a:r>
              <a:rPr lang="en-US" dirty="0" smtClean="0"/>
              <a:t>Alternatively, we can prove correctness via mathematical reasoning or proof. Unfortunately, it is hard to automate the process of establishing correctness.</a:t>
            </a:r>
          </a:p>
          <a:p>
            <a:endParaRPr lang="en-US" b="1" dirty="0" smtClean="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b="1" dirty="0" smtClean="0">
                <a:solidFill>
                  <a:srgbClr val="C00000"/>
                </a:solidFill>
              </a:rPr>
              <a:t>Control flow testing:-</a:t>
            </a:r>
          </a:p>
          <a:p>
            <a:r>
              <a:rPr lang="en-US" sz="2800" dirty="0" smtClean="0"/>
              <a:t>One way to prove program correctness is to determine the control flow path(s) that a program takes while executing via path coverage.</a:t>
            </a:r>
          </a:p>
          <a:p>
            <a:r>
              <a:rPr lang="en-US" sz="2800" dirty="0" smtClean="0"/>
              <a:t>The program must traverse through a certain control flow path to achieve correctness. If the path taken by the program is identical to the correct path, we can deduce that the program has performed the corresponding task correctly.</a:t>
            </a:r>
          </a:p>
          <a:p>
            <a:endParaRPr lang="en-US" sz="2800" dirty="0" smtClean="0"/>
          </a:p>
        </p:txBody>
      </p:sp>
      <p:pic>
        <p:nvPicPr>
          <p:cNvPr id="3074" name="Picture 2"/>
          <p:cNvPicPr>
            <a:picLocks noChangeAspect="1" noChangeArrowheads="1"/>
          </p:cNvPicPr>
          <p:nvPr/>
        </p:nvPicPr>
        <p:blipFill>
          <a:blip r:embed="rId2"/>
          <a:srcRect/>
          <a:stretch>
            <a:fillRect/>
          </a:stretch>
        </p:blipFill>
        <p:spPr bwMode="auto">
          <a:xfrm>
            <a:off x="0" y="4267200"/>
            <a:ext cx="9144000" cy="2590800"/>
          </a:xfrm>
          <a:prstGeom prst="rect">
            <a:avLst/>
          </a:prstGeom>
          <a:noFill/>
          <a:ln w="9525">
            <a:noFill/>
            <a:miter lim="800000"/>
            <a:headEnd/>
            <a:tailEnd/>
          </a:ln>
          <a:effectLst/>
        </p:spPr>
      </p:pic>
    </p:spTree>
    <p:extLst>
      <p:ext uri="{BB962C8B-B14F-4D97-AF65-F5344CB8AC3E}">
        <p14:creationId xmlns="" xmlns:p14="http://schemas.microsoft.com/office/powerpoint/2010/main" val="191524766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85000" lnSpcReduction="10000"/>
          </a:bodyPr>
          <a:lstStyle/>
          <a:p>
            <a:r>
              <a:rPr lang="en-US" b="1" dirty="0" smtClean="0">
                <a:solidFill>
                  <a:srgbClr val="C00000"/>
                </a:solidFill>
              </a:rPr>
              <a:t>(In Another Point of view)</a:t>
            </a:r>
          </a:p>
          <a:p>
            <a:r>
              <a:rPr lang="en-US" b="1" dirty="0" smtClean="0">
                <a:solidFill>
                  <a:srgbClr val="C00000"/>
                </a:solidFill>
              </a:rPr>
              <a:t>What is-Proof of Correctness in Software Testing:</a:t>
            </a:r>
            <a:r>
              <a:rPr lang="en-US" b="1" dirty="0" smtClean="0"/>
              <a:t>-</a:t>
            </a:r>
          </a:p>
          <a:p>
            <a:pPr fontAlgn="base"/>
            <a:r>
              <a:rPr lang="en-US" dirty="0" smtClean="0"/>
              <a:t>A proof of correctness is a mathematical proof that a computer program or a part there of will, when executed, yield correct results i.e., results fulfilling specific requirements. Before proving a program correct, the theorem to be proved must, of course, be formulated.</a:t>
            </a:r>
          </a:p>
          <a:p>
            <a:pPr fontAlgn="base"/>
            <a:r>
              <a:rPr lang="en-US" b="1" dirty="0" smtClean="0">
                <a:solidFill>
                  <a:srgbClr val="C00000"/>
                </a:solidFill>
              </a:rPr>
              <a:t>Hypothesis: </a:t>
            </a:r>
            <a:r>
              <a:rPr lang="en-US" dirty="0" smtClean="0"/>
              <a:t>The hypothesis of such a correctness theorem is typically a condition that the relevant program variables must satisfy immediately “before” the program is executed. This condition is called the “precondition”.</a:t>
            </a:r>
          </a:p>
          <a:p>
            <a:pPr fontAlgn="base"/>
            <a:r>
              <a:rPr lang="en-US" b="1" dirty="0" smtClean="0">
                <a:solidFill>
                  <a:srgbClr val="C00000"/>
                </a:solidFill>
              </a:rPr>
              <a:t>Thesis</a:t>
            </a:r>
            <a:r>
              <a:rPr lang="en-US" b="1" dirty="0" smtClean="0"/>
              <a:t>: </a:t>
            </a:r>
            <a:r>
              <a:rPr lang="en-US" dirty="0" smtClean="0"/>
              <a:t>The thesis of the correctness theorem is typically a condition that the relevant program variables must satisfy immediately “after” execution of the program. This latter condition is called the ‘post-condition’.</a:t>
            </a:r>
          </a:p>
          <a:p>
            <a:endParaRPr lang="en-US" dirty="0" smtClean="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6"/>
          </a:lnRef>
          <a:fillRef idx="2">
            <a:schemeClr val="accent6"/>
          </a:fillRef>
          <a:effectRef idx="1">
            <a:schemeClr val="accent6"/>
          </a:effectRef>
          <a:fontRef idx="minor">
            <a:schemeClr val="dk1"/>
          </a:fontRef>
        </p:style>
        <p:txBody>
          <a:bodyPr>
            <a:normAutofit fontScale="92500" lnSpcReduction="10000"/>
          </a:bodyPr>
          <a:lstStyle/>
          <a:p>
            <a:r>
              <a:rPr lang="en-US" dirty="0" smtClean="0"/>
              <a:t>Thus the correctness theorem can be stated as:</a:t>
            </a:r>
          </a:p>
          <a:p>
            <a:pPr fontAlgn="base"/>
            <a:r>
              <a:rPr lang="en-US" dirty="0" smtClean="0"/>
              <a:t>“If the condition, “V”, is true before execution of the program, “S”, then the condition, “P”, will be true after execution of “S” “.</a:t>
            </a:r>
          </a:p>
          <a:p>
            <a:pPr fontAlgn="base"/>
            <a:r>
              <a:rPr lang="en-US" dirty="0" smtClean="0"/>
              <a:t>Where “V” is pre-condition and “P” is post-condition.</a:t>
            </a:r>
          </a:p>
          <a:p>
            <a:pPr fontAlgn="base"/>
            <a:r>
              <a:rPr lang="en-US" b="1" dirty="0" smtClean="0">
                <a:solidFill>
                  <a:srgbClr val="C00000"/>
                </a:solidFill>
              </a:rPr>
              <a:t>Notation</a:t>
            </a:r>
            <a:r>
              <a:rPr lang="en-US" b="1" dirty="0" smtClean="0"/>
              <a:t>: </a:t>
            </a:r>
          </a:p>
          <a:p>
            <a:pPr fontAlgn="base"/>
            <a:r>
              <a:rPr lang="en-US" dirty="0" smtClean="0"/>
              <a:t>Such a correctness theorem is usually written as {V} S {P}, where V, S and P have been explained above.</a:t>
            </a:r>
          </a:p>
          <a:p>
            <a:pPr fontAlgn="base"/>
            <a:r>
              <a:rPr lang="en-US" dirty="0" smtClean="0"/>
              <a:t>By “program variable” we broadly include input and output data, e.g., data entered via a keyboard, displayed on a screen or printed on paper. Any externally observable aspect of the program’s execution may be covered by the precondition and post-condition.</a:t>
            </a:r>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b="1" u="sng" dirty="0" smtClean="0">
                <a:solidFill>
                  <a:srgbClr val="C00000"/>
                </a:solidFill>
              </a:rPr>
              <a:t>Software Testing Tools:-</a:t>
            </a:r>
          </a:p>
          <a:p>
            <a:pPr lvl="0"/>
            <a:r>
              <a:rPr lang="en-US" u="sng" dirty="0" smtClean="0">
                <a:hlinkClick r:id="rId2"/>
              </a:rPr>
              <a:t>Software Testing</a:t>
            </a:r>
            <a:r>
              <a:rPr lang="en-US" dirty="0" smtClean="0"/>
              <a:t> tools are the tools which are used for the testing of software. Software testing tools are often used to assure firmness, thoroughness and performance in testing software products. </a:t>
            </a:r>
          </a:p>
          <a:p>
            <a:pPr lvl="0"/>
            <a:r>
              <a:rPr lang="en-US" dirty="0" smtClean="0"/>
              <a:t>Unit testing and subsequent integration testing can be performed by software testing tools. These tools are used to fulfill all the requirements of planned testing activities. </a:t>
            </a:r>
          </a:p>
          <a:p>
            <a:pPr lvl="0"/>
            <a:r>
              <a:rPr lang="en-US" dirty="0" smtClean="0"/>
              <a:t>These tools also works as commercial software testing tools. The quality of the software is evaluated by software testers with the help of various testing tools.</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4"/>
          </a:lnRef>
          <a:fillRef idx="2">
            <a:schemeClr val="accent4"/>
          </a:fillRef>
          <a:effectRef idx="1">
            <a:schemeClr val="accent4"/>
          </a:effectRef>
          <a:fontRef idx="minor">
            <a:schemeClr val="dk1"/>
          </a:fontRef>
        </p:style>
        <p:txBody>
          <a:bodyPr>
            <a:normAutofit fontScale="70000" lnSpcReduction="20000"/>
          </a:bodyPr>
          <a:lstStyle/>
          <a:p>
            <a:pPr lvl="0"/>
            <a:r>
              <a:rPr lang="en-US" b="1" dirty="0" smtClean="0">
                <a:solidFill>
                  <a:srgbClr val="C00000"/>
                </a:solidFill>
              </a:rPr>
              <a:t>Types of Testing Tools:</a:t>
            </a:r>
            <a:r>
              <a:rPr lang="en-US" dirty="0" smtClean="0"/>
              <a:t/>
            </a:r>
            <a:br>
              <a:rPr lang="en-US" dirty="0" smtClean="0"/>
            </a:br>
            <a:r>
              <a:rPr lang="en-US" dirty="0" smtClean="0"/>
              <a:t>As software testing is of two types, static testing and dynamic testing. Also the tools used during these testing are named accordingly on these testing's. Testing tools can be categorized into two types which are as follows:</a:t>
            </a:r>
            <a:endParaRPr lang="en-US" dirty="0" smtClean="0">
              <a:solidFill>
                <a:srgbClr val="C00000"/>
              </a:solidFill>
            </a:endParaRPr>
          </a:p>
          <a:p>
            <a:pPr lvl="0"/>
            <a:r>
              <a:rPr lang="en-US" dirty="0" smtClean="0">
                <a:solidFill>
                  <a:srgbClr val="C00000"/>
                </a:solidFill>
              </a:rPr>
              <a:t>1. Static Test Tools 2. Dynamic Test Tools</a:t>
            </a:r>
          </a:p>
          <a:p>
            <a:pPr fontAlgn="base"/>
            <a:r>
              <a:rPr lang="en-US" dirty="0" smtClean="0"/>
              <a:t>These are explained in detail as following below:</a:t>
            </a:r>
          </a:p>
          <a:p>
            <a:pPr fontAlgn="base"/>
            <a:r>
              <a:rPr lang="en-US" b="1" dirty="0" smtClean="0">
                <a:solidFill>
                  <a:srgbClr val="C00000"/>
                </a:solidFill>
              </a:rPr>
              <a:t>1. Static Test Tools:</a:t>
            </a:r>
            <a:r>
              <a:rPr lang="en-US" dirty="0" smtClean="0"/>
              <a:t/>
            </a:r>
            <a:br>
              <a:rPr lang="en-US" dirty="0" smtClean="0"/>
            </a:br>
            <a:r>
              <a:rPr lang="en-US" dirty="0" smtClean="0"/>
              <a:t>Static test tools are used to work on the static testing processes. In the testing through these tools, typical approach is taken. These tools do not test the real execution of the software. Certain input and output are not required in these tools. Static test tools consists of the following:</a:t>
            </a:r>
          </a:p>
          <a:p>
            <a:pPr fontAlgn="base"/>
            <a:r>
              <a:rPr lang="en-US" b="1" dirty="0" smtClean="0">
                <a:solidFill>
                  <a:srgbClr val="C00000"/>
                </a:solidFill>
              </a:rPr>
              <a:t>Flow analyzers:</a:t>
            </a:r>
            <a:r>
              <a:rPr lang="en-US" dirty="0" smtClean="0"/>
              <a:t/>
            </a:r>
            <a:br>
              <a:rPr lang="en-US" dirty="0" smtClean="0"/>
            </a:br>
            <a:r>
              <a:rPr lang="en-US" dirty="0" smtClean="0"/>
              <a:t>Flow analyzers provides flexibility in data flow from input to output.</a:t>
            </a:r>
          </a:p>
          <a:p>
            <a:pPr fontAlgn="base"/>
            <a:r>
              <a:rPr lang="en-US" b="1" dirty="0" smtClean="0">
                <a:solidFill>
                  <a:srgbClr val="C00000"/>
                </a:solidFill>
              </a:rPr>
              <a:t>Path Tests:</a:t>
            </a:r>
            <a:r>
              <a:rPr lang="en-US" dirty="0" smtClean="0"/>
              <a:t/>
            </a:r>
            <a:br>
              <a:rPr lang="en-US" dirty="0" smtClean="0"/>
            </a:br>
            <a:r>
              <a:rPr lang="en-US" dirty="0" smtClean="0"/>
              <a:t>It finds the not used code and code with inconsistency in the software.</a:t>
            </a:r>
          </a:p>
          <a:p>
            <a:pPr fontAlgn="base"/>
            <a:r>
              <a:rPr lang="en-US" b="1" dirty="0" smtClean="0">
                <a:solidFill>
                  <a:srgbClr val="C00000"/>
                </a:solidFill>
              </a:rPr>
              <a:t>Coverage Analyzers:</a:t>
            </a:r>
            <a:r>
              <a:rPr lang="en-US" dirty="0" smtClean="0"/>
              <a:t/>
            </a:r>
            <a:br>
              <a:rPr lang="en-US" dirty="0" smtClean="0"/>
            </a:br>
            <a:r>
              <a:rPr lang="en-US" dirty="0" smtClean="0"/>
              <a:t>All rationale paths in the software are assured by the coverage analyzers.</a:t>
            </a:r>
          </a:p>
          <a:p>
            <a:pPr fontAlgn="base"/>
            <a:r>
              <a:rPr lang="en-US" b="1" dirty="0" smtClean="0">
                <a:solidFill>
                  <a:srgbClr val="C00000"/>
                </a:solidFill>
              </a:rPr>
              <a:t>Interface Analyzers:</a:t>
            </a:r>
            <a:r>
              <a:rPr lang="en-US" dirty="0" smtClean="0"/>
              <a:t/>
            </a:r>
            <a:br>
              <a:rPr lang="en-US" dirty="0" smtClean="0"/>
            </a:br>
            <a:r>
              <a:rPr lang="en-US" dirty="0" smtClean="0"/>
              <a:t>They check out the consequences of passing variables and data in the modules.</a:t>
            </a:r>
          </a:p>
        </p:txBody>
      </p:sp>
    </p:spTree>
    <p:extLst>
      <p:ext uri="{BB962C8B-B14F-4D97-AF65-F5344CB8AC3E}">
        <p14:creationId xmlns="" xmlns:p14="http://schemas.microsoft.com/office/powerpoint/2010/main" val="214013693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4"/>
          </a:lnRef>
          <a:fillRef idx="2">
            <a:schemeClr val="accent4"/>
          </a:fillRef>
          <a:effectRef idx="1">
            <a:schemeClr val="accent4"/>
          </a:effectRef>
          <a:fontRef idx="minor">
            <a:schemeClr val="dk1"/>
          </a:fontRef>
        </p:style>
        <p:txBody>
          <a:bodyPr>
            <a:normAutofit fontScale="85000" lnSpcReduction="10000"/>
          </a:bodyPr>
          <a:lstStyle/>
          <a:p>
            <a:pPr fontAlgn="base"/>
            <a:r>
              <a:rPr lang="en-US" b="1" dirty="0" smtClean="0">
                <a:solidFill>
                  <a:srgbClr val="C00000"/>
                </a:solidFill>
              </a:rPr>
              <a:t>2. Dynamic Test Tools:</a:t>
            </a:r>
            <a:r>
              <a:rPr lang="en-US" dirty="0" smtClean="0"/>
              <a:t/>
            </a:r>
            <a:br>
              <a:rPr lang="en-US" dirty="0" smtClean="0"/>
            </a:br>
            <a:r>
              <a:rPr lang="en-US" dirty="0" smtClean="0"/>
              <a:t>Dynamic testing process is performed by the dynamic test tools. These tools test the software with existing or current data. Dynamic test tools comprises of the following:</a:t>
            </a:r>
          </a:p>
          <a:p>
            <a:pPr fontAlgn="base"/>
            <a:r>
              <a:rPr lang="en-US" b="1" dirty="0" smtClean="0">
                <a:solidFill>
                  <a:srgbClr val="C00000"/>
                </a:solidFill>
              </a:rPr>
              <a:t>Test driver:</a:t>
            </a:r>
            <a:r>
              <a:rPr lang="en-US" dirty="0" smtClean="0"/>
              <a:t/>
            </a:r>
            <a:br>
              <a:rPr lang="en-US" dirty="0" smtClean="0"/>
            </a:br>
            <a:r>
              <a:rPr lang="en-US" dirty="0" smtClean="0"/>
              <a:t>Test driver provides the input data to a module-under-test (MUT).</a:t>
            </a:r>
          </a:p>
          <a:p>
            <a:pPr fontAlgn="base"/>
            <a:r>
              <a:rPr lang="en-US" b="1" dirty="0" smtClean="0">
                <a:solidFill>
                  <a:srgbClr val="C00000"/>
                </a:solidFill>
              </a:rPr>
              <a:t>Test Beds:</a:t>
            </a:r>
            <a:r>
              <a:rPr lang="en-US" dirty="0" smtClean="0"/>
              <a:t/>
            </a:r>
            <a:br>
              <a:rPr lang="en-US" dirty="0" smtClean="0"/>
            </a:br>
            <a:r>
              <a:rPr lang="en-US" dirty="0" smtClean="0"/>
              <a:t>It displays source code along with the program under execution at the same time.</a:t>
            </a:r>
          </a:p>
          <a:p>
            <a:pPr fontAlgn="base"/>
            <a:r>
              <a:rPr lang="en-US" b="1" dirty="0" smtClean="0">
                <a:solidFill>
                  <a:srgbClr val="C00000"/>
                </a:solidFill>
              </a:rPr>
              <a:t>Emulators:</a:t>
            </a:r>
            <a:r>
              <a:rPr lang="en-US" dirty="0" smtClean="0"/>
              <a:t/>
            </a:r>
            <a:br>
              <a:rPr lang="en-US" dirty="0" smtClean="0"/>
            </a:br>
            <a:r>
              <a:rPr lang="en-US" dirty="0" smtClean="0"/>
              <a:t>Emulators provides the response facilities which are used to imitate parts of the system not yet developed.</a:t>
            </a:r>
          </a:p>
          <a:p>
            <a:pPr fontAlgn="base"/>
            <a:r>
              <a:rPr lang="en-US" b="1" dirty="0" smtClean="0">
                <a:solidFill>
                  <a:srgbClr val="C00000"/>
                </a:solidFill>
              </a:rPr>
              <a:t>Mutation Analyzers:</a:t>
            </a:r>
            <a:r>
              <a:rPr lang="en-US" dirty="0" smtClean="0"/>
              <a:t/>
            </a:r>
            <a:br>
              <a:rPr lang="en-US" dirty="0" smtClean="0"/>
            </a:br>
            <a:r>
              <a:rPr lang="en-US" dirty="0" smtClean="0"/>
              <a:t>They are used for testing fault tolerance of the system by knowingly providing the errors in the code of the software.</a:t>
            </a:r>
          </a:p>
          <a:p>
            <a:pPr lvl="0"/>
            <a:endParaRPr lang="en-IN" dirty="0" smtClean="0">
              <a:solidFill>
                <a:srgbClr val="FF0000"/>
              </a:solidFill>
            </a:endParaRPr>
          </a:p>
          <a:p>
            <a:endParaRPr lang="en-US" dirty="0" smtClean="0"/>
          </a:p>
        </p:txBody>
      </p:sp>
    </p:spTree>
    <p:extLst>
      <p:ext uri="{BB962C8B-B14F-4D97-AF65-F5344CB8AC3E}">
        <p14:creationId xmlns="" xmlns:p14="http://schemas.microsoft.com/office/powerpoint/2010/main" val="214013693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a:bodyPr>
          <a:lstStyle/>
          <a:p>
            <a:pPr lvl="0">
              <a:buNone/>
            </a:pPr>
            <a:r>
              <a:rPr lang="en-US" sz="4000" dirty="0" smtClean="0">
                <a:solidFill>
                  <a:srgbClr val="C00000"/>
                </a:solidFill>
              </a:rPr>
              <a:t>    </a:t>
            </a:r>
            <a:r>
              <a:rPr lang="en-US" sz="4000" u="sng" dirty="0" smtClean="0">
                <a:solidFill>
                  <a:srgbClr val="C00000"/>
                </a:solidFill>
              </a:rPr>
              <a:t>Introduction to functional testing:-  </a:t>
            </a:r>
          </a:p>
          <a:p>
            <a:pPr lvl="0" algn="just">
              <a:buNone/>
            </a:pPr>
            <a:r>
              <a:rPr lang="en-US" sz="2800" dirty="0" smtClean="0"/>
              <a:t>    Functional testing is </a:t>
            </a:r>
            <a:r>
              <a:rPr lang="en-US" sz="2800" b="1" dirty="0" smtClean="0"/>
              <a:t>a type of testing that seeks to establish whether each application feature works as per the software requirements</a:t>
            </a:r>
            <a:r>
              <a:rPr lang="en-US" sz="2800" dirty="0" smtClean="0"/>
              <a:t>. </a:t>
            </a:r>
          </a:p>
          <a:p>
            <a:pPr lvl="0" algn="just">
              <a:buNone/>
            </a:pPr>
            <a:r>
              <a:rPr lang="en-US" sz="2800" dirty="0" smtClean="0"/>
              <a:t>    Each function is compared to the corresponding requirement to ascertain whether its output is consistent with the end user's expectations.</a:t>
            </a:r>
          </a:p>
          <a:p>
            <a:pPr lvl="0" algn="just">
              <a:buNone/>
            </a:pPr>
            <a:r>
              <a:rPr lang="en-US" sz="2800" dirty="0" smtClean="0"/>
              <a:t>    Functional testing is the process through which QAs determine if a piece of software is acting in accordance with pre-determined requirements. It uses black-box testing techniques, in which the tester has no knowledge of the internal system logic. </a:t>
            </a:r>
          </a:p>
          <a:p>
            <a:pPr lvl="0" algn="just">
              <a:buNone/>
            </a:pPr>
            <a:r>
              <a:rPr lang="en-US" sz="2800" dirty="0" smtClean="0"/>
              <a:t>   Functional testing is only concerned with validating if a system works as intended.</a:t>
            </a:r>
          </a:p>
          <a:p>
            <a:pPr lvl="0">
              <a:buNone/>
            </a:pPr>
            <a:endParaRPr lang="en-IN" sz="2800" b="1" dirty="0">
              <a:latin typeface="Aparajita" pitchFamily="34" charset="0"/>
              <a:cs typeface="Aparajita" pitchFamily="34"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2"/>
          </a:lnRef>
          <a:fillRef idx="2">
            <a:schemeClr val="accent2"/>
          </a:fillRef>
          <a:effectRef idx="1">
            <a:schemeClr val="accent2"/>
          </a:effectRef>
          <a:fontRef idx="minor">
            <a:schemeClr val="dk1"/>
          </a:fontRef>
        </p:style>
        <p:txBody>
          <a:bodyPr>
            <a:normAutofit fontScale="92500"/>
          </a:bodyPr>
          <a:lstStyle/>
          <a:p>
            <a:r>
              <a:rPr lang="en-US" b="1" dirty="0" smtClean="0"/>
              <a:t>What is Functional Testing?</a:t>
            </a:r>
          </a:p>
          <a:p>
            <a:r>
              <a:rPr lang="en-US" b="1" dirty="0" smtClean="0"/>
              <a:t>FUNCTIONAL TESTING</a:t>
            </a:r>
            <a:r>
              <a:rPr lang="en-US" dirty="0" smtClean="0"/>
              <a:t> is a type of software testing that validates the software system against the functional requirements/specifications. The purpose of Functional tests is to test each function of the software application, by providing appropriate input, verifying the output against the Functional requirements.</a:t>
            </a:r>
          </a:p>
          <a:p>
            <a:r>
              <a:rPr lang="en-US" dirty="0" smtClean="0"/>
              <a:t>Functional testing mainly involves black box testing and it is not concerned about the source code of the application. This testing checks User Interface, APIs, Database, Security, Client/Server communication and other functionality of the Application Under Test. The testing can be done either manually or using automation.</a:t>
            </a:r>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2"/>
          </a:lnRef>
          <a:fillRef idx="2">
            <a:schemeClr val="accent2"/>
          </a:fillRef>
          <a:effectRef idx="1">
            <a:schemeClr val="accent2"/>
          </a:effectRef>
          <a:fontRef idx="minor">
            <a:schemeClr val="dk1"/>
          </a:fontRef>
        </p:style>
        <p:txBody>
          <a:bodyPr>
            <a:normAutofit fontScale="92500" lnSpcReduction="10000"/>
          </a:bodyPr>
          <a:lstStyle/>
          <a:p>
            <a:r>
              <a:rPr lang="en-US" b="1" dirty="0" smtClean="0"/>
              <a:t>What do you test in Functional Testing?</a:t>
            </a:r>
          </a:p>
          <a:p>
            <a:r>
              <a:rPr lang="en-US" dirty="0" smtClean="0"/>
              <a:t>The prime objective of Functional testing is checking the functionalities of the software system. It mainly concentrates on –</a:t>
            </a:r>
          </a:p>
          <a:p>
            <a:r>
              <a:rPr lang="en-US" b="1" dirty="0" smtClean="0"/>
              <a:t>Mainline functions</a:t>
            </a:r>
            <a:r>
              <a:rPr lang="en-US" dirty="0" smtClean="0"/>
              <a:t>:  Testing the main functions of an application</a:t>
            </a:r>
          </a:p>
          <a:p>
            <a:r>
              <a:rPr lang="en-US" b="1" dirty="0" smtClean="0"/>
              <a:t>Basic Usability</a:t>
            </a:r>
            <a:r>
              <a:rPr lang="en-US" dirty="0" smtClean="0"/>
              <a:t>: It involves basic usability testing of the system. It checks whether a user can freely navigate through the screens without any difficulties.</a:t>
            </a:r>
          </a:p>
          <a:p>
            <a:r>
              <a:rPr lang="en-US" b="1" dirty="0" smtClean="0"/>
              <a:t>Accessibility</a:t>
            </a:r>
            <a:r>
              <a:rPr lang="en-US" dirty="0" smtClean="0"/>
              <a:t>:  Checks the accessibility of the system for the user</a:t>
            </a:r>
          </a:p>
          <a:p>
            <a:r>
              <a:rPr lang="en-US" b="1" dirty="0" smtClean="0"/>
              <a:t>Error Conditions</a:t>
            </a:r>
            <a:r>
              <a:rPr lang="en-US" dirty="0" smtClean="0"/>
              <a:t>: Usage of testing techniques to check for error conditions.  It checks whether suitable error messages are displayed.</a:t>
            </a: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2"/>
          </a:lnRef>
          <a:fillRef idx="2">
            <a:schemeClr val="accent2"/>
          </a:fillRef>
          <a:effectRef idx="1">
            <a:schemeClr val="accent2"/>
          </a:effectRef>
          <a:fontRef idx="minor">
            <a:schemeClr val="dk1"/>
          </a:fontRef>
        </p:style>
        <p:txBody>
          <a:bodyPr>
            <a:normAutofit/>
          </a:bodyPr>
          <a:lstStyle/>
          <a:p>
            <a:r>
              <a:rPr lang="en-US" b="1" u="sng" dirty="0" smtClean="0">
                <a:solidFill>
                  <a:srgbClr val="C00000"/>
                </a:solidFill>
              </a:rPr>
              <a:t>Functional testing types</a:t>
            </a:r>
            <a:endParaRPr lang="en-US" u="sng" dirty="0" smtClean="0">
              <a:solidFill>
                <a:srgbClr val="C00000"/>
              </a:solidFill>
            </a:endParaRPr>
          </a:p>
          <a:p>
            <a:r>
              <a:rPr lang="en-US" dirty="0" smtClean="0"/>
              <a:t>Unit testing.</a:t>
            </a:r>
          </a:p>
          <a:p>
            <a:r>
              <a:rPr lang="en-US" dirty="0" smtClean="0"/>
              <a:t>Component testing.</a:t>
            </a:r>
          </a:p>
          <a:p>
            <a:r>
              <a:rPr lang="en-US" dirty="0" smtClean="0"/>
              <a:t>Smoke testing.</a:t>
            </a:r>
          </a:p>
          <a:p>
            <a:r>
              <a:rPr lang="en-US" dirty="0" smtClean="0"/>
              <a:t>Regression testing.</a:t>
            </a:r>
          </a:p>
          <a:p>
            <a:r>
              <a:rPr lang="en-US" dirty="0" smtClean="0"/>
              <a:t>Integration testing.</a:t>
            </a:r>
          </a:p>
          <a:p>
            <a:r>
              <a:rPr lang="en-US" dirty="0" smtClean="0"/>
              <a:t>API testing.</a:t>
            </a:r>
          </a:p>
          <a:p>
            <a:r>
              <a:rPr lang="en-US" dirty="0" smtClean="0"/>
              <a:t>UI testing.</a:t>
            </a:r>
          </a:p>
          <a:p>
            <a:endParaRPr lang="en-US" dirty="0"/>
          </a:p>
        </p:txBody>
      </p:sp>
      <p:pic>
        <p:nvPicPr>
          <p:cNvPr id="115713" name="Picture 1"/>
          <p:cNvPicPr>
            <a:picLocks noChangeAspect="1" noChangeArrowheads="1"/>
          </p:cNvPicPr>
          <p:nvPr/>
        </p:nvPicPr>
        <p:blipFill>
          <a:blip r:embed="rId2"/>
          <a:srcRect/>
          <a:stretch>
            <a:fillRect/>
          </a:stretch>
        </p:blipFill>
        <p:spPr bwMode="auto">
          <a:xfrm>
            <a:off x="3657600" y="685800"/>
            <a:ext cx="5432425" cy="5943600"/>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85000" lnSpcReduction="10000"/>
          </a:bodyPr>
          <a:lstStyle/>
          <a:p>
            <a:r>
              <a:rPr lang="en-US" b="1" dirty="0" smtClean="0">
                <a:solidFill>
                  <a:srgbClr val="C00000"/>
                </a:solidFill>
              </a:rPr>
              <a:t>1. Unit Testing</a:t>
            </a:r>
            <a:r>
              <a:rPr lang="en-US" dirty="0" smtClean="0">
                <a:solidFill>
                  <a:srgbClr val="C00000"/>
                </a:solidFill>
              </a:rPr>
              <a:t>: </a:t>
            </a:r>
            <a:r>
              <a:rPr lang="en-US" dirty="0" smtClean="0"/>
              <a:t>This is performed by developers who write scripts that test if individual components/units of an application match the requirements. This usually involves writing tests that call the methods in each unit and validate them when they return values that match the requirements.</a:t>
            </a:r>
          </a:p>
          <a:p>
            <a:pPr lvl="1"/>
            <a:r>
              <a:rPr lang="en-US" dirty="0" smtClean="0"/>
              <a:t>In unit testing, </a:t>
            </a:r>
            <a:r>
              <a:rPr lang="en-US" u="sng" dirty="0" smtClean="0"/>
              <a:t>code coverage</a:t>
            </a:r>
            <a:r>
              <a:rPr lang="en-US" dirty="0" smtClean="0"/>
              <a:t> is mandatory. Ensure that test cases exist to cover the following:</a:t>
            </a:r>
          </a:p>
          <a:p>
            <a:pPr lvl="2"/>
            <a:r>
              <a:rPr lang="en-US" sz="3300" dirty="0" smtClean="0">
                <a:solidFill>
                  <a:srgbClr val="C00000"/>
                </a:solidFill>
              </a:rPr>
              <a:t>Line coverage</a:t>
            </a:r>
          </a:p>
          <a:p>
            <a:pPr lvl="2"/>
            <a:r>
              <a:rPr lang="en-US" sz="3300" dirty="0" smtClean="0">
                <a:solidFill>
                  <a:srgbClr val="C00000"/>
                </a:solidFill>
              </a:rPr>
              <a:t>Code path coverage</a:t>
            </a:r>
          </a:p>
          <a:p>
            <a:pPr lvl="2"/>
            <a:r>
              <a:rPr lang="en-US" sz="3300" dirty="0" smtClean="0">
                <a:solidFill>
                  <a:srgbClr val="C00000"/>
                </a:solidFill>
              </a:rPr>
              <a:t>Method coverage</a:t>
            </a:r>
            <a:endParaRPr lang="en-US" dirty="0" smtClean="0">
              <a:solidFill>
                <a:srgbClr val="C00000"/>
              </a:solidFill>
            </a:endParaRPr>
          </a:p>
          <a:p>
            <a:r>
              <a:rPr lang="en-US" b="1" dirty="0" smtClean="0">
                <a:solidFill>
                  <a:srgbClr val="C00000"/>
                </a:solidFill>
              </a:rPr>
              <a:t>2. Smoke Testing</a:t>
            </a:r>
            <a:r>
              <a:rPr lang="en-US" dirty="0" smtClean="0">
                <a:solidFill>
                  <a:srgbClr val="C00000"/>
                </a:solidFill>
              </a:rPr>
              <a:t>: </a:t>
            </a:r>
            <a:r>
              <a:rPr lang="en-US" dirty="0" smtClean="0"/>
              <a:t>This is done after the release of each build to ensure that software stability is intact and not facing any anomalies.</a:t>
            </a:r>
          </a:p>
          <a:p>
            <a:r>
              <a:rPr lang="en-US" b="1" dirty="0" smtClean="0">
                <a:solidFill>
                  <a:srgbClr val="C00000"/>
                </a:solidFill>
              </a:rPr>
              <a:t>3. Sanity Testing</a:t>
            </a:r>
            <a:r>
              <a:rPr lang="en-US" dirty="0" smtClean="0"/>
              <a:t>: Usually done after smoke testing, this is run to verify that every major functionality of an application is working perfectly, both by itself and in combination with other elements.</a:t>
            </a:r>
          </a:p>
          <a:p>
            <a:endParaRPr lang="en-US" dirty="0" smtClean="0"/>
          </a:p>
        </p:txBody>
      </p:sp>
    </p:spTree>
    <p:extLst>
      <p:ext uri="{BB962C8B-B14F-4D97-AF65-F5344CB8AC3E}">
        <p14:creationId xmlns="" xmlns:p14="http://schemas.microsoft.com/office/powerpoint/2010/main" val="191524766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2"/>
          </a:lnRef>
          <a:fillRef idx="2">
            <a:schemeClr val="accent2"/>
          </a:fillRef>
          <a:effectRef idx="1">
            <a:schemeClr val="accent2"/>
          </a:effectRef>
          <a:fontRef idx="minor">
            <a:schemeClr val="dk1"/>
          </a:fontRef>
        </p:style>
        <p:txBody>
          <a:bodyPr>
            <a:normAutofit fontScale="92500" lnSpcReduction="10000"/>
          </a:bodyPr>
          <a:lstStyle/>
          <a:p>
            <a:r>
              <a:rPr lang="en-US" b="1" u="sng" dirty="0" smtClean="0">
                <a:solidFill>
                  <a:srgbClr val="C00000"/>
                </a:solidFill>
              </a:rPr>
              <a:t>Regression Testing</a:t>
            </a:r>
            <a:r>
              <a:rPr lang="en-US" dirty="0" smtClean="0">
                <a:solidFill>
                  <a:srgbClr val="C00000"/>
                </a:solidFill>
              </a:rPr>
              <a:t>: </a:t>
            </a:r>
            <a:r>
              <a:rPr lang="en-US" dirty="0" smtClean="0"/>
              <a:t>This test ensures that changes to the codebase (new code, debugging strategies, etc.) do not disrupt the already existing functions or trigger some instability.</a:t>
            </a:r>
          </a:p>
          <a:p>
            <a:r>
              <a:rPr lang="en-US" b="1" dirty="0" smtClean="0">
                <a:solidFill>
                  <a:srgbClr val="C00000"/>
                </a:solidFill>
              </a:rPr>
              <a:t>Integration Testing</a:t>
            </a:r>
            <a:r>
              <a:rPr lang="en-US" dirty="0" smtClean="0"/>
              <a:t>: If a system requires multiple functional modules to work effectively, integration testing is done to ensure that individual modules work as expected when operating in combination with each other. It validates that the end-to-end outcome of the system meets these necessary standards.</a:t>
            </a:r>
          </a:p>
          <a:p>
            <a:r>
              <a:rPr lang="en-US" b="1" u="sng" dirty="0" smtClean="0">
                <a:solidFill>
                  <a:srgbClr val="C00000"/>
                </a:solidFill>
              </a:rPr>
              <a:t>Beta/ Usability Testing</a:t>
            </a:r>
            <a:r>
              <a:rPr lang="en-US" dirty="0" smtClean="0">
                <a:solidFill>
                  <a:srgbClr val="C00000"/>
                </a:solidFill>
              </a:rPr>
              <a:t>:</a:t>
            </a:r>
            <a:r>
              <a:rPr lang="en-US" dirty="0" smtClean="0"/>
              <a:t> In this stage, actual customers test the product in a production environment. This stage is necessary to gauge how comfortable a customer is with the interface. Their feedback is taken for implementing further improvements to the code.</a:t>
            </a:r>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r>
              <a:rPr lang="en-US" b="1" dirty="0" smtClean="0">
                <a:solidFill>
                  <a:srgbClr val="C00000"/>
                </a:solidFill>
              </a:rPr>
              <a:t>Process Workflow for Functional Testing:-</a:t>
            </a:r>
            <a:endParaRPr lang="en-US" dirty="0" smtClean="0">
              <a:solidFill>
                <a:srgbClr val="C00000"/>
              </a:solidFill>
            </a:endParaRPr>
          </a:p>
          <a:p>
            <a:r>
              <a:rPr lang="en-US" sz="2400" dirty="0" smtClean="0"/>
              <a:t>The overview of a functional test includes the following steps:</a:t>
            </a:r>
          </a:p>
          <a:p>
            <a:r>
              <a:rPr lang="en-US" sz="2800" dirty="0" smtClean="0">
                <a:solidFill>
                  <a:srgbClr val="C00000"/>
                </a:solidFill>
              </a:rPr>
              <a:t>Create input values</a:t>
            </a:r>
          </a:p>
          <a:p>
            <a:r>
              <a:rPr lang="en-US" sz="2800" dirty="0" smtClean="0">
                <a:solidFill>
                  <a:srgbClr val="C00000"/>
                </a:solidFill>
              </a:rPr>
              <a:t>Execute test cases</a:t>
            </a:r>
          </a:p>
          <a:p>
            <a:r>
              <a:rPr lang="en-US" sz="2800" dirty="0" smtClean="0">
                <a:solidFill>
                  <a:srgbClr val="C00000"/>
                </a:solidFill>
              </a:rPr>
              <a:t>Compare actual and expected </a:t>
            </a:r>
            <a:r>
              <a:rPr lang="en-US" dirty="0" smtClean="0">
                <a:solidFill>
                  <a:srgbClr val="C00000"/>
                </a:solidFill>
              </a:rPr>
              <a:t>output</a:t>
            </a:r>
          </a:p>
          <a:p>
            <a:pPr lvl="0"/>
            <a:endParaRPr lang="en-IN" dirty="0">
              <a:solidFill>
                <a:srgbClr val="FF0000"/>
              </a:solidFill>
            </a:endParaRPr>
          </a:p>
        </p:txBody>
      </p:sp>
      <p:pic>
        <p:nvPicPr>
          <p:cNvPr id="111619" name="Picture 3"/>
          <p:cNvPicPr>
            <a:picLocks noChangeAspect="1" noChangeArrowheads="1"/>
          </p:cNvPicPr>
          <p:nvPr/>
        </p:nvPicPr>
        <p:blipFill>
          <a:blip r:embed="rId2"/>
          <a:srcRect/>
          <a:stretch>
            <a:fillRect/>
          </a:stretch>
        </p:blipFill>
        <p:spPr bwMode="auto">
          <a:xfrm>
            <a:off x="0" y="5181600"/>
            <a:ext cx="9144000" cy="1371600"/>
          </a:xfrm>
          <a:prstGeom prst="rect">
            <a:avLst/>
          </a:prstGeom>
          <a:noFill/>
          <a:ln w="9525">
            <a:noFill/>
            <a:miter lim="800000"/>
            <a:headEnd/>
            <a:tailEnd/>
          </a:ln>
          <a:effectLst/>
        </p:spPr>
      </p:pic>
      <p:sp>
        <p:nvSpPr>
          <p:cNvPr id="111621" name="AutoShape 5" descr="C:\Users\91995\Desktop\FunctionalTestingProcessv1.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11622" name="Picture 6"/>
          <p:cNvPicPr>
            <a:picLocks noChangeAspect="1" noChangeArrowheads="1"/>
          </p:cNvPicPr>
          <p:nvPr/>
        </p:nvPicPr>
        <p:blipFill>
          <a:blip r:embed="rId3"/>
          <a:srcRect/>
          <a:stretch>
            <a:fillRect/>
          </a:stretch>
        </p:blipFill>
        <p:spPr bwMode="auto">
          <a:xfrm>
            <a:off x="152400" y="2743200"/>
            <a:ext cx="8991600" cy="2362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28600"/>
            <a:ext cx="9144000" cy="7086600"/>
          </a:xfrm>
        </p:spPr>
        <p:style>
          <a:lnRef idx="1">
            <a:schemeClr val="accent5"/>
          </a:lnRef>
          <a:fillRef idx="2">
            <a:schemeClr val="accent5"/>
          </a:fillRef>
          <a:effectRef idx="1">
            <a:schemeClr val="accent5"/>
          </a:effectRef>
          <a:fontRef idx="minor">
            <a:schemeClr val="dk1"/>
          </a:fontRef>
        </p:style>
        <p:txBody>
          <a:bodyPr>
            <a:normAutofit lnSpcReduction="10000"/>
          </a:bodyPr>
          <a:lstStyle/>
          <a:p>
            <a:r>
              <a:rPr lang="en-US" dirty="0" smtClean="0">
                <a:solidFill>
                  <a:srgbClr val="C00000"/>
                </a:solidFill>
              </a:rPr>
              <a:t>Generally, functional testing in detail follows the steps below:</a:t>
            </a:r>
          </a:p>
          <a:p>
            <a:r>
              <a:rPr lang="en-US" dirty="0" smtClean="0">
                <a:solidFill>
                  <a:srgbClr val="C00000"/>
                </a:solidFill>
              </a:rPr>
              <a:t>Determine </a:t>
            </a:r>
            <a:r>
              <a:rPr lang="en-US" dirty="0" smtClean="0"/>
              <a:t>which functionality of the product needs to be tested. This can vary from testing main functions, messages, error conditions and/or product usability.</a:t>
            </a:r>
          </a:p>
          <a:p>
            <a:r>
              <a:rPr lang="en-US" dirty="0" smtClean="0">
                <a:solidFill>
                  <a:srgbClr val="C00000"/>
                </a:solidFill>
              </a:rPr>
              <a:t>Create input </a:t>
            </a:r>
            <a:r>
              <a:rPr lang="en-US" dirty="0" smtClean="0"/>
              <a:t>data for functionalities to be tested according to specified requirements.</a:t>
            </a:r>
          </a:p>
          <a:p>
            <a:r>
              <a:rPr lang="en-US" dirty="0" smtClean="0">
                <a:solidFill>
                  <a:srgbClr val="C00000"/>
                </a:solidFill>
              </a:rPr>
              <a:t>Determine acceptable </a:t>
            </a:r>
            <a:r>
              <a:rPr lang="en-US" dirty="0" smtClean="0"/>
              <a:t>output parameters according to specified requirements.</a:t>
            </a:r>
          </a:p>
          <a:p>
            <a:r>
              <a:rPr lang="en-US" dirty="0" smtClean="0">
                <a:solidFill>
                  <a:srgbClr val="C00000"/>
                </a:solidFill>
              </a:rPr>
              <a:t>Execute test cases.</a:t>
            </a:r>
          </a:p>
          <a:p>
            <a:r>
              <a:rPr lang="en-US" dirty="0" smtClean="0">
                <a:solidFill>
                  <a:srgbClr val="C00000"/>
                </a:solidFill>
              </a:rPr>
              <a:t>Compare actual </a:t>
            </a:r>
            <a:r>
              <a:rPr lang="en-US" dirty="0" smtClean="0"/>
              <a:t>output from the test with the predetermined output values. This reveals if the system is working as expected.</a:t>
            </a:r>
          </a:p>
          <a:p>
            <a:pPr lvl="0"/>
            <a:endParaRPr lang="en-IN" dirty="0">
              <a:latin typeface="Aparajita" pitchFamily="34" charset="0"/>
              <a:cs typeface="Aparajita" pitchFamily="34"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20000"/>
          </a:bodyPr>
          <a:lstStyle/>
          <a:p>
            <a:r>
              <a:rPr lang="en-US" dirty="0" smtClean="0">
                <a:solidFill>
                  <a:srgbClr val="C00000"/>
                </a:solidFill>
              </a:rPr>
              <a:t>Introduction of Structural Testing:-</a:t>
            </a:r>
          </a:p>
          <a:p>
            <a:r>
              <a:rPr lang="en-US" dirty="0" smtClean="0"/>
              <a:t>Another type of </a:t>
            </a:r>
            <a:r>
              <a:rPr lang="en-US" b="1" dirty="0" smtClean="0">
                <a:hlinkClick r:id="rId2"/>
              </a:rPr>
              <a:t>software testing</a:t>
            </a:r>
            <a:r>
              <a:rPr lang="en-US" dirty="0" smtClean="0"/>
              <a:t> technique is </a:t>
            </a:r>
            <a:r>
              <a:rPr lang="en-US" b="1" dirty="0" smtClean="0"/>
              <a:t>Structural testing</a:t>
            </a:r>
            <a:r>
              <a:rPr lang="en-US" dirty="0" smtClean="0"/>
              <a:t>, which is used to test the internal design of the software or structure of the coding for the particular software.</a:t>
            </a:r>
          </a:p>
          <a:p>
            <a:r>
              <a:rPr lang="en-US" dirty="0" smtClean="0"/>
              <a:t>In this testing, the development team members are included in the testing team to execute the software's internal design. The working of structural testing is opposite to </a:t>
            </a:r>
            <a:r>
              <a:rPr lang="en-US" b="1" dirty="0" smtClean="0"/>
              <a:t>Behavioral testing</a:t>
            </a:r>
            <a:r>
              <a:rPr lang="en-US" dirty="0" smtClean="0"/>
              <a:t>.</a:t>
            </a:r>
          </a:p>
          <a:p>
            <a:r>
              <a:rPr lang="en-US" dirty="0" smtClean="0"/>
              <a:t>In other words, we can say that structural testing tests the different features of an application based on its types.</a:t>
            </a:r>
          </a:p>
          <a:p>
            <a:r>
              <a:rPr lang="en-US" dirty="0" smtClean="0"/>
              <a:t>Structural testing is also known as white-box testing, </a:t>
            </a:r>
            <a:r>
              <a:rPr lang="en-US" b="1" dirty="0" smtClean="0"/>
              <a:t>glass box testing</a:t>
            </a:r>
            <a:r>
              <a:rPr lang="en-US" dirty="0" smtClean="0"/>
              <a:t>, and </a:t>
            </a:r>
            <a:r>
              <a:rPr lang="en-US" b="1" dirty="0" smtClean="0"/>
              <a:t>clear-box testing</a:t>
            </a:r>
            <a:r>
              <a:rPr lang="en-US" dirty="0" smtClean="0"/>
              <a:t>. Developers mostly implement it to identify the issue and fix them quickly.</a:t>
            </a:r>
          </a:p>
          <a:p>
            <a:endParaRPr lang="en-US" dirty="0" smtClean="0"/>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3"/>
          </a:lnRef>
          <a:fillRef idx="2">
            <a:schemeClr val="accent3"/>
          </a:fillRef>
          <a:effectRef idx="1">
            <a:schemeClr val="accent3"/>
          </a:effectRef>
          <a:fontRef idx="minor">
            <a:schemeClr val="dk1"/>
          </a:fontRef>
        </p:style>
        <p:txBody>
          <a:bodyPr>
            <a:normAutofit/>
          </a:bodyPr>
          <a:lstStyle/>
          <a:p>
            <a:r>
              <a:rPr lang="en-US" dirty="0" smtClean="0"/>
              <a:t>The structural testing process requires an in-depth knowledge of the programming language and is opposite to Functional Testing.</a:t>
            </a:r>
          </a:p>
          <a:p>
            <a:r>
              <a:rPr lang="en-US" dirty="0" smtClean="0"/>
              <a:t>The knowledge of the code's internal executions and how the software is implemented is a necessity for the test engineer to implement the structural testing.</a:t>
            </a:r>
          </a:p>
          <a:p>
            <a:r>
              <a:rPr lang="en-US" dirty="0" smtClean="0"/>
              <a:t>Throughout the structural testing, the test engineer intends on how the software performs, and it can be used at all levels of testing.</a:t>
            </a:r>
          </a:p>
          <a:p>
            <a:r>
              <a:rPr lang="en-US" b="1" dirty="0" smtClean="0"/>
              <a:t>For example</a:t>
            </a:r>
            <a:r>
              <a:rPr lang="en-US" dirty="0" smtClean="0"/>
              <a:t>, the coverage of menu options or significant business transactions could be the system's structural element or acceptance testing.</a:t>
            </a:r>
          </a:p>
        </p:txBody>
      </p:sp>
    </p:spTree>
    <p:extLst>
      <p:ext uri="{BB962C8B-B14F-4D97-AF65-F5344CB8AC3E}">
        <p14:creationId xmlns="" xmlns:p14="http://schemas.microsoft.com/office/powerpoint/2010/main" val="328123100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4"/>
          </a:lnRef>
          <a:fillRef idx="2">
            <a:schemeClr val="accent4"/>
          </a:fillRef>
          <a:effectRef idx="1">
            <a:schemeClr val="accent4"/>
          </a:effectRef>
          <a:fontRef idx="minor">
            <a:schemeClr val="dk1"/>
          </a:fontRef>
        </p:style>
        <p:txBody>
          <a:bodyPr>
            <a:normAutofit fontScale="85000" lnSpcReduction="10000"/>
          </a:bodyPr>
          <a:lstStyle/>
          <a:p>
            <a:r>
              <a:rPr lang="en-US" b="1" dirty="0" smtClean="0">
                <a:solidFill>
                  <a:srgbClr val="C00000"/>
                </a:solidFill>
              </a:rPr>
              <a:t>What are the Characteristics of Structural Testing?</a:t>
            </a:r>
            <a:r>
              <a:rPr lang="en-US" dirty="0" smtClean="0"/>
              <a:t/>
            </a:r>
            <a:br>
              <a:rPr lang="en-US" dirty="0" smtClean="0"/>
            </a:br>
            <a:r>
              <a:rPr lang="en-US" dirty="0" smtClean="0"/>
              <a:t>Structural testing, white box testing or glass box testing has the following characteristics:</a:t>
            </a:r>
          </a:p>
          <a:p>
            <a:r>
              <a:rPr lang="en-US" dirty="0" smtClean="0"/>
              <a:t>Structural testing requires the knowledge of internal coding of the software and the basics. Thus, the testing can only be carried out by a member of the developer team who knows how the software was designed.</a:t>
            </a:r>
          </a:p>
          <a:p>
            <a:r>
              <a:rPr lang="en-US" dirty="0" smtClean="0"/>
              <a:t>The structural testing is based on how the system carries out the operations instead of how it is perceived by the users or how functions are carried out.</a:t>
            </a:r>
          </a:p>
          <a:p>
            <a:r>
              <a:rPr lang="en-US" dirty="0" smtClean="0"/>
              <a:t>The structural testing provides better coverage than many of the testing approaches as it tests the whole code in detail, and the errors involved can easily be removed. The chances of missing out on any error become very low.</a:t>
            </a:r>
          </a:p>
          <a:p>
            <a:r>
              <a:rPr lang="en-US" dirty="0" smtClean="0"/>
              <a:t>Structural testing can be carried out at various levels, from high to low, which involves the whole detailed testing of the system. It can complement the functional testing.</a:t>
            </a:r>
          </a:p>
          <a:p>
            <a:endParaRPr lang="en-US" dirty="0" smtClean="0">
              <a:latin typeface="Aparajita" pitchFamily="34" charset="0"/>
              <a:cs typeface="Aparajita" pitchFamily="34" charset="0"/>
            </a:endParaRPr>
          </a:p>
        </p:txBody>
      </p:sp>
    </p:spTree>
    <p:extLst>
      <p:ext uri="{BB962C8B-B14F-4D97-AF65-F5344CB8AC3E}">
        <p14:creationId xmlns="" xmlns:p14="http://schemas.microsoft.com/office/powerpoint/2010/main" val="214013693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4"/>
          </a:lnRef>
          <a:fillRef idx="2">
            <a:schemeClr val="accent4"/>
          </a:fillRef>
          <a:effectRef idx="1">
            <a:schemeClr val="accent4"/>
          </a:effectRef>
          <a:fontRef idx="minor">
            <a:schemeClr val="dk1"/>
          </a:fontRef>
        </p:style>
        <p:txBody>
          <a:bodyPr>
            <a:normAutofit fontScale="92500" lnSpcReduction="10000"/>
          </a:bodyPr>
          <a:lstStyle/>
          <a:p>
            <a:pPr fontAlgn="base"/>
            <a:r>
              <a:rPr lang="en-US" b="1" dirty="0" smtClean="0">
                <a:solidFill>
                  <a:srgbClr val="C00000"/>
                </a:solidFill>
              </a:rPr>
              <a:t>Error Handling Software Testing:-</a:t>
            </a:r>
            <a:r>
              <a:rPr lang="en-US" dirty="0" smtClean="0"/>
              <a:t>Error handling testing is a type of </a:t>
            </a:r>
            <a:r>
              <a:rPr lang="en-US" u="sng" dirty="0" smtClean="0">
                <a:hlinkClick r:id="rId2"/>
              </a:rPr>
              <a:t>software testing</a:t>
            </a:r>
            <a:r>
              <a:rPr lang="en-US" dirty="0" smtClean="0"/>
              <a:t> that is performed to check whether the system is capable of or able to handle the errors that may happen in future. This type of testing is basically performed with the help of both developers and the testers. Error handling testing not only focuses on the determination of error but also focuses on the exception handling.</a:t>
            </a:r>
          </a:p>
          <a:p>
            <a:pPr fontAlgn="base"/>
            <a:r>
              <a:rPr lang="en-US" b="1" dirty="0" smtClean="0">
                <a:solidFill>
                  <a:srgbClr val="C00000"/>
                </a:solidFill>
              </a:rPr>
              <a:t>Objective of Error Handling Testing:</a:t>
            </a:r>
            <a:r>
              <a:rPr lang="en-US" dirty="0" smtClean="0"/>
              <a:t/>
            </a:r>
            <a:br>
              <a:rPr lang="en-US" dirty="0" smtClean="0"/>
            </a:br>
            <a:r>
              <a:rPr lang="en-US" dirty="0" smtClean="0"/>
              <a:t>The objective of error handling testing is:</a:t>
            </a:r>
          </a:p>
          <a:p>
            <a:pPr fontAlgn="base"/>
            <a:r>
              <a:rPr lang="en-US" dirty="0" smtClean="0"/>
              <a:t>To check the system ability to handle errors.</a:t>
            </a:r>
          </a:p>
          <a:p>
            <a:pPr fontAlgn="base"/>
            <a:r>
              <a:rPr lang="en-US" dirty="0" smtClean="0"/>
              <a:t>To check the system highest soak point.</a:t>
            </a:r>
          </a:p>
          <a:p>
            <a:pPr fontAlgn="base"/>
            <a:r>
              <a:rPr lang="en-US" dirty="0" smtClean="0"/>
              <a:t>To make sure errors can be handles properly by the system in the future.</a:t>
            </a:r>
          </a:p>
          <a:p>
            <a:pPr fontAlgn="base"/>
            <a:r>
              <a:rPr lang="en-US" dirty="0" smtClean="0"/>
              <a:t>To make system capable of exception handling also.</a:t>
            </a:r>
          </a:p>
          <a:p>
            <a:endParaRPr lang="en-US" b="1" dirty="0" smtClean="0"/>
          </a:p>
          <a:p>
            <a:endParaRPr lang="en-US" dirty="0" smtClean="0"/>
          </a:p>
        </p:txBody>
      </p:sp>
    </p:spTree>
    <p:extLst>
      <p:ext uri="{BB962C8B-B14F-4D97-AF65-F5344CB8AC3E}">
        <p14:creationId xmlns="" xmlns:p14="http://schemas.microsoft.com/office/powerpoint/2010/main" val="214013693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3"/>
          </a:lnRef>
          <a:fillRef idx="2">
            <a:schemeClr val="accent3"/>
          </a:fillRef>
          <a:effectRef idx="1">
            <a:schemeClr val="accent3"/>
          </a:effectRef>
          <a:fontRef idx="minor">
            <a:schemeClr val="dk1"/>
          </a:fontRef>
        </p:style>
        <p:txBody>
          <a:bodyPr>
            <a:normAutofit/>
          </a:bodyPr>
          <a:lstStyle/>
          <a:p>
            <a:pPr algn="ctr"/>
            <a:r>
              <a:rPr lang="en-US" sz="3000" dirty="0" smtClean="0"/>
              <a:t/>
            </a:r>
            <a:br>
              <a:rPr lang="en-US" sz="3000" dirty="0" smtClean="0"/>
            </a:br>
            <a:endParaRPr lang="en-IN" sz="3000" dirty="0"/>
          </a:p>
        </p:txBody>
      </p:sp>
      <p:pic>
        <p:nvPicPr>
          <p:cNvPr id="51201" name="Picture 1"/>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extLst>
      <p:ext uri="{BB962C8B-B14F-4D97-AF65-F5344CB8AC3E}">
        <p14:creationId xmlns="" xmlns:p14="http://schemas.microsoft.com/office/powerpoint/2010/main" val="328123100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20000"/>
          </a:bodyPr>
          <a:lstStyle/>
          <a:p>
            <a:r>
              <a:rPr lang="en-US" b="1" dirty="0" smtClean="0">
                <a:solidFill>
                  <a:srgbClr val="C00000"/>
                </a:solidFill>
              </a:rPr>
              <a:t>Steps involved in the Error Handling testing:</a:t>
            </a:r>
            <a:r>
              <a:rPr lang="en-US" dirty="0" smtClean="0"/>
              <a:t/>
            </a:r>
            <a:br>
              <a:rPr lang="en-US" dirty="0" smtClean="0"/>
            </a:br>
            <a:r>
              <a:rPr lang="en-US" dirty="0" smtClean="0"/>
              <a:t>Following are the steps involved in the error handling testing:</a:t>
            </a:r>
          </a:p>
          <a:p>
            <a:pPr fontAlgn="base"/>
            <a:r>
              <a:rPr lang="en-US" b="1" dirty="0" smtClean="0">
                <a:solidFill>
                  <a:srgbClr val="C00000"/>
                </a:solidFill>
              </a:rPr>
              <a:t>1. Test Environment Set Up:</a:t>
            </a:r>
            <a:r>
              <a:rPr lang="en-US" dirty="0" smtClean="0"/>
              <a:t/>
            </a:r>
            <a:br>
              <a:rPr lang="en-US" dirty="0" smtClean="0"/>
            </a:br>
            <a:r>
              <a:rPr lang="en-US" dirty="0" smtClean="0"/>
              <a:t>Test environment is set according to the software testing technique so that the testing process can run smoothly. This step includes planning for the testing. System which is going to be tested is made sure have less significant data as there might be crash problem in the system during testing.</a:t>
            </a:r>
          </a:p>
          <a:p>
            <a:pPr fontAlgn="base"/>
            <a:r>
              <a:rPr lang="en-US" b="1" dirty="0" smtClean="0">
                <a:solidFill>
                  <a:srgbClr val="C00000"/>
                </a:solidFill>
              </a:rPr>
              <a:t>2. Test Case Generation:</a:t>
            </a:r>
            <a:r>
              <a:rPr lang="en-US" dirty="0" smtClean="0"/>
              <a:t/>
            </a:r>
            <a:br>
              <a:rPr lang="en-US" dirty="0" smtClean="0"/>
            </a:br>
            <a:r>
              <a:rPr lang="en-US" dirty="0" smtClean="0"/>
              <a:t>In this software testing test case generation is nothing but making different test cases which may cause error. Suppose a software operates on fractions then setting the denominator of the fractions as zero. Test case generation is associated with the developing team as without knowing the internal code, test cases can’t be designed.</a:t>
            </a:r>
          </a:p>
          <a:p>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92500" lnSpcReduction="10000"/>
          </a:bodyPr>
          <a:lstStyle/>
          <a:p>
            <a:pPr fontAlgn="base"/>
            <a:r>
              <a:rPr lang="en-US" b="1" dirty="0" smtClean="0">
                <a:solidFill>
                  <a:srgbClr val="C00000"/>
                </a:solidFill>
              </a:rPr>
              <a:t>3. Test Case Execution:</a:t>
            </a:r>
            <a:r>
              <a:rPr lang="en-US" dirty="0" smtClean="0"/>
              <a:t/>
            </a:r>
            <a:br>
              <a:rPr lang="en-US" dirty="0" smtClean="0"/>
            </a:br>
            <a:r>
              <a:rPr lang="en-US" dirty="0" smtClean="0"/>
              <a:t>After the test case generation, real testing process begins. This is the most prominent part of the testing process. It includes the running the program over the test case generated.</a:t>
            </a:r>
          </a:p>
          <a:p>
            <a:pPr fontAlgn="base"/>
            <a:r>
              <a:rPr lang="en-US" b="1" dirty="0" smtClean="0">
                <a:solidFill>
                  <a:srgbClr val="C00000"/>
                </a:solidFill>
              </a:rPr>
              <a:t>4. Result and Analysis:</a:t>
            </a:r>
            <a:r>
              <a:rPr lang="en-US" dirty="0" smtClean="0"/>
              <a:t/>
            </a:r>
            <a:br>
              <a:rPr lang="en-US" dirty="0" smtClean="0"/>
            </a:br>
            <a:r>
              <a:rPr lang="en-US" dirty="0" smtClean="0"/>
              <a:t>After the execution of the test case, its result is analyzed. It includes the checking of the inconsistency in the expected output for the generated test case. There might be a chance of the program going into an infinite loop which may lead up to software failure.</a:t>
            </a:r>
          </a:p>
          <a:p>
            <a:pPr fontAlgn="base"/>
            <a:r>
              <a:rPr lang="en-US" b="1" dirty="0" smtClean="0">
                <a:solidFill>
                  <a:srgbClr val="C00000"/>
                </a:solidFill>
              </a:rPr>
              <a:t>5. Re-test:</a:t>
            </a:r>
            <a:r>
              <a:rPr lang="en-US" dirty="0" smtClean="0"/>
              <a:t/>
            </a:r>
            <a:br>
              <a:rPr lang="en-US" dirty="0" smtClean="0"/>
            </a:br>
            <a:r>
              <a:rPr lang="en-US" dirty="0" smtClean="0"/>
              <a:t>If the testing is failed then after the analysis once more all the above steps are performed to test the system. It also includes the testing of the system under new test cases generated recently.</a:t>
            </a:r>
          </a:p>
          <a:p>
            <a:pPr lvl="0"/>
            <a:endParaRPr lang="en-IN" dirty="0">
              <a:latin typeface="Aparajita" pitchFamily="34" charset="0"/>
              <a:cs typeface="Aparajita" pitchFamily="34" charset="0"/>
            </a:endParaRPr>
          </a:p>
        </p:txBody>
      </p:sp>
    </p:spTree>
    <p:extLst>
      <p:ext uri="{BB962C8B-B14F-4D97-AF65-F5344CB8AC3E}">
        <p14:creationId xmlns="" xmlns:p14="http://schemas.microsoft.com/office/powerpoint/2010/main" val="192130148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3"/>
          </a:lnRef>
          <a:fillRef idx="2">
            <a:schemeClr val="accent3"/>
          </a:fillRef>
          <a:effectRef idx="1">
            <a:schemeClr val="accent3"/>
          </a:effectRef>
          <a:fontRef idx="minor">
            <a:schemeClr val="dk1"/>
          </a:fontRef>
        </p:style>
        <p:txBody>
          <a:bodyPr>
            <a:normAutofit/>
          </a:bodyPr>
          <a:lstStyle/>
          <a:p>
            <a:pPr algn="ctr"/>
            <a:r>
              <a:rPr lang="en-US" sz="3000" dirty="0" smtClean="0"/>
              <a:t/>
            </a:r>
            <a:br>
              <a:rPr lang="en-US" sz="3000" dirty="0" smtClean="0"/>
            </a:br>
            <a:endParaRPr lang="en-IN" sz="3000" dirty="0"/>
          </a:p>
        </p:txBody>
      </p:sp>
      <p:pic>
        <p:nvPicPr>
          <p:cNvPr id="51201" name="Picture 1"/>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extLst>
      <p:ext uri="{BB962C8B-B14F-4D97-AF65-F5344CB8AC3E}">
        <p14:creationId xmlns="" xmlns:p14="http://schemas.microsoft.com/office/powerpoint/2010/main" val="328123100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3"/>
          </a:lnRef>
          <a:fillRef idx="2">
            <a:schemeClr val="accent3"/>
          </a:fillRef>
          <a:effectRef idx="1">
            <a:schemeClr val="accent3"/>
          </a:effectRef>
          <a:fontRef idx="minor">
            <a:schemeClr val="dk1"/>
          </a:fontRef>
        </p:style>
        <p:txBody>
          <a:bodyPr>
            <a:normAutofit/>
          </a:bodyPr>
          <a:lstStyle/>
          <a:p>
            <a:pPr fontAlgn="base"/>
            <a:r>
              <a:rPr lang="en-US" b="1" dirty="0" smtClean="0">
                <a:solidFill>
                  <a:srgbClr val="C00000"/>
                </a:solidFill>
              </a:rPr>
              <a:t>Advantages of Error handling testing:</a:t>
            </a:r>
            <a:endParaRPr lang="en-US" dirty="0" smtClean="0">
              <a:solidFill>
                <a:srgbClr val="C00000"/>
              </a:solidFill>
            </a:endParaRPr>
          </a:p>
          <a:p>
            <a:pPr fontAlgn="base"/>
            <a:r>
              <a:rPr lang="en-US" dirty="0" smtClean="0"/>
              <a:t>It helps in construction of an error handling powered software.</a:t>
            </a:r>
          </a:p>
          <a:p>
            <a:pPr fontAlgn="base"/>
            <a:r>
              <a:rPr lang="en-US" dirty="0" smtClean="0"/>
              <a:t>It makes the software ready for all circumstances.</a:t>
            </a:r>
          </a:p>
          <a:p>
            <a:pPr fontAlgn="base"/>
            <a:r>
              <a:rPr lang="en-US" dirty="0" smtClean="0"/>
              <a:t>It develops the exception handling technique in the software.</a:t>
            </a:r>
          </a:p>
          <a:p>
            <a:pPr fontAlgn="base"/>
            <a:r>
              <a:rPr lang="en-US" dirty="0" smtClean="0"/>
              <a:t>It helps is maintenance of the software.</a:t>
            </a:r>
          </a:p>
          <a:p>
            <a:pPr fontAlgn="base"/>
            <a:r>
              <a:rPr lang="en-US" b="1" dirty="0" smtClean="0">
                <a:solidFill>
                  <a:srgbClr val="C00000"/>
                </a:solidFill>
              </a:rPr>
              <a:t>Disadvantages of the Error handling testing</a:t>
            </a:r>
            <a:endParaRPr lang="en-US" dirty="0" smtClean="0">
              <a:solidFill>
                <a:srgbClr val="C00000"/>
              </a:solidFill>
            </a:endParaRPr>
          </a:p>
          <a:p>
            <a:pPr fontAlgn="base"/>
            <a:r>
              <a:rPr lang="en-US" dirty="0" smtClean="0"/>
              <a:t>It is costly as both the developing and testing team is involved.</a:t>
            </a:r>
          </a:p>
          <a:p>
            <a:pPr fontAlgn="base"/>
            <a:r>
              <a:rPr lang="en-US" dirty="0" smtClean="0"/>
              <a:t>It takes lot of time to perform the testing operations.</a:t>
            </a:r>
          </a:p>
        </p:txBody>
      </p:sp>
    </p:spTree>
    <p:extLst>
      <p:ext uri="{BB962C8B-B14F-4D97-AF65-F5344CB8AC3E}">
        <p14:creationId xmlns="" xmlns:p14="http://schemas.microsoft.com/office/powerpoint/2010/main" val="328123100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85000" lnSpcReduction="10000"/>
          </a:bodyPr>
          <a:lstStyle/>
          <a:p>
            <a:pPr algn="ctr"/>
            <a:r>
              <a:rPr lang="en-US" sz="3800" b="1" dirty="0" smtClean="0">
                <a:solidFill>
                  <a:srgbClr val="C00000"/>
                </a:solidFill>
              </a:rPr>
              <a:t>Characteristics of modern tools in software testing</a:t>
            </a:r>
          </a:p>
          <a:p>
            <a:r>
              <a:rPr lang="en-US" dirty="0" smtClean="0"/>
              <a:t>Some characteristics of modern tools in software testing are:</a:t>
            </a:r>
          </a:p>
          <a:p>
            <a:r>
              <a:rPr lang="en-US" dirty="0" smtClean="0"/>
              <a:t>1. They have an improved speed.</a:t>
            </a:r>
          </a:p>
          <a:p>
            <a:r>
              <a:rPr lang="en-US" dirty="0" smtClean="0"/>
              <a:t>2. They are more efficient and accurate.</a:t>
            </a:r>
          </a:p>
          <a:p>
            <a:r>
              <a:rPr lang="en-US" dirty="0" smtClean="0"/>
              <a:t>3. They are easy to use.</a:t>
            </a:r>
          </a:p>
          <a:p>
            <a:r>
              <a:rPr lang="en-US" dirty="0" smtClean="0"/>
              <a:t>4. They can be automated.</a:t>
            </a:r>
          </a:p>
          <a:p>
            <a:r>
              <a:rPr lang="en-US" sz="3300" dirty="0" smtClean="0">
                <a:solidFill>
                  <a:srgbClr val="C00000"/>
                </a:solidFill>
              </a:rPr>
              <a:t>Following are characteristics of modern testing tools</a:t>
            </a:r>
          </a:p>
          <a:p>
            <a:r>
              <a:rPr lang="en-US" dirty="0" smtClean="0"/>
              <a:t>It should use one or more testing strategy for performing testing on host as well as on target platform. </a:t>
            </a:r>
          </a:p>
          <a:p>
            <a:r>
              <a:rPr lang="en-US" dirty="0" smtClean="0"/>
              <a:t>It should support GUI based test preparation. </a:t>
            </a:r>
          </a:p>
          <a:p>
            <a:r>
              <a:rPr lang="en-US" dirty="0" smtClean="0"/>
              <a:t>It should provide complete code coverage and create test documentation in various formats (HTML/DOC/RTF...). </a:t>
            </a:r>
          </a:p>
          <a:p>
            <a:r>
              <a:rPr lang="en-US" dirty="0" smtClean="0"/>
              <a:t>These tools should able to adopt the underlying hardware. </a:t>
            </a:r>
          </a:p>
          <a:p>
            <a:r>
              <a:rPr lang="en-US" dirty="0" smtClean="0"/>
              <a:t>It should be easy to use. 6. Finally it should provide a clear report on test case, steps, test case status (PASS/FAIL). </a:t>
            </a:r>
          </a:p>
          <a:p>
            <a:endParaRPr lang="en-US" dirty="0">
              <a:solidFill>
                <a:srgbClr val="C00000"/>
              </a:solidFill>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5"/>
          </a:lnRef>
          <a:fillRef idx="2">
            <a:schemeClr val="accent5"/>
          </a:fillRef>
          <a:effectRef idx="1">
            <a:schemeClr val="accent5"/>
          </a:effectRef>
          <a:fontRef idx="minor">
            <a:schemeClr val="dk1"/>
          </a:fontRef>
        </p:style>
        <p:txBody>
          <a:bodyPr>
            <a:normAutofit fontScale="92500" lnSpcReduction="20000"/>
          </a:bodyPr>
          <a:lstStyle/>
          <a:p>
            <a:pPr lvl="0" algn="ctr"/>
            <a:r>
              <a:rPr lang="en-US" sz="4700" dirty="0" smtClean="0">
                <a:solidFill>
                  <a:srgbClr val="FF0000"/>
                </a:solidFill>
              </a:rPr>
              <a:t>Modern Software Testing Tools</a:t>
            </a:r>
            <a:endParaRPr lang="en-US" sz="5200" dirty="0" smtClean="0">
              <a:solidFill>
                <a:srgbClr val="FF0000"/>
              </a:solidFill>
            </a:endParaRPr>
          </a:p>
          <a:p>
            <a:pPr lvl="0" algn="just"/>
            <a:r>
              <a:rPr lang="en-US" sz="2800" dirty="0" smtClean="0"/>
              <a:t>Modern software testing tools encompass a wide array of solutions for various testing needs, including automation, performance, and mobile testing. Popular choices include Selenium for web application testing, </a:t>
            </a:r>
            <a:r>
              <a:rPr lang="en-US" sz="2800" dirty="0" err="1" smtClean="0"/>
              <a:t>Appium</a:t>
            </a:r>
            <a:r>
              <a:rPr lang="en-US" sz="2800" dirty="0" smtClean="0"/>
              <a:t> for mobile app testing, and Cypress for modern web applications.  </a:t>
            </a:r>
            <a:r>
              <a:rPr lang="en-US" sz="2800" dirty="0" smtClean="0">
                <a:solidFill>
                  <a:srgbClr val="7030A0"/>
                </a:solidFill>
              </a:rPr>
              <a:t>Additionally, </a:t>
            </a:r>
            <a:r>
              <a:rPr lang="en-US" sz="2800" dirty="0" smtClean="0"/>
              <a:t>tools like Test Complete, Lambda Test, and Browser Stack offer comprehensive testing capabilities, while Cucumber supports Behavior-Driven Development. </a:t>
            </a:r>
          </a:p>
          <a:p>
            <a:pPr lvl="0" algn="just"/>
            <a:r>
              <a:rPr lang="en-US" sz="2800" dirty="0" smtClean="0">
                <a:solidFill>
                  <a:srgbClr val="7030A0"/>
                </a:solidFill>
              </a:rPr>
              <a:t>OR</a:t>
            </a:r>
          </a:p>
          <a:p>
            <a:pPr lvl="0" algn="just"/>
            <a:r>
              <a:rPr lang="en-US" sz="2800" dirty="0" smtClean="0"/>
              <a:t>Modern testing tools in software testing encompass a variety of automation frameworks, platforms, and techniques to enhance efficiency and effectiveness in the software development lifecycle. These tools support various testing types like functional, performance, security, and UI, and include popular choices such as Selenium for web application testing, </a:t>
            </a:r>
            <a:r>
              <a:rPr lang="en-US" sz="2800" dirty="0" err="1" smtClean="0"/>
              <a:t>Appium</a:t>
            </a:r>
            <a:r>
              <a:rPr lang="en-US" sz="2800" dirty="0" smtClean="0"/>
              <a:t> for mobile app testing, and Cypress for end-to-end testing. </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77500" lnSpcReduction="20000"/>
          </a:bodyPr>
          <a:lstStyle/>
          <a:p>
            <a:pPr lvl="0"/>
            <a:r>
              <a:rPr lang="en-US" sz="3300" dirty="0" smtClean="0">
                <a:solidFill>
                  <a:srgbClr val="FF0000"/>
                </a:solidFill>
              </a:rPr>
              <a:t>Key Characteristics Modern Software Testing Tools :-</a:t>
            </a:r>
          </a:p>
          <a:p>
            <a:pPr lvl="0"/>
            <a:r>
              <a:rPr lang="en-US" dirty="0" smtClean="0"/>
              <a:t>The characteristics of a modern test process scan be summarized in </a:t>
            </a:r>
            <a:r>
              <a:rPr lang="en-US" b="1" dirty="0" smtClean="0"/>
              <a:t>goal orientated, flexible and fast</a:t>
            </a:r>
            <a:r>
              <a:rPr lang="en-US" dirty="0" smtClean="0"/>
              <a:t>.</a:t>
            </a:r>
            <a:endParaRPr lang="en-US" sz="3300" dirty="0" smtClean="0">
              <a:solidFill>
                <a:srgbClr val="FF0000"/>
              </a:solidFill>
            </a:endParaRPr>
          </a:p>
          <a:p>
            <a:r>
              <a:rPr lang="en-US" b="1" dirty="0" smtClean="0">
                <a:solidFill>
                  <a:srgbClr val="FF0000"/>
                </a:solidFill>
              </a:rPr>
              <a:t>1. Automation:</a:t>
            </a:r>
            <a:endParaRPr lang="en-US" dirty="0" smtClean="0">
              <a:solidFill>
                <a:srgbClr val="FF0000"/>
              </a:solidFill>
            </a:endParaRPr>
          </a:p>
          <a:p>
            <a:pPr fontAlgn="ctr"/>
            <a:r>
              <a:rPr lang="en-US" dirty="0" smtClean="0"/>
              <a:t>Modern tools automate repetitive tasks, freeing up testers to focus on more complex aspects of testing. </a:t>
            </a:r>
          </a:p>
          <a:p>
            <a:r>
              <a:rPr lang="en-US" b="1" dirty="0" smtClean="0">
                <a:solidFill>
                  <a:srgbClr val="FF0000"/>
                </a:solidFill>
              </a:rPr>
              <a:t>2. Integration:</a:t>
            </a:r>
            <a:endParaRPr lang="en-US" dirty="0" smtClean="0">
              <a:solidFill>
                <a:srgbClr val="FF0000"/>
              </a:solidFill>
            </a:endParaRPr>
          </a:p>
          <a:p>
            <a:pPr fontAlgn="ctr"/>
            <a:r>
              <a:rPr lang="en-US" dirty="0" smtClean="0"/>
              <a:t>They integrate with CI/CD pipelines, version control systems, bug-tracking tools, and other development tools, streamlining the testing process. </a:t>
            </a:r>
          </a:p>
          <a:p>
            <a:r>
              <a:rPr lang="en-US" b="1" dirty="0" smtClean="0">
                <a:solidFill>
                  <a:srgbClr val="FF0000"/>
                </a:solidFill>
              </a:rPr>
              <a:t>3. Versatility:</a:t>
            </a:r>
            <a:endParaRPr lang="en-US" dirty="0" smtClean="0">
              <a:solidFill>
                <a:srgbClr val="FF0000"/>
              </a:solidFill>
            </a:endParaRPr>
          </a:p>
          <a:p>
            <a:pPr fontAlgn="ctr"/>
            <a:r>
              <a:rPr lang="en-US" dirty="0" smtClean="0"/>
              <a:t>They support a wide range of technologies, including web, mobile, desktop, and hybrid applications. </a:t>
            </a:r>
          </a:p>
          <a:p>
            <a:r>
              <a:rPr lang="en-US" b="1" dirty="0" smtClean="0">
                <a:solidFill>
                  <a:srgbClr val="FF0000"/>
                </a:solidFill>
              </a:rPr>
              <a:t>4. Cross-Platform Compatibility:</a:t>
            </a:r>
            <a:endParaRPr lang="en-US" dirty="0" smtClean="0">
              <a:solidFill>
                <a:srgbClr val="FF0000"/>
              </a:solidFill>
            </a:endParaRPr>
          </a:p>
          <a:p>
            <a:pPr fontAlgn="ctr"/>
            <a:r>
              <a:rPr lang="en-US" dirty="0" smtClean="0"/>
              <a:t>They support multiple browsers, operating systems, and devices, ensuring comprehensive testing coverage. </a:t>
            </a:r>
          </a:p>
          <a:p>
            <a:r>
              <a:rPr lang="en-US" b="1" dirty="0" smtClean="0"/>
              <a:t>5. Script less Automation:</a:t>
            </a:r>
            <a:endParaRPr lang="en-US" dirty="0" smtClean="0"/>
          </a:p>
          <a:p>
            <a:pPr fontAlgn="ctr"/>
            <a:r>
              <a:rPr lang="en-US" dirty="0" smtClean="0"/>
              <a:t>Some tools offer script less automation, allowing testers to create test cases without coding knowledge. </a:t>
            </a:r>
          </a:p>
          <a:p>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85000" lnSpcReduction="20000"/>
          </a:bodyPr>
          <a:lstStyle/>
          <a:p>
            <a:r>
              <a:rPr lang="en-US" b="1" dirty="0" smtClean="0">
                <a:solidFill>
                  <a:srgbClr val="FF0000"/>
                </a:solidFill>
              </a:rPr>
              <a:t>5. AI-Powered Features:</a:t>
            </a:r>
            <a:endParaRPr lang="en-US" dirty="0" smtClean="0">
              <a:solidFill>
                <a:srgbClr val="FF0000"/>
              </a:solidFill>
            </a:endParaRPr>
          </a:p>
          <a:p>
            <a:pPr fontAlgn="ctr"/>
            <a:r>
              <a:rPr lang="en-US" dirty="0" smtClean="0"/>
              <a:t>Many tools utilize AI to automate test case design, execution, and analysis, improving efficiency and accuracy. </a:t>
            </a:r>
          </a:p>
          <a:p>
            <a:r>
              <a:rPr lang="en-US" b="1" dirty="0" smtClean="0">
                <a:solidFill>
                  <a:srgbClr val="FF0000"/>
                </a:solidFill>
              </a:rPr>
              <a:t>6. Comprehensive Reporting:</a:t>
            </a:r>
            <a:endParaRPr lang="en-US" dirty="0" smtClean="0">
              <a:solidFill>
                <a:srgbClr val="FF0000"/>
              </a:solidFill>
            </a:endParaRPr>
          </a:p>
          <a:p>
            <a:pPr fontAlgn="ctr"/>
            <a:r>
              <a:rPr lang="en-US" dirty="0" smtClean="0"/>
              <a:t>They provide real-time reporting, detailed analytics, and customizable dashboards to track progress and identify issues. </a:t>
            </a:r>
          </a:p>
          <a:p>
            <a:r>
              <a:rPr lang="en-US" b="1" dirty="0" smtClean="0">
                <a:solidFill>
                  <a:srgbClr val="FF0000"/>
                </a:solidFill>
              </a:rPr>
              <a:t>7. Scalability:</a:t>
            </a:r>
            <a:endParaRPr lang="en-US" dirty="0" smtClean="0">
              <a:solidFill>
                <a:srgbClr val="FF0000"/>
              </a:solidFill>
            </a:endParaRPr>
          </a:p>
          <a:p>
            <a:pPr fontAlgn="ctr"/>
            <a:r>
              <a:rPr lang="en-US" dirty="0" smtClean="0"/>
              <a:t>They can handle large-scale testing projects, supporting parallel execution and distributed testing. </a:t>
            </a:r>
          </a:p>
          <a:p>
            <a:r>
              <a:rPr lang="en-US" b="1" dirty="0" smtClean="0">
                <a:solidFill>
                  <a:srgbClr val="FF0000"/>
                </a:solidFill>
              </a:rPr>
              <a:t>8. Collaboration:</a:t>
            </a:r>
            <a:endParaRPr lang="en-US" dirty="0" smtClean="0">
              <a:solidFill>
                <a:srgbClr val="FF0000"/>
              </a:solidFill>
            </a:endParaRPr>
          </a:p>
          <a:p>
            <a:pPr fontAlgn="ctr"/>
            <a:r>
              <a:rPr lang="en-US" dirty="0" smtClean="0"/>
              <a:t>They often offer role-based access and collaboration features, facilitating teamwork among testers, developers, and stakeholders. </a:t>
            </a:r>
          </a:p>
          <a:p>
            <a:r>
              <a:rPr lang="en-US" b="1" dirty="0" smtClean="0">
                <a:solidFill>
                  <a:srgbClr val="FF0000"/>
                </a:solidFill>
              </a:rPr>
              <a:t>9. Test Management:</a:t>
            </a:r>
            <a:endParaRPr lang="en-US" dirty="0" smtClean="0">
              <a:solidFill>
                <a:srgbClr val="FF0000"/>
              </a:solidFill>
            </a:endParaRPr>
          </a:p>
          <a:p>
            <a:r>
              <a:rPr lang="en-US" dirty="0" smtClean="0"/>
              <a:t>They provide centralized test case and test cycle management, allowing for efficient planning, execution, and tracking of testing activities. </a:t>
            </a:r>
          </a:p>
          <a:p>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92500" lnSpcReduction="20000"/>
          </a:bodyPr>
          <a:lstStyle/>
          <a:p>
            <a:r>
              <a:rPr lang="en-US" sz="4000" dirty="0" smtClean="0">
                <a:solidFill>
                  <a:srgbClr val="FF0000"/>
                </a:solidFill>
              </a:rPr>
              <a:t>Key Modern Testing Tools:</a:t>
            </a:r>
          </a:p>
          <a:p>
            <a:r>
              <a:rPr lang="en-US" b="1" dirty="0" smtClean="0">
                <a:solidFill>
                  <a:srgbClr val="FF0000"/>
                </a:solidFill>
              </a:rPr>
              <a:t>1. Web Application Testing:</a:t>
            </a:r>
            <a:endParaRPr lang="en-US" dirty="0" smtClean="0">
              <a:solidFill>
                <a:srgbClr val="FF0000"/>
              </a:solidFill>
            </a:endParaRPr>
          </a:p>
          <a:p>
            <a:pPr fontAlgn="ctr"/>
            <a:r>
              <a:rPr lang="en-US" b="1" dirty="0" smtClean="0">
                <a:solidFill>
                  <a:srgbClr val="7030A0"/>
                </a:solidFill>
              </a:rPr>
              <a:t>Selenium</a:t>
            </a:r>
            <a:r>
              <a:rPr lang="en-US" b="1" dirty="0" smtClean="0"/>
              <a:t>:</a:t>
            </a:r>
            <a:r>
              <a:rPr lang="en-US" dirty="0" smtClean="0"/>
              <a:t> A widely-used, open-source framework for automating web browsers and testing web applications. </a:t>
            </a:r>
          </a:p>
          <a:p>
            <a:pPr fontAlgn="ctr"/>
            <a:r>
              <a:rPr lang="en-US" b="1" dirty="0" smtClean="0">
                <a:solidFill>
                  <a:srgbClr val="7030A0"/>
                </a:solidFill>
              </a:rPr>
              <a:t>Cypress:</a:t>
            </a:r>
            <a:r>
              <a:rPr lang="en-US" dirty="0" smtClean="0">
                <a:solidFill>
                  <a:srgbClr val="7030A0"/>
                </a:solidFill>
              </a:rPr>
              <a:t> </a:t>
            </a:r>
            <a:r>
              <a:rPr lang="en-US" dirty="0" smtClean="0"/>
              <a:t>A modern, end-to-end testing framework specifically designed for modern web applications. </a:t>
            </a:r>
          </a:p>
          <a:p>
            <a:pPr fontAlgn="ctr"/>
            <a:r>
              <a:rPr lang="en-US" b="1" dirty="0" err="1" smtClean="0">
                <a:solidFill>
                  <a:srgbClr val="7030A0"/>
                </a:solidFill>
              </a:rPr>
              <a:t>Katalon</a:t>
            </a:r>
            <a:r>
              <a:rPr lang="en-US" b="1" dirty="0" smtClean="0">
                <a:solidFill>
                  <a:srgbClr val="7030A0"/>
                </a:solidFill>
              </a:rPr>
              <a:t> Studio:</a:t>
            </a:r>
            <a:r>
              <a:rPr lang="en-US" dirty="0" smtClean="0"/>
              <a:t> A comprehensive platform for web application testing, offering a low-code approach. </a:t>
            </a:r>
          </a:p>
          <a:p>
            <a:pPr fontAlgn="ctr"/>
            <a:r>
              <a:rPr lang="en-US" b="1" dirty="0" smtClean="0">
                <a:solidFill>
                  <a:srgbClr val="7030A0"/>
                </a:solidFill>
              </a:rPr>
              <a:t>Test Complete:</a:t>
            </a:r>
            <a:r>
              <a:rPr lang="en-US" dirty="0" smtClean="0"/>
              <a:t> A robust solution for creating and executing UI tests for web, desktop, and mobile applications. </a:t>
            </a:r>
          </a:p>
          <a:p>
            <a:r>
              <a:rPr lang="en-US" b="1" dirty="0" smtClean="0">
                <a:solidFill>
                  <a:srgbClr val="7030A0"/>
                </a:solidFill>
              </a:rPr>
              <a:t>Play </a:t>
            </a:r>
            <a:r>
              <a:rPr lang="en-US" b="1" dirty="0" err="1" smtClean="0">
                <a:solidFill>
                  <a:srgbClr val="7030A0"/>
                </a:solidFill>
              </a:rPr>
              <a:t>wright</a:t>
            </a:r>
            <a:r>
              <a:rPr lang="en-US" b="1" dirty="0" smtClean="0">
                <a:solidFill>
                  <a:srgbClr val="7030A0"/>
                </a:solidFill>
              </a:rPr>
              <a:t>:</a:t>
            </a:r>
            <a:r>
              <a:rPr lang="en-US" dirty="0" smtClean="0"/>
              <a:t> A versatile framework for automating web and mobile browsers, offering cross-platform compatibility.</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lnSpcReduction="10000"/>
          </a:bodyPr>
          <a:lstStyle/>
          <a:p>
            <a:r>
              <a:rPr lang="en-US" b="1" dirty="0" smtClean="0">
                <a:solidFill>
                  <a:srgbClr val="FF0000"/>
                </a:solidFill>
              </a:rPr>
              <a:t>2. Mobile Application Testing:</a:t>
            </a:r>
            <a:endParaRPr lang="en-US" dirty="0" smtClean="0">
              <a:solidFill>
                <a:srgbClr val="FF0000"/>
              </a:solidFill>
            </a:endParaRPr>
          </a:p>
          <a:p>
            <a:pPr fontAlgn="ctr"/>
            <a:r>
              <a:rPr lang="en-US" b="1" dirty="0" err="1" smtClean="0">
                <a:solidFill>
                  <a:srgbClr val="7030A0"/>
                </a:solidFill>
              </a:rPr>
              <a:t>Appium</a:t>
            </a:r>
            <a:r>
              <a:rPr lang="en-US" b="1" dirty="0" smtClean="0">
                <a:solidFill>
                  <a:srgbClr val="7030A0"/>
                </a:solidFill>
              </a:rPr>
              <a:t>:</a:t>
            </a:r>
            <a:r>
              <a:rPr lang="en-US" dirty="0" smtClean="0">
                <a:solidFill>
                  <a:srgbClr val="7030A0"/>
                </a:solidFill>
              </a:rPr>
              <a:t> </a:t>
            </a:r>
            <a:r>
              <a:rPr lang="en-US" dirty="0" smtClean="0"/>
              <a:t>A popular framework for automating native, hybrid, and mobile web apps on Android and </a:t>
            </a:r>
            <a:r>
              <a:rPr lang="en-US" dirty="0" err="1" smtClean="0"/>
              <a:t>iOS</a:t>
            </a:r>
            <a:r>
              <a:rPr lang="en-US" dirty="0" smtClean="0"/>
              <a:t>. </a:t>
            </a:r>
          </a:p>
          <a:p>
            <a:pPr fontAlgn="ctr"/>
            <a:r>
              <a:rPr lang="en-US" b="1" dirty="0" err="1" smtClean="0">
                <a:solidFill>
                  <a:srgbClr val="7030A0"/>
                </a:solidFill>
              </a:rPr>
              <a:t>Katalon</a:t>
            </a:r>
            <a:r>
              <a:rPr lang="en-US" b="1" dirty="0" smtClean="0">
                <a:solidFill>
                  <a:srgbClr val="7030A0"/>
                </a:solidFill>
              </a:rPr>
              <a:t> Studio:</a:t>
            </a:r>
            <a:r>
              <a:rPr lang="en-US" dirty="0" smtClean="0"/>
              <a:t> Can also be used for mobile application testing, offering cross-platform automation. </a:t>
            </a:r>
          </a:p>
          <a:p>
            <a:r>
              <a:rPr lang="en-US" b="1" dirty="0" smtClean="0">
                <a:solidFill>
                  <a:srgbClr val="FF0000"/>
                </a:solidFill>
              </a:rPr>
              <a:t>3. API Testing:</a:t>
            </a:r>
            <a:endParaRPr lang="en-US" dirty="0" smtClean="0">
              <a:solidFill>
                <a:srgbClr val="FF0000"/>
              </a:solidFill>
            </a:endParaRPr>
          </a:p>
          <a:p>
            <a:pPr fontAlgn="ctr"/>
            <a:r>
              <a:rPr lang="en-US" b="1" dirty="0" smtClean="0">
                <a:solidFill>
                  <a:srgbClr val="7030A0"/>
                </a:solidFill>
              </a:rPr>
              <a:t>Soap UI:</a:t>
            </a:r>
            <a:r>
              <a:rPr lang="en-US" dirty="0" smtClean="0">
                <a:solidFill>
                  <a:srgbClr val="7030A0"/>
                </a:solidFill>
              </a:rPr>
              <a:t> </a:t>
            </a:r>
            <a:r>
              <a:rPr lang="en-US" dirty="0" smtClean="0"/>
              <a:t>A tool for testing REST, SOAP, and </a:t>
            </a:r>
            <a:r>
              <a:rPr lang="en-US" dirty="0" err="1" smtClean="0"/>
              <a:t>GraphQL</a:t>
            </a:r>
            <a:r>
              <a:rPr lang="en-US" dirty="0" smtClean="0"/>
              <a:t> APIs, offering functional and performance testing capabilities. </a:t>
            </a:r>
          </a:p>
          <a:p>
            <a:pPr fontAlgn="ctr"/>
            <a:r>
              <a:rPr lang="en-US" b="1" dirty="0" smtClean="0">
                <a:solidFill>
                  <a:srgbClr val="7030A0"/>
                </a:solidFill>
              </a:rPr>
              <a:t>Postman:</a:t>
            </a:r>
            <a:r>
              <a:rPr lang="en-US" dirty="0" smtClean="0"/>
              <a:t> A popular tool for API testing and development, allowing for testing of various API types. </a:t>
            </a:r>
          </a:p>
          <a:p>
            <a:endParaRPr lang="en-US" dirty="0" smtClean="0">
              <a:solidFill>
                <a:srgbClr val="FF0000"/>
              </a:solidFill>
            </a:endParaRPr>
          </a:p>
        </p:txBody>
      </p:sp>
    </p:spTree>
    <p:extLst>
      <p:ext uri="{BB962C8B-B14F-4D97-AF65-F5344CB8AC3E}">
        <p14:creationId xmlns="" xmlns:p14="http://schemas.microsoft.com/office/powerpoint/2010/main" val="69833852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fontScale="77500" lnSpcReduction="20000"/>
          </a:bodyPr>
          <a:lstStyle/>
          <a:p>
            <a:r>
              <a:rPr lang="en-US" b="1" dirty="0" smtClean="0">
                <a:solidFill>
                  <a:srgbClr val="FF0000"/>
                </a:solidFill>
              </a:rPr>
              <a:t>4. Test Management:</a:t>
            </a:r>
            <a:endParaRPr lang="en-US" dirty="0" smtClean="0">
              <a:solidFill>
                <a:srgbClr val="FF0000"/>
              </a:solidFill>
            </a:endParaRPr>
          </a:p>
          <a:p>
            <a:pPr fontAlgn="ctr"/>
            <a:r>
              <a:rPr lang="en-US" b="1" dirty="0" smtClean="0">
                <a:solidFill>
                  <a:srgbClr val="7030A0"/>
                </a:solidFill>
              </a:rPr>
              <a:t>Test Link:</a:t>
            </a:r>
            <a:r>
              <a:rPr lang="en-US" dirty="0" smtClean="0">
                <a:solidFill>
                  <a:srgbClr val="7030A0"/>
                </a:solidFill>
              </a:rPr>
              <a:t> </a:t>
            </a:r>
            <a:r>
              <a:rPr lang="en-US" dirty="0" smtClean="0"/>
              <a:t>A free and open-source test management tool. </a:t>
            </a:r>
          </a:p>
          <a:p>
            <a:pPr fontAlgn="ctr"/>
            <a:r>
              <a:rPr lang="en-US" b="1" dirty="0" err="1" smtClean="0">
                <a:solidFill>
                  <a:srgbClr val="7030A0"/>
                </a:solidFill>
              </a:rPr>
              <a:t>Spira</a:t>
            </a:r>
            <a:r>
              <a:rPr lang="en-US" b="1" dirty="0" smtClean="0">
                <a:solidFill>
                  <a:srgbClr val="7030A0"/>
                </a:solidFill>
              </a:rPr>
              <a:t> Test:</a:t>
            </a:r>
            <a:r>
              <a:rPr lang="en-US" dirty="0" smtClean="0"/>
              <a:t> A comprehensive test management tool for various testing needs. </a:t>
            </a:r>
          </a:p>
          <a:p>
            <a:pPr fontAlgn="ctr"/>
            <a:r>
              <a:rPr lang="en-US" b="1" dirty="0" smtClean="0"/>
              <a:t>QA Touch:</a:t>
            </a:r>
            <a:r>
              <a:rPr lang="en-US" dirty="0" smtClean="0"/>
              <a:t> A tool that helps manage and organize testing processes. </a:t>
            </a:r>
          </a:p>
          <a:p>
            <a:r>
              <a:rPr lang="en-US" b="1" dirty="0" smtClean="0">
                <a:solidFill>
                  <a:srgbClr val="FF0000"/>
                </a:solidFill>
              </a:rPr>
              <a:t>5. Mobile Compatibility Testing:</a:t>
            </a:r>
            <a:endParaRPr lang="en-US" dirty="0" smtClean="0">
              <a:solidFill>
                <a:srgbClr val="FF0000"/>
              </a:solidFill>
            </a:endParaRPr>
          </a:p>
          <a:p>
            <a:pPr fontAlgn="ctr"/>
            <a:r>
              <a:rPr lang="en-US" b="1" dirty="0" smtClean="0">
                <a:solidFill>
                  <a:srgbClr val="7030A0"/>
                </a:solidFill>
              </a:rPr>
              <a:t>Browser Stack:</a:t>
            </a:r>
            <a:r>
              <a:rPr lang="en-US" dirty="0" smtClean="0">
                <a:solidFill>
                  <a:srgbClr val="7030A0"/>
                </a:solidFill>
              </a:rPr>
              <a:t> </a:t>
            </a:r>
            <a:r>
              <a:rPr lang="en-US" dirty="0" smtClean="0"/>
              <a:t>A cloud-based platform for testing web applications across different browsers, devices, and operating systems. </a:t>
            </a:r>
          </a:p>
          <a:p>
            <a:pPr fontAlgn="ctr"/>
            <a:r>
              <a:rPr lang="en-US" b="1" dirty="0" smtClean="0">
                <a:solidFill>
                  <a:srgbClr val="7030A0"/>
                </a:solidFill>
              </a:rPr>
              <a:t>Lambda Test:</a:t>
            </a:r>
            <a:r>
              <a:rPr lang="en-US" dirty="0" smtClean="0"/>
              <a:t> Another cloud-based testing platform offering browser and mobile testing capabilities. </a:t>
            </a:r>
          </a:p>
          <a:p>
            <a:r>
              <a:rPr lang="en-US" b="1" dirty="0" smtClean="0">
                <a:solidFill>
                  <a:srgbClr val="FF0000"/>
                </a:solidFill>
              </a:rPr>
              <a:t>6. Other Notable Tools:</a:t>
            </a:r>
            <a:endParaRPr lang="en-US" dirty="0" smtClean="0">
              <a:solidFill>
                <a:srgbClr val="FF0000"/>
              </a:solidFill>
            </a:endParaRPr>
          </a:p>
          <a:p>
            <a:pPr fontAlgn="ctr"/>
            <a:r>
              <a:rPr lang="en-US" b="1" dirty="0" smtClean="0">
                <a:solidFill>
                  <a:srgbClr val="7030A0"/>
                </a:solidFill>
              </a:rPr>
              <a:t>Cucumber:</a:t>
            </a:r>
            <a:r>
              <a:rPr lang="en-US" dirty="0" smtClean="0"/>
              <a:t> Supports Behavior-Driven Development (BDD), allowing for clearer and more collaborative test case definitions. </a:t>
            </a:r>
          </a:p>
          <a:p>
            <a:pPr fontAlgn="ctr"/>
            <a:r>
              <a:rPr lang="en-US" b="1" dirty="0" err="1" smtClean="0">
                <a:solidFill>
                  <a:srgbClr val="7030A0"/>
                </a:solidFill>
              </a:rPr>
              <a:t>Tricentis</a:t>
            </a:r>
            <a:r>
              <a:rPr lang="en-US" b="1" dirty="0" smtClean="0">
                <a:solidFill>
                  <a:srgbClr val="7030A0"/>
                </a:solidFill>
              </a:rPr>
              <a:t> Tosca:</a:t>
            </a:r>
            <a:r>
              <a:rPr lang="en-US" dirty="0" smtClean="0"/>
              <a:t> A powerful test automation platform with a low-code approach. </a:t>
            </a:r>
          </a:p>
          <a:p>
            <a:r>
              <a:rPr lang="en-US" b="1" dirty="0" smtClean="0">
                <a:solidFill>
                  <a:srgbClr val="7030A0"/>
                </a:solidFill>
              </a:rPr>
              <a:t>ACCELQ:</a:t>
            </a:r>
            <a:r>
              <a:rPr lang="en-US" dirty="0" smtClean="0">
                <a:solidFill>
                  <a:srgbClr val="7030A0"/>
                </a:solidFill>
              </a:rPr>
              <a:t> </a:t>
            </a:r>
            <a:r>
              <a:rPr lang="en-US" dirty="0" smtClean="0"/>
              <a:t>An AI-powered, code-free test automation platform for various platforms. </a:t>
            </a:r>
          </a:p>
          <a:p>
            <a:endParaRPr lang="en-US" dirty="0" smtClean="0"/>
          </a:p>
          <a:p>
            <a:endParaRPr lang="en-US" dirty="0"/>
          </a:p>
        </p:txBody>
      </p:sp>
    </p:spTree>
    <p:extLst>
      <p:ext uri="{BB962C8B-B14F-4D97-AF65-F5344CB8AC3E}">
        <p14:creationId xmlns="" xmlns:p14="http://schemas.microsoft.com/office/powerpoint/2010/main" val="191524766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style>
          <a:lnRef idx="1">
            <a:schemeClr val="accent1"/>
          </a:lnRef>
          <a:fillRef idx="2">
            <a:schemeClr val="accent1"/>
          </a:fillRef>
          <a:effectRef idx="1">
            <a:schemeClr val="accent1"/>
          </a:effectRef>
          <a:fontRef idx="minor">
            <a:schemeClr val="dk1"/>
          </a:fontRef>
        </p:style>
        <p:txBody>
          <a:bodyPr>
            <a:normAutofit/>
          </a:bodyPr>
          <a:lstStyle/>
          <a:p>
            <a:pPr algn="ctr"/>
            <a:endParaRPr lang="en-US" sz="11500" dirty="0" smtClean="0"/>
          </a:p>
          <a:p>
            <a:pPr algn="ctr"/>
            <a:r>
              <a:rPr lang="en-US" sz="11500" dirty="0" smtClean="0"/>
              <a:t>END</a:t>
            </a:r>
            <a:endParaRPr lang="en-US" sz="1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12626</TotalTime>
  <Words>2339</Words>
  <Application>Microsoft Office PowerPoint</Application>
  <PresentationFormat>On-screen Show (4:3)</PresentationFormat>
  <Paragraphs>353</Paragraphs>
  <Slides>66</Slides>
  <Notes>2</Notes>
  <HiddenSlides>0</HiddenSlides>
  <MMClips>0</MMClips>
  <ScaleCrop>false</ScaleCrop>
  <HeadingPairs>
    <vt:vector size="4" baseType="variant">
      <vt:variant>
        <vt:lpstr>Theme</vt:lpstr>
      </vt:variant>
      <vt:variant>
        <vt:i4>1</vt:i4>
      </vt:variant>
      <vt:variant>
        <vt:lpstr>Slide Titles</vt:lpstr>
      </vt:variant>
      <vt:variant>
        <vt:i4>66</vt:i4>
      </vt:variant>
    </vt:vector>
  </HeadingPairs>
  <TitlesOfParts>
    <vt:vector size="67"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Proof of correctness </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RCA-E-31 Cloud Computing Syllabus</dc:title>
  <dc:creator>jim107</dc:creator>
  <cp:lastModifiedBy>Vishnu Shukla</cp:lastModifiedBy>
  <cp:revision>590</cp:revision>
  <dcterms:created xsi:type="dcterms:W3CDTF">2019-07-02T09:59:50Z</dcterms:created>
  <dcterms:modified xsi:type="dcterms:W3CDTF">2026-04-13T11:03:04Z</dcterms:modified>
</cp:coreProperties>
</file>