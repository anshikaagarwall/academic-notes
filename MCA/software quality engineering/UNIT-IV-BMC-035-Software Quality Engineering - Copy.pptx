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2"/>
  </p:notesMasterIdLst>
  <p:sldIdLst>
    <p:sldId id="375" r:id="rId2"/>
    <p:sldId id="376" r:id="rId3"/>
    <p:sldId id="377" r:id="rId4"/>
    <p:sldId id="260" r:id="rId5"/>
    <p:sldId id="263" r:id="rId6"/>
    <p:sldId id="262" r:id="rId7"/>
    <p:sldId id="778" r:id="rId8"/>
    <p:sldId id="793" r:id="rId9"/>
    <p:sldId id="796" r:id="rId10"/>
    <p:sldId id="939" r:id="rId11"/>
    <p:sldId id="952" r:id="rId12"/>
    <p:sldId id="951" r:id="rId13"/>
    <p:sldId id="938" r:id="rId14"/>
    <p:sldId id="942" r:id="rId15"/>
    <p:sldId id="941" r:id="rId16"/>
    <p:sldId id="940" r:id="rId17"/>
    <p:sldId id="945" r:id="rId18"/>
    <p:sldId id="944" r:id="rId19"/>
    <p:sldId id="947" r:id="rId20"/>
    <p:sldId id="948" r:id="rId21"/>
    <p:sldId id="943" r:id="rId22"/>
    <p:sldId id="949" r:id="rId23"/>
    <p:sldId id="950" r:id="rId24"/>
    <p:sldId id="887" r:id="rId25"/>
    <p:sldId id="884" r:id="rId26"/>
    <p:sldId id="883" r:id="rId27"/>
    <p:sldId id="797" r:id="rId28"/>
    <p:sldId id="889" r:id="rId29"/>
    <p:sldId id="886" r:id="rId30"/>
    <p:sldId id="888" r:id="rId31"/>
    <p:sldId id="890" r:id="rId32"/>
    <p:sldId id="885" r:id="rId33"/>
    <p:sldId id="798" r:id="rId34"/>
    <p:sldId id="799" r:id="rId35"/>
    <p:sldId id="801" r:id="rId36"/>
    <p:sldId id="802" r:id="rId37"/>
    <p:sldId id="891" r:id="rId38"/>
    <p:sldId id="892" r:id="rId39"/>
    <p:sldId id="803" r:id="rId40"/>
    <p:sldId id="806" r:id="rId41"/>
    <p:sldId id="807" r:id="rId42"/>
    <p:sldId id="808" r:id="rId43"/>
    <p:sldId id="809" r:id="rId44"/>
    <p:sldId id="873" r:id="rId45"/>
    <p:sldId id="874" r:id="rId46"/>
    <p:sldId id="893" r:id="rId47"/>
    <p:sldId id="897" r:id="rId48"/>
    <p:sldId id="898" r:id="rId49"/>
    <p:sldId id="895" r:id="rId50"/>
    <p:sldId id="899" r:id="rId51"/>
    <p:sldId id="902" r:id="rId52"/>
    <p:sldId id="903" r:id="rId53"/>
    <p:sldId id="931" r:id="rId54"/>
    <p:sldId id="904" r:id="rId55"/>
    <p:sldId id="905" r:id="rId56"/>
    <p:sldId id="932" r:id="rId57"/>
    <p:sldId id="875" r:id="rId58"/>
    <p:sldId id="876" r:id="rId59"/>
    <p:sldId id="877" r:id="rId60"/>
    <p:sldId id="881" r:id="rId61"/>
    <p:sldId id="882" r:id="rId62"/>
    <p:sldId id="863" r:id="rId63"/>
    <p:sldId id="864" r:id="rId64"/>
    <p:sldId id="865" r:id="rId65"/>
    <p:sldId id="866" r:id="rId66"/>
    <p:sldId id="867" r:id="rId67"/>
    <p:sldId id="868" r:id="rId68"/>
    <p:sldId id="846" r:id="rId69"/>
    <p:sldId id="906" r:id="rId70"/>
    <p:sldId id="907" r:id="rId71"/>
    <p:sldId id="848" r:id="rId72"/>
    <p:sldId id="908" r:id="rId73"/>
    <p:sldId id="849" r:id="rId74"/>
    <p:sldId id="925" r:id="rId75"/>
    <p:sldId id="926" r:id="rId76"/>
    <p:sldId id="927" r:id="rId77"/>
    <p:sldId id="928" r:id="rId78"/>
    <p:sldId id="929" r:id="rId79"/>
    <p:sldId id="930" r:id="rId80"/>
    <p:sldId id="850" r:id="rId81"/>
    <p:sldId id="933" r:id="rId82"/>
    <p:sldId id="909" r:id="rId83"/>
    <p:sldId id="910" r:id="rId84"/>
    <p:sldId id="911" r:id="rId85"/>
    <p:sldId id="912" r:id="rId86"/>
    <p:sldId id="921" r:id="rId87"/>
    <p:sldId id="922" r:id="rId88"/>
    <p:sldId id="851" r:id="rId89"/>
    <p:sldId id="852" r:id="rId90"/>
    <p:sldId id="833" r:id="rId91"/>
    <p:sldId id="834" r:id="rId92"/>
    <p:sldId id="835" r:id="rId93"/>
    <p:sldId id="836" r:id="rId94"/>
    <p:sldId id="837" r:id="rId95"/>
    <p:sldId id="838" r:id="rId96"/>
    <p:sldId id="839" r:id="rId97"/>
    <p:sldId id="840" r:id="rId98"/>
    <p:sldId id="841" r:id="rId99"/>
    <p:sldId id="936" r:id="rId100"/>
    <p:sldId id="842" r:id="rId101"/>
    <p:sldId id="937" r:id="rId102"/>
    <p:sldId id="824" r:id="rId103"/>
    <p:sldId id="825" r:id="rId104"/>
    <p:sldId id="827" r:id="rId105"/>
    <p:sldId id="828" r:id="rId106"/>
    <p:sldId id="829" r:id="rId107"/>
    <p:sldId id="830" r:id="rId108"/>
    <p:sldId id="831" r:id="rId109"/>
    <p:sldId id="832" r:id="rId110"/>
    <p:sldId id="811" r:id="rId1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8" d="100"/>
          <a:sy n="68" d="100"/>
        </p:scale>
        <p:origin x="-1362" y="-1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C6687-8F17-4CAC-AE50-B3E9CE183B49}" type="datetimeFigureOut">
              <a:rPr lang="en-US" smtClean="0"/>
              <a:pPr/>
              <a:t>4/6/2026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0C3490-8F65-43C6-AF9D-2249F7812601}" type="slidenum">
              <a:rPr lang="en-US" smtClean="0"/>
              <a:pPr/>
              <a:t>‹#›</a:t>
            </a:fld>
            <a:endParaRPr lang="en-US"/>
          </a:p>
        </p:txBody>
      </p:sp>
    </p:spTree>
    <p:extLst>
      <p:ext uri="{BB962C8B-B14F-4D97-AF65-F5344CB8AC3E}">
        <p14:creationId xmlns:p14="http://schemas.microsoft.com/office/powerpoint/2010/main" xmlns="" val="249222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536789-80A9-426C-8E1D-F1025E96E76F}"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536789-80A9-426C-8E1D-F1025E96E76F}"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536789-80A9-426C-8E1D-F1025E96E76F}"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536789-80A9-426C-8E1D-F1025E96E76F}"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536789-80A9-426C-8E1D-F1025E96E76F}"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36789-80A9-426C-8E1D-F1025E96E76F}" type="datetimeFigureOut">
              <a:rPr lang="en-US" smtClean="0"/>
              <a:pPr/>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6B490-8033-4666-8C58-6F6E7B3D3D8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en.wikipedia.org/wiki/ISO/IEC_15504"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geeksforgeeks.org/software-engineering-software-quality-assurance/"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asq.org/quality-resources/quality-management-system" TargetMode="External"/><Relationship Id="rId2" Type="http://schemas.openxmlformats.org/officeDocument/2006/relationships/hyperlink" Target="https://asq.org/quality-resources/quality-assurance-vs-contro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softwaretestingfundamentals.com/integration-testing/" TargetMode="External"/><Relationship Id="rId2" Type="http://schemas.openxmlformats.org/officeDocument/2006/relationships/hyperlink" Target="https://softwaretestingfundamentals.com/unit-testing/" TargetMode="External"/><Relationship Id="rId1" Type="http://schemas.openxmlformats.org/officeDocument/2006/relationships/slideLayout" Target="../slideLayouts/slideLayout2.xml"/><Relationship Id="rId6" Type="http://schemas.openxmlformats.org/officeDocument/2006/relationships/hyperlink" Target="https://softwaretestingfundamentals.com/software-quality-assurance/" TargetMode="External"/><Relationship Id="rId5" Type="http://schemas.openxmlformats.org/officeDocument/2006/relationships/hyperlink" Target="https://softwaretestingfundamentals.com/acceptance-testing/" TargetMode="External"/><Relationship Id="rId4" Type="http://schemas.openxmlformats.org/officeDocument/2006/relationships/hyperlink" Target="https://softwaretestingfundamentals.com/system-testin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en.wikipedia.org/wiki/Software_Process_Improvement_and_Capability_dEtermination" TargetMode="External"/><Relationship Id="rId2" Type="http://schemas.openxmlformats.org/officeDocument/2006/relationships/hyperlink" Target="https://en.wikipedia.org/wiki/ISO/IEC_9126" TargetMode="External"/><Relationship Id="rId1" Type="http://schemas.openxmlformats.org/officeDocument/2006/relationships/slideLayout" Target="../slideLayouts/slideLayout2.xml"/><Relationship Id="rId4" Type="http://schemas.openxmlformats.org/officeDocument/2006/relationships/hyperlink" Target="https://en.wikipedia.org/wiki/CMMI"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en.wikipedia.org/wiki/Software_testing" TargetMode="External"/><Relationship Id="rId3" Type="http://schemas.openxmlformats.org/officeDocument/2006/relationships/hyperlink" Target="https://en.wikipedia.org/wiki/Software_design" TargetMode="External"/><Relationship Id="rId7" Type="http://schemas.openxmlformats.org/officeDocument/2006/relationships/hyperlink" Target="https://en.wikipedia.org/wiki/Software_configuration_management" TargetMode="External"/><Relationship Id="rId2" Type="http://schemas.openxmlformats.org/officeDocument/2006/relationships/hyperlink" Target="https://en.wikipedia.org/wiki/Requirements_engineering" TargetMode="External"/><Relationship Id="rId1" Type="http://schemas.openxmlformats.org/officeDocument/2006/relationships/slideLayout" Target="../slideLayouts/slideLayout2.xml"/><Relationship Id="rId6" Type="http://schemas.openxmlformats.org/officeDocument/2006/relationships/hyperlink" Target="https://en.wikipedia.org/wiki/Revision_control" TargetMode="External"/><Relationship Id="rId11" Type="http://schemas.openxmlformats.org/officeDocument/2006/relationships/hyperlink" Target="https://en.wikipedia.org/wiki/Verification_and_validation" TargetMode="External"/><Relationship Id="rId5" Type="http://schemas.openxmlformats.org/officeDocument/2006/relationships/hyperlink" Target="https://en.wikipedia.org/wiki/Code_review" TargetMode="External"/><Relationship Id="rId10" Type="http://schemas.openxmlformats.org/officeDocument/2006/relationships/hyperlink" Target="https://en.wikipedia.org/wiki/Software_integration" TargetMode="External"/><Relationship Id="rId4" Type="http://schemas.openxmlformats.org/officeDocument/2006/relationships/hyperlink" Target="https://en.wikipedia.org/wiki/Computer_programming" TargetMode="External"/><Relationship Id="rId9" Type="http://schemas.openxmlformats.org/officeDocument/2006/relationships/hyperlink" Target="https://en.wikipedia.org/wiki/Release_management"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tmmi.org/tm6/wp-content/uploads/2020/11/The-Rise-of-TMMi.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www.bmc.com/blogs/customer-satisfaction-csat-service-desk-metric/"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0"/>
            <a:ext cx="9144000" cy="6858000"/>
          </a:xfrm>
          <a:prstGeom prst="rect">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t" anchorCtr="0">
            <a:noAutofit/>
          </a:bodyPr>
          <a:lstStyle/>
          <a:p>
            <a:pPr marL="342900" lvl="0" indent="-342900" algn="ctr" rtl="0">
              <a:spcBef>
                <a:spcPts val="0"/>
              </a:spcBef>
              <a:spcAft>
                <a:spcPts val="0"/>
              </a:spcAft>
              <a:buClr>
                <a:srgbClr val="FFFF00"/>
              </a:buClr>
              <a:buSzPts val="3600"/>
              <a:buNone/>
            </a:pPr>
            <a:r>
              <a:rPr lang="en-US" sz="3600" dirty="0">
                <a:solidFill>
                  <a:srgbClr val="FFFF00"/>
                </a:solidFill>
                <a:latin typeface="Arial Black"/>
                <a:ea typeface="Arial Black"/>
                <a:cs typeface="Arial Black"/>
                <a:sym typeface="Arial Black"/>
              </a:rPr>
              <a:t>Jagran Institute Of Management</a:t>
            </a:r>
            <a:r>
              <a:rPr lang="en-US" sz="4800" b="1" dirty="0">
                <a:solidFill>
                  <a:srgbClr val="FFFF00"/>
                </a:solidFill>
                <a:latin typeface="Calibri"/>
                <a:ea typeface="Calibri"/>
                <a:cs typeface="Calibri"/>
                <a:sym typeface="Calibri"/>
              </a:rPr>
              <a:t> </a:t>
            </a:r>
            <a:endParaRPr dirty="0"/>
          </a:p>
          <a:p>
            <a:pPr algn="ctr">
              <a:spcBef>
                <a:spcPts val="720"/>
              </a:spcBef>
              <a:buClr>
                <a:srgbClr val="C00000"/>
              </a:buClr>
              <a:buSzPts val="3600"/>
            </a:pPr>
            <a:r>
              <a:rPr lang="en-US" sz="4000" dirty="0" smtClean="0">
                <a:solidFill>
                  <a:srgbClr val="002060"/>
                </a:solidFill>
                <a:latin typeface="Aharoni"/>
                <a:ea typeface="Aharoni"/>
                <a:cs typeface="Aharoni"/>
                <a:sym typeface="Aharoni"/>
              </a:rPr>
              <a:t>Department of MCA</a:t>
            </a:r>
          </a:p>
          <a:p>
            <a:pPr algn="ctr">
              <a:spcBef>
                <a:spcPts val="720"/>
              </a:spcBef>
              <a:buClr>
                <a:srgbClr val="C00000"/>
              </a:buClr>
              <a:buSzPts val="3600"/>
            </a:pPr>
            <a:r>
              <a:rPr lang="en-US" sz="3600" dirty="0" smtClean="0"/>
              <a:t>MASTER OF COMPUTER APPLICATION</a:t>
            </a:r>
            <a:endParaRPr lang="en-US" sz="3600" b="1" dirty="0" smtClean="0">
              <a:solidFill>
                <a:srgbClr val="002060"/>
              </a:solidFill>
            </a:endParaRPr>
          </a:p>
          <a:p>
            <a:pPr lvl="0" algn="ctr">
              <a:spcBef>
                <a:spcPts val="720"/>
              </a:spcBef>
              <a:buClr>
                <a:srgbClr val="C00000"/>
              </a:buClr>
              <a:buSzPts val="3600"/>
            </a:pPr>
            <a:r>
              <a:rPr lang="en-US" b="1" dirty="0" smtClean="0">
                <a:solidFill>
                  <a:schemeClr val="tx1"/>
                </a:solidFill>
                <a:latin typeface="Calibri"/>
                <a:ea typeface="Calibri"/>
                <a:cs typeface="Calibri"/>
                <a:sym typeface="Calibri"/>
              </a:rPr>
              <a:t>(Second Year-2025-26-</a:t>
            </a:r>
            <a:r>
              <a:rPr lang="en-US" sz="3600" b="1" dirty="0" smtClean="0">
                <a:solidFill>
                  <a:srgbClr val="002060"/>
                </a:solidFill>
                <a:ea typeface="Calibri"/>
                <a:cs typeface="Calibri"/>
                <a:sym typeface="Calibri"/>
              </a:rPr>
              <a:t>Semester:4</a:t>
            </a:r>
            <a:r>
              <a:rPr lang="en-US" sz="3600" b="1" baseline="30000" dirty="0" smtClean="0">
                <a:solidFill>
                  <a:srgbClr val="002060"/>
                </a:solidFill>
                <a:ea typeface="Calibri"/>
                <a:cs typeface="Calibri"/>
                <a:sym typeface="Calibri"/>
              </a:rPr>
              <a:t>th</a:t>
            </a:r>
            <a:r>
              <a:rPr lang="en-US" sz="3600" b="1" dirty="0" smtClean="0">
                <a:solidFill>
                  <a:srgbClr val="002060"/>
                </a:solidFill>
                <a:ea typeface="Calibri"/>
                <a:cs typeface="Calibri"/>
                <a:sym typeface="Calibri"/>
              </a:rPr>
              <a:t> )</a:t>
            </a:r>
            <a:endParaRPr lang="en-US" sz="3600" b="1" baseline="30000" dirty="0" smtClean="0">
              <a:solidFill>
                <a:srgbClr val="002060"/>
              </a:solidFill>
              <a:ea typeface="Calibri"/>
              <a:cs typeface="Calibri"/>
              <a:sym typeface="Calibri"/>
            </a:endParaRPr>
          </a:p>
          <a:p>
            <a:pPr marL="176213" lvl="0" indent="-203200" algn="ctr">
              <a:spcBef>
                <a:spcPts val="640"/>
              </a:spcBef>
              <a:buClr>
                <a:srgbClr val="C00000"/>
              </a:buClr>
              <a:buSzPts val="3200"/>
            </a:pPr>
            <a:r>
              <a:rPr lang="en-US" sz="4000" dirty="0" smtClean="0"/>
              <a:t>BMC-035-Software Quality Engineering</a:t>
            </a:r>
          </a:p>
          <a:p>
            <a:pPr marL="176213" lvl="0" indent="-203200" algn="ctr">
              <a:spcBef>
                <a:spcPts val="640"/>
              </a:spcBef>
              <a:buClr>
                <a:srgbClr val="C00000"/>
              </a:buClr>
              <a:buSzPts val="3200"/>
            </a:pPr>
            <a:r>
              <a:rPr lang="en-US" sz="3600" dirty="0" smtClean="0">
                <a:solidFill>
                  <a:srgbClr val="92D050"/>
                </a:solidFill>
                <a:latin typeface="Calibri"/>
                <a:ea typeface="Calibri"/>
                <a:cs typeface="Calibri"/>
                <a:sym typeface="Calibri"/>
              </a:rPr>
              <a:t>Subject </a:t>
            </a:r>
            <a:r>
              <a:rPr lang="en-US" sz="3600" dirty="0">
                <a:solidFill>
                  <a:srgbClr val="92D050"/>
                </a:solidFill>
                <a:latin typeface="Calibri"/>
                <a:ea typeface="Calibri"/>
                <a:cs typeface="Calibri"/>
                <a:sym typeface="Calibri"/>
              </a:rPr>
              <a:t>Start Date: </a:t>
            </a:r>
            <a:r>
              <a:rPr lang="en-US" sz="3600" dirty="0" smtClean="0">
                <a:solidFill>
                  <a:srgbClr val="92D050"/>
                </a:solidFill>
                <a:latin typeface="Calibri"/>
                <a:ea typeface="Calibri"/>
                <a:cs typeface="Calibri"/>
                <a:sym typeface="Calibri"/>
              </a:rPr>
              <a:t>2</a:t>
            </a:r>
            <a:r>
              <a:rPr lang="en-US" sz="3600" baseline="30000" dirty="0" smtClean="0">
                <a:solidFill>
                  <a:srgbClr val="92D050"/>
                </a:solidFill>
                <a:latin typeface="Calibri"/>
                <a:ea typeface="Calibri"/>
                <a:cs typeface="Calibri"/>
                <a:sym typeface="Calibri"/>
              </a:rPr>
              <a:t>nd</a:t>
            </a:r>
            <a:r>
              <a:rPr lang="en-US" sz="3600" dirty="0" smtClean="0">
                <a:solidFill>
                  <a:srgbClr val="92D050"/>
                </a:solidFill>
                <a:latin typeface="Calibri"/>
                <a:ea typeface="Calibri"/>
                <a:cs typeface="Calibri"/>
                <a:sym typeface="Calibri"/>
              </a:rPr>
              <a:t> February-202</a:t>
            </a:r>
            <a:r>
              <a:rPr lang="en-US" sz="3600" dirty="0" smtClean="0">
                <a:solidFill>
                  <a:srgbClr val="FFFF00"/>
                </a:solidFill>
                <a:latin typeface="Calibri"/>
                <a:ea typeface="Calibri"/>
                <a:cs typeface="Calibri"/>
                <a:sym typeface="Calibri"/>
              </a:rPr>
              <a:t>6</a:t>
            </a:r>
            <a:endParaRPr sz="6000" dirty="0">
              <a:solidFill>
                <a:srgbClr val="FFFF00"/>
              </a:solidFill>
            </a:endParaRPr>
          </a:p>
          <a:p>
            <a:pPr marL="342900" lvl="0" indent="-342900" algn="ctr" rtl="0">
              <a:lnSpc>
                <a:spcPct val="150000"/>
              </a:lnSpc>
              <a:spcBef>
                <a:spcPts val="720"/>
              </a:spcBef>
              <a:spcAft>
                <a:spcPts val="0"/>
              </a:spcAft>
              <a:buClr>
                <a:srgbClr val="92D050"/>
              </a:buClr>
              <a:buSzPts val="3600"/>
              <a:buNone/>
            </a:pPr>
            <a:r>
              <a:rPr lang="en-US" sz="4000" b="1" u="sng" dirty="0" smtClean="0">
                <a:solidFill>
                  <a:srgbClr val="002060"/>
                </a:solidFill>
                <a:latin typeface="Calibri"/>
                <a:ea typeface="Calibri"/>
                <a:cs typeface="Calibri"/>
                <a:sym typeface="Calibri"/>
              </a:rPr>
              <a:t>Name of Faculty: </a:t>
            </a:r>
          </a:p>
          <a:p>
            <a:pPr marL="342900" lvl="0" indent="-342900" algn="ctr" rtl="0">
              <a:spcBef>
                <a:spcPts val="640"/>
              </a:spcBef>
              <a:spcAft>
                <a:spcPts val="0"/>
              </a:spcAft>
              <a:buClr>
                <a:srgbClr val="002060"/>
              </a:buClr>
              <a:buSzPts val="3200"/>
              <a:buNone/>
            </a:pPr>
            <a:r>
              <a:rPr lang="en-US" sz="3600" b="1" dirty="0" smtClean="0">
                <a:solidFill>
                  <a:srgbClr val="FFFF00"/>
                </a:solidFill>
                <a:latin typeface="Calibri"/>
                <a:ea typeface="Calibri"/>
                <a:cs typeface="Calibri"/>
                <a:sym typeface="Calibri"/>
              </a:rPr>
              <a:t>Vishnu Kr. </a:t>
            </a:r>
            <a:r>
              <a:rPr lang="en-US" sz="3600" b="1" dirty="0" err="1" smtClean="0">
                <a:solidFill>
                  <a:srgbClr val="FFFF00"/>
                </a:solidFill>
                <a:latin typeface="Calibri"/>
                <a:ea typeface="Calibri"/>
                <a:cs typeface="Calibri"/>
                <a:sym typeface="Calibri"/>
              </a:rPr>
              <a:t>Shukla</a:t>
            </a:r>
            <a:r>
              <a:rPr lang="en-US" b="1" dirty="0" smtClean="0">
                <a:solidFill>
                  <a:srgbClr val="FFFF00"/>
                </a:solidFill>
                <a:latin typeface="Calibri"/>
                <a:ea typeface="Calibri"/>
                <a:cs typeface="Calibri"/>
                <a:sym typeface="Calibri"/>
              </a:rPr>
              <a:t>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b="1" dirty="0" smtClean="0">
                <a:solidFill>
                  <a:srgbClr val="FFFF00"/>
                </a:solidFill>
                <a:latin typeface="Calibri"/>
                <a:ea typeface="Calibri"/>
                <a:cs typeface="Calibri"/>
                <a:sym typeface="Calibri"/>
              </a:rPr>
              <a:t>  </a:t>
            </a:r>
            <a:r>
              <a:rPr lang="en-US" sz="2800" b="1" dirty="0" smtClean="0">
                <a:solidFill>
                  <a:srgbClr val="FFFF00"/>
                </a:solidFill>
                <a:latin typeface="Calibri"/>
                <a:ea typeface="Calibri"/>
                <a:cs typeface="Calibri"/>
                <a:sym typeface="Calibri"/>
              </a:rPr>
              <a:t>(Assistant Professor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sz="2800" dirty="0" smtClean="0">
                <a:solidFill>
                  <a:srgbClr val="FFFF00"/>
                </a:solidFill>
                <a:latin typeface="Aharoni"/>
                <a:ea typeface="Aharoni"/>
                <a:cs typeface="Aharoni"/>
                <a:sym typeface="Aharoni"/>
              </a:rPr>
              <a:t>Department of MCA</a:t>
            </a:r>
            <a:endParaRPr sz="2800" b="1" dirty="0">
              <a:solidFill>
                <a:srgbClr val="FFFF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6858000"/>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lvl="0">
              <a:spcBef>
                <a:spcPts val="0"/>
              </a:spcBef>
              <a:buClr>
                <a:srgbClr val="FFFF00"/>
              </a:buClr>
              <a:buSzPts val="4800"/>
            </a:pPr>
            <a:endParaRPr sz="4800" b="1">
              <a:solidFill>
                <a:schemeClr val="tx1"/>
              </a:solidFill>
              <a:latin typeface="Aparajita" pitchFamily="34" charset="0"/>
              <a:ea typeface="Aparajita"/>
              <a:cs typeface="Aparajita" pitchFamily="34" charset="0"/>
              <a:sym typeface="Aparajita"/>
            </a:endParaRPr>
          </a:p>
        </p:txBody>
      </p:sp>
      <p:pic>
        <p:nvPicPr>
          <p:cNvPr id="2" name="Picture 2"/>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style>
          <a:lnRef idx="1">
            <a:schemeClr val="accent1"/>
          </a:lnRef>
          <a:fillRef idx="2">
            <a:schemeClr val="accent1"/>
          </a:fillRef>
          <a:effectRef idx="1">
            <a:schemeClr val="accent1"/>
          </a:effectRef>
          <a:fontRef idx="minor">
            <a:schemeClr val="dk1"/>
          </a:fontRef>
        </p:style>
        <p:txBody>
          <a:bodyPr>
            <a:noAutofit/>
            <a:scene3d>
              <a:camera prst="orthographicFront"/>
              <a:lightRig rig="flat" dir="tl">
                <a:rot lat="0" lon="0" rev="6600000"/>
              </a:lightRig>
            </a:scene3d>
            <a:sp3d extrusionH="25400" contourW="8890">
              <a:bevelT w="38100" h="31750"/>
              <a:contourClr>
                <a:schemeClr val="accent2">
                  <a:shade val="75000"/>
                </a:schemeClr>
              </a:contourClr>
            </a:sp3d>
          </a:bodyPr>
          <a:lstStyle/>
          <a:p>
            <a:pPr lvl="0"/>
            <a:r>
              <a:rPr lang="en-US" sz="3600"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r>
            <a:br>
              <a:rPr lang="en-US" sz="3600"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b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BMC-035-Software Quality Engineering</a:t>
            </a:r>
            <a:b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r>
            <a:br>
              <a:rPr lang="en-US"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endParaRPr lang="en-US" sz="3600" b="1" u="sng"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Content Placeholder 2"/>
          <p:cNvSpPr>
            <a:spLocks noGrp="1"/>
          </p:cNvSpPr>
          <p:nvPr>
            <p:ph idx="1"/>
          </p:nvPr>
        </p:nvSpPr>
        <p:spPr>
          <a:xfrm>
            <a:off x="0" y="609600"/>
            <a:ext cx="9144000" cy="6248400"/>
          </a:xfrm>
        </p:spPr>
        <p:style>
          <a:lnRef idx="1">
            <a:schemeClr val="accent5"/>
          </a:lnRef>
          <a:fillRef idx="2">
            <a:schemeClr val="accent5"/>
          </a:fillRef>
          <a:effectRef idx="1">
            <a:schemeClr val="accent5"/>
          </a:effectRef>
          <a:fontRef idx="minor">
            <a:schemeClr val="dk1"/>
          </a:fontRef>
        </p:style>
        <p:txBody>
          <a:bodyPr>
            <a:normAutofit fontScale="55000" lnSpcReduction="20000"/>
          </a:bodyPr>
          <a:lstStyle/>
          <a:p>
            <a:pPr algn="ctr"/>
            <a:r>
              <a:rPr lang="en-US" sz="5100" b="1" dirty="0" smtClean="0">
                <a:solidFill>
                  <a:srgbClr val="C00000"/>
                </a:solidFill>
              </a:rPr>
              <a:t>DETAILED SYLLABUS</a:t>
            </a:r>
            <a:endParaRPr lang="en-US" sz="5700" b="1" u="sng" dirty="0" smtClean="0">
              <a:solidFill>
                <a:srgbClr val="C00000"/>
              </a:solidFill>
            </a:endParaRPr>
          </a:p>
          <a:p>
            <a:r>
              <a:rPr lang="en-US" sz="4100" b="1" u="sng" dirty="0" smtClean="0">
                <a:solidFill>
                  <a:srgbClr val="FF0000"/>
                </a:solidFill>
              </a:rPr>
              <a:t>UNIT-I</a:t>
            </a:r>
            <a:r>
              <a:rPr lang="en-US" sz="4400" dirty="0" smtClean="0"/>
              <a:t> –</a:t>
            </a:r>
          </a:p>
          <a:p>
            <a:r>
              <a:rPr lang="en-US" sz="4400" b="1" dirty="0" smtClean="0">
                <a:solidFill>
                  <a:srgbClr val="C00000"/>
                </a:solidFill>
                <a:latin typeface="Aparajita" pitchFamily="34" charset="0"/>
                <a:cs typeface="Aparajita" pitchFamily="34" charset="0"/>
              </a:rPr>
              <a:t>Software Quality</a:t>
            </a:r>
            <a:r>
              <a:rPr lang="en-US" sz="4400" dirty="0" smtClean="0">
                <a:latin typeface="Aparajita" pitchFamily="34" charset="0"/>
                <a:cs typeface="Aparajita" pitchFamily="34" charset="0"/>
              </a:rPr>
              <a:t>: Definition, Software Quality Attributes and Specification, Cost of Quality, Defects, Faults, Failures, Defect Rate and Reliability, Defect Prevention, Reduction, and Containment, Overview of Different Types of Software Review, Introduction to Measurement and Inspection Process, Documents and Metrics. </a:t>
            </a:r>
            <a:endParaRPr lang="en-US" sz="4100" b="1" u="sng" dirty="0">
              <a:solidFill>
                <a:srgbClr val="FF0000"/>
              </a:solidFill>
              <a:latin typeface="Aparajita" pitchFamily="34" charset="0"/>
              <a:cs typeface="Aparajita" pitchFamily="34" charset="0"/>
            </a:endParaRPr>
          </a:p>
          <a:p>
            <a:r>
              <a:rPr lang="en-US" sz="4100" b="1" u="sng" dirty="0" smtClean="0">
                <a:solidFill>
                  <a:srgbClr val="FF0000"/>
                </a:solidFill>
                <a:latin typeface="Aparajita" pitchFamily="34" charset="0"/>
                <a:cs typeface="Aparajita" pitchFamily="34" charset="0"/>
              </a:rPr>
              <a:t>UNIT-II-</a:t>
            </a:r>
          </a:p>
          <a:p>
            <a:r>
              <a:rPr lang="en-US" sz="4400" b="1" dirty="0" smtClean="0">
                <a:solidFill>
                  <a:srgbClr val="C00000"/>
                </a:solidFill>
                <a:latin typeface="Aparajita" pitchFamily="34" charset="0"/>
                <a:cs typeface="Aparajita" pitchFamily="34" charset="0"/>
              </a:rPr>
              <a:t>Software Quality Metrics Product Quality Metrics: </a:t>
            </a:r>
            <a:r>
              <a:rPr lang="en-US" sz="4400" dirty="0" smtClean="0">
                <a:latin typeface="Aparajita" pitchFamily="34" charset="0"/>
                <a:cs typeface="Aparajita" pitchFamily="34" charset="0"/>
              </a:rPr>
              <a:t>Defect Density, Customer Problems Metric, Customer Satisfaction Metrics, Function Points.</a:t>
            </a:r>
          </a:p>
          <a:p>
            <a:r>
              <a:rPr lang="en-US" sz="4400" dirty="0" smtClean="0">
                <a:solidFill>
                  <a:srgbClr val="C00000"/>
                </a:solidFill>
                <a:latin typeface="Aparajita" pitchFamily="34" charset="0"/>
                <a:cs typeface="Aparajita" pitchFamily="34" charset="0"/>
              </a:rPr>
              <a:t>In-Process Quality Metrics</a:t>
            </a:r>
            <a:r>
              <a:rPr lang="en-US" sz="4400" dirty="0" smtClean="0">
                <a:latin typeface="Aparajita" pitchFamily="34" charset="0"/>
                <a:cs typeface="Aparajita" pitchFamily="34" charset="0"/>
              </a:rPr>
              <a:t>: Defect Arrival Pattern, Phase-Based Defect Removal Pattern, Defect Removal Effectiveness, </a:t>
            </a:r>
          </a:p>
          <a:p>
            <a:r>
              <a:rPr lang="en-US" sz="4400" dirty="0" smtClean="0">
                <a:solidFill>
                  <a:srgbClr val="C00000"/>
                </a:solidFill>
                <a:latin typeface="Aparajita" pitchFamily="34" charset="0"/>
                <a:cs typeface="Aparajita" pitchFamily="34" charset="0"/>
              </a:rPr>
              <a:t>Metrics for Software Maintenance</a:t>
            </a:r>
            <a:r>
              <a:rPr lang="en-US" sz="4400" dirty="0" smtClean="0">
                <a:latin typeface="Aparajita" pitchFamily="34" charset="0"/>
                <a:cs typeface="Aparajita" pitchFamily="34" charset="0"/>
              </a:rPr>
              <a:t>: Backlog Management Index, Fix Response Time, Fix Quality, Software Quality Indicators.</a:t>
            </a:r>
            <a:r>
              <a:rPr lang="en-US" sz="4400" dirty="0" smtClean="0"/>
              <a:t> </a:t>
            </a:r>
            <a:endParaRPr lang="en-US" sz="4100" b="1" u="sng" dirty="0" smtClean="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style>
          <a:lnRef idx="1">
            <a:schemeClr val="accent1"/>
          </a:lnRef>
          <a:fillRef idx="2">
            <a:schemeClr val="accent1"/>
          </a:fillRef>
          <a:effectRef idx="1">
            <a:schemeClr val="accent1"/>
          </a:effectRef>
          <a:fontRef idx="minor">
            <a:schemeClr val="dk1"/>
          </a:fontRef>
        </p:style>
        <p:txBody>
          <a:bodyPr>
            <a:normAutofit fontScale="90000"/>
          </a:bodyPr>
          <a:lstStyle/>
          <a:p>
            <a:pPr lvl="0"/>
            <a:r>
              <a:rPr lang="en-US" sz="3600" dirty="0" smtClean="0"/>
              <a:t/>
            </a:r>
            <a:br>
              <a:rPr lang="en-US" sz="3600" dirty="0" smtClean="0"/>
            </a:br>
            <a:r>
              <a:rPr lang="en-US" dirty="0" smtClean="0"/>
              <a:t> </a:t>
            </a:r>
            <a:br>
              <a:rPr lang="en-US" dirty="0" smtClean="0"/>
            </a:br>
            <a:r>
              <a:rPr lang="en-US" dirty="0" smtClean="0"/>
              <a:t>BMC-035-Software Quality Engineering</a:t>
            </a:r>
            <a:br>
              <a:rPr lang="en-US" dirty="0" smtClean="0"/>
            </a:br>
            <a:r>
              <a:rPr lang="en-US" b="1" u="sng" dirty="0" smtClean="0">
                <a:solidFill>
                  <a:srgbClr val="C00000"/>
                </a:solidFill>
              </a:rPr>
              <a:t/>
            </a:r>
            <a:br>
              <a:rPr lang="en-US" b="1" u="sng" dirty="0" smtClean="0">
                <a:solidFill>
                  <a:srgbClr val="C00000"/>
                </a:solidFill>
              </a:rPr>
            </a:br>
            <a:endParaRPr lang="en-US" dirty="0">
              <a:solidFill>
                <a:srgbClr val="C00000"/>
              </a:solidFill>
            </a:endParaRPr>
          </a:p>
        </p:txBody>
      </p:sp>
      <p:sp>
        <p:nvSpPr>
          <p:cNvPr id="3" name="Content Placeholder 2"/>
          <p:cNvSpPr>
            <a:spLocks noGrp="1"/>
          </p:cNvSpPr>
          <p:nvPr>
            <p:ph idx="1"/>
          </p:nvPr>
        </p:nvSpPr>
        <p:spPr>
          <a:xfrm>
            <a:off x="0" y="762000"/>
            <a:ext cx="9144000" cy="6096000"/>
          </a:xfrm>
        </p:spPr>
        <p:style>
          <a:lnRef idx="1">
            <a:schemeClr val="accent5"/>
          </a:lnRef>
          <a:fillRef idx="2">
            <a:schemeClr val="accent5"/>
          </a:fillRef>
          <a:effectRef idx="1">
            <a:schemeClr val="accent5"/>
          </a:effectRef>
          <a:fontRef idx="minor">
            <a:schemeClr val="dk1"/>
          </a:fontRef>
        </p:style>
        <p:txBody>
          <a:bodyPr>
            <a:noAutofit/>
          </a:bodyPr>
          <a:lstStyle/>
          <a:p>
            <a:r>
              <a:rPr lang="en-US" sz="2000" b="1" u="sng" dirty="0" smtClean="0">
                <a:solidFill>
                  <a:srgbClr val="FF0000"/>
                </a:solidFill>
                <a:latin typeface="Aparajita" pitchFamily="34" charset="0"/>
                <a:cs typeface="Aparajita" pitchFamily="34" charset="0"/>
              </a:rPr>
              <a:t>UNIT-III-</a:t>
            </a:r>
          </a:p>
          <a:p>
            <a:r>
              <a:rPr lang="en-US" sz="2400" b="1" dirty="0" smtClean="0">
                <a:solidFill>
                  <a:srgbClr val="C00000"/>
                </a:solidFill>
                <a:latin typeface="Aparajita" pitchFamily="34" charset="0"/>
                <a:cs typeface="Aparajita" pitchFamily="34" charset="0"/>
              </a:rPr>
              <a:t>Software Quality Management and Models: </a:t>
            </a:r>
            <a:r>
              <a:rPr lang="en-US" sz="2400" dirty="0" smtClean="0">
                <a:latin typeface="Aparajita" pitchFamily="34" charset="0"/>
                <a:cs typeface="Aparajita" pitchFamily="34" charset="0"/>
              </a:rPr>
              <a:t>Modeling Process, </a:t>
            </a:r>
          </a:p>
          <a:p>
            <a:r>
              <a:rPr lang="en-US" sz="2400" dirty="0" smtClean="0">
                <a:solidFill>
                  <a:srgbClr val="C00000"/>
                </a:solidFill>
                <a:latin typeface="Aparajita" pitchFamily="34" charset="0"/>
                <a:cs typeface="Aparajita" pitchFamily="34" charset="0"/>
              </a:rPr>
              <a:t>Software Reliability Models: </a:t>
            </a:r>
            <a:r>
              <a:rPr lang="en-US" sz="2400" dirty="0" smtClean="0">
                <a:latin typeface="Aparajita" pitchFamily="34" charset="0"/>
                <a:cs typeface="Aparajita" pitchFamily="34" charset="0"/>
              </a:rPr>
              <a:t>The Rayleigh Model, Exponential Distribution and Software Reliability Growth Models, Software Reliability Allocation Models, Criteria for Model Evaluation, </a:t>
            </a:r>
          </a:p>
          <a:p>
            <a:r>
              <a:rPr lang="en-US" sz="2400" dirty="0" smtClean="0">
                <a:solidFill>
                  <a:srgbClr val="C00000"/>
                </a:solidFill>
                <a:latin typeface="Aparajita" pitchFamily="34" charset="0"/>
                <a:cs typeface="Aparajita" pitchFamily="34" charset="0"/>
              </a:rPr>
              <a:t>Software Quality Assessment Models</a:t>
            </a:r>
            <a:r>
              <a:rPr lang="en-US" sz="2400" dirty="0" smtClean="0">
                <a:latin typeface="Aparajita" pitchFamily="34" charset="0"/>
                <a:cs typeface="Aparajita" pitchFamily="34" charset="0"/>
              </a:rPr>
              <a:t>: Hierarchical Model of Software Quality Assessment.</a:t>
            </a:r>
            <a:endParaRPr lang="en-US" sz="2000" b="1" u="sng" dirty="0" smtClean="0">
              <a:solidFill>
                <a:srgbClr val="FF0000"/>
              </a:solidFill>
              <a:latin typeface="Aparajita" pitchFamily="34" charset="0"/>
              <a:cs typeface="Aparajita" pitchFamily="34" charset="0"/>
            </a:endParaRPr>
          </a:p>
          <a:p>
            <a:endParaRPr lang="en-US" sz="500" b="1" u="sng" dirty="0" smtClean="0">
              <a:solidFill>
                <a:srgbClr val="FF0000"/>
              </a:solidFill>
            </a:endParaRPr>
          </a:p>
          <a:p>
            <a:r>
              <a:rPr lang="en-US" sz="2000" b="1" u="sng" dirty="0" smtClean="0">
                <a:solidFill>
                  <a:srgbClr val="FF0000"/>
                </a:solidFill>
                <a:latin typeface="Aparajita" pitchFamily="34" charset="0"/>
                <a:cs typeface="Aparajita" pitchFamily="34" charset="0"/>
              </a:rPr>
              <a:t>UNIT-IV-</a:t>
            </a:r>
          </a:p>
          <a:p>
            <a:r>
              <a:rPr lang="en-US" sz="2400" b="1" dirty="0" smtClean="0">
                <a:solidFill>
                  <a:srgbClr val="C00000"/>
                </a:solidFill>
                <a:latin typeface="Aparajita" pitchFamily="34" charset="0"/>
                <a:cs typeface="Aparajita" pitchFamily="34" charset="0"/>
              </a:rPr>
              <a:t>Software Quality Assurance: </a:t>
            </a:r>
            <a:r>
              <a:rPr lang="en-US" sz="2400" dirty="0" smtClean="0">
                <a:latin typeface="Aparajita" pitchFamily="34" charset="0"/>
                <a:cs typeface="Aparajita" pitchFamily="34" charset="0"/>
              </a:rPr>
              <a:t>Quality Planning and Control, Quality Improvement Process, Evolution of Software Quality Assurance (SQA), Major SQA Activities, Major SQA Issues, Zero Defect Software, SQA Techniques, Statistical Quality Assurance, Total Quality Management, Quality Standards and Processes</a:t>
            </a:r>
            <a:endParaRPr lang="en-US" sz="2400" b="1" u="sng" dirty="0">
              <a:solidFill>
                <a:srgbClr val="FF000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style>
          <a:lnRef idx="1">
            <a:schemeClr val="accent1"/>
          </a:lnRef>
          <a:fillRef idx="2">
            <a:schemeClr val="accent1"/>
          </a:fillRef>
          <a:effectRef idx="1">
            <a:schemeClr val="accent1"/>
          </a:effectRef>
          <a:fontRef idx="minor">
            <a:schemeClr val="dk1"/>
          </a:fontRef>
        </p:style>
        <p:txBody>
          <a:bodyPr>
            <a:noAutofit/>
          </a:bodyPr>
          <a:lstStyle/>
          <a:p>
            <a:pPr lvl="0"/>
            <a:r>
              <a:rPr lang="en-US" sz="3600" dirty="0" smtClean="0"/>
              <a:t/>
            </a:r>
            <a:br>
              <a:rPr lang="en-US" sz="3600" dirty="0" smtClean="0"/>
            </a:br>
            <a:r>
              <a:rPr lang="en-US" sz="4000" dirty="0" smtClean="0"/>
              <a:t> BMC-035-Software Quality Engineering</a:t>
            </a:r>
            <a:r>
              <a:rPr lang="en-US" sz="4000" dirty="0" smtClean="0">
                <a:solidFill>
                  <a:srgbClr val="C00000"/>
                </a:solidFill>
              </a:rPr>
              <a:t/>
            </a:r>
            <a:br>
              <a:rPr lang="en-US" sz="4000" dirty="0" smtClean="0">
                <a:solidFill>
                  <a:srgbClr val="C00000"/>
                </a:solidFill>
              </a:rPr>
            </a:br>
            <a:endParaRPr lang="en-US" sz="3600" dirty="0">
              <a:solidFill>
                <a:srgbClr val="C00000"/>
              </a:solidFill>
            </a:endParaRPr>
          </a:p>
        </p:txBody>
      </p:sp>
      <p:sp>
        <p:nvSpPr>
          <p:cNvPr id="3" name="Content Placeholder 2"/>
          <p:cNvSpPr>
            <a:spLocks noGrp="1"/>
          </p:cNvSpPr>
          <p:nvPr>
            <p:ph idx="1"/>
          </p:nvPr>
        </p:nvSpPr>
        <p:spPr>
          <a:xfrm>
            <a:off x="0" y="762000"/>
            <a:ext cx="9144000" cy="6096000"/>
          </a:xfrm>
        </p:spPr>
        <p:style>
          <a:lnRef idx="1">
            <a:schemeClr val="accent5"/>
          </a:lnRef>
          <a:fillRef idx="2">
            <a:schemeClr val="accent5"/>
          </a:fillRef>
          <a:effectRef idx="1">
            <a:schemeClr val="accent5"/>
          </a:effectRef>
          <a:fontRef idx="minor">
            <a:schemeClr val="dk1"/>
          </a:fontRef>
        </p:style>
        <p:txBody>
          <a:bodyPr>
            <a:normAutofit/>
          </a:bodyPr>
          <a:lstStyle/>
          <a:p>
            <a:pPr algn="ctr"/>
            <a:endParaRPr lang="en-US" b="1" u="sng" dirty="0" smtClean="0">
              <a:solidFill>
                <a:srgbClr val="FF0000"/>
              </a:solidFill>
            </a:endParaRPr>
          </a:p>
          <a:p>
            <a:r>
              <a:rPr lang="en-US" b="1" u="sng" dirty="0" smtClean="0">
                <a:solidFill>
                  <a:srgbClr val="FF0000"/>
                </a:solidFill>
              </a:rPr>
              <a:t>UNIT-V</a:t>
            </a:r>
            <a:r>
              <a:rPr lang="en-US" dirty="0" smtClean="0"/>
              <a:t> –</a:t>
            </a:r>
          </a:p>
          <a:p>
            <a:r>
              <a:rPr lang="en-US" sz="2800" b="1" dirty="0" smtClean="0">
                <a:solidFill>
                  <a:srgbClr val="C00000"/>
                </a:solidFill>
                <a:latin typeface="Aparajita" pitchFamily="34" charset="0"/>
                <a:cs typeface="Aparajita" pitchFamily="34" charset="0"/>
              </a:rPr>
              <a:t>Software Verification, Validation &amp; Testing</a:t>
            </a:r>
            <a:r>
              <a:rPr lang="en-US" sz="2800" dirty="0" smtClean="0">
                <a:latin typeface="Aparajita" pitchFamily="34" charset="0"/>
                <a:cs typeface="Aparajita" pitchFamily="34" charset="0"/>
              </a:rPr>
              <a:t>: Verification and Validation, Evolutionary Nature of Verification and Validation, Impracticality of Testing all Data and Paths, Proof of Correctness, Software Testing, Functional, Structural and Error-Oriented Analysis &amp; Testing, Static and Dynamic Testing Tools, Characteristics of Modern Testing Tools.</a:t>
            </a:r>
            <a:endParaRPr lang="en-US" sz="2400" u="sng" dirty="0">
              <a:solidFill>
                <a:srgbClr val="FF0000"/>
              </a:solidFill>
              <a:latin typeface="Aparajita" pitchFamily="34" charset="0"/>
              <a:cs typeface="Aparajita"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7467600"/>
          </a:xfrm>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pPr marL="0" indent="0" algn="ctr">
              <a:buNone/>
            </a:pPr>
            <a:endParaRPr lang="en-US" sz="1050" b="1" dirty="0" smtClean="0"/>
          </a:p>
          <a:p>
            <a:pPr marL="0" indent="0" algn="ctr">
              <a:buNone/>
            </a:pPr>
            <a:r>
              <a:rPr lang="en-US" sz="23900" b="1" dirty="0" smtClean="0">
                <a:solidFill>
                  <a:srgbClr val="FF0000"/>
                </a:solidFill>
              </a:rPr>
              <a:t>UNIT</a:t>
            </a:r>
            <a:r>
              <a:rPr lang="en-US" sz="24000" b="1" dirty="0" smtClean="0">
                <a:solidFill>
                  <a:srgbClr val="FF0000"/>
                </a:solidFill>
              </a:rPr>
              <a:t>-</a:t>
            </a:r>
            <a:r>
              <a:rPr lang="en-US" sz="28700" b="1" dirty="0" smtClean="0">
                <a:solidFill>
                  <a:srgbClr val="FF0000"/>
                </a:solidFill>
              </a:rPr>
              <a:t>IV</a:t>
            </a:r>
            <a:r>
              <a:rPr lang="en-US" sz="23900" b="1" dirty="0" smtClean="0">
                <a:solidFill>
                  <a:srgbClr val="FF0000"/>
                </a:solidFill>
              </a:rPr>
              <a:t>-</a:t>
            </a:r>
            <a:endParaRPr lang="en-US" sz="28700" b="1" dirty="0" smtClean="0">
              <a:solidFill>
                <a:srgbClr val="FF0000"/>
              </a:solidFill>
            </a:endParaRPr>
          </a:p>
          <a:p>
            <a:pPr marL="0" indent="0" algn="ctr">
              <a:buNone/>
            </a:pPr>
            <a:r>
              <a:rPr lang="en-US" sz="24000" b="1" dirty="0" smtClean="0">
                <a:solidFill>
                  <a:srgbClr val="FF0000"/>
                </a:solidFill>
              </a:rPr>
              <a:t>Start</a:t>
            </a:r>
            <a:r>
              <a:rPr lang="en-US" sz="41100" b="1" dirty="0" smtClean="0">
                <a:solidFill>
                  <a:srgbClr val="FF0000"/>
                </a:solidFill>
              </a:rPr>
              <a:t>-</a:t>
            </a:r>
            <a:endParaRPr lang="en-US" sz="24000" b="1" dirty="0" smtClean="0">
              <a:solidFill>
                <a:srgbClr val="FF0000"/>
              </a:solidFill>
            </a:endParaRPr>
          </a:p>
          <a:p>
            <a:pPr algn="ctr"/>
            <a:endParaRPr lang="en-US" sz="3800" b="1"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Autofit/>
          </a:bodyPr>
          <a:lstStyle/>
          <a:p>
            <a:r>
              <a:rPr lang="en-US" sz="4800" b="1" u="sng" dirty="0" smtClean="0">
                <a:solidFill>
                  <a:srgbClr val="FF0000"/>
                </a:solidFill>
                <a:latin typeface="Aparajita" pitchFamily="34" charset="0"/>
                <a:cs typeface="Aparajita" pitchFamily="34" charset="0"/>
              </a:rPr>
              <a:t>UNIT-IV-</a:t>
            </a:r>
          </a:p>
          <a:p>
            <a:r>
              <a:rPr lang="en-US" sz="3600" b="1" dirty="0" smtClean="0">
                <a:solidFill>
                  <a:srgbClr val="C00000"/>
                </a:solidFill>
                <a:latin typeface="Aparajita" pitchFamily="34" charset="0"/>
                <a:cs typeface="Aparajita" pitchFamily="34" charset="0"/>
              </a:rPr>
              <a:t>Software Quality Assurance: </a:t>
            </a:r>
          </a:p>
          <a:p>
            <a:r>
              <a:rPr lang="en-US" dirty="0" smtClean="0">
                <a:latin typeface="Aparajita" pitchFamily="34" charset="0"/>
                <a:cs typeface="Aparajita" pitchFamily="34" charset="0"/>
              </a:rPr>
              <a:t>Quality Planning and Control, Quality Improvement Process, Evolution of Software Quality Assurance (SQA), Major SQA Activities, Major SQA Issues, Zero Defect Software, SQA Techniques, Statistical Quality Assurance, </a:t>
            </a:r>
          </a:p>
          <a:p>
            <a:r>
              <a:rPr lang="en-US" dirty="0" smtClean="0">
                <a:latin typeface="Aparajita" pitchFamily="34" charset="0"/>
                <a:cs typeface="Aparajita" pitchFamily="34" charset="0"/>
              </a:rPr>
              <a:t>Total Quality Management, Quality Standards and </a:t>
            </a:r>
            <a:r>
              <a:rPr lang="en-US" sz="3600" dirty="0" smtClean="0">
                <a:latin typeface="Aparajita" pitchFamily="34" charset="0"/>
                <a:cs typeface="Aparajita" pitchFamily="34" charset="0"/>
              </a:rPr>
              <a:t>Processes</a:t>
            </a:r>
            <a:r>
              <a:rPr lang="en-US" sz="6600" dirty="0">
                <a:solidFill>
                  <a:srgbClr val="FF0000"/>
                </a:solidFill>
                <a:latin typeface="Aparajita" pitchFamily="34" charset="0"/>
                <a:cs typeface="Aparajita" pitchFamily="34" charset="0"/>
              </a:rPr>
              <a:t>.</a:t>
            </a:r>
            <a:endParaRPr lang="en-US" sz="3600" b="1" u="sng" dirty="0" smtClean="0">
              <a:solidFill>
                <a:srgbClr val="FF0000"/>
              </a:solidFill>
              <a:latin typeface="Aparajita" pitchFamily="34" charset="0"/>
              <a:cs typeface="Aparajita"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lvl="6">
              <a:buNone/>
            </a:pPr>
            <a:endParaRPr lang="en-US" sz="6600" b="1" dirty="0" smtClean="0">
              <a:solidFill>
                <a:srgbClr val="C00000"/>
              </a:solidFill>
              <a:latin typeface="Aparajita" pitchFamily="34" charset="0"/>
              <a:cs typeface="Aparajita" pitchFamily="34" charset="0"/>
            </a:endParaRPr>
          </a:p>
          <a:p>
            <a:pPr lvl="6">
              <a:buNone/>
            </a:pPr>
            <a:r>
              <a:rPr lang="en-US" sz="11500" b="1" dirty="0" smtClean="0">
                <a:solidFill>
                  <a:srgbClr val="C00000"/>
                </a:solidFill>
                <a:latin typeface="Aparajita" pitchFamily="34" charset="0"/>
                <a:cs typeface="Aparajita" pitchFamily="34" charset="0"/>
              </a:rPr>
              <a:t>UNIT-IV </a:t>
            </a:r>
          </a:p>
          <a:p>
            <a:pPr lvl="0" algn="ctr"/>
            <a:r>
              <a:rPr lang="en-US" sz="4400" b="1" dirty="0" smtClean="0">
                <a:solidFill>
                  <a:srgbClr val="002060"/>
                </a:solidFill>
                <a:latin typeface="Aparajita" pitchFamily="34" charset="0"/>
                <a:cs typeface="Aparajita" pitchFamily="34" charset="0"/>
              </a:rPr>
              <a:t>This Unit is totally devoted for Software Quality Assurance topic.</a:t>
            </a:r>
          </a:p>
          <a:p>
            <a:pPr lvl="0" algn="ctr"/>
            <a:endParaRPr lang="en-US" sz="4400"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pPr algn="ctr"/>
            <a:r>
              <a:rPr lang="en-US" sz="4600" dirty="0" smtClean="0">
                <a:solidFill>
                  <a:srgbClr val="C00000"/>
                </a:solidFill>
              </a:rPr>
              <a:t>Before starting Software Quality Assurance- First thing we should know is</a:t>
            </a:r>
          </a:p>
          <a:p>
            <a:pPr algn="ctr"/>
            <a:r>
              <a:rPr lang="en-US" sz="4300" dirty="0" smtClean="0">
                <a:solidFill>
                  <a:srgbClr val="C00000"/>
                </a:solidFill>
              </a:rPr>
              <a:t>What is Software Quality (SQ)</a:t>
            </a:r>
          </a:p>
          <a:p>
            <a:pPr algn="just"/>
            <a:r>
              <a:rPr lang="en-US" sz="3600" dirty="0" smtClean="0"/>
              <a:t>Software Quality refers to a software which is reasonably bug </a:t>
            </a:r>
            <a:r>
              <a:rPr lang="en-US" sz="3600" dirty="0" smtClean="0">
                <a:solidFill>
                  <a:srgbClr val="FF0000"/>
                </a:solidFill>
              </a:rPr>
              <a:t>or</a:t>
            </a:r>
            <a:r>
              <a:rPr lang="en-US" sz="3600" dirty="0" smtClean="0"/>
              <a:t> defect free is delivered in time and within the specified budget meets the requirements and/or expectations and is maintainable.</a:t>
            </a:r>
          </a:p>
          <a:p>
            <a:pPr algn="ctr"/>
            <a:r>
              <a:rPr lang="en-US" sz="3600" dirty="0" smtClean="0">
                <a:solidFill>
                  <a:srgbClr val="FF0000"/>
                </a:solidFill>
              </a:rPr>
              <a:t>Software quality product is defined in term of its </a:t>
            </a:r>
            <a:r>
              <a:rPr lang="en-US" sz="3600" b="1" dirty="0" smtClean="0">
                <a:solidFill>
                  <a:srgbClr val="7030A0"/>
                </a:solidFill>
              </a:rPr>
              <a:t>fitness of purpose. </a:t>
            </a:r>
          </a:p>
          <a:p>
            <a:r>
              <a:rPr lang="en-US" sz="3600" dirty="0" smtClean="0"/>
              <a:t>That is, a quality product does precisely what the users want it to do. </a:t>
            </a:r>
          </a:p>
          <a:p>
            <a:r>
              <a:rPr lang="en-US" sz="3600" dirty="0" smtClean="0">
                <a:solidFill>
                  <a:srgbClr val="FF0000"/>
                </a:solidFill>
              </a:rPr>
              <a:t>For software products </a:t>
            </a:r>
            <a:r>
              <a:rPr lang="en-US" sz="3600" dirty="0" smtClean="0"/>
              <a:t>the fitness of use is generally explained in terms of satisfaction of the requirements laid down in the Software Requirements Specifications (SRS) document.</a:t>
            </a:r>
          </a:p>
          <a:p>
            <a:r>
              <a:rPr lang="en-US" sz="3600" dirty="0" smtClean="0"/>
              <a:t>Although </a:t>
            </a:r>
            <a:r>
              <a:rPr lang="en-US" sz="3600" dirty="0" smtClean="0">
                <a:solidFill>
                  <a:srgbClr val="7030A0"/>
                </a:solidFill>
              </a:rPr>
              <a:t>"</a:t>
            </a:r>
            <a:r>
              <a:rPr lang="en-US" sz="3600" dirty="0" smtClean="0">
                <a:solidFill>
                  <a:srgbClr val="C00000"/>
                </a:solidFill>
              </a:rPr>
              <a:t>fitness of purpose" </a:t>
            </a:r>
            <a:r>
              <a:rPr lang="en-US" sz="3600" dirty="0" smtClean="0"/>
              <a:t>is a satisfactory interpretation of quality for many devices such as a car, a table fan, a grinding machine, etc. </a:t>
            </a:r>
          </a:p>
          <a:p>
            <a:r>
              <a:rPr lang="en-US" sz="3600" dirty="0" smtClean="0"/>
              <a:t>for software products, "fitness of purpose" is not a wholly satisfactory definition of quality.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lnSpcReduction="10000"/>
          </a:bodyPr>
          <a:lstStyle/>
          <a:p>
            <a:pPr algn="ctr">
              <a:buNone/>
            </a:pPr>
            <a:r>
              <a:rPr lang="en-US" sz="3600" dirty="0" smtClean="0">
                <a:solidFill>
                  <a:srgbClr val="FF0000"/>
                </a:solidFill>
              </a:rPr>
              <a:t>Software Quality Assurance (SQA)</a:t>
            </a:r>
          </a:p>
          <a:p>
            <a:pPr algn="just">
              <a:buNone/>
            </a:pPr>
            <a:r>
              <a:rPr lang="en-US" sz="2800" dirty="0" smtClean="0"/>
              <a:t>Software Quality Assurance (SQA) is a systematic process or methodology to ensure that the quality and reliability of the software product by monitoring the software engineering processes with a predetermined set of standards.</a:t>
            </a:r>
          </a:p>
          <a:p>
            <a:pPr algn="just">
              <a:buNone/>
            </a:pPr>
            <a:r>
              <a:rPr lang="en-US" sz="2800" dirty="0" smtClean="0"/>
              <a:t>It's a preventive technique aimed at preventing errors by ensuring everyone follows established methods throughout the software development lifecycle, from requirements gathering to coding, testing, and releasing of the final product. </a:t>
            </a:r>
          </a:p>
          <a:p>
            <a:pPr algn="just">
              <a:buNone/>
            </a:pPr>
            <a:r>
              <a:rPr lang="en-IN" sz="2800" dirty="0" smtClean="0">
                <a:solidFill>
                  <a:srgbClr val="FF0000"/>
                </a:solidFill>
              </a:rPr>
              <a:t>Or</a:t>
            </a:r>
          </a:p>
          <a:p>
            <a:pPr algn="just">
              <a:buNone/>
            </a:pPr>
            <a:r>
              <a:rPr lang="en-US" sz="2800" dirty="0" smtClean="0"/>
              <a:t>Software quality assurance (SQA) is a means and practice of monitoring all software engineering processes, methods, and work products to ensure compliance against defined standards.</a:t>
            </a:r>
          </a:p>
          <a:p>
            <a:pPr algn="just">
              <a:buNone/>
            </a:pPr>
            <a:endParaRPr lang="en-US" sz="2800" dirty="0" smtClean="0"/>
          </a:p>
          <a:p>
            <a:pPr algn="just">
              <a:buNone/>
            </a:pPr>
            <a:endParaRPr lang="en-US" sz="4000" dirty="0" smtClean="0">
              <a:solidFill>
                <a:srgbClr val="C00000"/>
              </a:solidFill>
            </a:endParaRPr>
          </a:p>
          <a:p>
            <a:endParaRPr lang="en-US" b="1" dirty="0" smtClean="0">
              <a:solidFill>
                <a:srgbClr val="002060"/>
              </a:solidFill>
              <a:latin typeface="Aparajita" pitchFamily="34" charset="0"/>
              <a:cs typeface="Aparajita" pitchFamily="34" charset="0"/>
            </a:endParaRPr>
          </a:p>
          <a:p>
            <a:pPr algn="ctr"/>
            <a:endParaRPr lang="en-US"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r>
              <a:rPr lang="en-US" sz="4100" dirty="0" smtClean="0">
                <a:solidFill>
                  <a:srgbClr val="C00000"/>
                </a:solidFill>
              </a:rPr>
              <a:t>Key Aspects of</a:t>
            </a:r>
            <a:r>
              <a:rPr lang="en-US" sz="4100" dirty="0" smtClean="0">
                <a:solidFill>
                  <a:srgbClr val="FF0000"/>
                </a:solidFill>
              </a:rPr>
              <a:t> Software Quality Assurance</a:t>
            </a:r>
            <a:r>
              <a:rPr lang="en-US" sz="4100" dirty="0" smtClean="0">
                <a:solidFill>
                  <a:srgbClr val="C00000"/>
                </a:solidFill>
              </a:rPr>
              <a:t>(SQA):</a:t>
            </a:r>
          </a:p>
          <a:p>
            <a:r>
              <a:rPr lang="en-US" sz="3600" b="1" dirty="0" smtClean="0">
                <a:solidFill>
                  <a:srgbClr val="C00000"/>
                </a:solidFill>
              </a:rPr>
              <a:t>1. Verification and Validation: </a:t>
            </a:r>
            <a:r>
              <a:rPr lang="en-US" sz="3600" dirty="0" smtClean="0"/>
              <a:t>It involves both verification (ensuring the software is built correctly) and validation (ensuring the software meets user needs and requirements). </a:t>
            </a:r>
          </a:p>
          <a:p>
            <a:r>
              <a:rPr lang="en-US" sz="3600" b="1" dirty="0" smtClean="0">
                <a:solidFill>
                  <a:srgbClr val="C00000"/>
                </a:solidFill>
              </a:rPr>
              <a:t>2. Process Improvement: </a:t>
            </a:r>
            <a:r>
              <a:rPr lang="en-US" sz="3600" dirty="0" smtClean="0"/>
              <a:t>SQA focuses on improving the development and maintenance processes through systematic activities. </a:t>
            </a:r>
          </a:p>
          <a:p>
            <a:r>
              <a:rPr lang="en-US" sz="3600" b="1" dirty="0" smtClean="0">
                <a:solidFill>
                  <a:srgbClr val="C00000"/>
                </a:solidFill>
              </a:rPr>
              <a:t>3. Standard Compliance: </a:t>
            </a:r>
            <a:r>
              <a:rPr lang="en-US" sz="3600" dirty="0" smtClean="0"/>
              <a:t>It ensures that software engineering activities conform to company and industry standards. </a:t>
            </a:r>
          </a:p>
          <a:p>
            <a:r>
              <a:rPr lang="en-US" sz="3600" b="1" dirty="0" smtClean="0">
                <a:solidFill>
                  <a:srgbClr val="C00000"/>
                </a:solidFill>
              </a:rPr>
              <a:t>4. Risk Mitigation</a:t>
            </a:r>
            <a:r>
              <a:rPr lang="hi-IN" sz="2100" dirty="0" smtClean="0"/>
              <a:t>जोखिम न्यूनीकरण </a:t>
            </a:r>
            <a:r>
              <a:rPr lang="en-US" sz="3600" b="1" dirty="0" smtClean="0"/>
              <a:t>: </a:t>
            </a:r>
            <a:r>
              <a:rPr lang="en-US" sz="3600" dirty="0" smtClean="0"/>
              <a:t>SQA helps identify and address potential issues early in the development cycle, reducing the risk of costly rework later. </a:t>
            </a:r>
          </a:p>
          <a:p>
            <a:r>
              <a:rPr lang="en-US" sz="3600" b="1" dirty="0" smtClean="0">
                <a:solidFill>
                  <a:srgbClr val="C00000"/>
                </a:solidFill>
              </a:rPr>
              <a:t>5. Customer Satisfaction: </a:t>
            </a:r>
            <a:r>
              <a:rPr lang="en-US" sz="3600" dirty="0" smtClean="0"/>
              <a:t>Ultimately, SQA aims to deliver software that meets customer expectations and provides a high-quality user experience.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algn="ctr">
              <a:buNone/>
            </a:pPr>
            <a:r>
              <a:rPr lang="en-US" sz="4600" dirty="0" smtClean="0">
                <a:solidFill>
                  <a:srgbClr val="FF0000"/>
                </a:solidFill>
              </a:rPr>
              <a:t>Software Quality Assurance (SQA)</a:t>
            </a:r>
          </a:p>
          <a:p>
            <a:r>
              <a:rPr lang="en-US" dirty="0" smtClean="0">
                <a:solidFill>
                  <a:srgbClr val="FF0000"/>
                </a:solidFill>
              </a:rPr>
              <a:t>Software Quality Assurance (</a:t>
            </a:r>
            <a:r>
              <a:rPr lang="en-US" dirty="0" smtClean="0"/>
              <a:t>SQA) </a:t>
            </a:r>
            <a:r>
              <a:rPr lang="en-US" dirty="0" smtClean="0">
                <a:solidFill>
                  <a:srgbClr val="C00000"/>
                </a:solidFill>
              </a:rPr>
              <a:t>Activities: </a:t>
            </a:r>
            <a:r>
              <a:rPr lang="en-US" dirty="0" smtClean="0">
                <a:solidFill>
                  <a:schemeClr val="tx1"/>
                </a:solidFill>
              </a:rPr>
              <a:t>There are several activities involve-</a:t>
            </a:r>
          </a:p>
          <a:p>
            <a:r>
              <a:rPr lang="en-US" b="1" dirty="0" smtClean="0">
                <a:solidFill>
                  <a:srgbClr val="C00000"/>
                </a:solidFill>
              </a:rPr>
              <a:t>1. Process Definition and Implementation:-</a:t>
            </a:r>
            <a:endParaRPr lang="en-US" dirty="0" smtClean="0">
              <a:solidFill>
                <a:srgbClr val="C00000"/>
              </a:solidFill>
            </a:endParaRPr>
          </a:p>
          <a:p>
            <a:pPr fontAlgn="ctr"/>
            <a:r>
              <a:rPr lang="en-US" dirty="0" smtClean="0"/>
              <a:t>Establishing and documenting quality assurance processes and procedures. </a:t>
            </a:r>
          </a:p>
          <a:p>
            <a:r>
              <a:rPr lang="en-US" b="1" dirty="0" smtClean="0">
                <a:solidFill>
                  <a:srgbClr val="C00000"/>
                </a:solidFill>
              </a:rPr>
              <a:t>2. Auditing:-</a:t>
            </a:r>
            <a:endParaRPr lang="en-US" dirty="0" smtClean="0">
              <a:solidFill>
                <a:srgbClr val="C00000"/>
              </a:solidFill>
            </a:endParaRPr>
          </a:p>
          <a:p>
            <a:pPr fontAlgn="ctr"/>
            <a:r>
              <a:rPr lang="en-US" dirty="0" smtClean="0"/>
              <a:t>Regularly reviewing the software development process to ensure compliance with standards and identify areas for improvement. </a:t>
            </a:r>
          </a:p>
          <a:p>
            <a:r>
              <a:rPr lang="en-US" b="1" dirty="0" smtClean="0">
                <a:solidFill>
                  <a:srgbClr val="C00000"/>
                </a:solidFill>
              </a:rPr>
              <a:t>3. Training:-</a:t>
            </a:r>
            <a:endParaRPr lang="en-US" dirty="0" smtClean="0">
              <a:solidFill>
                <a:srgbClr val="C00000"/>
              </a:solidFill>
            </a:endParaRPr>
          </a:p>
          <a:p>
            <a:pPr fontAlgn="ctr"/>
            <a:r>
              <a:rPr lang="en-US" dirty="0" smtClean="0"/>
              <a:t>Providing developers and other team members with the necessary knowledge and skills to implement and adhere to SQA practices. </a:t>
            </a:r>
          </a:p>
          <a:p>
            <a:r>
              <a:rPr lang="en-US" b="1" dirty="0" smtClean="0">
                <a:solidFill>
                  <a:srgbClr val="C00000"/>
                </a:solidFill>
              </a:rPr>
              <a:t>4. Testing:-</a:t>
            </a:r>
            <a:endParaRPr lang="en-US" dirty="0" smtClean="0">
              <a:solidFill>
                <a:srgbClr val="C00000"/>
              </a:solidFill>
            </a:endParaRPr>
          </a:p>
          <a:p>
            <a:pPr fontAlgn="ctr"/>
            <a:r>
              <a:rPr lang="en-US" dirty="0" smtClean="0"/>
              <a:t>Conducting various types of testing (e.g., unit, integration, system) to identify defects and ensure the software functions as intended. </a:t>
            </a:r>
          </a:p>
          <a:p>
            <a:r>
              <a:rPr lang="en-US" b="1" dirty="0" smtClean="0">
                <a:solidFill>
                  <a:srgbClr val="C00000"/>
                </a:solidFill>
              </a:rPr>
              <a:t>5. Defect Tracking and Management:-</a:t>
            </a:r>
            <a:endParaRPr lang="en-US" dirty="0" smtClean="0">
              <a:solidFill>
                <a:srgbClr val="C00000"/>
              </a:solidFill>
            </a:endParaRPr>
          </a:p>
          <a:p>
            <a:r>
              <a:rPr lang="en-US" dirty="0" smtClean="0"/>
              <a:t>Using a systematic approach to track and resolve defects, ensuring they are addressed in a timely manner.</a:t>
            </a:r>
            <a:endParaRPr lang="en-US"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algn="ctr"/>
            <a:r>
              <a:rPr lang="en-US" dirty="0" smtClean="0">
                <a:solidFill>
                  <a:srgbClr val="C00000"/>
                </a:solidFill>
              </a:rPr>
              <a:t>How to implement of </a:t>
            </a:r>
            <a:r>
              <a:rPr lang="en-US" dirty="0" smtClean="0">
                <a:solidFill>
                  <a:srgbClr val="FF0000"/>
                </a:solidFill>
              </a:rPr>
              <a:t>Software Quality Assurance (</a:t>
            </a:r>
            <a:r>
              <a:rPr lang="en-US" dirty="0" smtClean="0">
                <a:solidFill>
                  <a:srgbClr val="C00000"/>
                </a:solidFill>
              </a:rPr>
              <a:t>SQA)-</a:t>
            </a:r>
          </a:p>
          <a:p>
            <a:r>
              <a:rPr lang="en-US" dirty="0" smtClean="0"/>
              <a:t>it is essential to follow a structured approach. You can follow the below-mentioned steps to implement SQA:</a:t>
            </a:r>
          </a:p>
          <a:p>
            <a:endParaRPr lang="en-US" sz="1400" dirty="0" smtClean="0"/>
          </a:p>
          <a:p>
            <a:pPr algn="just"/>
            <a:r>
              <a:rPr lang="en-US" b="1" dirty="0" smtClean="0">
                <a:solidFill>
                  <a:srgbClr val="FF0000"/>
                </a:solidFill>
              </a:rPr>
              <a:t>Define quality standards</a:t>
            </a:r>
            <a:r>
              <a:rPr lang="en-US" b="1" dirty="0" smtClean="0"/>
              <a:t>:</a:t>
            </a:r>
            <a:r>
              <a:rPr lang="en-US" dirty="0" smtClean="0"/>
              <a:t> Clearly define the quality standards that your software product must meet. This includes defining requirements, acceptance criteria, and performance metrics. These standards should be agreed upon by all stakeholders, including the development team, management, and customers.</a:t>
            </a:r>
          </a:p>
          <a:p>
            <a:pPr algn="just"/>
            <a:endParaRPr lang="en-US" sz="1800" dirty="0" smtClean="0"/>
          </a:p>
          <a:p>
            <a:r>
              <a:rPr lang="en-US" b="1" dirty="0" smtClean="0">
                <a:solidFill>
                  <a:srgbClr val="FF0000"/>
                </a:solidFill>
              </a:rPr>
              <a:t>Plan SQA activities:</a:t>
            </a:r>
            <a:r>
              <a:rPr lang="en-US" dirty="0" smtClean="0"/>
              <a:t> Develop a plan for the SQA activities that will be performed throughout the software development life cycle. This plan should include reviews, testing, and documentation activities. It should also specify who will be responsible for each activity and when it will be performed.</a:t>
            </a:r>
          </a:p>
          <a:p>
            <a:endParaRPr lang="en-US" sz="1800" dirty="0" smtClean="0"/>
          </a:p>
          <a:p>
            <a:r>
              <a:rPr lang="en-US" b="1" dirty="0" smtClean="0">
                <a:solidFill>
                  <a:srgbClr val="FF0000"/>
                </a:solidFill>
              </a:rPr>
              <a:t>Conduct reviews:</a:t>
            </a:r>
            <a:r>
              <a:rPr lang="en-US" dirty="0" smtClean="0">
                <a:solidFill>
                  <a:srgbClr val="FF0000"/>
                </a:solidFill>
              </a:rPr>
              <a:t> </a:t>
            </a:r>
            <a:r>
              <a:rPr lang="en-US" dirty="0" smtClean="0"/>
              <a:t>Conduct reviews of software artifacts such as requirements, design documents, and code. These reviews should be conducted by a team of experts who are not directly involved in the development process. This will help identify defects early in the development process and reduce the cost of fixing them later.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b="1" dirty="0" smtClean="0">
                <a:solidFill>
                  <a:srgbClr val="FF0000"/>
                </a:solidFill>
              </a:rPr>
              <a:t>Perform Testing:</a:t>
            </a:r>
            <a:r>
              <a:rPr lang="en-US" dirty="0" smtClean="0"/>
              <a:t> Perform different types of testing such as unit testing, integration testing, system testing, and acceptance testing. Use automated testing tools to increase efficiency and reduce the risk of human error.</a:t>
            </a:r>
          </a:p>
          <a:p>
            <a:r>
              <a:rPr lang="en-US" b="1" dirty="0" smtClean="0">
                <a:solidFill>
                  <a:srgbClr val="FF0000"/>
                </a:solidFill>
              </a:rPr>
              <a:t>Monitor and Measure:</a:t>
            </a:r>
            <a:r>
              <a:rPr lang="en-US" dirty="0" smtClean="0"/>
              <a:t> Monitor and measure the quality of the software product throughout the development process. This includes tracking defects, analyzing metrics such as code coverage and defect density, and conducting root cause analysis.</a:t>
            </a:r>
          </a:p>
          <a:p>
            <a:r>
              <a:rPr lang="en-US" b="1" dirty="0" smtClean="0">
                <a:solidFill>
                  <a:srgbClr val="FF0000"/>
                </a:solidFill>
              </a:rPr>
              <a:t>Improve Continuously:</a:t>
            </a:r>
            <a:r>
              <a:rPr lang="en-US" dirty="0" smtClean="0"/>
              <a:t> Continuously improve the SQA process by analyzing the results of the monitoring and measuring activities. Use this data to identify areas for improvement and implement changes to the SQA process.</a:t>
            </a:r>
            <a:endParaRPr lang="en-US"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r>
              <a:rPr lang="en-US" sz="4000" dirty="0" smtClean="0">
                <a:solidFill>
                  <a:srgbClr val="FF0000"/>
                </a:solidFill>
              </a:rPr>
              <a:t>Fundamentals of Software Quality Assurance:-</a:t>
            </a:r>
          </a:p>
          <a:p>
            <a:r>
              <a:rPr lang="en-US" sz="3400" dirty="0" smtClean="0"/>
              <a:t>Understanding the fundamentals of Software Quality Assurance (SQA) is crucial for developing software that is robust, reliable, and meets user expectations. SQA encompasses various practices, methodologies, and frameworks designed to ensure the quality of software products throughout the software development lifecycle (SDLC). </a:t>
            </a:r>
          </a:p>
          <a:p>
            <a:r>
              <a:rPr lang="en-US" sz="3800" dirty="0" smtClean="0"/>
              <a:t>Here’s a detailed look at the core fundamentals of SQA:</a:t>
            </a:r>
          </a:p>
          <a:p>
            <a:r>
              <a:rPr lang="en-US" dirty="0" smtClean="0">
                <a:solidFill>
                  <a:srgbClr val="FF0000"/>
                </a:solidFill>
              </a:rPr>
              <a:t>1. Quality Planning</a:t>
            </a:r>
          </a:p>
          <a:p>
            <a:r>
              <a:rPr lang="en-US" dirty="0" smtClean="0"/>
              <a:t>Quality planning involves defining specific quality standards for projects and determining the necessary processes to achieve these standards. This stage sets the foundation for what the quality goals are and how they will be measured. It includes establishing quality policies, objectives, and criteria for accepting software products.</a:t>
            </a:r>
          </a:p>
          <a:p>
            <a:r>
              <a:rPr lang="en-US" dirty="0" smtClean="0">
                <a:solidFill>
                  <a:srgbClr val="FF0000"/>
                </a:solidFill>
              </a:rPr>
              <a:t>2. Quality Control (QC)</a:t>
            </a:r>
          </a:p>
          <a:p>
            <a:r>
              <a:rPr lang="en-US" dirty="0" smtClean="0"/>
              <a:t>Quality control is the process of enforcing quality standards by inspecting and testing the software product during and after development. There are various</a:t>
            </a:r>
          </a:p>
          <a:p>
            <a:r>
              <a:rPr lang="en-US" dirty="0" smtClean="0"/>
              <a:t>QC activities involve:</a:t>
            </a:r>
          </a:p>
          <a:p>
            <a:r>
              <a:rPr lang="en-US" dirty="0" smtClean="0">
                <a:solidFill>
                  <a:srgbClr val="FF0000"/>
                </a:solidFill>
              </a:rPr>
              <a:t>Testing: </a:t>
            </a:r>
            <a:r>
              <a:rPr lang="en-US" dirty="0" smtClean="0"/>
              <a:t>Systematic execution of software to identify bugs and ensure that functionalities meet the specified requirements.</a:t>
            </a:r>
          </a:p>
          <a:p>
            <a:r>
              <a:rPr lang="en-US" dirty="0" smtClean="0">
                <a:solidFill>
                  <a:srgbClr val="FF0000"/>
                </a:solidFill>
              </a:rPr>
              <a:t>Inspections and Reviews: </a:t>
            </a:r>
            <a:r>
              <a:rPr lang="en-US" dirty="0" smtClean="0"/>
              <a:t>Formal and informal reviews of the software, including code reviews, design reviews, and requirement reviews to catch defects early in the process.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r>
              <a:rPr lang="en-US" dirty="0" smtClean="0">
                <a:solidFill>
                  <a:srgbClr val="FF0000"/>
                </a:solidFill>
              </a:rPr>
              <a:t>3. Quality Assurance:-</a:t>
            </a:r>
            <a:r>
              <a:rPr lang="en-US" dirty="0" smtClean="0"/>
              <a:t>While quality control focuses on the output, quality assurance focuses on improving the processes used to make the product. This includes:</a:t>
            </a:r>
          </a:p>
          <a:p>
            <a:r>
              <a:rPr lang="en-US" dirty="0" smtClean="0">
                <a:solidFill>
                  <a:srgbClr val="FF0000"/>
                </a:solidFill>
              </a:rPr>
              <a:t>Process Standardization: </a:t>
            </a:r>
            <a:r>
              <a:rPr lang="en-US" dirty="0" smtClean="0"/>
              <a:t>Developing and following standardized processes to reduce variability and increase predictability.</a:t>
            </a:r>
          </a:p>
          <a:p>
            <a:r>
              <a:rPr lang="en-US" dirty="0" smtClean="0"/>
              <a:t>Process Evaluation and Improvement: Continually evaluating processes for effectiveness and efficiency, using models and standards such as CMMI (Capability Maturity Model Integration) and ISO 9001.</a:t>
            </a:r>
          </a:p>
          <a:p>
            <a:r>
              <a:rPr lang="en-US" dirty="0" smtClean="0">
                <a:solidFill>
                  <a:srgbClr val="FF0000"/>
                </a:solidFill>
              </a:rPr>
              <a:t>4. Quality Management:</a:t>
            </a:r>
          </a:p>
          <a:p>
            <a:r>
              <a:rPr lang="en-US" dirty="0" smtClean="0"/>
              <a:t>This encompasses all activities related to maintaining and enhancing the quality of the software. </a:t>
            </a:r>
          </a:p>
          <a:p>
            <a:r>
              <a:rPr lang="en-US" dirty="0" smtClean="0"/>
              <a:t>It includes:</a:t>
            </a:r>
          </a:p>
          <a:p>
            <a:r>
              <a:rPr lang="en-US" dirty="0" smtClean="0">
                <a:solidFill>
                  <a:srgbClr val="FF0000"/>
                </a:solidFill>
              </a:rPr>
              <a:t>Leadership Engagement: </a:t>
            </a:r>
            <a:r>
              <a:rPr lang="en-US" dirty="0" smtClean="0"/>
              <a:t>Ensuring that the organization’s leadership understands and supports quality initiatives.</a:t>
            </a:r>
          </a:p>
          <a:p>
            <a:r>
              <a:rPr lang="en-US" dirty="0" smtClean="0">
                <a:solidFill>
                  <a:srgbClr val="FF0000"/>
                </a:solidFill>
              </a:rPr>
              <a:t>Resource Management: </a:t>
            </a:r>
            <a:r>
              <a:rPr lang="en-US" dirty="0" smtClean="0"/>
              <a:t>Allocating and managing resources effectively to maintain quality standards.</a:t>
            </a:r>
          </a:p>
          <a:p>
            <a:r>
              <a:rPr lang="en-US" dirty="0" smtClean="0">
                <a:solidFill>
                  <a:srgbClr val="FF0000"/>
                </a:solidFill>
              </a:rPr>
              <a:t>Risk Management: </a:t>
            </a:r>
            <a:r>
              <a:rPr lang="en-US" dirty="0" smtClean="0"/>
              <a:t>Identifying, analyzing, and mitigating risks that could impact software quality.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dirty="0" smtClean="0">
                <a:solidFill>
                  <a:srgbClr val="FF0000"/>
                </a:solidFill>
              </a:rPr>
              <a:t>5. Software Metrics and Measurement:-</a:t>
            </a:r>
          </a:p>
          <a:p>
            <a:r>
              <a:rPr lang="en-US" dirty="0" smtClean="0"/>
              <a:t>Metrics and measurements are crucial for assessing the effectiveness of SQA activities. </a:t>
            </a:r>
          </a:p>
          <a:p>
            <a:r>
              <a:rPr lang="en-US" dirty="0" smtClean="0"/>
              <a:t>Common metrics include:</a:t>
            </a:r>
          </a:p>
          <a:p>
            <a:r>
              <a:rPr lang="en-US" dirty="0" smtClean="0">
                <a:solidFill>
                  <a:srgbClr val="FF0000"/>
                </a:solidFill>
              </a:rPr>
              <a:t>Defect Density: </a:t>
            </a:r>
            <a:r>
              <a:rPr lang="en-US" dirty="0" smtClean="0"/>
              <a:t>The number of defects confirmed in software divided by the size of the software.</a:t>
            </a:r>
          </a:p>
          <a:p>
            <a:r>
              <a:rPr lang="en-US" dirty="0" smtClean="0">
                <a:solidFill>
                  <a:srgbClr val="FF0000"/>
                </a:solidFill>
              </a:rPr>
              <a:t>Code Coverage: </a:t>
            </a:r>
            <a:r>
              <a:rPr lang="en-US" dirty="0" smtClean="0"/>
              <a:t>A measure of how much code is executed during testing, which helps in understanding the extent of testing.</a:t>
            </a:r>
          </a:p>
          <a:p>
            <a:r>
              <a:rPr lang="en-US" dirty="0" smtClean="0">
                <a:solidFill>
                  <a:srgbClr val="FF0000"/>
                </a:solidFill>
              </a:rPr>
              <a:t>Customer Satisfaction: </a:t>
            </a:r>
            <a:r>
              <a:rPr lang="en-US" dirty="0" smtClean="0"/>
              <a:t>Feedback from users about the software’s performance and features.</a:t>
            </a:r>
          </a:p>
          <a:p>
            <a:r>
              <a:rPr lang="en-US" dirty="0" smtClean="0">
                <a:solidFill>
                  <a:srgbClr val="FF0000"/>
                </a:solidFill>
              </a:rPr>
              <a:t>6. Preventive and Corrective Actions:-</a:t>
            </a:r>
          </a:p>
          <a:p>
            <a:r>
              <a:rPr lang="en-US" dirty="0" smtClean="0">
                <a:solidFill>
                  <a:srgbClr val="FF0000"/>
                </a:solidFill>
              </a:rPr>
              <a:t>Preventive Actions: </a:t>
            </a:r>
            <a:r>
              <a:rPr lang="en-US" dirty="0" smtClean="0"/>
              <a:t>Steps taken to eliminate the causes of potential nonconformities or defects.</a:t>
            </a:r>
          </a:p>
          <a:p>
            <a:r>
              <a:rPr lang="en-US" dirty="0" smtClean="0">
                <a:solidFill>
                  <a:srgbClr val="FF0000"/>
                </a:solidFill>
              </a:rPr>
              <a:t>Corrective Actions: </a:t>
            </a:r>
            <a:r>
              <a:rPr lang="en-US" dirty="0" smtClean="0"/>
              <a:t>Actions taken to eliminate the causes of detected nonconformities or defects.</a:t>
            </a:r>
          </a:p>
          <a:p>
            <a:endParaRPr lang="en-US" b="1" dirty="0" smtClean="0">
              <a:solidFill>
                <a:srgbClr val="002060"/>
              </a:solidFill>
              <a:latin typeface="Aparajita" pitchFamily="34" charset="0"/>
              <a:cs typeface="Aparajita" pitchFamily="34" charset="0"/>
            </a:endParaRPr>
          </a:p>
          <a:p>
            <a:endParaRPr lang="en-US" b="1" dirty="0" smtClean="0">
              <a:solidFill>
                <a:srgbClr val="002060"/>
              </a:solidFill>
              <a:latin typeface="Aparajita" pitchFamily="34" charset="0"/>
              <a:cs typeface="Aparajita" pitchFamily="34" charset="0"/>
            </a:endParaRPr>
          </a:p>
          <a:p>
            <a:pPr algn="ctr">
              <a:buNone/>
            </a:pPr>
            <a:endParaRPr lang="en-US" b="1" dirty="0" smtClean="0">
              <a:solidFill>
                <a:srgbClr val="002060"/>
              </a:solidFill>
              <a:latin typeface="Aparajita" pitchFamily="34" charset="0"/>
              <a:cs typeface="Aparajita" pitchFamily="34" charset="0"/>
            </a:endParaRPr>
          </a:p>
          <a:p>
            <a:pPr algn="ctr"/>
            <a:endParaRPr lang="en-US"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sz="3400" dirty="0" smtClean="0">
                <a:solidFill>
                  <a:srgbClr val="FF0000"/>
                </a:solidFill>
              </a:rPr>
              <a:t>7. Continuous Improvement</a:t>
            </a:r>
          </a:p>
          <a:p>
            <a:r>
              <a:rPr lang="en-US" dirty="0" smtClean="0"/>
              <a:t>The principle of continuous improvement, often referred to by its Japanese name, "Kaizen," is integral to SQA. This involves ongoing efforts to improve all processes, based on feedback and iterative learning. Techniques like retrospectives, post-mortem analyses, and process refinement sessions are used to analyze successes and failures and to implement lessons learned.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algn="ctr"/>
            <a:r>
              <a:rPr lang="en-US" sz="5200" dirty="0" smtClean="0">
                <a:solidFill>
                  <a:srgbClr val="FF0000"/>
                </a:solidFill>
              </a:rPr>
              <a:t>SQA Processes and Techniques</a:t>
            </a:r>
          </a:p>
          <a:p>
            <a:r>
              <a:rPr lang="en-US" dirty="0" smtClean="0"/>
              <a:t>Software Quality Assurance (SQA) involves various processes and techniques that help ensure the quality of software throughout the development lifecycle. These methodologies are designed to prevent defects, ensure functionality meets specified requirements, and maintain a high standard of software performance. Here’s an in-depth look at some key SQA processes and techniques:</a:t>
            </a:r>
          </a:p>
          <a:p>
            <a:r>
              <a:rPr lang="en-US" dirty="0" smtClean="0">
                <a:solidFill>
                  <a:srgbClr val="FF0000"/>
                </a:solidFill>
              </a:rPr>
              <a:t>1. Code Reviews:-</a:t>
            </a:r>
          </a:p>
          <a:p>
            <a:r>
              <a:rPr lang="en-US" dirty="0" smtClean="0"/>
              <a:t>Code reviews are a critical SQA activity where other developers (peers) review the source code written by a developer before it merges into the main branch. This practice aims to catch errors early in the development phase, promote a higher code quality standard, and share knowledge across the team. </a:t>
            </a:r>
          </a:p>
          <a:p>
            <a:r>
              <a:rPr lang="en-US" dirty="0" smtClean="0"/>
              <a:t>They include several benefits-</a:t>
            </a:r>
          </a:p>
          <a:p>
            <a:r>
              <a:rPr lang="en-US" dirty="0" smtClean="0"/>
              <a:t>Detecting bugs early in the software development process.</a:t>
            </a:r>
          </a:p>
          <a:p>
            <a:r>
              <a:rPr lang="en-US" dirty="0" smtClean="0"/>
              <a:t>Improving the overall design and maintainability of the code.</a:t>
            </a:r>
          </a:p>
          <a:p>
            <a:r>
              <a:rPr lang="en-US" dirty="0" smtClean="0"/>
              <a:t>Enhancing coding skills across the team through peer feedback.</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dirty="0" smtClean="0">
                <a:solidFill>
                  <a:srgbClr val="FF0000"/>
                </a:solidFill>
              </a:rPr>
              <a:t>2. Automated Testing:-</a:t>
            </a:r>
          </a:p>
          <a:p>
            <a:r>
              <a:rPr lang="en-US" dirty="0" smtClean="0"/>
              <a:t>Automated testing uses software tools to run tests on the software automatically, checking for errors, defects, and functional mismatches. This can include:</a:t>
            </a:r>
          </a:p>
          <a:p>
            <a:r>
              <a:rPr lang="en-US" dirty="0" smtClean="0">
                <a:solidFill>
                  <a:srgbClr val="FF0000"/>
                </a:solidFill>
              </a:rPr>
              <a:t>(A). Unit Testing: </a:t>
            </a:r>
            <a:r>
              <a:rPr lang="en-US" dirty="0" smtClean="0"/>
              <a:t>Testing individual units or components of a software application.</a:t>
            </a:r>
          </a:p>
          <a:p>
            <a:r>
              <a:rPr lang="en-US" dirty="0" smtClean="0">
                <a:solidFill>
                  <a:srgbClr val="FF0000"/>
                </a:solidFill>
              </a:rPr>
              <a:t>(B). Integration Testing: </a:t>
            </a:r>
            <a:r>
              <a:rPr lang="en-US" dirty="0" smtClean="0"/>
              <a:t>Testing combined parts of an application to determine if they function together correctly.</a:t>
            </a:r>
          </a:p>
          <a:p>
            <a:r>
              <a:rPr lang="en-US" dirty="0" smtClean="0">
                <a:solidFill>
                  <a:srgbClr val="FF0000"/>
                </a:solidFill>
              </a:rPr>
              <a:t>(C). System Testing: </a:t>
            </a:r>
            <a:r>
              <a:rPr lang="en-US" dirty="0" smtClean="0"/>
              <a:t>Testing the complete and integrated software product to evaluate the system’s compliance with its specified requirements.</a:t>
            </a:r>
          </a:p>
          <a:p>
            <a:r>
              <a:rPr lang="en-US" dirty="0" smtClean="0"/>
              <a:t>Automated testing is valuable because it can be executed quickly and repeatedly, which is crucial for continuous integration and delivery pipelines.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85000" lnSpcReduction="20000"/>
          </a:bodyPr>
          <a:lstStyle/>
          <a:p>
            <a:r>
              <a:rPr lang="en-US" dirty="0" smtClean="0">
                <a:solidFill>
                  <a:srgbClr val="FF0000"/>
                </a:solidFill>
              </a:rPr>
              <a:t>3. Continuous Integration and Continuous Delivery (CI/CD):-</a:t>
            </a:r>
          </a:p>
          <a:p>
            <a:r>
              <a:rPr lang="en-US" dirty="0" smtClean="0"/>
              <a:t>CI/CD is a method to frequently deliver apps to customers by introducing automation into the stages of app development. </a:t>
            </a:r>
          </a:p>
          <a:p>
            <a:r>
              <a:rPr lang="en-US" dirty="0" smtClean="0"/>
              <a:t>The main concepts attributed to CI/CD are continuous integration, continuous delivery and continuous deployment. CI/CD is intended to:</a:t>
            </a:r>
          </a:p>
          <a:p>
            <a:r>
              <a:rPr lang="en-US" dirty="0" smtClean="0"/>
              <a:t>Reduce risks in software development.</a:t>
            </a:r>
          </a:p>
          <a:p>
            <a:r>
              <a:rPr lang="en-US" dirty="0" smtClean="0"/>
              <a:t>Ensure that software can be reliably released at any time.</a:t>
            </a:r>
          </a:p>
          <a:p>
            <a:r>
              <a:rPr lang="en-US" dirty="0" smtClean="0"/>
              <a:t>Help developers to detect and locate errors quickly.</a:t>
            </a:r>
          </a:p>
          <a:p>
            <a:r>
              <a:rPr lang="en-US" dirty="0" smtClean="0">
                <a:solidFill>
                  <a:srgbClr val="FF0000"/>
                </a:solidFill>
              </a:rPr>
              <a:t>4. Static and Dynamic Analysis:-</a:t>
            </a:r>
          </a:p>
          <a:p>
            <a:r>
              <a:rPr lang="en-US" dirty="0" smtClean="0">
                <a:solidFill>
                  <a:srgbClr val="FF0000"/>
                </a:solidFill>
              </a:rPr>
              <a:t>(A). Static Analysis: </a:t>
            </a:r>
            <a:r>
              <a:rPr lang="en-US" dirty="0" smtClean="0"/>
              <a:t>This technique involves analyzing the code without executing it. It’s used to detect coding errors, security lapses, and compliances with coding guidelines.</a:t>
            </a:r>
          </a:p>
          <a:p>
            <a:r>
              <a:rPr lang="en-US" dirty="0" smtClean="0">
                <a:solidFill>
                  <a:srgbClr val="FF0000"/>
                </a:solidFill>
              </a:rPr>
              <a:t>(B). Dynamic Analysis: </a:t>
            </a:r>
            <a:r>
              <a:rPr lang="en-US" dirty="0" smtClean="0"/>
              <a:t>Unlike static analysis, dynamic analysis involves executing code. It provides insights into the system's behavior and verifies that the system performs expected tasks under varying conditions.</a:t>
            </a:r>
            <a:endParaRPr lang="en-US" b="1" dirty="0" smtClean="0">
              <a:solidFill>
                <a:srgbClr val="00206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dirty="0" smtClean="0">
                <a:solidFill>
                  <a:srgbClr val="FF0000"/>
                </a:solidFill>
              </a:rPr>
              <a:t>5. Risk-Based Testing:-</a:t>
            </a:r>
          </a:p>
          <a:p>
            <a:r>
              <a:rPr lang="en-US" dirty="0" smtClean="0"/>
              <a:t>Risk-based testing prioritizes testing of features and functions in the software application based on the risk of failure, the importance and likelihood of failure, and the impact of failure. This approach helps to optimize test efforts towards the most critical areas of the system.</a:t>
            </a:r>
          </a:p>
          <a:p>
            <a:r>
              <a:rPr lang="en-US" dirty="0" smtClean="0">
                <a:solidFill>
                  <a:srgbClr val="FF0000"/>
                </a:solidFill>
              </a:rPr>
              <a:t>6. Test-Driven Development (TDD):-</a:t>
            </a:r>
          </a:p>
          <a:p>
            <a:r>
              <a:rPr lang="en-US" dirty="0" smtClean="0"/>
              <a:t>TDD is a software development approach in which tests are written before the code that needs to be tested. </a:t>
            </a:r>
          </a:p>
          <a:p>
            <a:r>
              <a:rPr lang="en-US" dirty="0" smtClean="0"/>
              <a:t>The process follows a simple cycle:</a:t>
            </a:r>
          </a:p>
          <a:p>
            <a:r>
              <a:rPr lang="en-US" dirty="0" smtClean="0"/>
              <a:t>Write a test for a new function.</a:t>
            </a:r>
          </a:p>
          <a:p>
            <a:r>
              <a:rPr lang="en-US" dirty="0" smtClean="0"/>
              <a:t>Run the test and see it fail.</a:t>
            </a:r>
          </a:p>
          <a:p>
            <a:r>
              <a:rPr lang="en-US" dirty="0" smtClean="0"/>
              <a:t>Implement the function.</a:t>
            </a:r>
          </a:p>
          <a:p>
            <a:r>
              <a:rPr lang="en-US" dirty="0" smtClean="0"/>
              <a:t>Run the test again and see it succeed.</a:t>
            </a:r>
          </a:p>
          <a:p>
            <a:r>
              <a:rPr lang="en-US" dirty="0" smtClean="0"/>
              <a:t>Refactor the code for optimization.</a:t>
            </a:r>
          </a:p>
          <a:p>
            <a:endParaRPr lang="en-U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lstStyle/>
          <a:p>
            <a:r>
              <a:rPr lang="en-US" dirty="0" smtClean="0"/>
              <a:t>This technique ensures that the software is tested at the function level and that all functionalities are covered by the tests, which improves code quality.</a:t>
            </a:r>
            <a:endParaRPr lang="en-US" dirty="0" smtClean="0">
              <a:solidFill>
                <a:srgbClr val="FF0000"/>
              </a:solidFill>
            </a:endParaRPr>
          </a:p>
          <a:p>
            <a:r>
              <a:rPr lang="en-US" dirty="0" smtClean="0">
                <a:solidFill>
                  <a:srgbClr val="FF0000"/>
                </a:solidFill>
              </a:rPr>
              <a:t>7. Performance Testing:-</a:t>
            </a:r>
          </a:p>
          <a:p>
            <a:r>
              <a:rPr lang="en-US" dirty="0" smtClean="0"/>
              <a:t>This type of testing is performed to determine how a system performs in terms of responsiveness and stability under a particular workload. </a:t>
            </a:r>
          </a:p>
          <a:p>
            <a:r>
              <a:rPr lang="en-US" dirty="0" smtClean="0"/>
              <a:t>It can involve load testing, stress testing, and spike testing, among others, to ensure the software application behaves as expected under varied conditions.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algn="just"/>
            <a:r>
              <a:rPr lang="en-US" b="1" dirty="0" smtClean="0">
                <a:solidFill>
                  <a:srgbClr val="C00000"/>
                </a:solidFill>
              </a:rPr>
              <a:t>Example:</a:t>
            </a:r>
            <a:r>
              <a:rPr lang="en-US" dirty="0" smtClean="0"/>
              <a:t> Consider a functionally correct software product. That is, it performs all tasks as specified in the SRS document. </a:t>
            </a:r>
          </a:p>
          <a:p>
            <a:pPr algn="just"/>
            <a:r>
              <a:rPr lang="en-US" dirty="0" smtClean="0"/>
              <a:t>But, has an almost unusable user interface. Even though it may be functionally right, we cannot consider it to be a quality product.</a:t>
            </a:r>
          </a:p>
          <a:p>
            <a:pPr algn="just"/>
            <a:r>
              <a:rPr lang="en-US" dirty="0" smtClean="0"/>
              <a:t>In the software engineering context, software quality reflects both </a:t>
            </a:r>
            <a:r>
              <a:rPr lang="en-US" b="1" dirty="0" smtClean="0"/>
              <a:t>functional quality</a:t>
            </a:r>
            <a:r>
              <a:rPr lang="en-US" dirty="0" smtClean="0"/>
              <a:t> as well as </a:t>
            </a:r>
            <a:r>
              <a:rPr lang="en-US" b="1" dirty="0" smtClean="0"/>
              <a:t>structural quality</a:t>
            </a:r>
            <a:r>
              <a:rPr lang="en-US" dirty="0" smtClean="0"/>
              <a:t>.</a:t>
            </a:r>
          </a:p>
          <a:p>
            <a:pPr algn="just"/>
            <a:r>
              <a:rPr lang="en-US" b="1" dirty="0" smtClean="0">
                <a:solidFill>
                  <a:srgbClr val="C00000"/>
                </a:solidFill>
              </a:rPr>
              <a:t>1. Software Functional Quality</a:t>
            </a:r>
            <a:r>
              <a:rPr lang="en-US" dirty="0" smtClean="0">
                <a:solidFill>
                  <a:srgbClr val="C00000"/>
                </a:solidFill>
              </a:rPr>
              <a:t> </a:t>
            </a:r>
          </a:p>
          <a:p>
            <a:pPr algn="just"/>
            <a:r>
              <a:rPr lang="en-US" b="1" dirty="0" smtClean="0">
                <a:solidFill>
                  <a:srgbClr val="C00000"/>
                </a:solidFill>
              </a:rPr>
              <a:t>2. Software Structural Quality</a:t>
            </a:r>
            <a:r>
              <a:rPr lang="en-US" dirty="0" smtClean="0">
                <a:solidFill>
                  <a:srgbClr val="C00000"/>
                </a:solidFill>
              </a:rPr>
              <a:t> </a:t>
            </a:r>
          </a:p>
          <a:p>
            <a:pPr algn="just"/>
            <a:r>
              <a:rPr lang="en-US" b="1" dirty="0" smtClean="0">
                <a:solidFill>
                  <a:srgbClr val="C00000"/>
                </a:solidFill>
              </a:rPr>
              <a:t>3. Software Quality Assurance</a:t>
            </a:r>
            <a:r>
              <a:rPr lang="en-US" dirty="0" smtClean="0">
                <a:solidFill>
                  <a:srgbClr val="C00000"/>
                </a:solidFill>
              </a:rPr>
              <a:t> </a:t>
            </a:r>
          </a:p>
          <a:p>
            <a:pPr algn="just"/>
            <a:r>
              <a:rPr lang="en-US" b="1" dirty="0" smtClean="0">
                <a:solidFill>
                  <a:srgbClr val="C00000"/>
                </a:solidFill>
              </a:rPr>
              <a:t>4. Software Quality Control</a:t>
            </a:r>
            <a:r>
              <a:rPr lang="en-US" dirty="0" smtClean="0">
                <a:solidFill>
                  <a:srgbClr val="C00000"/>
                </a:solidFill>
              </a:rPr>
              <a:t> </a:t>
            </a:r>
          </a:p>
          <a:p>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C00000"/>
                </a:solidFill>
              </a:rPr>
              <a:t>1. Software Functional Quality</a:t>
            </a:r>
            <a:r>
              <a:rPr lang="en-US" dirty="0" smtClean="0"/>
              <a:t> − It reflects how well it satisfies a given design, based on the functional requirements or specifications.</a:t>
            </a:r>
          </a:p>
          <a:p>
            <a:r>
              <a:rPr lang="en-US" b="1" dirty="0" smtClean="0">
                <a:solidFill>
                  <a:srgbClr val="C00000"/>
                </a:solidFill>
              </a:rPr>
              <a:t>2. Software Structural Quality</a:t>
            </a:r>
            <a:r>
              <a:rPr lang="en-US" dirty="0" smtClean="0"/>
              <a:t> − It deals with the handling of non-functional requirements that support the delivery of the functional requirements, such as robustness or maintainability, and the degree to which the software was produced correctly.</a:t>
            </a:r>
          </a:p>
          <a:p>
            <a:r>
              <a:rPr lang="en-US" b="1" dirty="0" smtClean="0">
                <a:solidFill>
                  <a:srgbClr val="C00000"/>
                </a:solidFill>
              </a:rPr>
              <a:t>3. Software Quality Assurance</a:t>
            </a:r>
            <a:r>
              <a:rPr lang="en-US" dirty="0" smtClean="0"/>
              <a:t> − Software Quality Assurance (SQA) is a set of activities to ensure the quality in software engineering processes that ultimately result in quality software products. The activities establish and evaluate the processes that produce products. It involves process-focused action.</a:t>
            </a:r>
          </a:p>
          <a:p>
            <a:r>
              <a:rPr lang="en-US" b="1" dirty="0" smtClean="0">
                <a:solidFill>
                  <a:srgbClr val="C00000"/>
                </a:solidFill>
              </a:rPr>
              <a:t>4. Software Quality Control</a:t>
            </a:r>
            <a:r>
              <a:rPr lang="en-US" dirty="0" smtClean="0"/>
              <a:t> − Software Quality Control (SQC) is a set of activities to ensure the quality in software products. These activities focus on determining the defects in the actual products produced. It involves product-focused action.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C00000"/>
                </a:solidFill>
              </a:rPr>
              <a:t>The modern view of a quality associated with a software product several quality methods such as the followin</a:t>
            </a:r>
            <a:r>
              <a:rPr lang="en-US" b="1" dirty="0" smtClean="0"/>
              <a:t>g:</a:t>
            </a:r>
            <a:endParaRPr lang="en-US" dirty="0" smtClean="0"/>
          </a:p>
          <a:p>
            <a:r>
              <a:rPr lang="en-US" b="1" dirty="0" smtClean="0">
                <a:solidFill>
                  <a:srgbClr val="C00000"/>
                </a:solidFill>
              </a:rPr>
              <a:t>1. Portability</a:t>
            </a:r>
            <a:r>
              <a:rPr lang="en-US" b="1" dirty="0" smtClean="0"/>
              <a:t>:</a:t>
            </a:r>
            <a:r>
              <a:rPr lang="en-US" dirty="0" smtClean="0"/>
              <a:t> A software device is said to be portable, if it can be freely made to work in various operating system environments, in multiple machines, with other software products, etc.</a:t>
            </a:r>
          </a:p>
          <a:p>
            <a:r>
              <a:rPr lang="en-US" b="1" dirty="0" smtClean="0">
                <a:solidFill>
                  <a:srgbClr val="C00000"/>
                </a:solidFill>
              </a:rPr>
              <a:t>2 . Usability</a:t>
            </a:r>
            <a:r>
              <a:rPr lang="en-US" b="1" dirty="0" smtClean="0"/>
              <a:t>:</a:t>
            </a:r>
            <a:r>
              <a:rPr lang="en-US" dirty="0" smtClean="0"/>
              <a:t> A software product has better usability if various categories of users can easily invoke the functions of the product.</a:t>
            </a:r>
          </a:p>
          <a:p>
            <a:r>
              <a:rPr lang="en-US" b="1" dirty="0" smtClean="0">
                <a:solidFill>
                  <a:srgbClr val="C00000"/>
                </a:solidFill>
              </a:rPr>
              <a:t>3. Reusability</a:t>
            </a:r>
            <a:r>
              <a:rPr lang="en-US" b="1" dirty="0" smtClean="0"/>
              <a:t>:</a:t>
            </a:r>
            <a:r>
              <a:rPr lang="en-US" dirty="0" smtClean="0"/>
              <a:t> A software product has excellent reusability if different modules of the product can quickly be reused to develop new products.</a:t>
            </a:r>
          </a:p>
          <a:p>
            <a:r>
              <a:rPr lang="en-US" b="1" dirty="0" smtClean="0">
                <a:solidFill>
                  <a:srgbClr val="C00000"/>
                </a:solidFill>
              </a:rPr>
              <a:t>4. Correctness</a:t>
            </a:r>
            <a:r>
              <a:rPr lang="en-US" b="1" dirty="0" smtClean="0"/>
              <a:t>:</a:t>
            </a:r>
            <a:r>
              <a:rPr lang="en-US" dirty="0" smtClean="0"/>
              <a:t> A software product is correct if various requirements as specified in the SRS document have been correctly implemented.</a:t>
            </a:r>
          </a:p>
          <a:p>
            <a:r>
              <a:rPr lang="en-US" b="1" dirty="0" smtClean="0">
                <a:solidFill>
                  <a:srgbClr val="C00000"/>
                </a:solidFill>
              </a:rPr>
              <a:t>5. Maintainability:</a:t>
            </a:r>
            <a:r>
              <a:rPr lang="en-US" dirty="0" smtClean="0"/>
              <a:t> A software product is maintainable if bugs can be easily corrected as and when they show up, new tasks can be easily added to the product, and the functionalities of the product can be easily modified, etc.</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gn="ctr"/>
            <a:r>
              <a:rPr lang="en-US" sz="4200" u="sng" dirty="0" smtClean="0">
                <a:solidFill>
                  <a:srgbClr val="FF0000"/>
                </a:solidFill>
              </a:rPr>
              <a:t> </a:t>
            </a:r>
            <a:r>
              <a:rPr lang="en-US" sz="3900" b="1" u="sng" dirty="0" smtClean="0">
                <a:solidFill>
                  <a:srgbClr val="C00000"/>
                </a:solidFill>
              </a:rPr>
              <a:t>What is</a:t>
            </a:r>
            <a:r>
              <a:rPr lang="en-US" sz="3900" u="sng" dirty="0" smtClean="0">
                <a:solidFill>
                  <a:srgbClr val="C00000"/>
                </a:solidFill>
              </a:rPr>
              <a:t> </a:t>
            </a:r>
            <a:r>
              <a:rPr lang="en-US" sz="3500" b="1" u="sng" dirty="0" smtClean="0">
                <a:solidFill>
                  <a:srgbClr val="C00000"/>
                </a:solidFill>
                <a:latin typeface="Aparajita" pitchFamily="34" charset="0"/>
                <a:cs typeface="Aparajita" pitchFamily="34" charset="0"/>
              </a:rPr>
              <a:t>Software Quality Assurance(SQA):</a:t>
            </a:r>
            <a:endParaRPr lang="en-US" sz="4200" b="1" u="sng" dirty="0" smtClean="0">
              <a:solidFill>
                <a:srgbClr val="C00000"/>
              </a:solidFill>
              <a:latin typeface="Aparajita" pitchFamily="34" charset="0"/>
              <a:cs typeface="Aparajita" pitchFamily="34" charset="0"/>
            </a:endParaRPr>
          </a:p>
          <a:p>
            <a:r>
              <a:rPr lang="en-US" b="1" dirty="0" smtClean="0">
                <a:solidFill>
                  <a:srgbClr val="C00000"/>
                </a:solidFill>
              </a:rPr>
              <a:t>What is Quality?</a:t>
            </a:r>
          </a:p>
          <a:p>
            <a:r>
              <a:rPr lang="en-US" dirty="0" smtClean="0"/>
              <a:t>Quality is extremely hard to define, and it is simply stated: “Fit for use or purpose.” It is all about meeting the needs and expectations of customers with respect to functionality, design, reliability, durability, &amp; price of the product.</a:t>
            </a:r>
          </a:p>
          <a:p>
            <a:r>
              <a:rPr lang="en-US" b="1" dirty="0" smtClean="0">
                <a:solidFill>
                  <a:srgbClr val="C00000"/>
                </a:solidFill>
              </a:rPr>
              <a:t>What is Assurance?</a:t>
            </a:r>
          </a:p>
          <a:p>
            <a:r>
              <a:rPr lang="en-US" dirty="0" smtClean="0">
                <a:solidFill>
                  <a:srgbClr val="002060"/>
                </a:solidFill>
              </a:rPr>
              <a:t>Assurance is nothing but a positive declaration on a product or service, which gives confidence. It is certainty of a product or a service, which it will work well</a:t>
            </a:r>
            <a:r>
              <a:rPr lang="en-US" dirty="0" smtClean="0"/>
              <a:t>. </a:t>
            </a:r>
          </a:p>
          <a:p>
            <a:r>
              <a:rPr lang="en-US" i="1" dirty="0" smtClean="0"/>
              <a:t>It provides a guarantee that the product will work without any problems as per the expectations or requirements.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6"/>
          </a:lnRef>
          <a:fillRef idx="2">
            <a:schemeClr val="accent6"/>
          </a:fillRef>
          <a:effectRef idx="1">
            <a:schemeClr val="accent6"/>
          </a:effectRef>
          <a:fontRef idx="minor">
            <a:schemeClr val="dk1"/>
          </a:fontRef>
        </p:style>
        <p:txBody>
          <a:bodyPr>
            <a:normAutofit fontScale="85000" lnSpcReduction="10000"/>
          </a:bodyPr>
          <a:lstStyle/>
          <a:p>
            <a:pPr>
              <a:buNone/>
            </a:pPr>
            <a:r>
              <a:rPr lang="en-US" sz="3300" dirty="0" smtClean="0">
                <a:solidFill>
                  <a:srgbClr val="C00000"/>
                </a:solidFill>
              </a:rPr>
              <a:t>The IEEE definition for software quality assurance is as follows- </a:t>
            </a:r>
          </a:p>
          <a:p>
            <a:r>
              <a:rPr lang="en-US" sz="3300" b="1" dirty="0" smtClean="0"/>
              <a:t>"A planned and systematic pattern of all actions necessary to provide adequate confidence that an item or product conforms to established technical requirements. A set of activities designed to evaluate the process by which the products are developed or manufactured.“</a:t>
            </a:r>
          </a:p>
          <a:p>
            <a:r>
              <a:rPr lang="en-US" b="1" dirty="0" smtClean="0">
                <a:solidFill>
                  <a:srgbClr val="C00000"/>
                </a:solidFill>
              </a:rPr>
              <a:t>OR</a:t>
            </a:r>
          </a:p>
          <a:p>
            <a:r>
              <a:rPr lang="en-US" sz="3300" b="1" dirty="0" smtClean="0">
                <a:solidFill>
                  <a:srgbClr val="C00000"/>
                </a:solidFill>
              </a:rPr>
              <a:t>Software Quality Assurance</a:t>
            </a:r>
            <a:r>
              <a:rPr lang="en-US" sz="3300" dirty="0" smtClean="0">
                <a:solidFill>
                  <a:srgbClr val="C00000"/>
                </a:solidFill>
              </a:rPr>
              <a:t> (SQA</a:t>
            </a:r>
            <a:r>
              <a:rPr lang="en-US" sz="3300" dirty="0" smtClean="0"/>
              <a:t>) </a:t>
            </a:r>
            <a:r>
              <a:rPr lang="en-US" sz="3300" b="1" dirty="0" smtClean="0">
                <a:solidFill>
                  <a:srgbClr val="002060"/>
                </a:solidFill>
              </a:rPr>
              <a:t>is a set of activities for ensuring quality in software engineering processes. It ensures that developed software meets and complies with the defined or standardized quality specifications. </a:t>
            </a:r>
          </a:p>
          <a:p>
            <a:r>
              <a:rPr lang="en-US" sz="3300" b="1" dirty="0" smtClean="0">
                <a:solidFill>
                  <a:srgbClr val="002060"/>
                </a:solidFill>
              </a:rPr>
              <a:t>SQA is an ongoing process within the Software Development Life Cycle (SDLC) that routinely checks the developed software to ensure it meets the desired quality measures.</a:t>
            </a:r>
            <a:endParaRPr lang="en-US"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r>
              <a:rPr lang="en-US" b="1" dirty="0" smtClean="0">
                <a:solidFill>
                  <a:srgbClr val="C00000"/>
                </a:solidFill>
              </a:rPr>
              <a:t>Another definition </a:t>
            </a:r>
            <a:r>
              <a:rPr lang="en-US" b="1" dirty="0" smtClean="0">
                <a:solidFill>
                  <a:srgbClr val="002060"/>
                </a:solidFill>
              </a:rPr>
              <a:t>of Software quality assurance (SQA) is a means and practice of monitoring the software engineering processes and methods used in a project to ensure proper quality of the software. </a:t>
            </a:r>
          </a:p>
          <a:p>
            <a:r>
              <a:rPr lang="en-US" b="1" dirty="0" smtClean="0">
                <a:solidFill>
                  <a:srgbClr val="002060"/>
                </a:solidFill>
              </a:rPr>
              <a:t>It may include ensuring conformance to standards or models, such as ISO/IEC 9126 (now superseded by ISO 25010), SPICE or CMMI.</a:t>
            </a:r>
          </a:p>
          <a:p>
            <a:r>
              <a:rPr lang="en-US" dirty="0" smtClean="0">
                <a:solidFill>
                  <a:srgbClr val="C00000"/>
                </a:solidFill>
              </a:rPr>
              <a:t>Note:- </a:t>
            </a:r>
            <a:r>
              <a:rPr lang="en-US" dirty="0" smtClean="0"/>
              <a:t>Software Process Improvement and Capability Determination (SPICE) is </a:t>
            </a:r>
            <a:r>
              <a:rPr lang="en-US" b="1" dirty="0" smtClean="0"/>
              <a:t>an international framework to assess software development processes</a:t>
            </a:r>
            <a:r>
              <a:rPr lang="en-US" dirty="0" smtClean="0"/>
              <a:t>. </a:t>
            </a:r>
          </a:p>
          <a:p>
            <a:r>
              <a:rPr lang="en-US" dirty="0" smtClean="0"/>
              <a:t>SPICE was developed jointly by International Organization for Standardization (ISO) and the International Electro technical Commission (IEC).</a:t>
            </a:r>
            <a:endParaRPr lang="en-US" b="1" dirty="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3000" dirty="0" smtClean="0">
                <a:latin typeface="Aharoni"/>
              </a:rPr>
              <a:t>It includes standards and procedures that managers, administrators or even developers may use to review and audit software products and activities to verify that the software meets quality criteria which link to standards. </a:t>
            </a:r>
          </a:p>
          <a:p>
            <a:r>
              <a:rPr lang="en-US" sz="3000" dirty="0" smtClean="0">
                <a:latin typeface="Aharoni"/>
              </a:rPr>
              <a:t>According to Automotive SPICE (which is based on </a:t>
            </a:r>
            <a:r>
              <a:rPr lang="en-US" sz="3000" dirty="0" smtClean="0">
                <a:latin typeface="Aharoni"/>
                <a:hlinkClick r:id="rId2" tooltip="ISO/IEC 15504"/>
              </a:rPr>
              <a:t>ISO/IEC 15504</a:t>
            </a:r>
            <a:r>
              <a:rPr lang="en-US" sz="3000" dirty="0" smtClean="0">
                <a:latin typeface="Aharoni"/>
              </a:rPr>
              <a:t>), that provides the independent assurance that all work products, activities and processes comply with the predefined plans and quality strategies.</a:t>
            </a:r>
          </a:p>
          <a:p>
            <a:pPr algn="just"/>
            <a:r>
              <a:rPr lang="en-US" sz="3000" b="1" dirty="0" smtClean="0">
                <a:solidFill>
                  <a:srgbClr val="7030A0"/>
                </a:solidFill>
              </a:rPr>
              <a:t>SQA encompasses the entire software development process, including requirements engineering, software design, coding, code reviews, source code control, software configuration management, testing, release Management and software integration. It is organized into goals, commitments, abilities, activities, measurements, verification and validation.</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srcRect/>
          <a:stretch>
            <a:fillRect/>
          </a:stretch>
        </p:blipFill>
        <p:spPr bwMode="auto">
          <a:xfrm>
            <a:off x="0" y="0"/>
            <a:ext cx="8839200" cy="68580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b="1" u="sng" dirty="0" smtClean="0">
                <a:solidFill>
                  <a:srgbClr val="C00000"/>
                </a:solidFill>
              </a:rPr>
              <a:t>Objectives of SQA Activities:-</a:t>
            </a:r>
          </a:p>
          <a:p>
            <a:r>
              <a:rPr lang="en-US" dirty="0" smtClean="0">
                <a:solidFill>
                  <a:srgbClr val="7030A0"/>
                </a:solidFill>
              </a:rPr>
              <a:t>The objectives of SQA activities are as follows −</a:t>
            </a:r>
          </a:p>
          <a:p>
            <a:r>
              <a:rPr lang="en-US" sz="3000" dirty="0" smtClean="0">
                <a:solidFill>
                  <a:srgbClr val="C00000"/>
                </a:solidFill>
                <a:latin typeface="Aharoni"/>
              </a:rPr>
              <a:t>1. In Software development (process-oriented)</a:t>
            </a:r>
          </a:p>
          <a:p>
            <a:r>
              <a:rPr lang="en-US" dirty="0" smtClean="0">
                <a:solidFill>
                  <a:srgbClr val="C00000"/>
                </a:solidFill>
              </a:rPr>
              <a:t>2. In Software maintenance (product-oriented)</a:t>
            </a:r>
          </a:p>
          <a:p>
            <a:r>
              <a:rPr lang="en-US" u="sng" dirty="0" smtClean="0">
                <a:solidFill>
                  <a:srgbClr val="C00000"/>
                </a:solidFill>
                <a:latin typeface="Aharoni"/>
              </a:rPr>
              <a:t>1. In Software development (process-oriented)</a:t>
            </a:r>
          </a:p>
          <a:p>
            <a:r>
              <a:rPr lang="en-US" sz="2800" dirty="0" smtClean="0">
                <a:latin typeface="Aharoni"/>
              </a:rPr>
              <a:t>Assuring an acceptable level of confidence that the software will conform to functional technical requirements.</a:t>
            </a:r>
          </a:p>
          <a:p>
            <a:r>
              <a:rPr lang="en-US" sz="2800" dirty="0" smtClean="0">
                <a:latin typeface="Aharoni"/>
              </a:rPr>
              <a:t>Assuring an acceptable level of confidence that the software will conform to managerial scheduling and budgetary requirements.</a:t>
            </a:r>
          </a:p>
          <a:p>
            <a:r>
              <a:rPr lang="en-US" sz="2800" dirty="0" smtClean="0">
                <a:latin typeface="Aharoni"/>
              </a:rPr>
              <a:t>Initiating and managing activities for the improvement and greater efficiency of software development and SQA activities.</a:t>
            </a:r>
            <a:endParaRPr lang="en-US" sz="2800" dirty="0">
              <a:latin typeface="Aharon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a:bodyPr>
          <a:lstStyle/>
          <a:p>
            <a:r>
              <a:rPr lang="en-US" u="sng" dirty="0" smtClean="0">
                <a:solidFill>
                  <a:srgbClr val="C00000"/>
                </a:solidFill>
              </a:rPr>
              <a:t>2. In Software maintenance (product-oriented):-</a:t>
            </a:r>
          </a:p>
          <a:p>
            <a:r>
              <a:rPr lang="en-US" sz="2800" dirty="0" smtClean="0">
                <a:latin typeface="Aharoni"/>
              </a:rPr>
              <a:t>Assuring with an acceptable level of confidence that the software maintenance activities will conform to the functional technical requirements.</a:t>
            </a:r>
          </a:p>
          <a:p>
            <a:endParaRPr lang="en-US" sz="1400" dirty="0" smtClean="0">
              <a:latin typeface="Aharoni"/>
            </a:endParaRPr>
          </a:p>
          <a:p>
            <a:r>
              <a:rPr lang="en-US" sz="2800" dirty="0" smtClean="0">
                <a:latin typeface="Aharoni"/>
              </a:rPr>
              <a:t>Assuring with an acceptable level of confidence that the software maintenance activities will conform to managerial scheduling and budgetary requirements.</a:t>
            </a:r>
          </a:p>
          <a:p>
            <a:endParaRPr lang="en-US" sz="1600" dirty="0" smtClean="0">
              <a:latin typeface="Aharoni"/>
            </a:endParaRPr>
          </a:p>
          <a:p>
            <a:r>
              <a:rPr lang="en-US" sz="2800" dirty="0" smtClean="0">
                <a:latin typeface="Aharoni"/>
              </a:rPr>
              <a:t>Initiating and managing activities to improve and increase the efficiency of software maintenance and SQA activities. This involves improving the prospects of achieving functional and managerial requirements while reducing costs.</a:t>
            </a: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sz="3900" u="sng" dirty="0" smtClean="0">
                <a:solidFill>
                  <a:srgbClr val="C00000"/>
                </a:solidFill>
              </a:rPr>
              <a:t>Organizing for Quality Assurance</a:t>
            </a:r>
          </a:p>
          <a:p>
            <a:r>
              <a:rPr lang="en-US" dirty="0" smtClean="0"/>
              <a:t>The quality assurance organizational framework that operates within the organizational structure includes the following participants −</a:t>
            </a:r>
          </a:p>
          <a:p>
            <a:r>
              <a:rPr lang="en-US" u="sng" dirty="0" smtClean="0">
                <a:solidFill>
                  <a:srgbClr val="C00000"/>
                </a:solidFill>
              </a:rPr>
              <a:t>Managers:-</a:t>
            </a:r>
          </a:p>
          <a:p>
            <a:r>
              <a:rPr lang="en-US" dirty="0" smtClean="0">
                <a:solidFill>
                  <a:srgbClr val="002060"/>
                </a:solidFill>
              </a:rPr>
              <a:t>Top management executives</a:t>
            </a:r>
            <a:r>
              <a:rPr lang="en-US" dirty="0" smtClean="0"/>
              <a:t>, especially the executive directly in charge of software quality assurance.</a:t>
            </a:r>
          </a:p>
          <a:p>
            <a:r>
              <a:rPr lang="en-US" dirty="0" smtClean="0">
                <a:solidFill>
                  <a:srgbClr val="002060"/>
                </a:solidFill>
              </a:rPr>
              <a:t>Software development and maintenance department managers.</a:t>
            </a:r>
          </a:p>
          <a:p>
            <a:r>
              <a:rPr lang="en-US" dirty="0" smtClean="0">
                <a:solidFill>
                  <a:srgbClr val="002060"/>
                </a:solidFill>
              </a:rPr>
              <a:t>Software testing department managers.</a:t>
            </a:r>
          </a:p>
          <a:p>
            <a:r>
              <a:rPr lang="en-US" dirty="0" smtClean="0">
                <a:solidFill>
                  <a:srgbClr val="002060"/>
                </a:solidFill>
              </a:rPr>
              <a:t>Project managers and team leaders of development and maintenance projects.</a:t>
            </a:r>
          </a:p>
          <a:p>
            <a:r>
              <a:rPr lang="en-US" dirty="0" smtClean="0">
                <a:solidFill>
                  <a:srgbClr val="002060"/>
                </a:solidFill>
              </a:rPr>
              <a:t>Leaders of software testing teams.</a:t>
            </a:r>
          </a:p>
          <a:p>
            <a:pPr lvl="0"/>
            <a:endParaRPr lang="en-IN" dirty="0">
              <a:latin typeface="Aparajita" pitchFamily="34" charset="0"/>
              <a:cs typeface="Aparajita" pitchFamily="34" charset="0"/>
            </a:endParaRP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r>
              <a:rPr lang="en-US" sz="3900" u="sng" dirty="0" smtClean="0">
                <a:solidFill>
                  <a:srgbClr val="C00000"/>
                </a:solidFill>
              </a:rPr>
              <a:t>Testers:-</a:t>
            </a:r>
          </a:p>
          <a:p>
            <a:r>
              <a:rPr lang="en-US" dirty="0" smtClean="0">
                <a:solidFill>
                  <a:srgbClr val="002060"/>
                </a:solidFill>
              </a:rPr>
              <a:t>Members of software testing teams</a:t>
            </a:r>
          </a:p>
          <a:p>
            <a:r>
              <a:rPr lang="en-US" dirty="0" smtClean="0">
                <a:solidFill>
                  <a:srgbClr val="002060"/>
                </a:solidFill>
              </a:rPr>
              <a:t>SQA professionals and interested practitioners −</a:t>
            </a:r>
          </a:p>
          <a:p>
            <a:r>
              <a:rPr lang="en-US" dirty="0" smtClean="0">
                <a:solidFill>
                  <a:srgbClr val="002060"/>
                </a:solidFill>
              </a:rPr>
              <a:t>SQA trustees</a:t>
            </a:r>
          </a:p>
          <a:p>
            <a:r>
              <a:rPr lang="en-US" dirty="0" smtClean="0">
                <a:solidFill>
                  <a:srgbClr val="002060"/>
                </a:solidFill>
              </a:rPr>
              <a:t>SQA committee members</a:t>
            </a:r>
          </a:p>
          <a:p>
            <a:r>
              <a:rPr lang="en-US" dirty="0" smtClean="0">
                <a:solidFill>
                  <a:srgbClr val="002060"/>
                </a:solidFill>
              </a:rPr>
              <a:t>SQA forum members</a:t>
            </a:r>
          </a:p>
          <a:p>
            <a:r>
              <a:rPr lang="en-US" dirty="0" smtClean="0">
                <a:solidFill>
                  <a:srgbClr val="002060"/>
                </a:solidFill>
              </a:rPr>
              <a:t>SQA unit team members</a:t>
            </a:r>
          </a:p>
          <a:p>
            <a:r>
              <a:rPr lang="en-US" dirty="0" smtClean="0"/>
              <a:t>Only the managers and employees of the software testing department are occupied full time in the performance of SQA tasks. </a:t>
            </a:r>
          </a:p>
          <a:p>
            <a:r>
              <a:rPr lang="en-US" dirty="0" smtClean="0"/>
              <a:t>The others dedicate part of their time to quality issues, whether during fulfillment of their managerial functions or professional tasks, or as volunteers in others, most often a SQA committee, a SQA forum, or as SQA trustees.</a:t>
            </a:r>
          </a:p>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algn="ctr"/>
            <a:r>
              <a:rPr lang="en-US" b="1" dirty="0" smtClean="0">
                <a:solidFill>
                  <a:srgbClr val="C00000"/>
                </a:solidFill>
              </a:rPr>
              <a:t>Software Quality Assurance Planning:-</a:t>
            </a:r>
          </a:p>
          <a:p>
            <a:r>
              <a:rPr lang="en-US" sz="2800" dirty="0" smtClean="0"/>
              <a:t>Abbreviated as SQAP, the software quality assurance plan comprises of the procedures, techniques, and tools that are employed to make sure that a product or service aligns with the requirements defined in the SRS(software requirement specification).</a:t>
            </a:r>
            <a:endParaRPr lang="en-US" dirty="0" smtClean="0"/>
          </a:p>
          <a:p>
            <a:r>
              <a:rPr lang="en-US" b="1" u="sng" dirty="0" smtClean="0">
                <a:hlinkClick r:id="rId2"/>
              </a:rPr>
              <a:t>Quality Assurance</a:t>
            </a:r>
            <a:r>
              <a:rPr lang="en-US" dirty="0" smtClean="0"/>
              <a:t> is one of the key facilitating processes during project planning. It is an ongoing activity that is performed with other planning processes. </a:t>
            </a:r>
          </a:p>
          <a:p>
            <a:r>
              <a:rPr lang="en-US" dirty="0" smtClean="0"/>
              <a:t>Quality planning is aimed at identifying the relevant quality standards, incorporating quality standards into product and processes, determining how these standards will be achieved.</a:t>
            </a: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dirty="0" smtClean="0"/>
              <a:t>A quality plan is a document, or several documents, that together specify quality standards, practices, resources, specifications, and the sequence of activities relevant to a particular product, service, project, or contract.</a:t>
            </a:r>
          </a:p>
          <a:p>
            <a:r>
              <a:rPr lang="en-US" dirty="0" smtClean="0"/>
              <a:t>The scope of this document is to describe all the software processes and documents used for the quality assurance of the statistical analysis tool. </a:t>
            </a:r>
          </a:p>
          <a:p>
            <a:r>
              <a:rPr lang="en-US" dirty="0" smtClean="0"/>
              <a:t>This plan identifies the responsibilities of the project developer, lists the activities, processes and work products that will be reviewed and audited Identifies the work products.</a:t>
            </a:r>
          </a:p>
          <a:p>
            <a:r>
              <a:rPr lang="en-US" dirty="0" smtClean="0">
                <a:solidFill>
                  <a:srgbClr val="C00000"/>
                </a:solidFill>
              </a:rPr>
              <a:t>Example:</a:t>
            </a:r>
            <a:r>
              <a:rPr lang="en-US" dirty="0" smtClean="0"/>
              <a:t>-Before a project manager can plan for quality, he must know what the standard expectations are. In other words, he must be aware of the quality policy defined by the organization’s top management. </a:t>
            </a:r>
          </a:p>
          <a:p>
            <a:pPr>
              <a:buNone/>
            </a:pPr>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77500" lnSpcReduction="20000"/>
          </a:bodyPr>
          <a:lstStyle/>
          <a:p>
            <a:pPr fontAlgn="base"/>
            <a:r>
              <a:rPr lang="en-US" dirty="0" smtClean="0"/>
              <a:t>It specifies the general intention of the organization with reference to quality as formally expressed by the highest management. It should be documented. The project team should adopt the quality policy of the organization to guide the project implementation. </a:t>
            </a:r>
          </a:p>
          <a:p>
            <a:pPr fontAlgn="base"/>
            <a:r>
              <a:rPr lang="en-US" dirty="0" smtClean="0"/>
              <a:t>If there is no quality policy or project that involves multiple performing organizations, in the case of a joint venture, then the project management team should create a quality policy. The project stakeholders should be fully aware of the quality policy.</a:t>
            </a:r>
          </a:p>
          <a:p>
            <a:pPr fontAlgn="base"/>
            <a:r>
              <a:rPr lang="en-US" dirty="0" smtClean="0"/>
              <a:t>The project scope statement is another important input to quality planning. It defines important input to quality planning. </a:t>
            </a:r>
          </a:p>
          <a:p>
            <a:pPr fontAlgn="base"/>
            <a:r>
              <a:rPr lang="en-US" dirty="0" smtClean="0"/>
              <a:t>It defines what will and what will not be delivered as part of the project along with project objectives regarding cost, schedule, and cost. Other inputs to the quality planning include a description of the product to be designed, standards, and regulations that may affect the project and outputs from the other processes.</a:t>
            </a:r>
          </a:p>
          <a:p>
            <a:pPr fontAlgn="base"/>
            <a:r>
              <a:rPr lang="en-US" dirty="0" smtClean="0"/>
              <a:t>Once the project manager has gathered the required inputs and evaluated the product description and quality assurance, he is able to measure the quality. Quality measurements are used for making estimates, tracking projects progress, analyzing defects and achieving continuous improvement, and evaluating tools.</a:t>
            </a:r>
            <a:endParaRPr lang="en-US" dirty="0"/>
          </a:p>
        </p:txBody>
      </p:sp>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sz="2800" dirty="0" smtClean="0"/>
              <a:t>The plan identifies the SQA responsibilities of a team, lists the areas that need to be reviewed and audited. It also identifies the SQA work products.</a:t>
            </a:r>
          </a:p>
          <a:p>
            <a:r>
              <a:rPr lang="en-US" sz="2800" b="1" dirty="0" smtClean="0">
                <a:solidFill>
                  <a:srgbClr val="C00000"/>
                </a:solidFill>
              </a:rPr>
              <a:t>The SQA plan document consists of the below sections:</a:t>
            </a:r>
            <a:endParaRPr lang="en-US" sz="2800" dirty="0" smtClean="0">
              <a:solidFill>
                <a:srgbClr val="C00000"/>
              </a:solidFill>
            </a:endParaRPr>
          </a:p>
          <a:p>
            <a:r>
              <a:rPr lang="en-US" sz="2800" dirty="0" smtClean="0"/>
              <a:t>Purpose section</a:t>
            </a:r>
          </a:p>
          <a:p>
            <a:r>
              <a:rPr lang="en-US" sz="2800" dirty="0" smtClean="0"/>
              <a:t>Reference section</a:t>
            </a:r>
          </a:p>
          <a:p>
            <a:r>
              <a:rPr lang="en-US" sz="2800" dirty="0" smtClean="0"/>
              <a:t>Software configuration management section</a:t>
            </a:r>
          </a:p>
          <a:p>
            <a:r>
              <a:rPr lang="en-US" sz="2800" dirty="0" smtClean="0"/>
              <a:t>Problem reporting and corrective action section</a:t>
            </a:r>
          </a:p>
          <a:p>
            <a:r>
              <a:rPr lang="en-US" sz="2800" dirty="0" smtClean="0"/>
              <a:t>Tools, technologies and methodologies section</a:t>
            </a:r>
          </a:p>
          <a:p>
            <a:r>
              <a:rPr lang="en-US" sz="2800" dirty="0" smtClean="0"/>
              <a:t>Code control section</a:t>
            </a:r>
          </a:p>
          <a:p>
            <a:r>
              <a:rPr lang="en-US" sz="2800" dirty="0" smtClean="0"/>
              <a:t>Records: Collection, maintenance and retention section</a:t>
            </a:r>
          </a:p>
          <a:p>
            <a:r>
              <a:rPr lang="en-US" sz="2800" dirty="0" smtClean="0"/>
              <a:t>Testing methodology</a:t>
            </a:r>
          </a:p>
          <a:p>
            <a:pPr lvl="0"/>
            <a:endParaRPr lang="en-IN" sz="2800" b="1"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r>
              <a:rPr lang="en-US" sz="5100" dirty="0" smtClean="0">
                <a:solidFill>
                  <a:srgbClr val="C00000"/>
                </a:solidFill>
              </a:rPr>
              <a:t>Quality plans should define:</a:t>
            </a:r>
          </a:p>
          <a:p>
            <a:r>
              <a:rPr lang="en-US" dirty="0" smtClean="0"/>
              <a:t>Objectives to be attained (for example, characteristics or specifications, uniformity, effectiveness, aesthetics, cycle time, cost, natural resources, utilization, yield, dependability, and so on)</a:t>
            </a:r>
          </a:p>
          <a:p>
            <a:r>
              <a:rPr lang="en-US" dirty="0" smtClean="0"/>
              <a:t>Steps in the processes that constitute the operating practice or procedures of the organization</a:t>
            </a:r>
          </a:p>
          <a:p>
            <a:r>
              <a:rPr lang="en-US" dirty="0" smtClean="0"/>
              <a:t>Allocation of responsibilities, authority, and resources during the different phases of the process or project</a:t>
            </a:r>
          </a:p>
          <a:p>
            <a:r>
              <a:rPr lang="en-US" dirty="0" smtClean="0"/>
              <a:t>Specific documented standards, practices, procedures, and instructions to be applied</a:t>
            </a:r>
          </a:p>
          <a:p>
            <a:r>
              <a:rPr lang="en-US" dirty="0" smtClean="0"/>
              <a:t>Suitable testing, inspection, examination, and audit programs at appropriate stages</a:t>
            </a:r>
          </a:p>
          <a:p>
            <a:r>
              <a:rPr lang="en-US" dirty="0" smtClean="0"/>
              <a:t>A documented procedure for changes and modifications to a quality plan as a process is improved</a:t>
            </a:r>
          </a:p>
          <a:p>
            <a:r>
              <a:rPr lang="en-US" dirty="0" smtClean="0"/>
              <a:t>A method for measuring the achievement of the quality objectives</a:t>
            </a:r>
          </a:p>
          <a:p>
            <a:r>
              <a:rPr lang="en-US" dirty="0" smtClean="0"/>
              <a:t>Other actions necessary to meet the objectives</a:t>
            </a:r>
          </a:p>
          <a:p>
            <a:r>
              <a:rPr lang="en-US" dirty="0" smtClean="0"/>
              <a:t>At the highest level, quality goals and plans should be integrated with overall strategic plans of the organization. As organizational objectives and plans are deployed throughout the organization, each function fashions its own best way for contributing to the top-level goals and objectives.</a:t>
            </a:r>
          </a:p>
          <a:p>
            <a:r>
              <a:rPr lang="en-US" dirty="0" smtClean="0"/>
              <a:t>At lower levels, the quality plan assumes the role of an actionable plan. Such plans may take many different forms depending on the outcome they are to produce. Quality plans may also be represented by more than one type of document to produce a given outcome.</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lvl="0"/>
            <a:r>
              <a:rPr lang="en-US" dirty="0" smtClean="0">
                <a:solidFill>
                  <a:srgbClr val="FF0000"/>
                </a:solidFill>
              </a:rPr>
              <a:t>. </a:t>
            </a:r>
            <a:endParaRPr lang="en-IN" dirty="0">
              <a:solidFill>
                <a:srgbClr val="FF0000"/>
              </a:solidFill>
            </a:endParaRPr>
          </a:p>
        </p:txBody>
      </p:sp>
      <p:pic>
        <p:nvPicPr>
          <p:cNvPr id="3075" name="Picture 3"/>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sz="3600" cap="all" dirty="0" smtClean="0">
                <a:solidFill>
                  <a:srgbClr val="C00000"/>
                </a:solidFill>
              </a:rPr>
              <a:t>HOW TO WRITE A QUALITY PLAN-</a:t>
            </a:r>
          </a:p>
          <a:p>
            <a:r>
              <a:rPr lang="en-US" dirty="0" smtClean="0">
                <a:hlinkClick r:id="rId2"/>
              </a:rPr>
              <a:t>Quality assurance or quality control</a:t>
            </a:r>
            <a:r>
              <a:rPr lang="en-US" dirty="0" smtClean="0"/>
              <a:t> plans evaluate and/or modify an organization’s procedures to help ensure they provide the desired results. Quality control plans are often viewed as a set of instructions that should be followed.</a:t>
            </a:r>
          </a:p>
          <a:p>
            <a:r>
              <a:rPr lang="en-US" dirty="0" smtClean="0"/>
              <a:t>They document the planning, implementation, and assessment procedures for a project, as well as any QA or QC activities.</a:t>
            </a:r>
          </a:p>
          <a:p>
            <a:r>
              <a:rPr lang="en-US" dirty="0" smtClean="0"/>
              <a:t>Some areas may be more detailed than others, based on the project, process, or organization’s needs. It is important to note that each plan is unique based on the organization’s needs and their </a:t>
            </a:r>
            <a:r>
              <a:rPr lang="en-US" dirty="0" smtClean="0">
                <a:hlinkClick r:id="rId3"/>
              </a:rPr>
              <a:t>quality management system (QMS)</a:t>
            </a:r>
            <a:r>
              <a:rPr lang="en-US" dirty="0" smtClean="0"/>
              <a:t>. </a:t>
            </a:r>
            <a:br>
              <a:rPr lang="en-US" dirty="0" smtClean="0"/>
            </a:br>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t>However, quality control plans should always have a structure that permits improvements to the plan. This allows employees to offer input on how to improve efficiency and quality. In addition, the plan should be reviewed by others periodically, including stakeholders, to ensure the plan is comprehensive.</a:t>
            </a:r>
          </a:p>
          <a:p>
            <a:pPr lvl="0"/>
            <a:endParaRPr lang="en-IN" dirty="0">
              <a:latin typeface="Aparajita" pitchFamily="34" charset="0"/>
              <a:cs typeface="Aparajita" pitchFamily="34" charset="0"/>
            </a:endParaRPr>
          </a:p>
        </p:txBody>
      </p:sp>
      <p:pic>
        <p:nvPicPr>
          <p:cNvPr id="4098" name="Picture 2"/>
          <p:cNvPicPr>
            <a:picLocks noChangeAspect="1" noChangeArrowheads="1"/>
          </p:cNvPicPr>
          <p:nvPr/>
        </p:nvPicPr>
        <p:blipFill>
          <a:blip r:embed="rId2"/>
          <a:srcRect/>
          <a:stretch>
            <a:fillRect/>
          </a:stretch>
        </p:blipFill>
        <p:spPr bwMode="auto">
          <a:xfrm>
            <a:off x="609600" y="3276600"/>
            <a:ext cx="8153400" cy="3352800"/>
          </a:xfrm>
          <a:prstGeom prst="rect">
            <a:avLst/>
          </a:prstGeom>
          <a:noFill/>
          <a:ln w="9525">
            <a:noFill/>
            <a:miter lim="800000"/>
            <a:headEnd/>
            <a:tailEnd/>
          </a:ln>
          <a:effectLst/>
        </p:spPr>
      </p:pic>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sz="3900" b="1" u="sng" dirty="0" smtClean="0">
                <a:solidFill>
                  <a:srgbClr val="FF0000"/>
                </a:solidFill>
              </a:rPr>
              <a:t>What is </a:t>
            </a:r>
            <a:r>
              <a:rPr lang="en-US" sz="4000" b="1" u="sng" dirty="0" smtClean="0">
                <a:solidFill>
                  <a:srgbClr val="FF0000"/>
                </a:solidFill>
              </a:rPr>
              <a:t>Software Quality Control S</a:t>
            </a:r>
            <a:r>
              <a:rPr lang="en-US" sz="3900" b="1" u="sng" dirty="0" smtClean="0">
                <a:solidFill>
                  <a:srgbClr val="FF0000"/>
                </a:solidFill>
              </a:rPr>
              <a:t>QC?</a:t>
            </a:r>
          </a:p>
          <a:p>
            <a:r>
              <a:rPr lang="en-US" sz="2800" b="1" dirty="0" smtClean="0"/>
              <a:t>Software Quality Control(SQC) </a:t>
            </a:r>
            <a:r>
              <a:rPr lang="en-US" sz="2800" dirty="0" smtClean="0"/>
              <a:t>is a set of procedures or methods used by organizations to achieve product quality parameters or software product will meet its quality goals at the best value to the customer, and to continually improve the organization’s ability to produce software products in the future.</a:t>
            </a:r>
          </a:p>
          <a:p>
            <a:r>
              <a:rPr lang="en-US" sz="2800" dirty="0" smtClean="0"/>
              <a:t>Software Quality Control is limited to the Review/ Testing phases of the </a:t>
            </a:r>
            <a:r>
              <a:rPr lang="en-US" sz="2800" u="sng" dirty="0" smtClean="0"/>
              <a:t>SDLC</a:t>
            </a:r>
            <a:r>
              <a:rPr lang="en-US" sz="2800" dirty="0" smtClean="0"/>
              <a:t> and the goal is to ensure that the products meet specifications/ requirements.</a:t>
            </a:r>
          </a:p>
          <a:p>
            <a:r>
              <a:rPr lang="en-IN" sz="2800" b="1" u="sng" dirty="0" smtClean="0">
                <a:solidFill>
                  <a:srgbClr val="FF0000"/>
                </a:solidFill>
              </a:rPr>
              <a:t>Or</a:t>
            </a:r>
            <a:endParaRPr lang="en-US" sz="2800" b="1" u="sng" dirty="0" smtClean="0">
              <a:solidFill>
                <a:srgbClr val="FF0000"/>
              </a:solidFill>
            </a:endParaRPr>
          </a:p>
          <a:p>
            <a:r>
              <a:rPr lang="en-US" sz="2800" dirty="0" smtClean="0"/>
              <a:t>Software quality control refers to specified functional requirements as well as non-functional requirements such as supportability, performance and usability. </a:t>
            </a:r>
          </a:p>
          <a:p>
            <a:r>
              <a:rPr lang="en-US" sz="2800" dirty="0" smtClean="0"/>
              <a:t>It also refers to the ability for software to perform well in unforeseeable scenarios and to keep a relatively low defect rate.</a:t>
            </a:r>
          </a:p>
          <a:p>
            <a:r>
              <a:rPr lang="en-US" sz="2800" dirty="0" smtClean="0">
                <a:solidFill>
                  <a:srgbClr val="FF0000"/>
                </a:solidFill>
              </a:rPr>
              <a:t>Note</a:t>
            </a:r>
            <a:r>
              <a:rPr lang="en-US" sz="2800" dirty="0" smtClean="0"/>
              <a:t>: These specified procedures and outlined requirements lead to the idea of Verification and Validation and software testing.</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lgn="just"/>
            <a:r>
              <a:rPr lang="en-US" sz="2600" dirty="0" smtClean="0">
                <a:latin typeface="Aharoni"/>
              </a:rPr>
              <a:t>Quality Control is a strategy of detection – it uses operational techniques and procedures to identify defects in products and services and ensure that the project deliverables meet the desired quality standards. </a:t>
            </a:r>
          </a:p>
          <a:p>
            <a:pPr algn="just"/>
            <a:r>
              <a:rPr lang="en-US" sz="2600" dirty="0" smtClean="0">
                <a:latin typeface="Aharoni"/>
              </a:rPr>
              <a:t>The Quality Control process detects bugs and defects in the product and reports them so that they can be fixed. If a problem is identified, it must be resolved before the product is delivered to customers. </a:t>
            </a:r>
          </a:p>
          <a:p>
            <a:pPr algn="just"/>
            <a:r>
              <a:rPr lang="en-US" sz="2600" dirty="0" smtClean="0">
                <a:latin typeface="Aharoni"/>
              </a:rPr>
              <a:t>Quality Control is also part of quality management. However, QC is focused on fulfilling quality requirements. Broadly speaking, it is the inspection aspect of quality management. </a:t>
            </a:r>
          </a:p>
          <a:p>
            <a:pPr algn="ctr"/>
            <a:r>
              <a:rPr lang="en-US" dirty="0" smtClean="0">
                <a:solidFill>
                  <a:srgbClr val="FF0000"/>
                </a:solidFill>
              </a:rPr>
              <a:t>In conclusion point of view:</a:t>
            </a:r>
            <a:r>
              <a:rPr lang="en-US" dirty="0" smtClean="0"/>
              <a:t> </a:t>
            </a:r>
          </a:p>
          <a:p>
            <a:pPr algn="ctr"/>
            <a:r>
              <a:rPr lang="en-US" b="1" dirty="0" smtClean="0">
                <a:solidFill>
                  <a:srgbClr val="7030A0"/>
                </a:solidFill>
              </a:rPr>
              <a:t>Quality Control is the final checkpoint before the delivery of software product</a:t>
            </a:r>
            <a:r>
              <a:rPr lang="en-US" dirty="0" smtClean="0">
                <a:solidFill>
                  <a:srgbClr val="7030A0"/>
                </a:solidFill>
              </a:rPr>
              <a:t>.</a:t>
            </a:r>
          </a:p>
          <a:p>
            <a:endParaRPr lang="en-IN" b="1" dirty="0"/>
          </a:p>
        </p:txBody>
      </p:sp>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just"/>
            <a:r>
              <a:rPr lang="en-US" dirty="0" smtClean="0">
                <a:solidFill>
                  <a:srgbClr val="FF0000"/>
                </a:solidFill>
              </a:rPr>
              <a:t>Examples of </a:t>
            </a:r>
            <a:r>
              <a:rPr lang="en-US" u="sng" dirty="0" smtClean="0">
                <a:solidFill>
                  <a:srgbClr val="FF0000"/>
                </a:solidFill>
              </a:rPr>
              <a:t>Quality Control activities: </a:t>
            </a:r>
          </a:p>
          <a:p>
            <a:pPr algn="just"/>
            <a:endParaRPr lang="en-US" sz="1800" u="sng" dirty="0" smtClean="0">
              <a:solidFill>
                <a:srgbClr val="FF0000"/>
              </a:solidFill>
            </a:endParaRPr>
          </a:p>
          <a:p>
            <a:pPr algn="just"/>
            <a:r>
              <a:rPr lang="en-US" dirty="0" smtClean="0"/>
              <a:t>Inspection, </a:t>
            </a:r>
          </a:p>
          <a:p>
            <a:pPr algn="just"/>
            <a:endParaRPr lang="en-US" sz="1600" dirty="0" smtClean="0"/>
          </a:p>
          <a:p>
            <a:pPr algn="just"/>
            <a:r>
              <a:rPr lang="en-US" dirty="0" smtClean="0"/>
              <a:t>Measurements, </a:t>
            </a:r>
          </a:p>
          <a:p>
            <a:pPr algn="just"/>
            <a:endParaRPr lang="en-US" sz="1800" dirty="0" smtClean="0"/>
          </a:p>
          <a:p>
            <a:pPr algn="just"/>
            <a:r>
              <a:rPr lang="en-US" dirty="0" smtClean="0"/>
              <a:t>Manual and Automated Testing, </a:t>
            </a:r>
          </a:p>
          <a:p>
            <a:pPr algn="just"/>
            <a:endParaRPr lang="en-US" sz="1800" dirty="0" smtClean="0"/>
          </a:p>
          <a:p>
            <a:pPr algn="just"/>
            <a:r>
              <a:rPr lang="en-US" dirty="0" smtClean="0"/>
              <a:t>Verification, and Validation.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3900" u="sng" dirty="0" smtClean="0">
                <a:solidFill>
                  <a:srgbClr val="FF0000"/>
                </a:solidFill>
              </a:rPr>
              <a:t>Quality Assurance or Quality Control Process: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solidFill>
                  <a:srgbClr val="002060"/>
                </a:solidFill>
              </a:rPr>
              <a:t>The three class parameters that control software quality are:</a:t>
            </a:r>
          </a:p>
          <a:p>
            <a:r>
              <a:rPr lang="en-US" dirty="0" smtClean="0">
                <a:solidFill>
                  <a:srgbClr val="FF0000"/>
                </a:solidFill>
              </a:rPr>
              <a:t>Processes</a:t>
            </a:r>
          </a:p>
          <a:p>
            <a:r>
              <a:rPr lang="en-US" dirty="0" smtClean="0">
                <a:solidFill>
                  <a:srgbClr val="FF0000"/>
                </a:solidFill>
              </a:rPr>
              <a:t>Projects</a:t>
            </a:r>
          </a:p>
          <a:p>
            <a:r>
              <a:rPr lang="en-US" dirty="0" smtClean="0">
                <a:solidFill>
                  <a:srgbClr val="FF0000"/>
                </a:solidFill>
              </a:rPr>
              <a:t>Resources</a:t>
            </a:r>
          </a:p>
          <a:p>
            <a:endParaRPr lang="en-US" dirty="0"/>
          </a:p>
        </p:txBody>
      </p:sp>
      <p:pic>
        <p:nvPicPr>
          <p:cNvPr id="123906" name="Picture 2"/>
          <p:cNvPicPr>
            <a:picLocks noChangeAspect="1" noChangeArrowheads="1"/>
          </p:cNvPicPr>
          <p:nvPr/>
        </p:nvPicPr>
        <p:blipFill>
          <a:blip r:embed="rId2"/>
          <a:srcRect/>
          <a:stretch>
            <a:fillRect/>
          </a:stretch>
        </p:blipFill>
        <p:spPr bwMode="auto">
          <a:xfrm>
            <a:off x="228600" y="609600"/>
            <a:ext cx="4495800" cy="3962400"/>
          </a:xfrm>
          <a:prstGeom prst="rect">
            <a:avLst/>
          </a:prstGeom>
          <a:noFill/>
          <a:ln w="9525">
            <a:noFill/>
            <a:miter lim="800000"/>
            <a:headEnd/>
            <a:tailEnd/>
          </a:ln>
          <a:effectLst/>
        </p:spPr>
      </p:pic>
      <p:pic>
        <p:nvPicPr>
          <p:cNvPr id="123907" name="Picture 3"/>
          <p:cNvPicPr>
            <a:picLocks noChangeAspect="1" noChangeArrowheads="1"/>
          </p:cNvPicPr>
          <p:nvPr/>
        </p:nvPicPr>
        <p:blipFill>
          <a:blip r:embed="rId3"/>
          <a:srcRect/>
          <a:stretch>
            <a:fillRect/>
          </a:stretch>
        </p:blipFill>
        <p:spPr bwMode="auto">
          <a:xfrm>
            <a:off x="4343400" y="533400"/>
            <a:ext cx="4800600" cy="39624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sz="4100" dirty="0" smtClean="0">
                <a:solidFill>
                  <a:srgbClr val="FF0000"/>
                </a:solidFill>
              </a:rPr>
              <a:t>The total quality control process consists of:</a:t>
            </a:r>
          </a:p>
          <a:p>
            <a:r>
              <a:rPr lang="en-US" dirty="0" smtClean="0">
                <a:solidFill>
                  <a:srgbClr val="FF0000"/>
                </a:solidFill>
              </a:rPr>
              <a:t>1. Plan -</a:t>
            </a:r>
            <a:r>
              <a:rPr lang="en-US" dirty="0" smtClean="0"/>
              <a:t> The organization should prepare and set the process-related goals and decide the procedures necessary to produce a high-quality final result. </a:t>
            </a:r>
            <a:r>
              <a:rPr lang="en-IN" dirty="0" smtClean="0">
                <a:solidFill>
                  <a:srgbClr val="FF0000"/>
                </a:solidFill>
              </a:rPr>
              <a:t>Or</a:t>
            </a:r>
            <a:r>
              <a:rPr lang="en-US" dirty="0" smtClean="0"/>
              <a:t> It is the stage where the Quality control processes are planned</a:t>
            </a:r>
          </a:p>
          <a:p>
            <a:r>
              <a:rPr lang="en-US" dirty="0" smtClean="0">
                <a:solidFill>
                  <a:srgbClr val="FF0000"/>
                </a:solidFill>
              </a:rPr>
              <a:t>2. Do -</a:t>
            </a:r>
            <a:r>
              <a:rPr lang="en-US" dirty="0" smtClean="0"/>
              <a:t> Development and testing of systems and even ‘do’ modifications to processes. </a:t>
            </a:r>
            <a:r>
              <a:rPr lang="en-US" dirty="0" smtClean="0">
                <a:solidFill>
                  <a:srgbClr val="FF0000"/>
                </a:solidFill>
              </a:rPr>
              <a:t>Or </a:t>
            </a:r>
            <a:r>
              <a:rPr lang="en-US" dirty="0" smtClean="0"/>
              <a:t>Use a defined parameter to develop the quality.</a:t>
            </a:r>
          </a:p>
          <a:p>
            <a:r>
              <a:rPr lang="en-US" dirty="0" smtClean="0">
                <a:solidFill>
                  <a:srgbClr val="FF0000"/>
                </a:solidFill>
              </a:rPr>
              <a:t>3. Check </a:t>
            </a:r>
            <a:r>
              <a:rPr lang="en-US" dirty="0" smtClean="0"/>
              <a:t> Monitoring processes, modifying processes, and checking if they follow the predetermined goals.</a:t>
            </a:r>
            <a:r>
              <a:rPr lang="en-US" dirty="0" smtClean="0">
                <a:solidFill>
                  <a:srgbClr val="FF0000"/>
                </a:solidFill>
              </a:rPr>
              <a:t> Or </a:t>
            </a:r>
            <a:r>
              <a:rPr lang="en-US" dirty="0" smtClean="0"/>
              <a:t>Stage to verify if the quality of the parameters are met.</a:t>
            </a:r>
          </a:p>
          <a:p>
            <a:r>
              <a:rPr lang="en-US" dirty="0" smtClean="0">
                <a:solidFill>
                  <a:srgbClr val="FF0000"/>
                </a:solidFill>
              </a:rPr>
              <a:t>4. Act </a:t>
            </a:r>
            <a:r>
              <a:rPr lang="en-US" dirty="0" smtClean="0"/>
              <a:t>Implement steps that are required to improve processes. </a:t>
            </a:r>
            <a:r>
              <a:rPr lang="en-IN" dirty="0" smtClean="0">
                <a:solidFill>
                  <a:srgbClr val="FF0000"/>
                </a:solidFill>
              </a:rPr>
              <a:t>Or</a:t>
            </a:r>
            <a:r>
              <a:rPr lang="en-IN" dirty="0" smtClean="0"/>
              <a:t> </a:t>
            </a:r>
            <a:r>
              <a:rPr lang="en-US" dirty="0" smtClean="0"/>
              <a:t>Take corrective action if needed and repeat the work</a:t>
            </a:r>
          </a:p>
          <a:p>
            <a:endParaRPr lang="en-US" sz="1200" dirty="0" smtClean="0"/>
          </a:p>
          <a:p>
            <a:r>
              <a:rPr lang="en-US" dirty="0" smtClean="0"/>
              <a:t>The organization must use Quality Assurance to ensure that the product is designed and delivered correctly. This tends to reduce complications and errors in the end product.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sz="3800" u="sng" dirty="0" smtClean="0">
                <a:solidFill>
                  <a:srgbClr val="FF0000"/>
                </a:solidFill>
              </a:rPr>
              <a:t>Software Quality Control Activities.(In Shorts )</a:t>
            </a:r>
          </a:p>
          <a:p>
            <a:r>
              <a:rPr lang="en-US" dirty="0" smtClean="0">
                <a:solidFill>
                  <a:srgbClr val="FF0000"/>
                </a:solidFill>
              </a:rPr>
              <a:t>Step </a:t>
            </a:r>
            <a:r>
              <a:rPr lang="en-US" dirty="0" smtClean="0"/>
              <a:t>: Check that assumptions and criteria for the selection of data and the different factors related to data are documented.</a:t>
            </a:r>
          </a:p>
          <a:p>
            <a:r>
              <a:rPr lang="en-US" dirty="0" smtClean="0">
                <a:solidFill>
                  <a:srgbClr val="FF0000"/>
                </a:solidFill>
              </a:rPr>
              <a:t>Step </a:t>
            </a:r>
            <a:r>
              <a:rPr lang="en-US" dirty="0" smtClean="0"/>
              <a:t>: Check for transcription errors in data input and reference.</a:t>
            </a:r>
          </a:p>
          <a:p>
            <a:r>
              <a:rPr lang="en-US" dirty="0" smtClean="0">
                <a:solidFill>
                  <a:srgbClr val="FF0000"/>
                </a:solidFill>
              </a:rPr>
              <a:t>Step </a:t>
            </a:r>
            <a:r>
              <a:rPr lang="en-US" dirty="0" smtClean="0"/>
              <a:t>:-Check the integrity of database files.</a:t>
            </a:r>
          </a:p>
          <a:p>
            <a:r>
              <a:rPr lang="en-US" dirty="0" smtClean="0">
                <a:solidFill>
                  <a:srgbClr val="FF0000"/>
                </a:solidFill>
              </a:rPr>
              <a:t>Step :- </a:t>
            </a:r>
            <a:r>
              <a:rPr lang="en-US" dirty="0" smtClean="0"/>
              <a:t>Check for consistency in data.</a:t>
            </a:r>
          </a:p>
          <a:p>
            <a:r>
              <a:rPr lang="en-US" dirty="0" smtClean="0">
                <a:solidFill>
                  <a:srgbClr val="FF0000"/>
                </a:solidFill>
              </a:rPr>
              <a:t>Step :- </a:t>
            </a:r>
            <a:r>
              <a:rPr lang="en-US" dirty="0" smtClean="0"/>
              <a:t>Check that the movement of inventory data among processing steps is correct.</a:t>
            </a:r>
          </a:p>
          <a:p>
            <a:r>
              <a:rPr lang="en-US" dirty="0" smtClean="0">
                <a:solidFill>
                  <a:srgbClr val="FF0000"/>
                </a:solidFill>
              </a:rPr>
              <a:t>Step :- </a:t>
            </a:r>
            <a:r>
              <a:rPr lang="en-US" dirty="0" smtClean="0"/>
              <a:t>Check for uncertainties in data, database files etc.</a:t>
            </a:r>
          </a:p>
          <a:p>
            <a:r>
              <a:rPr lang="en-US" dirty="0" smtClean="0"/>
              <a:t>Undertake review of internal documentation.</a:t>
            </a:r>
          </a:p>
          <a:p>
            <a:r>
              <a:rPr lang="en-US" dirty="0" smtClean="0">
                <a:solidFill>
                  <a:srgbClr val="FF0000"/>
                </a:solidFill>
              </a:rPr>
              <a:t>Step:-  </a:t>
            </a:r>
            <a:r>
              <a:rPr lang="en-US" dirty="0" smtClean="0"/>
              <a:t>Check methodological and data changes resulting in recalculations.</a:t>
            </a:r>
          </a:p>
          <a:p>
            <a:r>
              <a:rPr lang="en-US" dirty="0" smtClean="0">
                <a:solidFill>
                  <a:srgbClr val="FF0000"/>
                </a:solidFill>
              </a:rPr>
              <a:t>Step :- </a:t>
            </a:r>
            <a:r>
              <a:rPr lang="en-US" dirty="0" smtClean="0"/>
              <a:t>Undertake completeness checks.</a:t>
            </a:r>
          </a:p>
          <a:p>
            <a:r>
              <a:rPr lang="en-US" dirty="0" smtClean="0">
                <a:solidFill>
                  <a:srgbClr val="FF0000"/>
                </a:solidFill>
              </a:rPr>
              <a:t>Step :</a:t>
            </a:r>
            <a:r>
              <a:rPr lang="en-US" dirty="0" smtClean="0"/>
              <a:t>- Compare Results to previous Results.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b="1" dirty="0" smtClean="0">
                <a:solidFill>
                  <a:srgbClr val="FF0000"/>
                </a:solidFill>
              </a:rPr>
              <a:t>SQC Activities:-</a:t>
            </a:r>
          </a:p>
          <a:p>
            <a:r>
              <a:rPr lang="en-US" dirty="0" smtClean="0"/>
              <a:t>It includes the following activities:</a:t>
            </a:r>
          </a:p>
          <a:p>
            <a:r>
              <a:rPr lang="en-US" i="1" dirty="0" smtClean="0">
                <a:solidFill>
                  <a:srgbClr val="FF0000"/>
                </a:solidFill>
              </a:rPr>
              <a:t>Reviews:-</a:t>
            </a:r>
            <a:endParaRPr lang="en-US" dirty="0" smtClean="0">
              <a:solidFill>
                <a:srgbClr val="FF0000"/>
              </a:solidFill>
            </a:endParaRPr>
          </a:p>
          <a:p>
            <a:pPr lvl="1"/>
            <a:r>
              <a:rPr lang="en-US" dirty="0" smtClean="0"/>
              <a:t>Requirement Review</a:t>
            </a:r>
          </a:p>
          <a:p>
            <a:pPr lvl="1"/>
            <a:r>
              <a:rPr lang="en-US" dirty="0" smtClean="0"/>
              <a:t>Design Review</a:t>
            </a:r>
          </a:p>
          <a:p>
            <a:pPr lvl="1"/>
            <a:r>
              <a:rPr lang="en-US" dirty="0" smtClean="0"/>
              <a:t>Code Review</a:t>
            </a:r>
          </a:p>
          <a:p>
            <a:pPr lvl="1"/>
            <a:r>
              <a:rPr lang="en-US" dirty="0" smtClean="0"/>
              <a:t>Deployment Plan Review</a:t>
            </a:r>
          </a:p>
          <a:p>
            <a:pPr lvl="1"/>
            <a:r>
              <a:rPr lang="en-US" dirty="0" smtClean="0"/>
              <a:t>Test Plan Review</a:t>
            </a:r>
          </a:p>
          <a:p>
            <a:pPr lvl="1"/>
            <a:r>
              <a:rPr lang="en-US" dirty="0" smtClean="0"/>
              <a:t>Test Cases Review</a:t>
            </a:r>
            <a:endParaRPr lang="en-US" i="1" dirty="0" smtClean="0"/>
          </a:p>
          <a:p>
            <a:r>
              <a:rPr lang="en-US" i="1" dirty="0" smtClean="0">
                <a:solidFill>
                  <a:srgbClr val="FF0000"/>
                </a:solidFill>
              </a:rPr>
              <a:t>Testing Levels:-</a:t>
            </a:r>
            <a:endParaRPr lang="en-US" dirty="0" smtClean="0">
              <a:solidFill>
                <a:srgbClr val="FF0000"/>
              </a:solidFill>
            </a:endParaRPr>
          </a:p>
          <a:p>
            <a:pPr lvl="1"/>
            <a:r>
              <a:rPr lang="en-US" u="sng" dirty="0" smtClean="0">
                <a:hlinkClick r:id="rId2"/>
              </a:rPr>
              <a:t>Unit Testing</a:t>
            </a:r>
            <a:endParaRPr lang="en-US" dirty="0" smtClean="0"/>
          </a:p>
          <a:p>
            <a:pPr lvl="1"/>
            <a:r>
              <a:rPr lang="en-US" u="sng" dirty="0" smtClean="0">
                <a:hlinkClick r:id="rId3"/>
              </a:rPr>
              <a:t>Integration Testing</a:t>
            </a:r>
            <a:endParaRPr lang="en-US" dirty="0" smtClean="0"/>
          </a:p>
          <a:p>
            <a:pPr lvl="1"/>
            <a:r>
              <a:rPr lang="en-US" dirty="0" smtClean="0">
                <a:hlinkClick r:id="rId4"/>
              </a:rPr>
              <a:t>System Testing</a:t>
            </a:r>
            <a:endParaRPr lang="en-US" dirty="0" smtClean="0"/>
          </a:p>
          <a:p>
            <a:pPr lvl="1"/>
            <a:r>
              <a:rPr lang="en-US" u="sng" dirty="0" smtClean="0">
                <a:hlinkClick r:id="rId5"/>
              </a:rPr>
              <a:t>Acceptance Testing</a:t>
            </a:r>
            <a:endParaRPr lang="en-US" u="sng" dirty="0" smtClean="0"/>
          </a:p>
          <a:p>
            <a:pPr lvl="1">
              <a:buNone/>
            </a:pPr>
            <a:r>
              <a:rPr lang="en-US" dirty="0" smtClean="0"/>
              <a:t>The process of Software Quality Control (SQC) is governed by </a:t>
            </a:r>
            <a:r>
              <a:rPr lang="en-US" u="sng" dirty="0" smtClean="0">
                <a:hlinkClick r:id="rId6"/>
              </a:rPr>
              <a:t>Software Quality Assurance</a:t>
            </a:r>
            <a:r>
              <a:rPr lang="en-US" dirty="0" smtClean="0"/>
              <a:t> (SQA). While SQA is oriented towards prevention, SQC is oriented towards detection.</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4300" b="1" dirty="0" smtClean="0">
                <a:solidFill>
                  <a:srgbClr val="FF0000"/>
                </a:solidFill>
              </a:rPr>
              <a:t>SQA Activities:-</a:t>
            </a:r>
          </a:p>
          <a:p>
            <a:r>
              <a:rPr lang="en-US" b="1" i="1" dirty="0" smtClean="0">
                <a:solidFill>
                  <a:srgbClr val="7030A0"/>
                </a:solidFill>
              </a:rPr>
              <a:t>Given below is the list of SQA activities:</a:t>
            </a:r>
            <a:endParaRPr lang="en-US" dirty="0" smtClean="0">
              <a:solidFill>
                <a:srgbClr val="7030A0"/>
              </a:solidFill>
            </a:endParaRPr>
          </a:p>
          <a:p>
            <a:r>
              <a:rPr lang="en-US" b="1" dirty="0" smtClean="0">
                <a:solidFill>
                  <a:srgbClr val="FF0000"/>
                </a:solidFill>
              </a:rPr>
              <a:t>#1) Creating an SQA Management Plan:</a:t>
            </a:r>
            <a:endParaRPr lang="en-US" dirty="0" smtClean="0">
              <a:solidFill>
                <a:srgbClr val="FF0000"/>
              </a:solidFill>
            </a:endParaRPr>
          </a:p>
          <a:p>
            <a:r>
              <a:rPr lang="en-US" dirty="0" smtClean="0"/>
              <a:t>The foremost activity includes laying down a proper plan regarding how the SQA will be carried out in your project.</a:t>
            </a:r>
          </a:p>
          <a:p>
            <a:r>
              <a:rPr lang="en-US" dirty="0" smtClean="0"/>
              <a:t>Along with what SQA approach you are going to follow, what engineering activities will be carried out, and it also includes ensuring that you have a right talent mix in your team.</a:t>
            </a:r>
          </a:p>
          <a:p>
            <a:r>
              <a:rPr lang="en-US" b="1" dirty="0" smtClean="0">
                <a:solidFill>
                  <a:srgbClr val="FF0000"/>
                </a:solidFill>
              </a:rPr>
              <a:t>#2) Setting the Checkpoints:</a:t>
            </a:r>
            <a:endParaRPr lang="en-US" dirty="0" smtClean="0">
              <a:solidFill>
                <a:srgbClr val="FF0000"/>
              </a:solidFill>
            </a:endParaRPr>
          </a:p>
          <a:p>
            <a:r>
              <a:rPr lang="en-US" dirty="0" smtClean="0"/>
              <a:t>The SQA team sets up different checkpoints according to which it evaluates the quality of the project activities at each checkpoint/project stage. This ensures regular quality inspection and working as per the schedule.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b="1" dirty="0" smtClean="0">
                <a:solidFill>
                  <a:srgbClr val="FF0000"/>
                </a:solidFill>
              </a:rPr>
              <a:t>#3) Apply software Engineering Techniques:</a:t>
            </a:r>
            <a:endParaRPr lang="en-US" dirty="0" smtClean="0">
              <a:solidFill>
                <a:srgbClr val="FF0000"/>
              </a:solidFill>
            </a:endParaRPr>
          </a:p>
          <a:p>
            <a:r>
              <a:rPr lang="en-US" dirty="0" smtClean="0"/>
              <a:t>Applying some software engineering techniques aids a software designer in achieving high-quality specification. For gathering information, a designer may use techniques such as interviews and FAST (Functional Analysis System Technique).</a:t>
            </a:r>
          </a:p>
          <a:p>
            <a:r>
              <a:rPr lang="en-US" dirty="0" smtClean="0"/>
              <a:t>Later, based on the information gathered, the software designer can prepare the project estimation using techniques like WBS (work breakdown structure), SLOC (source line of codes), and FP(functional point) estimation.</a:t>
            </a:r>
          </a:p>
          <a:p>
            <a:r>
              <a:rPr lang="en-US" b="1" dirty="0" smtClean="0">
                <a:solidFill>
                  <a:srgbClr val="FF0000"/>
                </a:solidFill>
              </a:rPr>
              <a:t>#4) Executing Formal Technical Reviews:</a:t>
            </a:r>
            <a:endParaRPr lang="en-US" dirty="0" smtClean="0">
              <a:solidFill>
                <a:srgbClr val="FF0000"/>
              </a:solidFill>
            </a:endParaRPr>
          </a:p>
          <a:p>
            <a:r>
              <a:rPr lang="en-US" dirty="0" smtClean="0"/>
              <a:t>An FTR is done to evaluate the quality and design of the prototype.</a:t>
            </a:r>
          </a:p>
          <a:p>
            <a:r>
              <a:rPr lang="en-US" dirty="0" smtClean="0"/>
              <a:t>In this process, a meeting is conducted with the technical staff to discuss regarding the actual quality requirements of the software and the design quality of the prototype. This activity helps in detecting errors in the early phase of SDLC and reduces rework effort in the later phases.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b="1" dirty="0" smtClean="0">
                <a:solidFill>
                  <a:srgbClr val="FF0000"/>
                </a:solidFill>
              </a:rPr>
              <a:t>#5) Having a Multi- Testing Strategy:</a:t>
            </a:r>
            <a:endParaRPr lang="en-US" dirty="0" smtClean="0">
              <a:solidFill>
                <a:srgbClr val="FF0000"/>
              </a:solidFill>
            </a:endParaRPr>
          </a:p>
          <a:p>
            <a:r>
              <a:rPr lang="en-US" dirty="0" smtClean="0"/>
              <a:t>By multi-testing strategy, we mean that one should not rely on any single testing approach, instead, multiple types of testing should be performed so that the software product can be tested well from all angles to ensure better quality.</a:t>
            </a:r>
          </a:p>
          <a:p>
            <a:r>
              <a:rPr lang="en-US" b="1" dirty="0" smtClean="0">
                <a:solidFill>
                  <a:srgbClr val="FF0000"/>
                </a:solidFill>
              </a:rPr>
              <a:t>#6) Enforcing Process Adherence:</a:t>
            </a:r>
            <a:endParaRPr lang="en-US" dirty="0" smtClean="0">
              <a:solidFill>
                <a:srgbClr val="FF0000"/>
              </a:solidFill>
            </a:endParaRPr>
          </a:p>
          <a:p>
            <a:r>
              <a:rPr lang="en-US" dirty="0" smtClean="0"/>
              <a:t>This activity insists the need for process adherence during the software development process. The development process should also stick to the defined procedures.</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85000" lnSpcReduction="20000"/>
          </a:bodyPr>
          <a:lstStyle/>
          <a:p>
            <a:r>
              <a:rPr lang="en-US" b="1" dirty="0" smtClean="0">
                <a:solidFill>
                  <a:srgbClr val="7030A0"/>
                </a:solidFill>
              </a:rPr>
              <a:t>This activity is a blend of two sub-activities which are explained below in detail:</a:t>
            </a:r>
            <a:endParaRPr lang="en-US" dirty="0" smtClean="0">
              <a:solidFill>
                <a:srgbClr val="7030A0"/>
              </a:solidFill>
            </a:endParaRPr>
          </a:p>
          <a:p>
            <a:r>
              <a:rPr lang="en-US" b="1" dirty="0" smtClean="0">
                <a:solidFill>
                  <a:srgbClr val="FF0000"/>
                </a:solidFill>
              </a:rPr>
              <a:t>(</a:t>
            </a:r>
            <a:r>
              <a:rPr lang="en-US" b="1" dirty="0" err="1" smtClean="0">
                <a:solidFill>
                  <a:srgbClr val="FF0000"/>
                </a:solidFill>
              </a:rPr>
              <a:t>i</a:t>
            </a:r>
            <a:r>
              <a:rPr lang="en-US" b="1" dirty="0" smtClean="0">
                <a:solidFill>
                  <a:srgbClr val="FF0000"/>
                </a:solidFill>
              </a:rPr>
              <a:t>) Product Evaluation:</a:t>
            </a:r>
            <a:endParaRPr lang="en-US" dirty="0" smtClean="0">
              <a:solidFill>
                <a:srgbClr val="FF0000"/>
              </a:solidFill>
            </a:endParaRPr>
          </a:p>
          <a:p>
            <a:r>
              <a:rPr lang="en-US" dirty="0" smtClean="0"/>
              <a:t>This activity confirms that the software product is meeting the requirements that were discovered in the project management plan. It ensures that the set standards for the project are followed correctly.</a:t>
            </a:r>
          </a:p>
          <a:p>
            <a:r>
              <a:rPr lang="en-US" b="1" dirty="0" smtClean="0">
                <a:solidFill>
                  <a:srgbClr val="FF0000"/>
                </a:solidFill>
              </a:rPr>
              <a:t>(ii) Process Monitoring:</a:t>
            </a:r>
            <a:endParaRPr lang="en-US" dirty="0" smtClean="0">
              <a:solidFill>
                <a:srgbClr val="FF0000"/>
              </a:solidFill>
            </a:endParaRPr>
          </a:p>
          <a:p>
            <a:r>
              <a:rPr lang="en-US" dirty="0" smtClean="0"/>
              <a:t>This activity verifies if the correct steps were taken during software development. This is done by matching the actually taken steps against the documented steps.</a:t>
            </a:r>
          </a:p>
          <a:p>
            <a:r>
              <a:rPr lang="en-US" b="1" dirty="0" smtClean="0">
                <a:solidFill>
                  <a:srgbClr val="FF0000"/>
                </a:solidFill>
              </a:rPr>
              <a:t>#7) Controlling Change:</a:t>
            </a:r>
            <a:endParaRPr lang="en-US" dirty="0" smtClean="0">
              <a:solidFill>
                <a:srgbClr val="FF0000"/>
              </a:solidFill>
            </a:endParaRPr>
          </a:p>
          <a:p>
            <a:r>
              <a:rPr lang="en-US" dirty="0" smtClean="0"/>
              <a:t>In this activity, we use a mix of manual procedures and automated tools to have a mechanism for change control.</a:t>
            </a:r>
          </a:p>
          <a:p>
            <a:r>
              <a:rPr lang="en-US" dirty="0" smtClean="0"/>
              <a:t>By validating the change requests, evaluating the nature of change and controlling the change effect, it is ensured that the software quality is maintained during the development and maintenance phases.</a:t>
            </a:r>
          </a:p>
          <a:p>
            <a:endParaRPr lang="en-US" dirty="0" smtClean="0"/>
          </a:p>
          <a:p>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FF0000"/>
                </a:solidFill>
              </a:rPr>
              <a:t>#8) Measure Change Impact:</a:t>
            </a:r>
            <a:endParaRPr lang="en-US" dirty="0" smtClean="0">
              <a:solidFill>
                <a:srgbClr val="FF0000"/>
              </a:solidFill>
            </a:endParaRPr>
          </a:p>
          <a:p>
            <a:r>
              <a:rPr lang="en-US" dirty="0" smtClean="0"/>
              <a:t>If any defect is reported by the QA team, then the concerned team fixes the defect.</a:t>
            </a:r>
          </a:p>
          <a:p>
            <a:r>
              <a:rPr lang="en-US" dirty="0" smtClean="0"/>
              <a:t>After this, the QA team should determine the impact of the change which is brought by this defect fix. They need to test not only if the change has fixed the defect, but also if the change is compatible with the whole project.</a:t>
            </a:r>
          </a:p>
          <a:p>
            <a:r>
              <a:rPr lang="en-US" dirty="0" smtClean="0"/>
              <a:t>For this purpose, we use software quality metrics which allows managers and developers to observe the activities and proposed changes from the beginning till the end of SDLC and initiate corrective action wherever required.</a:t>
            </a:r>
          </a:p>
          <a:p>
            <a:r>
              <a:rPr lang="en-US" b="1" dirty="0" smtClean="0">
                <a:solidFill>
                  <a:srgbClr val="FF0000"/>
                </a:solidFill>
              </a:rPr>
              <a:t>#9) Performing SQA Audits:</a:t>
            </a:r>
            <a:endParaRPr lang="en-US" dirty="0" smtClean="0">
              <a:solidFill>
                <a:srgbClr val="FF0000"/>
              </a:solidFill>
            </a:endParaRPr>
          </a:p>
          <a:p>
            <a:r>
              <a:rPr lang="en-US" dirty="0" smtClean="0"/>
              <a:t>The SQA audit inspects the entire actual SDLC process followed by comparing it against the established process.</a:t>
            </a:r>
          </a:p>
          <a:p>
            <a:r>
              <a:rPr lang="en-US" dirty="0" smtClean="0"/>
              <a:t>It also checks whatever reported by the team in the status reports were actually performed or not. This activity also exposes any non-compliance issues.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6"/>
          </a:lnRef>
          <a:fillRef idx="2">
            <a:schemeClr val="accent6"/>
          </a:fillRef>
          <a:effectRef idx="1">
            <a:schemeClr val="accent6"/>
          </a:effectRef>
          <a:fontRef idx="minor">
            <a:schemeClr val="dk1"/>
          </a:fontRef>
        </p:style>
        <p:txBody>
          <a:bodyPr>
            <a:normAutofit/>
          </a:bodyPr>
          <a:lstStyle/>
          <a:p>
            <a:r>
              <a:rPr lang="en-US" b="1" dirty="0" smtClean="0">
                <a:solidFill>
                  <a:srgbClr val="FF0000"/>
                </a:solidFill>
              </a:rPr>
              <a:t>#10) Maintaining Records and Reports:</a:t>
            </a:r>
            <a:endParaRPr lang="en-US" dirty="0" smtClean="0">
              <a:solidFill>
                <a:srgbClr val="FF0000"/>
              </a:solidFill>
            </a:endParaRPr>
          </a:p>
          <a:p>
            <a:r>
              <a:rPr lang="en-US" dirty="0" smtClean="0"/>
              <a:t>It is crucial to keep the necessary documentation related to SQA and share the required SQA information with the stakeholders. The test results, audit results, review reports, change requests documentation, etc. should be kept for future reference.</a:t>
            </a:r>
          </a:p>
          <a:p>
            <a:r>
              <a:rPr lang="en-US" b="1" dirty="0" smtClean="0">
                <a:solidFill>
                  <a:srgbClr val="FF0000"/>
                </a:solidFill>
              </a:rPr>
              <a:t>#11) Manage Good Relations:</a:t>
            </a:r>
            <a:endParaRPr lang="en-US" dirty="0" smtClean="0">
              <a:solidFill>
                <a:srgbClr val="FF0000"/>
              </a:solidFill>
            </a:endParaRPr>
          </a:p>
          <a:p>
            <a:r>
              <a:rPr lang="en-US" dirty="0" smtClean="0"/>
              <a:t>In fact, it is very important to maintain harmony between the QA and the development team.</a:t>
            </a:r>
          </a:p>
          <a:p>
            <a:r>
              <a:rPr lang="en-US" dirty="0" smtClean="0"/>
              <a:t>We often hear that testers and developers often feel superior to each other. This should be avoided as it can affect the overall project quality.</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sz="3900" b="1" dirty="0" smtClean="0">
                <a:solidFill>
                  <a:srgbClr val="FF0000"/>
                </a:solidFill>
              </a:rPr>
              <a:t>Why you should implement QC in software development:-</a:t>
            </a:r>
          </a:p>
          <a:p>
            <a:r>
              <a:rPr lang="en-US" dirty="0" smtClean="0"/>
              <a:t>Quality Control, similarly to Quality Assurance, reduces costs. Customer needs are better satisfied - when you combine QC activities with requirements engineering processes, you get minimal consumer complaints after the software is delivered. </a:t>
            </a:r>
          </a:p>
          <a:p>
            <a:r>
              <a:rPr lang="en-US" b="1" dirty="0" smtClean="0">
                <a:solidFill>
                  <a:srgbClr val="7030A0"/>
                </a:solidFill>
              </a:rPr>
              <a:t>Quality Control reveals common errors so they can be avoided in the future.</a:t>
            </a:r>
            <a:r>
              <a:rPr lang="en-US" dirty="0" smtClean="0">
                <a:solidFill>
                  <a:srgbClr val="7030A0"/>
                </a:solidFill>
              </a:rPr>
              <a:t> </a:t>
            </a:r>
          </a:p>
          <a:p>
            <a:r>
              <a:rPr lang="en-US" dirty="0" smtClean="0"/>
              <a:t>It develops and promotes quality awareness among employees, which is a great help in attaining the required quality level of the product. </a:t>
            </a:r>
          </a:p>
          <a:p>
            <a:r>
              <a:rPr lang="en-US" dirty="0" smtClean="0"/>
              <a:t>Quality Control increases the competitiveness of the company as it delivers better quality software and meets the requirements of the customer. </a:t>
            </a:r>
          </a:p>
        </p:txBody>
      </p:sp>
    </p:spTree>
    <p:extLst>
      <p:ext uri="{BB962C8B-B14F-4D97-AF65-F5344CB8AC3E}">
        <p14:creationId xmlns:p14="http://schemas.microsoft.com/office/powerpoint/2010/main" xmlns="" val="191524766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 y="0"/>
          <a:ext cx="9144001" cy="7574280"/>
        </p:xfrm>
        <a:graphic>
          <a:graphicData uri="http://schemas.openxmlformats.org/drawingml/2006/table">
            <a:tbl>
              <a:tblPr firstRow="1" bandRow="1">
                <a:tableStyleId>{5C22544A-7EE6-4342-B048-85BDC9FD1C3A}</a:tableStyleId>
              </a:tblPr>
              <a:tblGrid>
                <a:gridCol w="1371601"/>
                <a:gridCol w="3962400"/>
                <a:gridCol w="3810000"/>
              </a:tblGrid>
              <a:tr h="370840">
                <a:tc>
                  <a:txBody>
                    <a:bodyPr/>
                    <a:lstStyle/>
                    <a:p>
                      <a:pPr algn="l" fontAlgn="t"/>
                      <a:r>
                        <a:rPr lang="en-US" dirty="0">
                          <a:solidFill>
                            <a:srgbClr val="000000"/>
                          </a:solidFill>
                          <a:latin typeface="times new roman"/>
                        </a:rPr>
                        <a:t>Points</a:t>
                      </a:r>
                    </a:p>
                  </a:txBody>
                  <a:tcPr marL="114300" marR="114300" marT="114300" marB="114300"/>
                </a:tc>
                <a:tc>
                  <a:txBody>
                    <a:bodyPr/>
                    <a:lstStyle/>
                    <a:p>
                      <a:pPr algn="l" fontAlgn="t"/>
                      <a:r>
                        <a:rPr lang="en-US">
                          <a:solidFill>
                            <a:srgbClr val="000000"/>
                          </a:solidFill>
                          <a:latin typeface="times new roman"/>
                        </a:rPr>
                        <a:t>Quality Assurance</a:t>
                      </a:r>
                    </a:p>
                  </a:txBody>
                  <a:tcPr marL="114300" marR="114300" marT="114300" marB="114300"/>
                </a:tc>
                <a:tc>
                  <a:txBody>
                    <a:bodyPr/>
                    <a:lstStyle/>
                    <a:p>
                      <a:pPr algn="l" fontAlgn="t"/>
                      <a:r>
                        <a:rPr lang="en-US">
                          <a:solidFill>
                            <a:srgbClr val="000000"/>
                          </a:solidFill>
                          <a:latin typeface="times new roman"/>
                        </a:rPr>
                        <a:t>Quality Control</a:t>
                      </a:r>
                    </a:p>
                  </a:txBody>
                  <a:tcPr marL="114300" marR="114300" marT="114300" marB="114300"/>
                </a:tc>
              </a:tr>
              <a:tr h="370840">
                <a:tc>
                  <a:txBody>
                    <a:bodyPr/>
                    <a:lstStyle/>
                    <a:p>
                      <a:pPr algn="just" fontAlgn="t"/>
                      <a:r>
                        <a:rPr lang="en-US" sz="1600" b="1" dirty="0">
                          <a:solidFill>
                            <a:srgbClr val="333333"/>
                          </a:solidFill>
                          <a:latin typeface="inter-bold"/>
                        </a:rPr>
                        <a:t>Definition</a:t>
                      </a:r>
                      <a:endParaRPr lang="en-US" sz="1600" dirty="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QA is a group of activities which ensures that the quality of processes which is used during the development of the software always be maintained.</a:t>
                      </a:r>
                    </a:p>
                  </a:txBody>
                  <a:tcPr marL="76200" marR="76200" marT="76200" marB="76200"/>
                </a:tc>
                <a:tc>
                  <a:txBody>
                    <a:bodyPr/>
                    <a:lstStyle/>
                    <a:p>
                      <a:pPr algn="just" fontAlgn="t"/>
                      <a:r>
                        <a:rPr lang="en-US" sz="1600">
                          <a:solidFill>
                            <a:srgbClr val="333333"/>
                          </a:solidFill>
                          <a:latin typeface="inter-regular"/>
                        </a:rPr>
                        <a:t>QC is a group of activities to detect the defects in the developed software.</a:t>
                      </a:r>
                    </a:p>
                  </a:txBody>
                  <a:tcPr marL="76200" marR="76200" marT="76200" marB="76200"/>
                </a:tc>
              </a:tr>
              <a:tr h="370840">
                <a:tc>
                  <a:txBody>
                    <a:bodyPr/>
                    <a:lstStyle/>
                    <a:p>
                      <a:pPr algn="just" fontAlgn="t"/>
                      <a:r>
                        <a:rPr lang="en-US" sz="1600" b="1" dirty="0">
                          <a:solidFill>
                            <a:srgbClr val="333333"/>
                          </a:solidFill>
                          <a:latin typeface="inter-bold"/>
                        </a:rPr>
                        <a:t>Focus</a:t>
                      </a:r>
                      <a:endParaRPr lang="en-US" sz="1600" dirty="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The focus of QA is to </a:t>
                      </a:r>
                      <a:r>
                        <a:rPr lang="en-US" sz="1600" b="1" dirty="0">
                          <a:solidFill>
                            <a:srgbClr val="333333"/>
                          </a:solidFill>
                          <a:latin typeface="inter-bold"/>
                        </a:rPr>
                        <a:t>prevent defects</a:t>
                      </a:r>
                      <a:r>
                        <a:rPr lang="en-US" sz="1600" dirty="0">
                          <a:solidFill>
                            <a:srgbClr val="333333"/>
                          </a:solidFill>
                          <a:latin typeface="inter-regular"/>
                        </a:rPr>
                        <a:t> in the developing software by paying attention to processes.</a:t>
                      </a:r>
                    </a:p>
                  </a:txBody>
                  <a:tcPr marL="76200" marR="76200" marT="76200" marB="76200"/>
                </a:tc>
                <a:tc>
                  <a:txBody>
                    <a:bodyPr/>
                    <a:lstStyle/>
                    <a:p>
                      <a:pPr algn="just" fontAlgn="t"/>
                      <a:r>
                        <a:rPr lang="en-US" sz="1600">
                          <a:solidFill>
                            <a:srgbClr val="333333"/>
                          </a:solidFill>
                          <a:latin typeface="inter-regular"/>
                        </a:rPr>
                        <a:t>The focus of QC is to </a:t>
                      </a:r>
                      <a:r>
                        <a:rPr lang="en-US" sz="1600" b="1">
                          <a:solidFill>
                            <a:srgbClr val="333333"/>
                          </a:solidFill>
                          <a:latin typeface="inter-bold"/>
                        </a:rPr>
                        <a:t>identify defects</a:t>
                      </a:r>
                      <a:r>
                        <a:rPr lang="en-US" sz="1600">
                          <a:solidFill>
                            <a:srgbClr val="333333"/>
                          </a:solidFill>
                          <a:latin typeface="inter-regular"/>
                        </a:rPr>
                        <a:t> in the developed software by paying attention to testing processes.</a:t>
                      </a:r>
                    </a:p>
                  </a:txBody>
                  <a:tcPr marL="76200" marR="76200" marT="76200" marB="76200"/>
                </a:tc>
              </a:tr>
              <a:tr h="370840">
                <a:tc>
                  <a:txBody>
                    <a:bodyPr/>
                    <a:lstStyle/>
                    <a:p>
                      <a:pPr algn="just" fontAlgn="t"/>
                      <a:r>
                        <a:rPr lang="en-US" sz="1600" b="1">
                          <a:solidFill>
                            <a:srgbClr val="333333"/>
                          </a:solidFill>
                          <a:latin typeface="inter-bold"/>
                        </a:rPr>
                        <a:t>How</a:t>
                      </a:r>
                      <a:endParaRPr lang="en-US" sz="160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Establishment of the high-quality management system and periodic audits for conformance of the operations of the developing software.</a:t>
                      </a:r>
                    </a:p>
                  </a:txBody>
                  <a:tcPr marL="76200" marR="76200" marT="76200" marB="76200"/>
                </a:tc>
                <a:tc>
                  <a:txBody>
                    <a:bodyPr/>
                    <a:lstStyle/>
                    <a:p>
                      <a:pPr algn="just" fontAlgn="t"/>
                      <a:r>
                        <a:rPr lang="en-US" sz="1600" dirty="0">
                          <a:solidFill>
                            <a:srgbClr val="333333"/>
                          </a:solidFill>
                          <a:latin typeface="inter-regular"/>
                        </a:rPr>
                        <a:t>Detecting and eliminating the quality problem elements by using testing techniques and tools in the developed software.</a:t>
                      </a:r>
                    </a:p>
                  </a:txBody>
                  <a:tcPr marL="76200" marR="76200" marT="76200" marB="76200"/>
                </a:tc>
              </a:tr>
              <a:tr h="370840">
                <a:tc>
                  <a:txBody>
                    <a:bodyPr/>
                    <a:lstStyle/>
                    <a:p>
                      <a:pPr algn="just" fontAlgn="t"/>
                      <a:r>
                        <a:rPr lang="en-US" sz="1600" b="1" dirty="0">
                          <a:solidFill>
                            <a:srgbClr val="333333"/>
                          </a:solidFill>
                          <a:latin typeface="inter-bold"/>
                        </a:rPr>
                        <a:t>What</a:t>
                      </a:r>
                      <a:endParaRPr lang="en-US" sz="1600" dirty="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QA ensures prevention of quality problem elements by using systematic activities including documentation.</a:t>
                      </a:r>
                    </a:p>
                  </a:txBody>
                  <a:tcPr marL="76200" marR="76200" marT="76200" marB="76200"/>
                </a:tc>
                <a:tc>
                  <a:txBody>
                    <a:bodyPr/>
                    <a:lstStyle/>
                    <a:p>
                      <a:pPr algn="just" fontAlgn="t"/>
                      <a:r>
                        <a:rPr lang="en-US" sz="1600" dirty="0">
                          <a:solidFill>
                            <a:srgbClr val="333333"/>
                          </a:solidFill>
                          <a:latin typeface="inter-regular"/>
                        </a:rPr>
                        <a:t>QC ensures identification and elimination of defects by using processes and techniques to achieve and maintain high quality of the software.</a:t>
                      </a:r>
                    </a:p>
                  </a:txBody>
                  <a:tcPr marL="76200" marR="76200" marT="76200" marB="76200"/>
                </a:tc>
              </a:tr>
              <a:tr h="370840">
                <a:tc>
                  <a:txBody>
                    <a:bodyPr/>
                    <a:lstStyle/>
                    <a:p>
                      <a:pPr algn="just" fontAlgn="t"/>
                      <a:r>
                        <a:rPr lang="en-US" sz="1600" b="1">
                          <a:solidFill>
                            <a:srgbClr val="333333"/>
                          </a:solidFill>
                          <a:latin typeface="inter-bold"/>
                        </a:rPr>
                        <a:t>Orientation</a:t>
                      </a:r>
                      <a:endParaRPr lang="en-US" sz="160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QA is </a:t>
                      </a:r>
                      <a:r>
                        <a:rPr lang="en-US" sz="1600" b="1" dirty="0">
                          <a:solidFill>
                            <a:srgbClr val="333333"/>
                          </a:solidFill>
                          <a:latin typeface="inter-bold"/>
                        </a:rPr>
                        <a:t>process oriented</a:t>
                      </a:r>
                      <a:r>
                        <a:rPr lang="en-US" sz="1600" dirty="0">
                          <a:solidFill>
                            <a:srgbClr val="333333"/>
                          </a:solidFill>
                          <a:latin typeface="inter-regular"/>
                        </a:rPr>
                        <a:t>.</a:t>
                      </a:r>
                    </a:p>
                  </a:txBody>
                  <a:tcPr marL="76200" marR="76200" marT="76200" marB="76200"/>
                </a:tc>
                <a:tc>
                  <a:txBody>
                    <a:bodyPr/>
                    <a:lstStyle/>
                    <a:p>
                      <a:pPr algn="just" fontAlgn="t"/>
                      <a:r>
                        <a:rPr lang="en-US" sz="1600" dirty="0">
                          <a:solidFill>
                            <a:srgbClr val="333333"/>
                          </a:solidFill>
                          <a:latin typeface="inter-regular"/>
                        </a:rPr>
                        <a:t>QC is </a:t>
                      </a:r>
                      <a:r>
                        <a:rPr lang="en-US" sz="1600" b="1" dirty="0">
                          <a:solidFill>
                            <a:srgbClr val="333333"/>
                          </a:solidFill>
                          <a:latin typeface="inter-bold"/>
                        </a:rPr>
                        <a:t>product oriented</a:t>
                      </a:r>
                      <a:r>
                        <a:rPr lang="en-US" sz="1600" dirty="0">
                          <a:solidFill>
                            <a:srgbClr val="333333"/>
                          </a:solidFill>
                          <a:latin typeface="inter-regular"/>
                        </a:rPr>
                        <a:t>.</a:t>
                      </a:r>
                    </a:p>
                  </a:txBody>
                  <a:tcPr marL="76200" marR="76200" marT="76200" marB="76200"/>
                </a:tc>
              </a:tr>
              <a:tr h="370840">
                <a:tc>
                  <a:txBody>
                    <a:bodyPr/>
                    <a:lstStyle/>
                    <a:p>
                      <a:pPr algn="just" fontAlgn="t"/>
                      <a:r>
                        <a:rPr lang="en-US" sz="1600" b="1" dirty="0">
                          <a:solidFill>
                            <a:srgbClr val="333333"/>
                          </a:solidFill>
                          <a:latin typeface="inter-bold"/>
                        </a:rPr>
                        <a:t>Type of process</a:t>
                      </a:r>
                      <a:endParaRPr lang="en-US" sz="1600" dirty="0">
                        <a:solidFill>
                          <a:srgbClr val="333333"/>
                        </a:solidFill>
                        <a:latin typeface="inter-regular"/>
                      </a:endParaRPr>
                    </a:p>
                  </a:txBody>
                  <a:tcPr marL="76200" marR="76200" marT="76200" marB="76200"/>
                </a:tc>
                <a:tc>
                  <a:txBody>
                    <a:bodyPr/>
                    <a:lstStyle/>
                    <a:p>
                      <a:pPr algn="just" fontAlgn="t"/>
                      <a:r>
                        <a:rPr lang="en-US" sz="1600" dirty="0">
                          <a:solidFill>
                            <a:srgbClr val="333333"/>
                          </a:solidFill>
                          <a:latin typeface="inter-regular"/>
                        </a:rPr>
                        <a:t>QA is a proactive process. It concerns to improve development so; defects do not arise in the testing period.</a:t>
                      </a:r>
                    </a:p>
                  </a:txBody>
                  <a:tcPr marL="76200" marR="76200" marT="76200" marB="76200"/>
                </a:tc>
                <a:tc>
                  <a:txBody>
                    <a:bodyPr/>
                    <a:lstStyle/>
                    <a:p>
                      <a:pPr algn="just" fontAlgn="t"/>
                      <a:r>
                        <a:rPr lang="en-US" sz="1600" dirty="0">
                          <a:solidFill>
                            <a:srgbClr val="333333"/>
                          </a:solidFill>
                          <a:latin typeface="inter-regular"/>
                        </a:rPr>
                        <a:t>QC is a reactive process because it concerns to identify defects after the development of product and before its release.</a:t>
                      </a:r>
                    </a:p>
                  </a:txBody>
                  <a:tcPr marL="76200" marR="76200" marT="76200" marB="76200"/>
                </a:tc>
              </a:tr>
              <a:tr h="370840">
                <a:tc>
                  <a:txBody>
                    <a:bodyPr/>
                    <a:lstStyle/>
                    <a:p>
                      <a:pPr algn="just" fontAlgn="t"/>
                      <a:r>
                        <a:rPr lang="en-US" sz="1600" b="1">
                          <a:solidFill>
                            <a:srgbClr val="333333"/>
                          </a:solidFill>
                          <a:latin typeface="inter-bold"/>
                        </a:rPr>
                        <a:t>Responsibility</a:t>
                      </a:r>
                      <a:endParaRPr lang="en-US" sz="1600">
                        <a:solidFill>
                          <a:srgbClr val="333333"/>
                        </a:solidFill>
                        <a:latin typeface="inter-regular"/>
                      </a:endParaRPr>
                    </a:p>
                  </a:txBody>
                  <a:tcPr marL="76200" marR="76200" marT="76200" marB="76200"/>
                </a:tc>
                <a:tc>
                  <a:txBody>
                    <a:bodyPr/>
                    <a:lstStyle/>
                    <a:p>
                      <a:pPr algn="just" fontAlgn="t"/>
                      <a:r>
                        <a:rPr lang="en-US" sz="1600">
                          <a:solidFill>
                            <a:srgbClr val="333333"/>
                          </a:solidFill>
                          <a:latin typeface="inter-regular"/>
                        </a:rPr>
                        <a:t>Each and every member of the development team is responsible for QA</a:t>
                      </a:r>
                    </a:p>
                  </a:txBody>
                  <a:tcPr marL="76200" marR="76200" marT="76200" marB="76200"/>
                </a:tc>
                <a:tc>
                  <a:txBody>
                    <a:bodyPr/>
                    <a:lstStyle/>
                    <a:p>
                      <a:pPr algn="just" fontAlgn="t"/>
                      <a:r>
                        <a:rPr lang="en-US" sz="1600" dirty="0">
                          <a:solidFill>
                            <a:srgbClr val="333333"/>
                          </a:solidFill>
                          <a:latin typeface="inter-regular"/>
                        </a:rPr>
                        <a:t>Only the specific testing team is responsible for QC</a:t>
                      </a:r>
                    </a:p>
                  </a:txBody>
                  <a:tcPr marL="76200" marR="76200" marT="76200" marB="76200"/>
                </a:tc>
              </a:tr>
              <a:tr h="370840">
                <a:tc>
                  <a:txBody>
                    <a:bodyPr/>
                    <a:lstStyle/>
                    <a:p>
                      <a:pPr algn="just" fontAlgn="t"/>
                      <a:r>
                        <a:rPr lang="en-US" sz="1600" b="1">
                          <a:solidFill>
                            <a:srgbClr val="333333"/>
                          </a:solidFill>
                          <a:latin typeface="inter-bold"/>
                        </a:rPr>
                        <a:t>Example</a:t>
                      </a:r>
                      <a:endParaRPr lang="en-US" sz="1600">
                        <a:solidFill>
                          <a:srgbClr val="333333"/>
                        </a:solidFill>
                        <a:latin typeface="inter-regular"/>
                      </a:endParaRPr>
                    </a:p>
                  </a:txBody>
                  <a:tcPr marL="76200" marR="76200" marT="76200" marB="76200"/>
                </a:tc>
                <a:tc>
                  <a:txBody>
                    <a:bodyPr/>
                    <a:lstStyle/>
                    <a:p>
                      <a:pPr algn="just" fontAlgn="t"/>
                      <a:r>
                        <a:rPr lang="en-US" sz="1600">
                          <a:solidFill>
                            <a:srgbClr val="333333"/>
                          </a:solidFill>
                          <a:latin typeface="inter-regular"/>
                        </a:rPr>
                        <a:t>Verification is the example of QA</a:t>
                      </a:r>
                    </a:p>
                  </a:txBody>
                  <a:tcPr marL="76200" marR="76200" marT="76200" marB="76200"/>
                </a:tc>
                <a:tc>
                  <a:txBody>
                    <a:bodyPr/>
                    <a:lstStyle/>
                    <a:p>
                      <a:pPr algn="just" fontAlgn="t"/>
                      <a:r>
                        <a:rPr lang="en-US" sz="1600" dirty="0">
                          <a:solidFill>
                            <a:srgbClr val="333333"/>
                          </a:solidFill>
                          <a:latin typeface="inter-regular"/>
                        </a:rPr>
                        <a:t>Validation is the example of QC</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pPr algn="ctr"/>
            <a:r>
              <a:rPr lang="en-US" sz="4000" b="1" dirty="0" smtClean="0">
                <a:solidFill>
                  <a:srgbClr val="FF0000"/>
                </a:solidFill>
              </a:rPr>
              <a:t>Quality Improvement</a:t>
            </a:r>
          </a:p>
          <a:p>
            <a:pPr algn="ctr"/>
            <a:r>
              <a:rPr lang="en-US" b="1" dirty="0" smtClean="0">
                <a:solidFill>
                  <a:srgbClr val="FF0000"/>
                </a:solidFill>
              </a:rPr>
              <a:t>What Is Quality Improvement?</a:t>
            </a:r>
          </a:p>
          <a:p>
            <a:pPr lvl="0"/>
            <a:r>
              <a:rPr lang="en-US" dirty="0" smtClean="0">
                <a:solidFill>
                  <a:srgbClr val="FF0000"/>
                </a:solidFill>
              </a:rPr>
              <a:t>Q</a:t>
            </a:r>
            <a:r>
              <a:rPr lang="en-US" i="1" dirty="0" smtClean="0"/>
              <a:t>uality improvement</a:t>
            </a:r>
            <a:r>
              <a:rPr lang="en-US" dirty="0" smtClean="0"/>
              <a:t> is a structured approach to evaluating the performance of systems and processes, then determining needed improvements in both functional and operational areas. Successful efforts rely on the routine collection and analysis of data.</a:t>
            </a:r>
          </a:p>
          <a:p>
            <a:r>
              <a:rPr lang="en-US" dirty="0" smtClean="0">
                <a:solidFill>
                  <a:srgbClr val="FF0000"/>
                </a:solidFill>
              </a:rPr>
              <a:t>Basics of Quality Improvement:- </a:t>
            </a:r>
          </a:p>
          <a:p>
            <a:r>
              <a:rPr lang="en-US" dirty="0" smtClean="0"/>
              <a:t>Quality improvement (QI) is a systematic, formal approach to the analysis of practice performance and efforts to improve performance.</a:t>
            </a:r>
          </a:p>
          <a:p>
            <a:r>
              <a:rPr lang="en-US" dirty="0" smtClean="0"/>
              <a:t>A variety of approaches—or QI models—exist to help you collect and analyze data and test change. </a:t>
            </a:r>
          </a:p>
          <a:p>
            <a:r>
              <a:rPr lang="en-US" dirty="0" smtClean="0"/>
              <a:t>While it’s important to choose a reputable QI model to guide your efforts, it’s more important that you fully commit to using the QI process and good QI practices.</a:t>
            </a:r>
          </a:p>
          <a:p>
            <a:pPr lvl="0"/>
            <a:endParaRPr lang="en-IN" dirty="0">
              <a:solidFill>
                <a:srgbClr val="FF0000"/>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r>
              <a:rPr lang="en-US" sz="3600" dirty="0" smtClean="0">
                <a:solidFill>
                  <a:srgbClr val="FF0000"/>
                </a:solidFill>
              </a:rPr>
              <a:t>What are the steps in the quality improvement process?</a:t>
            </a:r>
          </a:p>
          <a:p>
            <a:r>
              <a:rPr lang="en-US" b="1" dirty="0" smtClean="0">
                <a:solidFill>
                  <a:srgbClr val="FF0000"/>
                </a:solidFill>
              </a:rPr>
              <a:t>9 steps used in quality improvement</a:t>
            </a:r>
            <a:r>
              <a:rPr lang="en-US" dirty="0" smtClean="0">
                <a:solidFill>
                  <a:srgbClr val="FF0000"/>
                </a:solidFill>
              </a:rPr>
              <a:t> process?</a:t>
            </a:r>
            <a:endParaRPr lang="en-US" dirty="0" smtClean="0"/>
          </a:p>
          <a:p>
            <a:r>
              <a:rPr lang="en-US" dirty="0" smtClean="0"/>
              <a:t>List and prioritize improvement opportunities. </a:t>
            </a:r>
          </a:p>
          <a:p>
            <a:r>
              <a:rPr lang="en-US" dirty="0" smtClean="0"/>
              <a:t>Define the improvement objectives. </a:t>
            </a:r>
          </a:p>
          <a:p>
            <a:r>
              <a:rPr lang="en-US" dirty="0" smtClean="0"/>
              <a:t>Define the requirements. </a:t>
            </a:r>
          </a:p>
          <a:p>
            <a:r>
              <a:rPr lang="en-US" dirty="0" smtClean="0"/>
              <a:t>Collect and organize data. </a:t>
            </a:r>
          </a:p>
          <a:p>
            <a:r>
              <a:rPr lang="en-US" dirty="0" smtClean="0"/>
              <a:t>Select the root cause. </a:t>
            </a:r>
          </a:p>
          <a:p>
            <a:r>
              <a:rPr lang="en-US" dirty="0" smtClean="0"/>
              <a:t>Generate potential solutions. </a:t>
            </a:r>
          </a:p>
          <a:p>
            <a:r>
              <a:rPr lang="en-US" dirty="0" smtClean="0"/>
              <a:t>Select the best solution. </a:t>
            </a:r>
          </a:p>
          <a:p>
            <a:r>
              <a:rPr lang="en-US" dirty="0" smtClean="0"/>
              <a:t>Implement the solution and evaluate the result.</a:t>
            </a:r>
          </a:p>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10000"/>
          </a:bodyPr>
          <a:lstStyle/>
          <a:p>
            <a:r>
              <a:rPr lang="en-US" sz="3900" b="1" u="sng" dirty="0" smtClean="0">
                <a:solidFill>
                  <a:srgbClr val="FF0000"/>
                </a:solidFill>
                <a:latin typeface="Aparajita" pitchFamily="34" charset="0"/>
                <a:cs typeface="Aparajita" pitchFamily="34" charset="0"/>
              </a:rPr>
              <a:t>Evolution of Software Quality Assurance (SQA):</a:t>
            </a:r>
          </a:p>
          <a:p>
            <a:pPr algn="ctr"/>
            <a:r>
              <a:rPr lang="en-US" dirty="0" smtClean="0">
                <a:solidFill>
                  <a:srgbClr val="FF0000"/>
                </a:solidFill>
              </a:rPr>
              <a:t>What is meant by software quality assurance?</a:t>
            </a:r>
          </a:p>
          <a:p>
            <a:r>
              <a:rPr lang="en-US" dirty="0" smtClean="0"/>
              <a:t>Software quality assurance (SQA) is </a:t>
            </a:r>
            <a:r>
              <a:rPr lang="en-US" b="1" dirty="0" smtClean="0"/>
              <a:t>a means and practice of monitoring the software engineering processes and methods used in a project to ensure proper quality of the software</a:t>
            </a:r>
            <a:r>
              <a:rPr lang="en-US" dirty="0" smtClean="0"/>
              <a:t>.</a:t>
            </a:r>
          </a:p>
          <a:p>
            <a:r>
              <a:rPr lang="en-US" dirty="0" smtClean="0"/>
              <a:t> It may include ensuring conformance to standards or models, such as </a:t>
            </a:r>
            <a:r>
              <a:rPr lang="en-US" dirty="0" smtClean="0">
                <a:hlinkClick r:id="rId2" tooltip="ISO/IEC 9126"/>
              </a:rPr>
              <a:t>ISO/IEC 9126</a:t>
            </a:r>
            <a:r>
              <a:rPr lang="en-US" dirty="0" smtClean="0"/>
              <a:t> (now superseded by ISO 25010), </a:t>
            </a:r>
            <a:r>
              <a:rPr lang="en-US" dirty="0" smtClean="0">
                <a:hlinkClick r:id="rId3" tooltip="Software Process Improvement and Capability dEtermination"/>
              </a:rPr>
              <a:t>SPICE</a:t>
            </a:r>
            <a:r>
              <a:rPr lang="en-US" dirty="0" smtClean="0"/>
              <a:t> or </a:t>
            </a:r>
            <a:r>
              <a:rPr lang="en-US" dirty="0" smtClean="0">
                <a:hlinkClick r:id="rId4" tooltip="CMMI"/>
              </a:rPr>
              <a:t>CMMI</a:t>
            </a:r>
            <a:r>
              <a:rPr lang="en-US" dirty="0" smtClean="0"/>
              <a:t>.</a:t>
            </a:r>
            <a:endParaRPr lang="en-US" baseline="30000" dirty="0" smtClean="0"/>
          </a:p>
          <a:p>
            <a:r>
              <a:rPr lang="en-US" dirty="0" smtClean="0"/>
              <a:t>It includes standards and procedures that managers, administrators or even developers may use to review and audit software products and activities to verify that the software meets quality criteria which link to standards.</a:t>
            </a: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lvl="0"/>
            <a:r>
              <a:rPr lang="en-US" dirty="0" smtClean="0">
                <a:solidFill>
                  <a:srgbClr val="FF0000"/>
                </a:solidFill>
              </a:rPr>
              <a:t>SQA encompasses the entire software development process, </a:t>
            </a:r>
            <a:r>
              <a:rPr lang="en-US" sz="2800" dirty="0" smtClean="0"/>
              <a:t>including </a:t>
            </a:r>
          </a:p>
          <a:p>
            <a:pPr lvl="0"/>
            <a:r>
              <a:rPr lang="en-US" sz="2800" dirty="0" smtClean="0">
                <a:hlinkClick r:id="rId2" tooltip="Requirements engineering"/>
              </a:rPr>
              <a:t>requirements engineering</a:t>
            </a:r>
            <a:r>
              <a:rPr lang="en-US" sz="2800" dirty="0" smtClean="0"/>
              <a:t>,</a:t>
            </a:r>
          </a:p>
          <a:p>
            <a:pPr lvl="0"/>
            <a:r>
              <a:rPr lang="en-US" sz="2800" dirty="0" smtClean="0"/>
              <a:t> </a:t>
            </a:r>
            <a:r>
              <a:rPr lang="en-US" sz="2800" dirty="0" smtClean="0">
                <a:hlinkClick r:id="rId3" tooltip="Software design"/>
              </a:rPr>
              <a:t>software design</a:t>
            </a:r>
            <a:r>
              <a:rPr lang="en-US" sz="2800" dirty="0" smtClean="0"/>
              <a:t>, </a:t>
            </a:r>
          </a:p>
          <a:p>
            <a:pPr lvl="0"/>
            <a:r>
              <a:rPr lang="en-US" sz="2800" dirty="0" smtClean="0">
                <a:hlinkClick r:id="rId4" tooltip="Computer programming"/>
              </a:rPr>
              <a:t>coding</a:t>
            </a:r>
            <a:r>
              <a:rPr lang="en-US" sz="2800" dirty="0" smtClean="0"/>
              <a:t>, </a:t>
            </a:r>
          </a:p>
          <a:p>
            <a:pPr lvl="0"/>
            <a:r>
              <a:rPr lang="en-US" sz="2800" dirty="0" smtClean="0">
                <a:hlinkClick r:id="rId5" tooltip="Code review"/>
              </a:rPr>
              <a:t>code reviews</a:t>
            </a:r>
            <a:r>
              <a:rPr lang="en-US" sz="2800" dirty="0" smtClean="0"/>
              <a:t>, </a:t>
            </a:r>
          </a:p>
          <a:p>
            <a:pPr lvl="0"/>
            <a:r>
              <a:rPr lang="en-US" sz="2800" dirty="0" smtClean="0">
                <a:hlinkClick r:id="rId6" tooltip="Revision control"/>
              </a:rPr>
              <a:t>source code control</a:t>
            </a:r>
            <a:r>
              <a:rPr lang="en-US" sz="2800" dirty="0" smtClean="0"/>
              <a:t>, </a:t>
            </a:r>
          </a:p>
          <a:p>
            <a:pPr lvl="0"/>
            <a:r>
              <a:rPr lang="en-US" sz="2800" dirty="0" smtClean="0">
                <a:hlinkClick r:id="rId7" tooltip="Software configuration management"/>
              </a:rPr>
              <a:t>software configuration management</a:t>
            </a:r>
            <a:r>
              <a:rPr lang="en-US" sz="2800" dirty="0" smtClean="0"/>
              <a:t>, </a:t>
            </a:r>
          </a:p>
          <a:p>
            <a:pPr lvl="0"/>
            <a:r>
              <a:rPr lang="en-US" sz="2800" dirty="0" smtClean="0">
                <a:hlinkClick r:id="rId8" tooltip="Software testing"/>
              </a:rPr>
              <a:t>testing</a:t>
            </a:r>
            <a:r>
              <a:rPr lang="en-US" sz="2800" dirty="0" smtClean="0"/>
              <a:t>, </a:t>
            </a:r>
          </a:p>
          <a:p>
            <a:pPr lvl="0"/>
            <a:r>
              <a:rPr lang="en-US" sz="2800" dirty="0" smtClean="0">
                <a:hlinkClick r:id="rId9" tooltip="Release management"/>
              </a:rPr>
              <a:t>release management</a:t>
            </a:r>
            <a:r>
              <a:rPr lang="en-US" sz="2800" dirty="0" smtClean="0"/>
              <a:t> and </a:t>
            </a:r>
          </a:p>
          <a:p>
            <a:pPr lvl="0"/>
            <a:r>
              <a:rPr lang="en-US" sz="2800" dirty="0" smtClean="0">
                <a:hlinkClick r:id="rId10" tooltip="Software integration"/>
              </a:rPr>
              <a:t>software integration</a:t>
            </a:r>
            <a:r>
              <a:rPr lang="en-US" sz="2800" dirty="0" smtClean="0"/>
              <a:t>. </a:t>
            </a:r>
          </a:p>
          <a:p>
            <a:pPr lvl="0"/>
            <a:r>
              <a:rPr lang="en-US" sz="2800" dirty="0" smtClean="0"/>
              <a:t>It is organized into goals, commitments, abilities, activities, measurements, </a:t>
            </a:r>
            <a:r>
              <a:rPr lang="en-US" sz="2800" u="sng" dirty="0" smtClean="0">
                <a:hlinkClick r:id="rId11"/>
              </a:rPr>
              <a:t>verification and validation</a:t>
            </a:r>
            <a:r>
              <a:rPr lang="en-US" sz="2800" dirty="0" smtClean="0"/>
              <a:t>.</a:t>
            </a:r>
            <a:endParaRPr lang="en-IN" sz="2800" b="1"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sz="4200" b="1" dirty="0" smtClean="0">
                <a:solidFill>
                  <a:srgbClr val="FF0000"/>
                </a:solidFill>
              </a:rPr>
              <a:t>The Evolution of Software QA</a:t>
            </a:r>
          </a:p>
          <a:p>
            <a:endParaRPr lang="en-IN" b="1" dirty="0" smtClean="0"/>
          </a:p>
          <a:p>
            <a:endParaRPr lang="en-IN" b="1" dirty="0" smtClean="0"/>
          </a:p>
          <a:p>
            <a:endParaRPr lang="en-IN" b="1" dirty="0" smtClean="0"/>
          </a:p>
          <a:p>
            <a:endParaRPr lang="en-IN" b="1" dirty="0" smtClean="0"/>
          </a:p>
          <a:p>
            <a:endParaRPr lang="en-IN" b="1" dirty="0" smtClean="0"/>
          </a:p>
          <a:p>
            <a:r>
              <a:rPr lang="en-US" b="1" dirty="0" smtClean="0">
                <a:solidFill>
                  <a:srgbClr val="FF0000"/>
                </a:solidFill>
              </a:rPr>
              <a:t>1960’s   “Code and Ship”:-</a:t>
            </a:r>
            <a:r>
              <a:rPr lang="en-US" dirty="0" smtClean="0"/>
              <a:t> Software began to find its way into systems procured by the US Dept. of Defense (</a:t>
            </a:r>
            <a:r>
              <a:rPr lang="en-US" dirty="0" err="1" smtClean="0"/>
              <a:t>DoD</a:t>
            </a:r>
            <a:r>
              <a:rPr lang="en-US" dirty="0" smtClean="0"/>
              <a:t>).  These projects were consistently behind schedule, over budget, and had many technical problems.</a:t>
            </a:r>
          </a:p>
          <a:p>
            <a:r>
              <a:rPr lang="en-US" dirty="0" smtClean="0"/>
              <a:t>Frequently, software never worked as intended and many projects were cancelled before anything was delivered. </a:t>
            </a:r>
          </a:p>
          <a:p>
            <a:endParaRPr lang="en-US" b="1" dirty="0" smtClean="0">
              <a:solidFill>
                <a:srgbClr val="FF0000"/>
              </a:solidFill>
            </a:endParaRPr>
          </a:p>
          <a:p>
            <a:endParaRPr lang="en-US" b="1" dirty="0" smtClean="0"/>
          </a:p>
          <a:p>
            <a:endParaRPr lang="en-IN" b="1" dirty="0"/>
          </a:p>
        </p:txBody>
      </p:sp>
      <p:pic>
        <p:nvPicPr>
          <p:cNvPr id="66561" name="Picture 1"/>
          <p:cNvPicPr>
            <a:picLocks noChangeAspect="1" noChangeArrowheads="1"/>
          </p:cNvPicPr>
          <p:nvPr/>
        </p:nvPicPr>
        <p:blipFill>
          <a:blip r:embed="rId2"/>
          <a:srcRect/>
          <a:stretch>
            <a:fillRect/>
          </a:stretch>
        </p:blipFill>
        <p:spPr bwMode="auto">
          <a:xfrm>
            <a:off x="0" y="685799"/>
            <a:ext cx="9144000" cy="2209801"/>
          </a:xfrm>
          <a:prstGeom prst="rect">
            <a:avLst/>
          </a:prstGeom>
          <a:noFill/>
          <a:ln w="9525">
            <a:noFill/>
            <a:miter lim="800000"/>
            <a:headEnd/>
            <a:tailEnd/>
          </a:ln>
          <a:effectLst/>
        </p:spPr>
      </p:pic>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t>The </a:t>
            </a:r>
            <a:r>
              <a:rPr lang="en-US" dirty="0" err="1" smtClean="0"/>
              <a:t>DoD</a:t>
            </a:r>
            <a:r>
              <a:rPr lang="en-US" dirty="0" smtClean="0"/>
              <a:t> was frequently unaware of schedule, budget, and technical problems until late into the program – when they were often unable to understand them and assess their impact.</a:t>
            </a:r>
          </a:p>
          <a:p>
            <a:endParaRPr lang="en-US" sz="1000" dirty="0" smtClean="0"/>
          </a:p>
          <a:p>
            <a:r>
              <a:rPr lang="en-US" dirty="0" smtClean="0"/>
              <a:t>An “independent software tester” was hired to “perform additional, unbiased testing of the software”. </a:t>
            </a:r>
          </a:p>
          <a:p>
            <a:r>
              <a:rPr lang="en-US" dirty="0" smtClean="0"/>
              <a:t>By employing someone who was totally separate from the software development contractor, the </a:t>
            </a:r>
            <a:r>
              <a:rPr lang="en-US" dirty="0" err="1" smtClean="0"/>
              <a:t>DoD</a:t>
            </a:r>
            <a:r>
              <a:rPr lang="en-US" dirty="0" smtClean="0"/>
              <a:t> hoped to get a more accurate and objective technical assessment of the project’s status.</a:t>
            </a:r>
          </a:p>
        </p:txBody>
      </p:sp>
    </p:spTree>
    <p:extLst>
      <p:ext uri="{BB962C8B-B14F-4D97-AF65-F5344CB8AC3E}">
        <p14:creationId xmlns:p14="http://schemas.microsoft.com/office/powerpoint/2010/main" xmlns="" val="191524766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85000" lnSpcReduction="10000"/>
          </a:bodyPr>
          <a:lstStyle/>
          <a:p>
            <a:r>
              <a:rPr lang="en-US" sz="3800" b="1" dirty="0" smtClean="0">
                <a:solidFill>
                  <a:srgbClr val="FF0000"/>
                </a:solidFill>
              </a:rPr>
              <a:t>1970 – 80’s  “Code and Ship Crisis”</a:t>
            </a:r>
          </a:p>
          <a:p>
            <a:r>
              <a:rPr lang="en-US" dirty="0" smtClean="0"/>
              <a:t>During the 1970’s, as software development activity began to expand into the private sector, software development companies were experiencing the same poor results as did government agencies a decade earlier. Companies had difficulty delivering software within the constraints of schedule, budget, and quality. Most companies relied on developers to test their own code and report on issues.</a:t>
            </a:r>
          </a:p>
          <a:p>
            <a:r>
              <a:rPr lang="en-US" dirty="0" smtClean="0"/>
              <a:t>During the 1980’s, we experienced what became known as the “software crisis” – the point in time when spending on software maintenance exceeded spending on creating new software products. The “software crisis” brought with it a host of changes and the emergence of SQA.</a:t>
            </a:r>
          </a:p>
          <a:p>
            <a:r>
              <a:rPr lang="en-US" dirty="0" smtClean="0"/>
              <a:t>While SQA was viewed as the “poor stepchild” of software development, many enlightened companies saw measurable benefit from integrating SQA into the software development process.</a:t>
            </a:r>
          </a:p>
          <a:p>
            <a:endParaRPr lang="en-US" dirty="0">
              <a:solidFill>
                <a:srgbClr val="C00000"/>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3900" dirty="0" smtClean="0">
                <a:solidFill>
                  <a:srgbClr val="FF0000"/>
                </a:solidFill>
              </a:rPr>
              <a:t> </a:t>
            </a:r>
            <a:r>
              <a:rPr lang="en-US" sz="3900" b="1" dirty="0" smtClean="0">
                <a:solidFill>
                  <a:srgbClr val="FF0000"/>
                </a:solidFill>
              </a:rPr>
              <a:t>1990’s   “Code, Test and Ship”</a:t>
            </a:r>
          </a:p>
          <a:p>
            <a:r>
              <a:rPr lang="en-US" dirty="0" smtClean="0"/>
              <a:t>By the 1990’s, many software companies had SQA functions within their organizations. Yet, high-profile software failures continued to occur.</a:t>
            </a:r>
          </a:p>
          <a:p>
            <a:r>
              <a:rPr lang="en-US" dirty="0" smtClean="0"/>
              <a:t>Complexity of software developed during the 90’s increased significantly.</a:t>
            </a:r>
          </a:p>
          <a:p>
            <a:r>
              <a:rPr lang="en-US" dirty="0" smtClean="0"/>
              <a:t>Competitive business pressures also increased significantly.</a:t>
            </a:r>
          </a:p>
          <a:p>
            <a:r>
              <a:rPr lang="en-US" dirty="0" smtClean="0"/>
              <a:t>Software was being used in many new areas – especially areas that were life-threatening.</a:t>
            </a:r>
          </a:p>
          <a:p>
            <a:r>
              <a:rPr lang="en-US" dirty="0" smtClean="0"/>
              <a:t>Many people working in SQA received little formal training in SQA. SQA engineers were expected to learn their craft primarily from on-the-job training.</a:t>
            </a:r>
          </a:p>
          <a:p>
            <a:r>
              <a:rPr lang="en-US" dirty="0" smtClean="0"/>
              <a:t>Universities failed to recognize that SQA is a legitimate discipline unto itself and that it requires specialized training.</a:t>
            </a:r>
          </a:p>
          <a:p>
            <a:pPr lvl="0"/>
            <a:endParaRPr lang="en-IN" dirty="0">
              <a:solidFill>
                <a:srgbClr val="FF0000"/>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fontScale="85000" lnSpcReduction="10000"/>
          </a:bodyPr>
          <a:lstStyle/>
          <a:p>
            <a:r>
              <a:rPr lang="en-US" sz="3800" b="1" dirty="0" smtClean="0">
                <a:solidFill>
                  <a:srgbClr val="FF0000"/>
                </a:solidFill>
              </a:rPr>
              <a:t>2000’s  “SQA Processes adopted”</a:t>
            </a:r>
          </a:p>
          <a:p>
            <a:r>
              <a:rPr lang="en-US" dirty="0" smtClean="0"/>
              <a:t>The SQA department is a standard role in any major software development lifecycle and mandated by any standard outsourcing contract for software.</a:t>
            </a:r>
          </a:p>
          <a:p>
            <a:r>
              <a:rPr lang="en-US" dirty="0" smtClean="0"/>
              <a:t>Government legislation requires that critical software has met standard SQA analysis, particularly regarding identity and security issues.</a:t>
            </a:r>
          </a:p>
          <a:p>
            <a:r>
              <a:rPr lang="en-US" dirty="0" smtClean="0"/>
              <a:t>Various standards organizations(such as ISO, IEEE, CMM) have been created to evaluate and improve an organization’s ability to produce quality software.</a:t>
            </a:r>
          </a:p>
          <a:p>
            <a:r>
              <a:rPr lang="en-US" dirty="0" smtClean="0">
                <a:solidFill>
                  <a:srgbClr val="FF0000"/>
                </a:solidFill>
              </a:rPr>
              <a:t>Notes: </a:t>
            </a:r>
            <a:r>
              <a:rPr lang="en-US" dirty="0" smtClean="0"/>
              <a:t>Universities offer a wide range of SQA courses and areas of specialization.</a:t>
            </a:r>
          </a:p>
          <a:p>
            <a:r>
              <a:rPr lang="en-US" dirty="0" smtClean="0"/>
              <a:t>SQA Certification (CSTE, CSQA, CMSQ) and/or a Computer Science degree from an accredited organization is a standard expectation for new engineers entering the SQA field.</a:t>
            </a:r>
          </a:p>
          <a:p>
            <a:r>
              <a:rPr lang="en-US" dirty="0" smtClean="0"/>
              <a:t>SQA User groups and conventions are common in major cities around the world.</a:t>
            </a: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sz="3600" b="1" u="sng" dirty="0" smtClean="0">
                <a:solidFill>
                  <a:srgbClr val="FF0000"/>
                </a:solidFill>
              </a:rPr>
              <a:t>Software Quality Assurance Standards:-</a:t>
            </a:r>
          </a:p>
          <a:p>
            <a:r>
              <a:rPr lang="en-US" sz="2400" dirty="0" smtClean="0"/>
              <a:t>Quality is hard to define. When you think of something that is of good quality, does that mean that something is excellent — because that is a subjective measure — or simply fit to fulfill its purpose? </a:t>
            </a:r>
          </a:p>
          <a:p>
            <a:r>
              <a:rPr lang="en-US" sz="2400" dirty="0" smtClean="0"/>
              <a:t>While on the surface software quality assurance might seem just as ambiguous, there are several different guidelines for SQA that are well-recognized in the industry. It’s kind of like the scientific process, except there are multiple. </a:t>
            </a:r>
            <a:endParaRPr lang="en-US" sz="2400" b="1" dirty="0" smtClean="0">
              <a:solidFill>
                <a:srgbClr val="FF0000"/>
              </a:solidFill>
            </a:endParaRPr>
          </a:p>
          <a:p>
            <a:r>
              <a:rPr lang="en-US" sz="2800" dirty="0" smtClean="0"/>
              <a:t>In general, SQA may demand conformance to one or more standards.</a:t>
            </a:r>
          </a:p>
          <a:p>
            <a:r>
              <a:rPr lang="en-US" b="1" dirty="0" smtClean="0">
                <a:solidFill>
                  <a:srgbClr val="FF0000"/>
                </a:solidFill>
              </a:rPr>
              <a:t>1. ISO 9000:</a:t>
            </a:r>
          </a:p>
          <a:p>
            <a:r>
              <a:rPr lang="en-US" b="1" dirty="0" smtClean="0">
                <a:solidFill>
                  <a:srgbClr val="FF0000"/>
                </a:solidFill>
              </a:rPr>
              <a:t>2. CMMI level</a:t>
            </a:r>
          </a:p>
          <a:p>
            <a:r>
              <a:rPr lang="en-US" b="1" dirty="0" smtClean="0">
                <a:solidFill>
                  <a:srgbClr val="FF0000"/>
                </a:solidFill>
              </a:rPr>
              <a:t>3. </a:t>
            </a:r>
            <a:r>
              <a:rPr lang="en-US" b="1" dirty="0" err="1" smtClean="0">
                <a:solidFill>
                  <a:srgbClr val="FF0000"/>
                </a:solidFill>
              </a:rPr>
              <a:t>TMMi</a:t>
            </a:r>
            <a:r>
              <a:rPr lang="en-US" b="1" dirty="0" smtClean="0">
                <a:solidFill>
                  <a:srgbClr val="FF0000"/>
                </a:solidFill>
              </a:rPr>
              <a:t> Level </a:t>
            </a:r>
            <a:endParaRPr lang="en-US" dirty="0">
              <a:solidFill>
                <a:srgbClr val="C00000"/>
              </a:solidFill>
            </a:endParaRPr>
          </a:p>
        </p:txBody>
      </p:sp>
      <p:pic>
        <p:nvPicPr>
          <p:cNvPr id="44033" name="Picture 1"/>
          <p:cNvPicPr>
            <a:picLocks noChangeAspect="1" noChangeArrowheads="1"/>
          </p:cNvPicPr>
          <p:nvPr/>
        </p:nvPicPr>
        <p:blipFill>
          <a:blip r:embed="rId2"/>
          <a:srcRect/>
          <a:stretch>
            <a:fillRect/>
          </a:stretch>
        </p:blipFill>
        <p:spPr bwMode="auto">
          <a:xfrm>
            <a:off x="3124200" y="3810000"/>
            <a:ext cx="601980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b="1" dirty="0" smtClean="0">
                <a:solidFill>
                  <a:srgbClr val="FF0000"/>
                </a:solidFill>
              </a:rPr>
              <a:t>Some of the most popular standards are discussed below:</a:t>
            </a:r>
            <a:endParaRPr lang="en-US" dirty="0" smtClean="0">
              <a:solidFill>
                <a:srgbClr val="FF0000"/>
              </a:solidFill>
            </a:endParaRPr>
          </a:p>
          <a:p>
            <a:r>
              <a:rPr lang="en-US" b="1" dirty="0" smtClean="0">
                <a:solidFill>
                  <a:srgbClr val="FF0000"/>
                </a:solidFill>
              </a:rPr>
              <a:t>1. ISO 9000:</a:t>
            </a:r>
            <a:r>
              <a:rPr lang="en-US" dirty="0" smtClean="0"/>
              <a:t> </a:t>
            </a:r>
            <a:r>
              <a:rPr lang="en-US" b="1" dirty="0" smtClean="0"/>
              <a:t>The ISO 9000 defines a family of standards, with the ISO 9000 and ISO 9001 being standards within the family.</a:t>
            </a:r>
            <a:r>
              <a:rPr lang="en-US" dirty="0" smtClean="0"/>
              <a:t> The International Organization for Standardization (ISO) first published the ISO 9000 family in 1987.</a:t>
            </a:r>
          </a:p>
          <a:p>
            <a:r>
              <a:rPr lang="en-US" dirty="0" smtClean="0"/>
              <a:t>For the ISO 9000, there are several principles that put significant focus on a software product’s ability to meet customers’ needs. </a:t>
            </a:r>
          </a:p>
          <a:p>
            <a:r>
              <a:rPr lang="en-US" b="1" dirty="0" smtClean="0">
                <a:solidFill>
                  <a:srgbClr val="FF0000"/>
                </a:solidFill>
              </a:rPr>
              <a:t>The ISO 9000 principles are as follows:</a:t>
            </a:r>
            <a:endParaRPr lang="en-US" dirty="0" smtClean="0">
              <a:solidFill>
                <a:srgbClr val="FF0000"/>
              </a:solidFill>
            </a:endParaRPr>
          </a:p>
          <a:p>
            <a:r>
              <a:rPr lang="en-US" b="1" dirty="0" smtClean="0">
                <a:solidFill>
                  <a:srgbClr val="FF0000"/>
                </a:solidFill>
              </a:rPr>
              <a:t>Customer focus</a:t>
            </a:r>
            <a:endParaRPr lang="en-US" dirty="0" smtClean="0">
              <a:solidFill>
                <a:srgbClr val="FF0000"/>
              </a:solidFill>
            </a:endParaRPr>
          </a:p>
          <a:p>
            <a:r>
              <a:rPr lang="en-US" b="1" dirty="0" smtClean="0">
                <a:solidFill>
                  <a:srgbClr val="FF0000"/>
                </a:solidFill>
              </a:rPr>
              <a:t>Leadership</a:t>
            </a:r>
            <a:endParaRPr lang="en-US" dirty="0" smtClean="0">
              <a:solidFill>
                <a:srgbClr val="FF0000"/>
              </a:solidFill>
            </a:endParaRPr>
          </a:p>
          <a:p>
            <a:r>
              <a:rPr lang="en-US" b="1" dirty="0" smtClean="0">
                <a:solidFill>
                  <a:srgbClr val="FF0000"/>
                </a:solidFill>
              </a:rPr>
              <a:t>Engagement of people</a:t>
            </a:r>
            <a:endParaRPr lang="en-US" dirty="0" smtClean="0">
              <a:solidFill>
                <a:srgbClr val="FF0000"/>
              </a:solidFill>
            </a:endParaRPr>
          </a:p>
          <a:p>
            <a:r>
              <a:rPr lang="en-US" b="1" dirty="0" smtClean="0">
                <a:solidFill>
                  <a:srgbClr val="FF0000"/>
                </a:solidFill>
              </a:rPr>
              <a:t>Process Approach</a:t>
            </a:r>
            <a:endParaRPr lang="en-US" dirty="0" smtClean="0">
              <a:solidFill>
                <a:srgbClr val="FF0000"/>
              </a:solidFill>
            </a:endParaRPr>
          </a:p>
          <a:p>
            <a:r>
              <a:rPr lang="en-US" b="1" dirty="0" smtClean="0">
                <a:solidFill>
                  <a:srgbClr val="FF0000"/>
                </a:solidFill>
              </a:rPr>
              <a:t>Improvement</a:t>
            </a:r>
            <a:endParaRPr lang="en-US" dirty="0" smtClean="0">
              <a:solidFill>
                <a:srgbClr val="FF0000"/>
              </a:solidFill>
            </a:endParaRPr>
          </a:p>
          <a:p>
            <a:r>
              <a:rPr lang="en-US" b="1" dirty="0" smtClean="0">
                <a:solidFill>
                  <a:srgbClr val="FF0000"/>
                </a:solidFill>
              </a:rPr>
              <a:t>Evidence-based decision making</a:t>
            </a:r>
            <a:endParaRPr lang="en-US" dirty="0" smtClean="0">
              <a:solidFill>
                <a:srgbClr val="FF0000"/>
              </a:solidFill>
            </a:endParaRPr>
          </a:p>
          <a:p>
            <a:r>
              <a:rPr lang="en-US" b="1" dirty="0" smtClean="0">
                <a:solidFill>
                  <a:srgbClr val="FF0000"/>
                </a:solidFill>
              </a:rPr>
              <a:t>Relationship management</a:t>
            </a:r>
            <a:endParaRPr lang="en-US" dirty="0" smtClean="0">
              <a:solidFill>
                <a:srgbClr val="FF0000"/>
              </a:solidFill>
            </a:endParaRPr>
          </a:p>
          <a:p>
            <a:r>
              <a:rPr lang="en-US" dirty="0" smtClean="0"/>
              <a:t>Currently, the ISO 9000 is one of the more widely used criteria for quality management systems (QMS). More than a million businesses and organizations across the world in 170 countries have an ISO 9001 certification. </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dirty="0" smtClean="0"/>
              <a:t>This standard is based on seven quality management principles which help the organizations to ensure that their products or services are aligned with the customer needs’.</a:t>
            </a:r>
          </a:p>
          <a:p>
            <a:r>
              <a:rPr lang="en-US" sz="2800" b="1" dirty="0" smtClean="0">
                <a:solidFill>
                  <a:srgbClr val="FF0000"/>
                </a:solidFill>
              </a:rPr>
              <a:t>7 principles of ISO 9000 are depicted in the below image:</a:t>
            </a:r>
            <a:endParaRPr lang="en-US" sz="2800" dirty="0" smtClean="0">
              <a:solidFill>
                <a:srgbClr val="FF0000"/>
              </a:solidFill>
            </a:endParaRPr>
          </a:p>
          <a:p>
            <a:pPr lvl="0">
              <a:buNone/>
            </a:pPr>
            <a:endParaRPr lang="en-IN" dirty="0">
              <a:solidFill>
                <a:srgbClr val="FF0000"/>
              </a:solidFill>
            </a:endParaRPr>
          </a:p>
        </p:txBody>
      </p:sp>
      <p:sp>
        <p:nvSpPr>
          <p:cNvPr id="43010" name="AutoShape 2" descr="C:\Users\91995\Desktop\7-quality-principle-2-768x511.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3012" name="AutoShape 4" descr="C:\Users\91995\Desktop\7-quality-principle-2-768x511.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3013" name="Picture 5"/>
          <p:cNvPicPr>
            <a:picLocks noChangeAspect="1" noChangeArrowheads="1"/>
          </p:cNvPicPr>
          <p:nvPr/>
        </p:nvPicPr>
        <p:blipFill>
          <a:blip r:embed="rId2"/>
          <a:srcRect/>
          <a:stretch>
            <a:fillRect/>
          </a:stretch>
        </p:blipFill>
        <p:spPr bwMode="auto">
          <a:xfrm>
            <a:off x="0" y="1905000"/>
            <a:ext cx="9144000"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Autofit/>
          </a:bodyPr>
          <a:lstStyle/>
          <a:p>
            <a:pPr lvl="0"/>
            <a:r>
              <a:rPr lang="en-US" sz="1800" b="1" dirty="0" smtClean="0">
                <a:solidFill>
                  <a:srgbClr val="FF0000"/>
                </a:solidFill>
              </a:rPr>
              <a:t>2. CMMI level</a:t>
            </a:r>
            <a:r>
              <a:rPr lang="en-US" sz="1400" b="1" dirty="0" smtClean="0"/>
              <a:t>:</a:t>
            </a:r>
            <a:r>
              <a:rPr lang="en-US" sz="1400" dirty="0" smtClean="0"/>
              <a:t> CMMI stands for </a:t>
            </a:r>
            <a:r>
              <a:rPr lang="en-US" sz="1400" b="1" dirty="0" smtClean="0"/>
              <a:t>Capability maturity model Integration</a:t>
            </a:r>
            <a:r>
              <a:rPr lang="en-US" sz="1400" dirty="0" smtClean="0"/>
              <a:t>. This model was originated in software engineering. It can be employed to direct process improvement throughout a project, department, or an entire organization.</a:t>
            </a:r>
          </a:p>
          <a:p>
            <a:r>
              <a:rPr lang="en-US" sz="1600" b="1" dirty="0" smtClean="0"/>
              <a:t>Testing Maturity Model (TMM) or Testing Maturity Model integration (</a:t>
            </a:r>
            <a:r>
              <a:rPr lang="en-US" sz="1600" b="1" dirty="0" err="1" smtClean="0"/>
              <a:t>TMMi</a:t>
            </a:r>
            <a:r>
              <a:rPr lang="en-US" sz="1600" b="1" dirty="0" smtClean="0"/>
              <a:t>) is based on CMMI.</a:t>
            </a:r>
            <a:r>
              <a:rPr lang="en-US" sz="1600" dirty="0" smtClean="0"/>
              <a:t> Launched by the </a:t>
            </a:r>
            <a:r>
              <a:rPr lang="en-US" sz="1600" dirty="0" err="1" smtClean="0">
                <a:hlinkClick r:id="rId2"/>
              </a:rPr>
              <a:t>TMMi</a:t>
            </a:r>
            <a:r>
              <a:rPr lang="en-US" sz="1600" dirty="0" smtClean="0">
                <a:hlinkClick r:id="rId2"/>
              </a:rPr>
              <a:t> Foundation in 2005</a:t>
            </a:r>
            <a:r>
              <a:rPr lang="en-US" sz="1600" dirty="0" smtClean="0"/>
              <a:t>, it was designed to be complementary to the CMMI. </a:t>
            </a:r>
          </a:p>
          <a:p>
            <a:pPr lvl="0"/>
            <a:r>
              <a:rPr lang="en-US" sz="1600" dirty="0" smtClean="0"/>
              <a:t>This model delineates standards for software testing. Like CMMI, </a:t>
            </a:r>
            <a:r>
              <a:rPr lang="en-US" sz="1600" dirty="0" err="1" smtClean="0"/>
              <a:t>TMMi</a:t>
            </a:r>
            <a:r>
              <a:rPr lang="en-US" sz="1600" dirty="0" smtClean="0"/>
              <a:t> uses the concept of maturity levels. The five maturity levels are: </a:t>
            </a:r>
          </a:p>
          <a:p>
            <a:pPr lvl="0"/>
            <a:r>
              <a:rPr lang="en-US" sz="1600" dirty="0" smtClean="0"/>
              <a:t>An organization is appraised and awarded a maturity level rating (1-5) based on the type of appraisal.</a:t>
            </a:r>
            <a:endParaRPr lang="en-IN" sz="1600" dirty="0" smtClean="0">
              <a:latin typeface="Aparajita" pitchFamily="34" charset="0"/>
              <a:cs typeface="Aparajita" pitchFamily="34" charset="0"/>
            </a:endParaRPr>
          </a:p>
          <a:p>
            <a:r>
              <a:rPr lang="en-US" sz="1600" b="1" dirty="0" smtClean="0">
                <a:solidFill>
                  <a:srgbClr val="FF0000"/>
                </a:solidFill>
              </a:rPr>
              <a:t>Initial </a:t>
            </a:r>
            <a:endParaRPr lang="en-US" sz="1600" dirty="0" smtClean="0">
              <a:solidFill>
                <a:srgbClr val="FF0000"/>
              </a:solidFill>
            </a:endParaRPr>
          </a:p>
          <a:p>
            <a:r>
              <a:rPr lang="en-US" sz="1600" b="1" dirty="0" smtClean="0">
                <a:solidFill>
                  <a:srgbClr val="FF0000"/>
                </a:solidFill>
              </a:rPr>
              <a:t>Managed</a:t>
            </a:r>
            <a:r>
              <a:rPr lang="en-US" sz="1600" b="1" dirty="0" smtClean="0"/>
              <a:t>-</a:t>
            </a:r>
            <a:r>
              <a:rPr lang="en-US" sz="1400" dirty="0" smtClean="0"/>
              <a:t>Test Policy &amp; Strategy </a:t>
            </a:r>
          </a:p>
          <a:p>
            <a:pPr lvl="1"/>
            <a:r>
              <a:rPr lang="en-US" sz="1400" dirty="0" smtClean="0"/>
              <a:t>Test Planning</a:t>
            </a:r>
          </a:p>
          <a:p>
            <a:pPr lvl="1"/>
            <a:r>
              <a:rPr lang="en-US" sz="1400" dirty="0" smtClean="0"/>
              <a:t>Test Monitoring and Control</a:t>
            </a:r>
          </a:p>
          <a:p>
            <a:pPr lvl="1"/>
            <a:r>
              <a:rPr lang="en-US" sz="1400" dirty="0" smtClean="0"/>
              <a:t>Test Design &amp; Execution</a:t>
            </a:r>
          </a:p>
          <a:p>
            <a:pPr lvl="1"/>
            <a:r>
              <a:rPr lang="en-US" sz="1400" dirty="0" smtClean="0"/>
              <a:t>Test Environment </a:t>
            </a:r>
          </a:p>
          <a:p>
            <a:r>
              <a:rPr lang="en-US" sz="1600" b="1" dirty="0" smtClean="0">
                <a:solidFill>
                  <a:srgbClr val="FF0000"/>
                </a:solidFill>
              </a:rPr>
              <a:t>Defined</a:t>
            </a:r>
            <a:r>
              <a:rPr lang="en-US" sz="1600" b="1" dirty="0" smtClean="0"/>
              <a:t>-</a:t>
            </a:r>
            <a:r>
              <a:rPr lang="en-US" sz="1400" dirty="0" smtClean="0"/>
              <a:t>Test Organization</a:t>
            </a:r>
          </a:p>
          <a:p>
            <a:pPr lvl="1"/>
            <a:r>
              <a:rPr lang="en-US" sz="1400" dirty="0" smtClean="0"/>
              <a:t>Test Training Program</a:t>
            </a:r>
          </a:p>
          <a:p>
            <a:pPr lvl="1"/>
            <a:r>
              <a:rPr lang="en-US" sz="1400" dirty="0" smtClean="0"/>
              <a:t>Test Lifecycle &amp; Integration</a:t>
            </a:r>
          </a:p>
          <a:p>
            <a:pPr lvl="1"/>
            <a:r>
              <a:rPr lang="en-US" sz="1400" dirty="0" smtClean="0"/>
              <a:t>Non-Functional Testing</a:t>
            </a:r>
          </a:p>
          <a:p>
            <a:pPr lvl="1"/>
            <a:r>
              <a:rPr lang="en-US" sz="1400" dirty="0" smtClean="0"/>
              <a:t>Peer Reviews</a:t>
            </a:r>
          </a:p>
          <a:p>
            <a:r>
              <a:rPr lang="en-US" sz="1600" b="1" dirty="0" smtClean="0">
                <a:solidFill>
                  <a:srgbClr val="FF0000"/>
                </a:solidFill>
              </a:rPr>
              <a:t>Measured</a:t>
            </a:r>
            <a:r>
              <a:rPr lang="en-US" sz="1600" b="1" dirty="0" smtClean="0"/>
              <a:t> -</a:t>
            </a:r>
            <a:r>
              <a:rPr lang="en-US" sz="1400" dirty="0" smtClean="0"/>
              <a:t>Test Measurement </a:t>
            </a:r>
          </a:p>
          <a:p>
            <a:pPr lvl="1"/>
            <a:r>
              <a:rPr lang="en-US" sz="1400" dirty="0" smtClean="0"/>
              <a:t>Product Quality Evaluation</a:t>
            </a:r>
          </a:p>
          <a:p>
            <a:pPr lvl="1"/>
            <a:r>
              <a:rPr lang="en-US" sz="1400" dirty="0" smtClean="0"/>
              <a:t>Advanced Reviews</a:t>
            </a:r>
          </a:p>
          <a:p>
            <a:r>
              <a:rPr lang="en-US" sz="1600" b="1" dirty="0" smtClean="0">
                <a:solidFill>
                  <a:srgbClr val="FF0000"/>
                </a:solidFill>
              </a:rPr>
              <a:t>Optimization</a:t>
            </a:r>
            <a:r>
              <a:rPr lang="en-US" sz="1600" b="1" dirty="0" smtClean="0"/>
              <a:t> -</a:t>
            </a:r>
            <a:r>
              <a:rPr lang="en-US" sz="1400" dirty="0" smtClean="0"/>
              <a:t>Defect Prevention</a:t>
            </a:r>
          </a:p>
          <a:p>
            <a:pPr lvl="1"/>
            <a:r>
              <a:rPr lang="en-US" sz="1400" dirty="0" smtClean="0"/>
              <a:t>Test Process Optimization</a:t>
            </a:r>
          </a:p>
          <a:p>
            <a:pPr lvl="1"/>
            <a:r>
              <a:rPr lang="en-US" sz="1400" dirty="0" smtClean="0"/>
              <a:t>Quality Control</a:t>
            </a:r>
          </a:p>
          <a:p>
            <a:r>
              <a:rPr lang="en-US" sz="1600" dirty="0" smtClean="0"/>
              <a:t>Because </a:t>
            </a:r>
            <a:r>
              <a:rPr lang="en-US" sz="1600" dirty="0" err="1" smtClean="0"/>
              <a:t>TMMi</a:t>
            </a:r>
            <a:r>
              <a:rPr lang="en-US" sz="1600" dirty="0" smtClean="0"/>
              <a:t> is rather young, it is even less popular than CMMI.</a:t>
            </a:r>
            <a:endParaRPr lang="en-IN" sz="1600" dirty="0" smtClean="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1"/>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pPr lvl="0"/>
            <a:r>
              <a:rPr lang="en-US" b="1" dirty="0" smtClean="0">
                <a:solidFill>
                  <a:srgbClr val="FF0000"/>
                </a:solidFill>
              </a:rPr>
              <a:t>3. Test Maturity Model integration (</a:t>
            </a:r>
            <a:r>
              <a:rPr lang="en-US" b="1" dirty="0" err="1" smtClean="0">
                <a:solidFill>
                  <a:srgbClr val="FF0000"/>
                </a:solidFill>
              </a:rPr>
              <a:t>TMMi</a:t>
            </a:r>
            <a:r>
              <a:rPr lang="en-US" b="1" dirty="0" smtClean="0">
                <a:solidFill>
                  <a:srgbClr val="FF0000"/>
                </a:solidFill>
              </a:rPr>
              <a:t>):</a:t>
            </a:r>
            <a:r>
              <a:rPr lang="en-US" dirty="0" smtClean="0"/>
              <a:t> </a:t>
            </a:r>
            <a:r>
              <a:rPr lang="en-US" sz="3000" dirty="0" smtClean="0"/>
              <a:t>Based on </a:t>
            </a:r>
            <a:r>
              <a:rPr lang="en-US" sz="3000" dirty="0" err="1" smtClean="0"/>
              <a:t>CMMi</a:t>
            </a:r>
            <a:r>
              <a:rPr lang="en-US" sz="3000" dirty="0" smtClean="0"/>
              <a:t>, this model focuses on maturity levels in software quality management and testing.</a:t>
            </a:r>
            <a:endParaRPr lang="en-US" dirty="0" smtClean="0"/>
          </a:p>
          <a:p>
            <a:pPr lvl="0"/>
            <a:endParaRPr lang="en-IN" dirty="0" smtClean="0">
              <a:latin typeface="Aparajita" pitchFamily="34" charset="0"/>
              <a:cs typeface="Aparajita" pitchFamily="34" charset="0"/>
            </a:endParaRPr>
          </a:p>
          <a:p>
            <a:pPr lvl="0"/>
            <a:endParaRPr lang="en-IN" dirty="0" smtClean="0">
              <a:latin typeface="Aparajita" pitchFamily="34" charset="0"/>
              <a:cs typeface="Aparajita" pitchFamily="34" charset="0"/>
            </a:endParaRPr>
          </a:p>
          <a:p>
            <a:pPr lvl="0"/>
            <a:endParaRPr lang="en-IN" dirty="0" smtClean="0">
              <a:latin typeface="Aparajita" pitchFamily="34" charset="0"/>
              <a:cs typeface="Aparajita" pitchFamily="34" charset="0"/>
            </a:endParaRPr>
          </a:p>
          <a:p>
            <a:pPr lvl="0"/>
            <a:endParaRPr lang="en-IN" dirty="0" smtClean="0">
              <a:latin typeface="Aparajita" pitchFamily="34" charset="0"/>
              <a:cs typeface="Aparajita" pitchFamily="34" charset="0"/>
            </a:endParaRPr>
          </a:p>
          <a:p>
            <a:pPr lvl="0"/>
            <a:endParaRPr lang="en-IN" dirty="0" smtClean="0">
              <a:latin typeface="Aparajita" pitchFamily="34" charset="0"/>
              <a:cs typeface="Aparajita" pitchFamily="34" charset="0"/>
            </a:endParaRPr>
          </a:p>
          <a:p>
            <a:pPr lvl="0"/>
            <a:endParaRPr lang="en-IN" dirty="0" smtClean="0">
              <a:latin typeface="Aparajita" pitchFamily="34" charset="0"/>
              <a:cs typeface="Aparajita" pitchFamily="34" charset="0"/>
            </a:endParaRPr>
          </a:p>
          <a:p>
            <a:pPr lvl="0"/>
            <a:endParaRPr lang="en-IN" sz="3000" dirty="0" smtClean="0">
              <a:latin typeface="Aparajita" pitchFamily="34" charset="0"/>
              <a:cs typeface="Aparajita" pitchFamily="34" charset="0"/>
            </a:endParaRPr>
          </a:p>
          <a:p>
            <a:pPr lvl="0"/>
            <a:endParaRPr lang="en-US" sz="3000" dirty="0" smtClean="0"/>
          </a:p>
          <a:p>
            <a:pPr lvl="0"/>
            <a:r>
              <a:rPr lang="en-US" sz="3000" dirty="0" smtClean="0"/>
              <a:t>As an organization moves on a higher maturity level, it achieves a higher capability for producing high-quality products with fewer defects and closely meets the business requirements.</a:t>
            </a:r>
            <a:endParaRPr lang="en-IN" sz="3000" dirty="0" smtClean="0">
              <a:latin typeface="Aparajita" pitchFamily="34" charset="0"/>
              <a:cs typeface="Aparajita" pitchFamily="34" charset="0"/>
            </a:endParaRPr>
          </a:p>
          <a:p>
            <a:pPr lvl="0"/>
            <a:endParaRPr lang="en-IN" dirty="0">
              <a:latin typeface="Aparajita" pitchFamily="34" charset="0"/>
              <a:cs typeface="Aparajita" pitchFamily="34" charset="0"/>
            </a:endParaRPr>
          </a:p>
        </p:txBody>
      </p:sp>
      <p:pic>
        <p:nvPicPr>
          <p:cNvPr id="40961" name="Picture 1"/>
          <p:cNvPicPr>
            <a:picLocks noChangeAspect="1" noChangeArrowheads="1"/>
          </p:cNvPicPr>
          <p:nvPr/>
        </p:nvPicPr>
        <p:blipFill>
          <a:blip r:embed="rId2"/>
          <a:srcRect/>
          <a:stretch>
            <a:fillRect/>
          </a:stretch>
        </p:blipFill>
        <p:spPr bwMode="auto">
          <a:xfrm>
            <a:off x="0" y="1295400"/>
            <a:ext cx="9144000" cy="3867150"/>
          </a:xfrm>
          <a:prstGeom prst="rect">
            <a:avLst/>
          </a:prstGeom>
          <a:noFill/>
          <a:ln w="9525">
            <a:noFill/>
            <a:miter lim="800000"/>
            <a:headEnd/>
            <a:tailEnd/>
          </a:ln>
          <a:effectLst/>
        </p:spPr>
      </p:pic>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b="1" dirty="0" smtClean="0">
                <a:solidFill>
                  <a:srgbClr val="FF0000"/>
                </a:solidFill>
              </a:rPr>
              <a:t>Major Software Quality Assurance Issues/Identifying SQA Issues:-</a:t>
            </a:r>
          </a:p>
          <a:p>
            <a:r>
              <a:rPr lang="en-US" dirty="0" smtClean="0"/>
              <a:t>Quality assurance testing is an important part of software development, particularly as projects grow in size and complexity. After all, a bug that goes unnoticed will become progressively more expensive to fix over time and could cause significant usability issues before being patched. Effective QA teams can pre-</a:t>
            </a:r>
            <a:r>
              <a:rPr lang="en-US" dirty="0" err="1" smtClean="0"/>
              <a:t>emptively</a:t>
            </a:r>
            <a:r>
              <a:rPr lang="en-US" dirty="0" smtClean="0"/>
              <a:t> find and help eliminate bugs before they reach production servers to reduce development costs and ensure an optimal user experience.</a:t>
            </a:r>
          </a:p>
          <a:p>
            <a:r>
              <a:rPr lang="en-US" dirty="0" smtClean="0"/>
              <a:t>Software Quality Assurance is a good practice that every large scale business should employ. IT related businesses have never hesitated to use SQA to ensure that the application they will release for their users or sell to their customers will live up to their expectations.</a:t>
            </a:r>
            <a:endParaRPr lang="en-US" b="1" dirty="0" smtClean="0">
              <a:solidFill>
                <a:srgbClr val="FF0000"/>
              </a:solidFill>
            </a:endParaRP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dirty="0" smtClean="0">
                <a:solidFill>
                  <a:srgbClr val="FF0000"/>
                </a:solidFill>
              </a:rPr>
              <a:t>1. SQA Cost</a:t>
            </a:r>
          </a:p>
          <a:p>
            <a:r>
              <a:rPr lang="en-US" dirty="0" smtClean="0"/>
              <a:t>This is the main reason why small scale companies hesitated to use SQA as part of their development plan. SQA is a different entity that works separately from the development team. Hiring another set of developers will mean another set of people to pay for. </a:t>
            </a:r>
          </a:p>
          <a:p>
            <a:r>
              <a:rPr lang="en-US" u="sng" dirty="0" smtClean="0"/>
              <a:t>Developing software</a:t>
            </a:r>
            <a:r>
              <a:rPr lang="en-US" dirty="0" smtClean="0"/>
              <a:t> takes months to take and if you are a small-scaled company you will definitely have to cut costs.</a:t>
            </a:r>
          </a:p>
          <a:p>
            <a:r>
              <a:rPr lang="en-US" dirty="0" smtClean="0"/>
              <a:t>This problem cannot just be answered with more money and resources. Unfortunately, the developers have to face the fact that SQA cannot just be implemented when everyone has to cut costs. Only the SDLC and the testing team could compensate what the SQA is lacking.</a:t>
            </a:r>
          </a:p>
          <a:p>
            <a:pPr lvl="0"/>
            <a:endParaRPr lang="en-IN" dirty="0">
              <a:latin typeface="Aparajita" pitchFamily="34" charset="0"/>
              <a:cs typeface="Aparajita" pitchFamily="34" charset="0"/>
            </a:endParaRP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92500" lnSpcReduction="20000"/>
          </a:bodyPr>
          <a:lstStyle/>
          <a:p>
            <a:r>
              <a:rPr lang="en-US" sz="4300" dirty="0" smtClean="0">
                <a:solidFill>
                  <a:srgbClr val="FF0000"/>
                </a:solidFill>
              </a:rPr>
              <a:t>SQA Complexity:-</a:t>
            </a:r>
          </a:p>
          <a:p>
            <a:r>
              <a:rPr lang="en-US" dirty="0" smtClean="0"/>
              <a:t>Years ago, an application could be easily built by a single developer and let the whole world enjoy them. Today, a highly efficient application would take years for a single developer to develop. By the time it could be integrated and implemented, it is already outdated.</a:t>
            </a:r>
          </a:p>
          <a:p>
            <a:r>
              <a:rPr lang="en-US" dirty="0" smtClean="0"/>
              <a:t>The point is, software today is very complicated that team after team will be working on developing a single application and will take them months to develop. SQA has already been here for years and there are models that are not as good as it was.</a:t>
            </a:r>
          </a:p>
          <a:p>
            <a:r>
              <a:rPr lang="en-US" dirty="0" smtClean="0"/>
              <a:t>To answer this concern the SQA team should carefully use CASE </a:t>
            </a:r>
            <a:r>
              <a:rPr lang="en-US" u="sng" dirty="0" smtClean="0"/>
              <a:t>tools</a:t>
            </a:r>
            <a:r>
              <a:rPr lang="en-US" dirty="0" smtClean="0"/>
              <a:t>. These tools could easily summarize the functions. They ensure consistency in the evaluation of the application. That includes documentation of every stage of development.</a:t>
            </a:r>
            <a:endParaRPr lang="en-US" dirty="0"/>
          </a:p>
        </p:txBody>
      </p:sp>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r>
              <a:rPr lang="en-US" dirty="0" smtClean="0">
                <a:solidFill>
                  <a:srgbClr val="FF0000"/>
                </a:solidFill>
              </a:rPr>
              <a:t>SQA Integration:-</a:t>
            </a:r>
          </a:p>
          <a:p>
            <a:r>
              <a:rPr lang="en-US" dirty="0" smtClean="0"/>
              <a:t>This is one of the many concerns of the SQA </a:t>
            </a:r>
            <a:r>
              <a:rPr lang="en-US" u="sng" dirty="0" smtClean="0"/>
              <a:t>models</a:t>
            </a:r>
            <a:r>
              <a:rPr lang="en-US" dirty="0" smtClean="0"/>
              <a:t> today. Because application development has been very rapid, the standardization of the application might not be the same as it was five years ago. The result for this is that although it has been deemed as an application developed with SQA, the type of SQA might not live up according to what is expected.</a:t>
            </a:r>
          </a:p>
          <a:p>
            <a:r>
              <a:rPr lang="en-US" dirty="0" smtClean="0"/>
              <a:t>The standardization models might ensure that the application developed ten years ago is good but it might work today. Fortunately, this issue was answered with the development of new standardizations. This ensured that the application was developed according to the plan and today’s need. Today’s standards usually come with set of tools with an understanding that the application is more complex than it was.</a:t>
            </a:r>
          </a:p>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77500" lnSpcReduction="20000"/>
          </a:bodyPr>
          <a:lstStyle/>
          <a:p>
            <a:r>
              <a:rPr lang="en-US" sz="3600" dirty="0" smtClean="0">
                <a:solidFill>
                  <a:srgbClr val="FF0000"/>
                </a:solidFill>
              </a:rPr>
              <a:t>Demand for Faster Development:-</a:t>
            </a:r>
          </a:p>
          <a:p>
            <a:r>
              <a:rPr lang="en-US" dirty="0" smtClean="0"/>
              <a:t>More than ever, the market for better software is increasing and everyone wants to sell and developing something new. The software has to be developed faster more than every to be ahead of everyone. Complimenting that speed is also the increasing complexity of the application.</a:t>
            </a:r>
          </a:p>
          <a:p>
            <a:r>
              <a:rPr lang="en-US" dirty="0" smtClean="0"/>
              <a:t>It is not only the developers that have this problem of rapid software development but also the SQA as well. They have to act really fast and decide whether or not the application is worthy to be released for operation. If that was the case 10 years ago, everyone will have a very hard time. Checking the application used to be manual and if that will be the case today, everyone will definitely have a very hard time approving the application.</a:t>
            </a:r>
          </a:p>
          <a:p>
            <a:r>
              <a:rPr lang="en-US" dirty="0" smtClean="0"/>
              <a:t>Today, there are tools that have great testing capabilities that could work faster like any other manual testers. That does not include the stability the application could offer. Formal verification could be attained using this application since it has been sanctioned by standards to work. The development of the application for formal verification has ease up the demand</a:t>
            </a:r>
          </a:p>
          <a:p>
            <a:endParaRPr lang="en-US" dirty="0" smtClean="0"/>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solidFill>
                  <a:srgbClr val="FF0000"/>
                </a:solidFill>
              </a:rPr>
              <a:t>Defective Software:-</a:t>
            </a:r>
          </a:p>
          <a:p>
            <a:r>
              <a:rPr lang="en-US" sz="2800" dirty="0" smtClean="0"/>
              <a:t>After months and moths of development and manual coding, it is very frustrating when your application is disregarded and has to start all over again. SQA has that function to be a little bit perfectionists and anything bad is disregarded. Considering the need to develop an application rapidly, everyone has to complete the application really fast. Perfection and speed is always a requirement for SQA and have been one of the biggest reasons why developers and small scale companies have opted not to use SQA too much. They have limited themselves to code testing and SDLC.</a:t>
            </a:r>
          </a:p>
          <a:p>
            <a:pPr lvl="0"/>
            <a:endParaRPr lang="en-IN" sz="2800" b="1"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algn="ctr"/>
            <a:r>
              <a:rPr lang="en-US" sz="4200" dirty="0" smtClean="0">
                <a:solidFill>
                  <a:srgbClr val="FF0000"/>
                </a:solidFill>
              </a:rPr>
              <a:t>Zero Defects in SQA</a:t>
            </a:r>
          </a:p>
          <a:p>
            <a:pPr algn="ctr"/>
            <a:r>
              <a:rPr lang="en-US" sz="3000" dirty="0" smtClean="0"/>
              <a:t>Zero Defects Philosophy in Software Development Environment</a:t>
            </a:r>
            <a:r>
              <a:rPr lang="en-US" sz="3500" dirty="0" smtClean="0"/>
              <a:t/>
            </a:r>
            <a:br>
              <a:rPr lang="en-US" sz="3500" dirty="0" smtClean="0"/>
            </a:br>
            <a:r>
              <a:rPr lang="en-US" sz="3500" b="1" dirty="0" smtClean="0">
                <a:solidFill>
                  <a:srgbClr val="002060"/>
                </a:solidFill>
              </a:rPr>
              <a:t>The Concept of Zero Defects:-</a:t>
            </a:r>
          </a:p>
          <a:p>
            <a:pPr algn="ctr"/>
            <a:endParaRPr lang="en-US" sz="3600" b="1" dirty="0" smtClean="0">
              <a:solidFill>
                <a:srgbClr val="002060"/>
              </a:solidFill>
            </a:endParaRPr>
          </a:p>
          <a:p>
            <a:endParaRPr lang="en-US" sz="3000" dirty="0" smtClean="0"/>
          </a:p>
          <a:p>
            <a:endParaRPr lang="en-US" sz="3000" dirty="0" smtClean="0"/>
          </a:p>
          <a:p>
            <a:endParaRPr lang="en-US" sz="3000" dirty="0" smtClean="0"/>
          </a:p>
          <a:p>
            <a:r>
              <a:rPr lang="en-US" sz="3000" dirty="0" smtClean="0"/>
              <a:t>Zero Defects is a Lean philosophy, a mentality, or a movement introduced by Philip Crosby* that </a:t>
            </a:r>
            <a:r>
              <a:rPr lang="en-US" sz="3000" b="1" dirty="0" smtClean="0"/>
              <a:t>aims to reduce and minimize the number of defects and errors in a process in hopes of getting things done right the first time</a:t>
            </a:r>
            <a:r>
              <a:rPr lang="en-US" sz="3000" dirty="0" smtClean="0"/>
              <a:t>.</a:t>
            </a:r>
          </a:p>
          <a:p>
            <a:r>
              <a:rPr lang="en-US" sz="3000" dirty="0" smtClean="0"/>
              <a:t> Zero Defects is a management tool aimed at the reduction of defects through prevention. It is directed at motivating people to prevent mistakes by developing a constant, conscious desire to do their job right the first time.</a:t>
            </a:r>
            <a:br>
              <a:rPr lang="en-US" sz="3000" dirty="0" smtClean="0"/>
            </a:br>
            <a:endParaRPr lang="en-IN" sz="3000" dirty="0"/>
          </a:p>
        </p:txBody>
      </p:sp>
      <p:pic>
        <p:nvPicPr>
          <p:cNvPr id="4" name="Picture 2"/>
          <p:cNvPicPr>
            <a:picLocks noChangeAspect="1" noChangeArrowheads="1"/>
          </p:cNvPicPr>
          <p:nvPr/>
        </p:nvPicPr>
        <p:blipFill>
          <a:blip r:embed="rId2"/>
          <a:srcRect/>
          <a:stretch>
            <a:fillRect/>
          </a:stretch>
        </p:blipFill>
        <p:spPr bwMode="auto">
          <a:xfrm>
            <a:off x="1905000" y="1371600"/>
            <a:ext cx="5257800" cy="1828800"/>
          </a:xfrm>
          <a:prstGeom prst="rect">
            <a:avLst/>
          </a:prstGeom>
          <a:noFill/>
          <a:ln w="9525">
            <a:noFill/>
            <a:miter lim="800000"/>
            <a:headEnd/>
            <a:tailEnd/>
          </a:ln>
          <a:effectLst/>
        </p:spPr>
      </p:pic>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t>Its purpose is to design every process so that it is not possible to produce something of low quality. This is done assuming that the cost of preventing problems is less than fixing them later. </a:t>
            </a:r>
          </a:p>
          <a:p>
            <a:r>
              <a:rPr lang="en-US" dirty="0" smtClean="0"/>
              <a:t>Zero Defects certainly seems good in theory, but how does it actually apply to software development?  The following are few things that you should be aware before starting such initiative in your organization:</a:t>
            </a:r>
          </a:p>
          <a:p>
            <a:r>
              <a:rPr lang="en-US" dirty="0" smtClean="0"/>
              <a:t>Is Zero Defects possible? OK, before we go any further we need to address this question; the answer is NO. </a:t>
            </a:r>
            <a:br>
              <a:rPr lang="en-US" dirty="0" smtClean="0"/>
            </a:b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lnSpcReduction="10000"/>
          </a:bodyPr>
          <a:lstStyle/>
          <a:p>
            <a:pPr lvl="0"/>
            <a:r>
              <a:rPr lang="en-US" dirty="0" smtClean="0"/>
              <a:t>In reality, especially when we are talking about software development, it is just not possible to have zero defects. Those who promote the philosophy of zero defects say that the quest for perfection, even though everyone knows it is not possible, will at least increase quality. </a:t>
            </a:r>
          </a:p>
          <a:p>
            <a:pPr lvl="0"/>
            <a:r>
              <a:rPr lang="en-US" dirty="0" smtClean="0"/>
              <a:t>But then why are they motivating people to work towards something that is not possible? </a:t>
            </a:r>
          </a:p>
          <a:p>
            <a:pPr lvl="0"/>
            <a:r>
              <a:rPr lang="en-US" dirty="0" smtClean="0"/>
              <a:t>Wouldn’t it be better to just use something as the “Defect Reduction Initiative” instead of a Zero Defect approach? </a:t>
            </a:r>
          </a:p>
          <a:p>
            <a:pPr lvl="0"/>
            <a:r>
              <a:rPr lang="en-US" dirty="0" smtClean="0"/>
              <a:t>When did all defects become the same? In the real world, we prioritize defects and take care of them in order from greatest to least importance.</a:t>
            </a:r>
            <a:endParaRPr lang="en-IN" dirty="0">
              <a:latin typeface="Aparajita" pitchFamily="34" charset="0"/>
              <a:cs typeface="Aparajita" pitchFamily="34" charset="0"/>
            </a:endParaRP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77500" lnSpcReduction="20000"/>
          </a:bodyPr>
          <a:lstStyle/>
          <a:p>
            <a:r>
              <a:rPr lang="en-US" dirty="0" smtClean="0"/>
              <a:t>Also, if we consider Return Of Investment (ROI), some defects at the bottom of this scale may never be taken care of at all. The Zero Defects movement assumes that all defects are equal and requires teams to spend time analyzing and resolving them without ever considering ROI.  </a:t>
            </a:r>
          </a:p>
          <a:p>
            <a:r>
              <a:rPr lang="en-US" dirty="0" smtClean="0"/>
              <a:t>To make things worse, organizations that are into Zero Defects will add quality (check) points that will slow down overall delivery but “ensure” these defects will never be repeated despite the fact that the process is not actually adding value. So how is the Zero Defects is actually reducing cost? </a:t>
            </a:r>
          </a:p>
          <a:p>
            <a:r>
              <a:rPr lang="en-US" dirty="0" smtClean="0"/>
              <a:t>While one of the main ideas behind Zero Defects is to reduce cost, it will more than often do the opposite.  Teams that need to fix all defects add tremendous labor-related effort and delays product releases to customer; both of these issues are highly correlated with cost. </a:t>
            </a:r>
          </a:p>
          <a:p>
            <a:r>
              <a:rPr lang="en-US" dirty="0" smtClean="0"/>
              <a:t>One more thing to consider is that as teams resolve defects, there will be fewer defects left to find. This often means that finding defects that are left will take more time and effort, and with that, increases in cost occur.</a:t>
            </a:r>
            <a:br>
              <a:rPr lang="en-US" dirty="0" smtClean="0"/>
            </a:br>
            <a:endParaRPr lang="en-IN" dirty="0"/>
          </a:p>
        </p:txBody>
      </p:sp>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pPr algn="ctr"/>
            <a:r>
              <a:rPr lang="en-US" b="1" u="sng" dirty="0" smtClean="0">
                <a:solidFill>
                  <a:srgbClr val="FF0000"/>
                </a:solidFill>
              </a:rPr>
              <a:t>Software Quality Assurance(SQA) </a:t>
            </a:r>
          </a:p>
          <a:p>
            <a:pPr algn="ctr"/>
            <a:r>
              <a:rPr lang="en-US" b="1" dirty="0" smtClean="0">
                <a:solidFill>
                  <a:srgbClr val="FF0000"/>
                </a:solidFill>
              </a:rPr>
              <a:t>Methodologies and Techniques</a:t>
            </a:r>
          </a:p>
          <a:p>
            <a:r>
              <a:rPr lang="en-US" dirty="0" smtClean="0">
                <a:latin typeface="Bahnschrift Light Condensed" pitchFamily="34" charset="0"/>
              </a:rPr>
              <a:t>Software quality assurance (SQA) is a planned and systematic pattern of actions necessary to provide adequate confidence that a software product conforms to requirements during software development. </a:t>
            </a:r>
          </a:p>
          <a:p>
            <a:r>
              <a:rPr lang="en-US" b="1" dirty="0" smtClean="0">
                <a:latin typeface="Agency FB" pitchFamily="34" charset="0"/>
              </a:rPr>
              <a:t>SQA consists of methodologies and techniques of assessing the software development processes and methods, tools, and technologies used to ensure the quality of the developed software. </a:t>
            </a:r>
          </a:p>
          <a:p>
            <a:r>
              <a:rPr lang="en-US" dirty="0" smtClean="0">
                <a:latin typeface="Bahnschrift Light Condensed" pitchFamily="34" charset="0"/>
              </a:rPr>
              <a:t>SQA is typically achieved through the use of well-defined standard practices, including tools and processes, for quality control to ensure the integrity and reliability of software.</a:t>
            </a:r>
            <a:endParaRPr lang="en-US" dirty="0" smtClean="0">
              <a:latin typeface="Bahnschrift Light Condensed"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85000" lnSpcReduction="20000"/>
          </a:bodyPr>
          <a:lstStyle/>
          <a:p>
            <a:r>
              <a:rPr lang="en-US" sz="4600" b="1" u="sng" dirty="0" smtClean="0">
                <a:solidFill>
                  <a:srgbClr val="FF0000"/>
                </a:solidFill>
              </a:rPr>
              <a:t>SQA Techniques:-</a:t>
            </a:r>
          </a:p>
          <a:p>
            <a:r>
              <a:rPr lang="en-US" dirty="0" smtClean="0"/>
              <a:t>There are several techniques for SQA. Auditing is the chief technique that is widely adopted. </a:t>
            </a:r>
          </a:p>
          <a:p>
            <a:r>
              <a:rPr lang="en-US" dirty="0" smtClean="0"/>
              <a:t>However, we have a few other significant techniques as well.</a:t>
            </a:r>
          </a:p>
          <a:p>
            <a:r>
              <a:rPr lang="en-US" u="sng" dirty="0" smtClean="0">
                <a:solidFill>
                  <a:srgbClr val="FF0000"/>
                </a:solidFill>
              </a:rPr>
              <a:t>Various SQA Techniques include:</a:t>
            </a:r>
          </a:p>
          <a:p>
            <a:r>
              <a:rPr lang="en-US" dirty="0" smtClean="0">
                <a:solidFill>
                  <a:srgbClr val="FF0000"/>
                </a:solidFill>
              </a:rPr>
              <a:t>1. Auditing</a:t>
            </a:r>
            <a:r>
              <a:rPr lang="en-US" dirty="0" smtClean="0"/>
              <a:t>: Auditing involves inspection of the work </a:t>
            </a:r>
          </a:p>
          <a:p>
            <a:r>
              <a:rPr lang="en-US" dirty="0" smtClean="0"/>
              <a:t>products and its related information to determine if the set of standard processes were followed or not.</a:t>
            </a:r>
          </a:p>
          <a:p>
            <a:r>
              <a:rPr lang="en-US" dirty="0" smtClean="0">
                <a:solidFill>
                  <a:srgbClr val="FF0000"/>
                </a:solidFill>
              </a:rPr>
              <a:t>2. Reviewing : </a:t>
            </a:r>
            <a:r>
              <a:rPr lang="en-US" dirty="0" smtClean="0"/>
              <a:t>A meeting in which the software product is examined by both the internal and external stakeholders to seek their comments and approval.</a:t>
            </a:r>
          </a:p>
          <a:p>
            <a:r>
              <a:rPr lang="en-US" dirty="0" smtClean="0">
                <a:solidFill>
                  <a:srgbClr val="FF0000"/>
                </a:solidFill>
              </a:rPr>
              <a:t>3. Code Inspection: </a:t>
            </a:r>
            <a:r>
              <a:rPr lang="en-US" dirty="0" smtClean="0"/>
              <a:t>It is the most formal kind of review that does static testing to find bugs and avoid defect growth in the later stages. </a:t>
            </a:r>
          </a:p>
          <a:p>
            <a:r>
              <a:rPr lang="en-US" dirty="0" smtClean="0"/>
              <a:t>It is done by a trained mediator/peer and is based on rules, checklist, entry and exit criteria. The reviewer should not be the author of the code.</a:t>
            </a:r>
          </a:p>
          <a:p>
            <a:endParaRPr lang="en-US" dirty="0" smtClean="0"/>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sz="4800" u="sng" dirty="0" smtClean="0">
                <a:solidFill>
                  <a:srgbClr val="FF0000"/>
                </a:solidFill>
              </a:rPr>
              <a:t>4. Design Inspection:</a:t>
            </a:r>
          </a:p>
          <a:p>
            <a:r>
              <a:rPr lang="en-US" dirty="0" smtClean="0"/>
              <a:t>Design inspection is done using a checklist that inspects the below areas of software design:</a:t>
            </a:r>
          </a:p>
          <a:p>
            <a:r>
              <a:rPr lang="en-US" dirty="0" smtClean="0">
                <a:solidFill>
                  <a:srgbClr val="FF0000"/>
                </a:solidFill>
              </a:rPr>
              <a:t>A. General requirements and design</a:t>
            </a:r>
          </a:p>
          <a:p>
            <a:r>
              <a:rPr lang="en-US" dirty="0" smtClean="0">
                <a:solidFill>
                  <a:srgbClr val="FF0000"/>
                </a:solidFill>
              </a:rPr>
              <a:t>B. Functional and Interface specifications</a:t>
            </a:r>
          </a:p>
          <a:p>
            <a:r>
              <a:rPr lang="en-US" dirty="0" smtClean="0">
                <a:solidFill>
                  <a:srgbClr val="FF0000"/>
                </a:solidFill>
              </a:rPr>
              <a:t>C. Conventions</a:t>
            </a:r>
          </a:p>
          <a:p>
            <a:r>
              <a:rPr lang="en-US" dirty="0" smtClean="0">
                <a:solidFill>
                  <a:srgbClr val="FF0000"/>
                </a:solidFill>
              </a:rPr>
              <a:t>D. Requirement traceability</a:t>
            </a:r>
          </a:p>
          <a:p>
            <a:r>
              <a:rPr lang="en-US" dirty="0" smtClean="0">
                <a:solidFill>
                  <a:srgbClr val="FF0000"/>
                </a:solidFill>
              </a:rPr>
              <a:t>E. Structures and interfaces</a:t>
            </a:r>
          </a:p>
          <a:p>
            <a:r>
              <a:rPr lang="en-US" dirty="0" smtClean="0">
                <a:solidFill>
                  <a:srgbClr val="FF0000"/>
                </a:solidFill>
              </a:rPr>
              <a:t>F.  Logic</a:t>
            </a:r>
          </a:p>
          <a:p>
            <a:r>
              <a:rPr lang="en-US" dirty="0" smtClean="0">
                <a:solidFill>
                  <a:srgbClr val="FF0000"/>
                </a:solidFill>
              </a:rPr>
              <a:t>G. Performance</a:t>
            </a:r>
          </a:p>
          <a:p>
            <a:r>
              <a:rPr lang="en-US" dirty="0" smtClean="0">
                <a:solidFill>
                  <a:srgbClr val="FF0000"/>
                </a:solidFill>
              </a:rPr>
              <a:t>H. Error handling and recovery</a:t>
            </a:r>
          </a:p>
          <a:p>
            <a:r>
              <a:rPr lang="en-US" dirty="0" smtClean="0">
                <a:solidFill>
                  <a:srgbClr val="FF0000"/>
                </a:solidFill>
              </a:rPr>
              <a:t>I. Testability, extensibility</a:t>
            </a:r>
          </a:p>
          <a:p>
            <a:r>
              <a:rPr lang="en-US" dirty="0" smtClean="0">
                <a:solidFill>
                  <a:srgbClr val="FF0000"/>
                </a:solidFill>
              </a:rPr>
              <a:t>J. Coupling and cohesion</a:t>
            </a:r>
          </a:p>
        </p:txBody>
      </p:sp>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FF0000"/>
                </a:solidFill>
              </a:rPr>
              <a:t>5. Simulation: </a:t>
            </a:r>
            <a:r>
              <a:rPr lang="en-US" dirty="0" smtClean="0"/>
              <a:t>Simulation is a tool that models the real-life situation in order to virtually examine the behavior of the system under study.</a:t>
            </a:r>
          </a:p>
          <a:p>
            <a:r>
              <a:rPr lang="en-US" dirty="0" smtClean="0">
                <a:solidFill>
                  <a:srgbClr val="FF0000"/>
                </a:solidFill>
              </a:rPr>
              <a:t>6. Functional Testing:</a:t>
            </a:r>
            <a:r>
              <a:rPr lang="en-US" dirty="0" smtClean="0"/>
              <a:t> It is a QA technique which verifies what the system does without considering how it does. This type of black Box testing mainly focuses on testing the system specifications or features.</a:t>
            </a:r>
          </a:p>
          <a:p>
            <a:r>
              <a:rPr lang="en-US" dirty="0" smtClean="0">
                <a:solidFill>
                  <a:srgbClr val="FF0000"/>
                </a:solidFill>
              </a:rPr>
              <a:t>7. Standardization: </a:t>
            </a:r>
            <a:r>
              <a:rPr lang="en-US" dirty="0" smtClean="0"/>
              <a:t>Standardization plays a crucial role in quality assurance. It decreases the ambiguity and guesswork, thus ensuring quality.</a:t>
            </a:r>
            <a:endParaRPr lang="en-US" dirty="0"/>
          </a:p>
        </p:txBody>
      </p:sp>
    </p:spTree>
    <p:extLst>
      <p:ext uri="{BB962C8B-B14F-4D97-AF65-F5344CB8AC3E}">
        <p14:creationId xmlns:p14="http://schemas.microsoft.com/office/powerpoint/2010/main" xmlns="" val="191524766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r>
              <a:rPr lang="en-US" dirty="0" smtClean="0">
                <a:solidFill>
                  <a:srgbClr val="FF0000"/>
                </a:solidFill>
              </a:rPr>
              <a:t>8. Static Analysis: </a:t>
            </a:r>
            <a:r>
              <a:rPr lang="en-US" dirty="0" smtClean="0"/>
              <a:t>It is a software analysis that is done by an auto mated tool without actually executing the program. </a:t>
            </a:r>
          </a:p>
          <a:p>
            <a:r>
              <a:rPr lang="en-US" dirty="0" smtClean="0"/>
              <a:t>This technique is highly used for quality assurance in medical, nuclear and aviation software. Software metrics and reverse engineering are some popular forms of static analysis.</a:t>
            </a:r>
          </a:p>
          <a:p>
            <a:r>
              <a:rPr lang="en-US" dirty="0" smtClean="0">
                <a:solidFill>
                  <a:srgbClr val="FF0000"/>
                </a:solidFill>
              </a:rPr>
              <a:t>9. Walk through:</a:t>
            </a:r>
            <a:r>
              <a:rPr lang="en-US" dirty="0" smtClean="0"/>
              <a:t> Software walk through or code walkthrough is a kind of peer review where the developer guides the members of the development team to go through the product and raise queries, suggest alternatives, make comments regarding possible errors, standard violations or any other</a:t>
            </a:r>
          </a:p>
          <a:p>
            <a:r>
              <a:rPr lang="en-US" dirty="0" smtClean="0"/>
              <a:t>issues.</a:t>
            </a:r>
          </a:p>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r>
              <a:rPr lang="en-US" dirty="0" smtClean="0">
                <a:solidFill>
                  <a:srgbClr val="FF0000"/>
                </a:solidFill>
              </a:rPr>
              <a:t>10. Path Testing</a:t>
            </a:r>
            <a:r>
              <a:rPr lang="en-US" dirty="0" smtClean="0"/>
              <a:t>: It is a white box testing technique where the complete branch coverage is ensured by executing each independent path at least once.</a:t>
            </a:r>
          </a:p>
          <a:p>
            <a:r>
              <a:rPr lang="en-US" dirty="0" smtClean="0">
                <a:solidFill>
                  <a:srgbClr val="FF0000"/>
                </a:solidFill>
              </a:rPr>
              <a:t>11. Stress Testing: </a:t>
            </a:r>
            <a:r>
              <a:rPr lang="en-US" dirty="0" smtClean="0"/>
              <a:t>This type of testing is done to check how robust a system is by  testing it under heavy load i.e. beyond normal conditions.</a:t>
            </a:r>
          </a:p>
          <a:p>
            <a:r>
              <a:rPr lang="en-US" dirty="0" smtClean="0">
                <a:solidFill>
                  <a:srgbClr val="FF0000"/>
                </a:solidFill>
              </a:rPr>
              <a:t>12. Six Sigma</a:t>
            </a:r>
            <a:r>
              <a:rPr lang="en-US" dirty="0" smtClean="0"/>
              <a:t>: Six Sigma is a quality assurance approach that aims at nearly perfect products or services. It is widely applied in many fields including software.  The main objective of six sigma is process improvement so that the produced software is 99.76 % defect free.</a:t>
            </a: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solidFill>
                  <a:srgbClr val="FF0000"/>
                </a:solidFill>
              </a:rPr>
              <a:t>Statistical Quality Assurance (SQA):- </a:t>
            </a:r>
            <a:r>
              <a:rPr lang="en-US" sz="2800" dirty="0" smtClean="0"/>
              <a:t>SQA is </a:t>
            </a:r>
            <a:r>
              <a:rPr lang="en-US" sz="2800" b="1" dirty="0" smtClean="0"/>
              <a:t>used to identify the potential variations in the manufacturing process and predict potential defects on a parts-per-million (PPM) basis</a:t>
            </a:r>
            <a:r>
              <a:rPr lang="en-US" sz="2800" dirty="0" smtClean="0"/>
              <a:t>. It provides a statistical description of the final product and addresses quality and safety issues that arise during manufacturing.</a:t>
            </a:r>
          </a:p>
          <a:p>
            <a:r>
              <a:rPr lang="en-US" sz="2800" dirty="0" smtClean="0"/>
              <a:t>Collect and categorize information (i.e., causes) about software defects that occur 2) Attempt to trace each defect to its underlying cause (e.g., nonconformance to specifications, design error, violation of standards, poor communication with the customer) 3) Using the Pareto principle (80% of defects can be traced to 20% of all causes), isolate the 20%</a:t>
            </a:r>
          </a:p>
          <a:p>
            <a:pPr lvl="0"/>
            <a:endParaRPr lang="en-IN" sz="2800" b="1" dirty="0">
              <a:latin typeface="Aparajita" pitchFamily="34" charset="0"/>
              <a:cs typeface="Aparajita" pitchFamily="34" charset="0"/>
            </a:endParaRPr>
          </a:p>
        </p:txBody>
      </p:sp>
      <p:pic>
        <p:nvPicPr>
          <p:cNvPr id="1027" name="Picture 3"/>
          <p:cNvPicPr>
            <a:picLocks noChangeAspect="1" noChangeArrowheads="1"/>
          </p:cNvPicPr>
          <p:nvPr/>
        </p:nvPicPr>
        <p:blipFill>
          <a:blip r:embed="rId2"/>
          <a:srcRect/>
          <a:stretch>
            <a:fillRect/>
          </a:stretch>
        </p:blipFill>
        <p:spPr bwMode="auto">
          <a:xfrm>
            <a:off x="5715000" y="5334000"/>
            <a:ext cx="3429000"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IN" sz="3500" b="1" dirty="0" smtClean="0">
                <a:solidFill>
                  <a:srgbClr val="FF0000"/>
                </a:solidFill>
              </a:rPr>
              <a:t>A Sample for possible Cause for defects:</a:t>
            </a:r>
          </a:p>
          <a:p>
            <a:r>
              <a:rPr lang="en-US" dirty="0" smtClean="0"/>
              <a:t>Incomplete or erroneous specifications </a:t>
            </a:r>
          </a:p>
          <a:p>
            <a:r>
              <a:rPr lang="en-US" dirty="0" smtClean="0">
                <a:solidFill>
                  <a:srgbClr val="FF0000"/>
                </a:solidFill>
              </a:rPr>
              <a:t> </a:t>
            </a:r>
            <a:r>
              <a:rPr lang="en-US" dirty="0" smtClean="0"/>
              <a:t>Misinterpretation of customer communication </a:t>
            </a:r>
          </a:p>
          <a:p>
            <a:r>
              <a:rPr lang="en-US" dirty="0" smtClean="0">
                <a:solidFill>
                  <a:srgbClr val="FF0000"/>
                </a:solidFill>
              </a:rPr>
              <a:t> </a:t>
            </a:r>
            <a:r>
              <a:rPr lang="en-US" dirty="0" smtClean="0"/>
              <a:t>Intentional deviation from specifications </a:t>
            </a:r>
          </a:p>
          <a:p>
            <a:r>
              <a:rPr lang="en-US" dirty="0" smtClean="0">
                <a:solidFill>
                  <a:srgbClr val="FF0000"/>
                </a:solidFill>
              </a:rPr>
              <a:t></a:t>
            </a:r>
            <a:r>
              <a:rPr lang="en-US" dirty="0" smtClean="0"/>
              <a:t> Violation of programming standards </a:t>
            </a:r>
          </a:p>
          <a:p>
            <a:r>
              <a:rPr lang="en-US" dirty="0" smtClean="0">
                <a:solidFill>
                  <a:srgbClr val="FF0000"/>
                </a:solidFill>
              </a:rPr>
              <a:t></a:t>
            </a:r>
            <a:r>
              <a:rPr lang="en-US" dirty="0" smtClean="0"/>
              <a:t> Errors in data representation </a:t>
            </a:r>
          </a:p>
          <a:p>
            <a:r>
              <a:rPr lang="en-US" dirty="0" smtClean="0">
                <a:solidFill>
                  <a:srgbClr val="FF0000"/>
                </a:solidFill>
              </a:rPr>
              <a:t></a:t>
            </a:r>
            <a:r>
              <a:rPr lang="en-US" dirty="0" smtClean="0"/>
              <a:t> Inconsistent component interface </a:t>
            </a:r>
          </a:p>
          <a:p>
            <a:r>
              <a:rPr lang="en-US" dirty="0" smtClean="0">
                <a:solidFill>
                  <a:srgbClr val="FF0000"/>
                </a:solidFill>
              </a:rPr>
              <a:t></a:t>
            </a:r>
            <a:r>
              <a:rPr lang="en-US" dirty="0" smtClean="0"/>
              <a:t> Errors in design logic </a:t>
            </a:r>
          </a:p>
          <a:p>
            <a:r>
              <a:rPr lang="en-US" dirty="0" smtClean="0">
                <a:solidFill>
                  <a:srgbClr val="FF0000"/>
                </a:solidFill>
              </a:rPr>
              <a:t></a:t>
            </a:r>
            <a:r>
              <a:rPr lang="en-US" dirty="0" smtClean="0"/>
              <a:t> Incomplete or erroneous testing </a:t>
            </a:r>
          </a:p>
          <a:p>
            <a:r>
              <a:rPr lang="en-US" dirty="0" smtClean="0">
                <a:solidFill>
                  <a:srgbClr val="FF0000"/>
                </a:solidFill>
              </a:rPr>
              <a:t></a:t>
            </a:r>
            <a:r>
              <a:rPr lang="en-US" dirty="0" smtClean="0"/>
              <a:t> Inaccurate or incomplete documentation </a:t>
            </a:r>
          </a:p>
          <a:p>
            <a:r>
              <a:rPr lang="en-US" dirty="0" smtClean="0">
                <a:solidFill>
                  <a:srgbClr val="FF0000"/>
                </a:solidFill>
              </a:rPr>
              <a:t></a:t>
            </a:r>
            <a:r>
              <a:rPr lang="en-US" dirty="0" smtClean="0"/>
              <a:t> Errors in programming language translation of design </a:t>
            </a:r>
          </a:p>
          <a:p>
            <a:r>
              <a:rPr lang="en-US" dirty="0" smtClean="0">
                <a:solidFill>
                  <a:srgbClr val="FF0000"/>
                </a:solidFill>
              </a:rPr>
              <a:t></a:t>
            </a:r>
            <a:r>
              <a:rPr lang="en-US" dirty="0" smtClean="0"/>
              <a:t> Ambiguous or inconsistent human/computer interface</a:t>
            </a:r>
            <a:endParaRPr lang="en-IN" b="1" dirty="0" smtClean="0">
              <a:solidFill>
                <a:srgbClr val="FF0000"/>
              </a:solidFill>
            </a:endParaRPr>
          </a:p>
          <a:p>
            <a:endParaRPr lang="en-IN" b="1" dirty="0"/>
          </a:p>
        </p:txBody>
      </p:sp>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sz="4000" dirty="0" smtClean="0">
                <a:solidFill>
                  <a:srgbClr val="FF0000"/>
                </a:solidFill>
              </a:rPr>
              <a:t>"Six Sigma“: Introduction</a:t>
            </a:r>
          </a:p>
          <a:p>
            <a:r>
              <a:rPr lang="en-US" dirty="0" smtClean="0"/>
              <a:t>Popularized by Motorola in the 1980s </a:t>
            </a:r>
          </a:p>
          <a:p>
            <a:pPr>
              <a:buFont typeface="Wingdings" pitchFamily="2" charset="2"/>
              <a:buChar char="Ø"/>
            </a:pPr>
            <a:r>
              <a:rPr lang="en-US" dirty="0" smtClean="0"/>
              <a:t>Is the most widely used strategy for statistical quality assurance </a:t>
            </a:r>
          </a:p>
          <a:p>
            <a:pPr>
              <a:buFont typeface="Wingdings" pitchFamily="2" charset="2"/>
              <a:buChar char="Ø"/>
            </a:pPr>
            <a:r>
              <a:rPr lang="en-US" dirty="0" smtClean="0"/>
              <a:t> Uses data and statistical analysis to measure and improve a company's operational performance </a:t>
            </a:r>
          </a:p>
          <a:p>
            <a:pPr>
              <a:buFont typeface="Wingdings" pitchFamily="2" charset="2"/>
              <a:buChar char="Ø"/>
            </a:pPr>
            <a:r>
              <a:rPr lang="en-US" dirty="0" smtClean="0"/>
              <a:t> Identifies and eliminates defects in manufacturing and service related processes </a:t>
            </a:r>
          </a:p>
          <a:p>
            <a:pPr>
              <a:buFont typeface="Wingdings" pitchFamily="2" charset="2"/>
              <a:buChar char="Ø"/>
            </a:pPr>
            <a:r>
              <a:rPr lang="en-US" dirty="0" smtClean="0"/>
              <a:t> The "Six Sigma" refers to six standard deviations (3.4 defects per a million occurrences)</a:t>
            </a:r>
            <a:endParaRPr lang="en-IN" dirty="0"/>
          </a:p>
        </p:txBody>
      </p:sp>
    </p:spTree>
    <p:extLst>
      <p:ext uri="{BB962C8B-B14F-4D97-AF65-F5344CB8AC3E}">
        <p14:creationId xmlns:p14="http://schemas.microsoft.com/office/powerpoint/2010/main" xmlns="" val="191524766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763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sz="3900" dirty="0" smtClean="0">
                <a:solidFill>
                  <a:srgbClr val="FF0000"/>
                </a:solidFill>
              </a:rPr>
              <a:t>Three core steps:</a:t>
            </a:r>
          </a:p>
          <a:p>
            <a:pPr>
              <a:buFont typeface="Wingdings" pitchFamily="2" charset="2"/>
              <a:buChar char="Ø"/>
            </a:pPr>
            <a:r>
              <a:rPr lang="en-US" dirty="0" smtClean="0">
                <a:solidFill>
                  <a:srgbClr val="FF0000"/>
                </a:solidFill>
              </a:rPr>
              <a:t> Define </a:t>
            </a:r>
            <a:r>
              <a:rPr lang="en-US" dirty="0" smtClean="0"/>
              <a:t>customer requirements, deliverables, and project goals via well-defined methods of customer communication</a:t>
            </a:r>
          </a:p>
          <a:p>
            <a:pPr>
              <a:buFont typeface="Wingdings" pitchFamily="2" charset="2"/>
              <a:buChar char="Ø"/>
            </a:pPr>
            <a:r>
              <a:rPr lang="en-US" dirty="0" smtClean="0"/>
              <a:t> </a:t>
            </a:r>
            <a:r>
              <a:rPr lang="en-US" dirty="0" smtClean="0">
                <a:solidFill>
                  <a:srgbClr val="FF0000"/>
                </a:solidFill>
              </a:rPr>
              <a:t>Measure</a:t>
            </a:r>
            <a:r>
              <a:rPr lang="en-US" dirty="0" smtClean="0"/>
              <a:t> the existing process and its output to determine current quality performance (collect defect metrics) </a:t>
            </a:r>
          </a:p>
          <a:p>
            <a:pPr>
              <a:buFont typeface="Wingdings" pitchFamily="2" charset="2"/>
              <a:buChar char="Ø"/>
            </a:pPr>
            <a:r>
              <a:rPr lang="en-US" dirty="0" smtClean="0"/>
              <a:t> </a:t>
            </a:r>
            <a:r>
              <a:rPr lang="en-US" dirty="0" smtClean="0">
                <a:solidFill>
                  <a:srgbClr val="FF0000"/>
                </a:solidFill>
              </a:rPr>
              <a:t>Analyze </a:t>
            </a:r>
            <a:r>
              <a:rPr lang="en-US" dirty="0" smtClean="0"/>
              <a:t>defect metrics and determine the vital few causes (the 20%) </a:t>
            </a:r>
          </a:p>
          <a:p>
            <a:pPr>
              <a:buFont typeface="Wingdings" pitchFamily="2" charset="2"/>
              <a:buChar char="Ø"/>
            </a:pPr>
            <a:r>
              <a:rPr lang="en-US" dirty="0" smtClean="0"/>
              <a:t> </a:t>
            </a:r>
            <a:r>
              <a:rPr lang="en-US" dirty="0" smtClean="0">
                <a:solidFill>
                  <a:srgbClr val="FF0000"/>
                </a:solidFill>
              </a:rPr>
              <a:t>Two additional steps are added for existing processes (and can be done in parallel) </a:t>
            </a:r>
          </a:p>
          <a:p>
            <a:pPr>
              <a:buFont typeface="Wingdings" pitchFamily="2" charset="2"/>
              <a:buChar char="Ø"/>
            </a:pPr>
            <a:r>
              <a:rPr lang="en-US" dirty="0" smtClean="0">
                <a:solidFill>
                  <a:srgbClr val="FF0000"/>
                </a:solidFill>
              </a:rPr>
              <a:t> Improve </a:t>
            </a:r>
            <a:r>
              <a:rPr lang="en-US" dirty="0" smtClean="0"/>
              <a:t>the process by eliminating the root causes of defects </a:t>
            </a:r>
          </a:p>
          <a:p>
            <a:pPr>
              <a:buFont typeface="Wingdings" pitchFamily="2" charset="2"/>
              <a:buChar char="Ø"/>
            </a:pPr>
            <a:r>
              <a:rPr lang="en-US" dirty="0" smtClean="0"/>
              <a:t> </a:t>
            </a:r>
            <a:r>
              <a:rPr lang="en-US" dirty="0" smtClean="0">
                <a:solidFill>
                  <a:srgbClr val="FF0000"/>
                </a:solidFill>
              </a:rPr>
              <a:t>Control</a:t>
            </a:r>
            <a:r>
              <a:rPr lang="en-US" dirty="0" smtClean="0"/>
              <a:t> the process to ensure that future work does not reintroduce the causes of defects</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lvl="0">
              <a:buNone/>
            </a:pPr>
            <a:r>
              <a:rPr lang="en-US" dirty="0" smtClean="0"/>
              <a:t> All of these steps need to be performed so that you can manage the process to accomplish something </a:t>
            </a:r>
          </a:p>
          <a:p>
            <a:pPr lvl="0">
              <a:buNone/>
            </a:pPr>
            <a:r>
              <a:rPr lang="en-US" dirty="0" smtClean="0"/>
              <a:t> You cannot effectively manage and improve a process until you first do these steps (in this order):</a:t>
            </a:r>
            <a:r>
              <a:rPr lang="en-US" dirty="0" smtClean="0">
                <a:solidFill>
                  <a:srgbClr val="FF0000"/>
                </a:solidFill>
              </a:rPr>
              <a:t> </a:t>
            </a:r>
            <a:endParaRPr lang="en-IN" dirty="0">
              <a:solidFill>
                <a:srgbClr val="FF0000"/>
              </a:solidFill>
            </a:endParaRPr>
          </a:p>
        </p:txBody>
      </p:sp>
      <p:pic>
        <p:nvPicPr>
          <p:cNvPr id="2050" name="Picture 2"/>
          <p:cNvPicPr>
            <a:picLocks noChangeAspect="1" noChangeArrowheads="1"/>
          </p:cNvPicPr>
          <p:nvPr/>
        </p:nvPicPr>
        <p:blipFill>
          <a:blip r:embed="rId2"/>
          <a:srcRect/>
          <a:stretch>
            <a:fillRect/>
          </a:stretch>
        </p:blipFill>
        <p:spPr bwMode="auto">
          <a:xfrm>
            <a:off x="0" y="2209800"/>
            <a:ext cx="9144000" cy="464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a:bodyPr>
          <a:lstStyle/>
          <a:p>
            <a:pPr lvl="0" algn="ctr"/>
            <a:r>
              <a:rPr lang="en-US" b="1" u="sng" dirty="0" smtClean="0">
                <a:solidFill>
                  <a:srgbClr val="FF0000"/>
                </a:solidFill>
              </a:rPr>
              <a:t>Total Quality Management</a:t>
            </a:r>
          </a:p>
          <a:p>
            <a:pPr lvl="0"/>
            <a:r>
              <a:rPr lang="en-US" dirty="0" smtClean="0">
                <a:solidFill>
                  <a:srgbClr val="FF0000"/>
                </a:solidFill>
              </a:rPr>
              <a:t>Before Study the Total Quality management we learn Quality management </a:t>
            </a:r>
          </a:p>
          <a:p>
            <a:pPr lvl="0"/>
            <a:r>
              <a:rPr lang="en-US" dirty="0" smtClean="0">
                <a:solidFill>
                  <a:srgbClr val="FF0000"/>
                </a:solidFill>
              </a:rPr>
              <a:t>Quality management :</a:t>
            </a:r>
            <a:r>
              <a:rPr lang="en-US" dirty="0" smtClean="0"/>
              <a:t> Quality management ensures that an organization, product or service is consistent. </a:t>
            </a:r>
          </a:p>
          <a:p>
            <a:pPr lvl="0"/>
            <a:r>
              <a:rPr lang="en-US" dirty="0" smtClean="0"/>
              <a:t>It has four main components: quality planning, quality assurance, quality control and quality improvement. </a:t>
            </a:r>
          </a:p>
          <a:p>
            <a:pPr lvl="0"/>
            <a:r>
              <a:rPr lang="en-US" dirty="0" smtClean="0"/>
              <a:t>Quality management is focused not only on product and service quality, but also on the means to achieve it.</a:t>
            </a:r>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pPr lvl="0" algn="ctr"/>
            <a:r>
              <a:rPr lang="en-US" b="1" u="sng" dirty="0" smtClean="0">
                <a:solidFill>
                  <a:srgbClr val="FF0000"/>
                </a:solidFill>
              </a:rPr>
              <a:t>Total Quality Management</a:t>
            </a:r>
          </a:p>
          <a:p>
            <a:pPr lvl="0"/>
            <a:r>
              <a:rPr lang="en-US" dirty="0" smtClean="0">
                <a:solidFill>
                  <a:srgbClr val="C00000"/>
                </a:solidFill>
              </a:rPr>
              <a:t>Introduction</a:t>
            </a:r>
            <a:r>
              <a:rPr lang="en-US" dirty="0" smtClean="0"/>
              <a:t>: Total quality management (TQM) is a term that originated in the 1950s and is today used mainly in Japan. It is the equivalent of what other countries or organizations may call a company-wide quality management system, enterprise quality management system, or integrated quality management system, to name a few.</a:t>
            </a:r>
            <a:endParaRPr lang="en-US" b="1" u="sng" dirty="0" smtClean="0">
              <a:solidFill>
                <a:srgbClr val="FF0000"/>
              </a:solidFill>
            </a:endParaRPr>
          </a:p>
          <a:p>
            <a:pPr algn="ctr"/>
            <a:r>
              <a:rPr lang="en-US" b="1" dirty="0" smtClean="0">
                <a:solidFill>
                  <a:srgbClr val="FF0000"/>
                </a:solidFill>
              </a:rPr>
              <a:t>What is total quality management?</a:t>
            </a:r>
          </a:p>
          <a:p>
            <a:r>
              <a:rPr lang="en-US" dirty="0" smtClean="0"/>
              <a:t>Total quality management (TQM) is </a:t>
            </a:r>
            <a:r>
              <a:rPr lang="en-US" b="1" dirty="0" smtClean="0"/>
              <a:t>the continual process of detecting and reducing or eliminating errors in manufacturing, streamlining supply chain management, improving the customer experience, and ensuring that employees are up to speed with training</a:t>
            </a:r>
            <a:r>
              <a:rPr lang="en-US" dirty="0" smtClean="0"/>
              <a:t>.</a:t>
            </a:r>
          </a:p>
          <a:p>
            <a:pPr lvl="0"/>
            <a:endParaRPr lang="en-IN" dirty="0">
              <a:latin typeface="Aparajita" pitchFamily="34" charset="0"/>
              <a:cs typeface="Aparajita" pitchFamily="34" charset="0"/>
            </a:endParaRP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10000"/>
          </a:bodyPr>
          <a:lstStyle/>
          <a:p>
            <a:pPr algn="ctr"/>
            <a:r>
              <a:rPr lang="en-US" sz="2800" dirty="0" smtClean="0"/>
              <a:t>The term ‘total’ means the entire </a:t>
            </a:r>
            <a:r>
              <a:rPr lang="en-US" sz="2800" dirty="0" smtClean="0">
                <a:solidFill>
                  <a:srgbClr val="C00000"/>
                </a:solidFill>
              </a:rPr>
              <a:t>organization—all teams, departments and functions—is involved in quality management</a:t>
            </a:r>
            <a:r>
              <a:rPr lang="en-US" sz="2800" dirty="0" smtClean="0"/>
              <a:t>. The ‘system’ refers to the managerial and technological methods to achieve quality requirements and business objectives throughout an entire organization. Although it may go by various names, </a:t>
            </a:r>
            <a:r>
              <a:rPr lang="en-US" sz="2800" dirty="0" err="1" smtClean="0"/>
              <a:t>Juran</a:t>
            </a:r>
            <a:r>
              <a:rPr lang="en-US" sz="2800" dirty="0" smtClean="0"/>
              <a:t> believes ‘enterprise excellence’ to be a more appropriate name for TQM.</a:t>
            </a:r>
          </a:p>
          <a:p>
            <a:r>
              <a:rPr lang="en-US" sz="2800" b="1" dirty="0" smtClean="0"/>
              <a:t>Total quality management ensures that every single employee is working towards the improvement of work culture, processes, services, systems and so on to ensure long term success</a:t>
            </a:r>
            <a:r>
              <a:rPr lang="en-US" sz="2800" dirty="0" smtClean="0"/>
              <a:t>.</a:t>
            </a:r>
          </a:p>
          <a:p>
            <a:r>
              <a:rPr lang="en-US" sz="2800" dirty="0" smtClean="0"/>
              <a:t>Total Quality management can be divided into four categories:</a:t>
            </a:r>
          </a:p>
          <a:p>
            <a:r>
              <a:rPr lang="en-US" sz="2800" dirty="0" smtClean="0"/>
              <a:t>Plan</a:t>
            </a:r>
          </a:p>
          <a:p>
            <a:r>
              <a:rPr lang="en-US" sz="2800" dirty="0" smtClean="0"/>
              <a:t>Do</a:t>
            </a:r>
          </a:p>
          <a:p>
            <a:r>
              <a:rPr lang="en-US" sz="2800" dirty="0" smtClean="0"/>
              <a:t>Check</a:t>
            </a:r>
          </a:p>
          <a:p>
            <a:r>
              <a:rPr lang="en-US" sz="2800" dirty="0" smtClean="0"/>
              <a:t>Act</a:t>
            </a: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r>
              <a:rPr lang="en-US" b="1" dirty="0" smtClean="0">
                <a:solidFill>
                  <a:srgbClr val="C00000"/>
                </a:solidFill>
              </a:rPr>
              <a:t>Planning Phase</a:t>
            </a:r>
            <a:endParaRPr lang="en-US" dirty="0" smtClean="0">
              <a:solidFill>
                <a:srgbClr val="C00000"/>
              </a:solidFill>
            </a:endParaRPr>
          </a:p>
          <a:p>
            <a:r>
              <a:rPr lang="en-US" dirty="0" smtClean="0"/>
              <a:t>Planning is the most crucial phase of total quality management. In this phase employees have to come up with their problems and queries which need to be addressed. They need to come up with the various challenges they face in their day to day operations and also analyze the problem’s root cause. Employees are required to do necessary research and collect relevant data which would help them find solutions to all the problems.</a:t>
            </a:r>
          </a:p>
          <a:p>
            <a:r>
              <a:rPr lang="en-US" b="1" dirty="0" smtClean="0">
                <a:solidFill>
                  <a:srgbClr val="C00000"/>
                </a:solidFill>
              </a:rPr>
              <a:t>Doing Phase</a:t>
            </a:r>
            <a:endParaRPr lang="en-US" dirty="0" smtClean="0">
              <a:solidFill>
                <a:srgbClr val="C00000"/>
              </a:solidFill>
            </a:endParaRPr>
          </a:p>
          <a:p>
            <a:r>
              <a:rPr lang="en-US" dirty="0" smtClean="0"/>
              <a:t>In the doing phase, employees develop a solution for the problems defined in planning phase. Strategies are devised and implemented to overcome the challenges faced by employees. The effectiveness of solutions and strategies is also measured in this stage.</a:t>
            </a:r>
          </a:p>
          <a:p>
            <a:r>
              <a:rPr lang="en-US" b="1" dirty="0" smtClean="0">
                <a:solidFill>
                  <a:srgbClr val="C00000"/>
                </a:solidFill>
              </a:rPr>
              <a:t>Checking Phase</a:t>
            </a:r>
            <a:endParaRPr lang="en-US" dirty="0" smtClean="0">
              <a:solidFill>
                <a:srgbClr val="C00000"/>
              </a:solidFill>
            </a:endParaRPr>
          </a:p>
          <a:p>
            <a:r>
              <a:rPr lang="en-US" dirty="0" smtClean="0"/>
              <a:t>Checking phase is the stage where people actually do a comparison analysis of before and after data to confirm the effectiveness of the processes and measure the results.</a:t>
            </a:r>
          </a:p>
          <a:p>
            <a:r>
              <a:rPr lang="en-US" b="1" dirty="0" smtClean="0">
                <a:solidFill>
                  <a:srgbClr val="C00000"/>
                </a:solidFill>
              </a:rPr>
              <a:t>Acting Phase</a:t>
            </a:r>
            <a:endParaRPr lang="en-US" dirty="0" smtClean="0">
              <a:solidFill>
                <a:srgbClr val="C00000"/>
              </a:solidFill>
            </a:endParaRPr>
          </a:p>
          <a:p>
            <a:r>
              <a:rPr lang="en-US" dirty="0" smtClean="0"/>
              <a:t>In this phase employees document their results and prepare themselves to address other problems.</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r>
              <a:rPr lang="en-US" b="1" dirty="0" smtClean="0">
                <a:solidFill>
                  <a:srgbClr val="C00000"/>
                </a:solidFill>
              </a:rPr>
              <a:t>Key Principles of TQM/Total Quality Management Principles:-</a:t>
            </a:r>
            <a:r>
              <a:rPr lang="en-US" sz="2800" dirty="0" smtClean="0"/>
              <a:t>Total quality management has a number of key principles which—when implemented together—can move any organization towards business excellence. </a:t>
            </a:r>
          </a:p>
          <a:p>
            <a:endParaRPr lang="en-US" sz="2800" dirty="0" smtClean="0">
              <a:solidFill>
                <a:srgbClr val="C00000"/>
              </a:solidFill>
            </a:endParaRPr>
          </a:p>
        </p:txBody>
      </p:sp>
      <p:pic>
        <p:nvPicPr>
          <p:cNvPr id="4" name="Picture 2"/>
          <p:cNvPicPr>
            <a:picLocks noChangeAspect="1" noChangeArrowheads="1"/>
          </p:cNvPicPr>
          <p:nvPr/>
        </p:nvPicPr>
        <p:blipFill>
          <a:blip r:embed="rId2"/>
          <a:srcRect/>
          <a:stretch>
            <a:fillRect/>
          </a:stretch>
        </p:blipFill>
        <p:spPr bwMode="auto">
          <a:xfrm>
            <a:off x="0" y="2057400"/>
            <a:ext cx="8839200" cy="4800600"/>
          </a:xfrm>
          <a:prstGeom prst="rect">
            <a:avLst/>
          </a:prstGeom>
          <a:noFill/>
          <a:ln w="9525">
            <a:noFill/>
            <a:miter lim="800000"/>
            <a:headEnd/>
            <a:tailEnd/>
          </a:ln>
          <a:effectLst/>
        </p:spPr>
      </p:pic>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3600" dirty="0" smtClean="0">
                <a:solidFill>
                  <a:srgbClr val="C00000"/>
                </a:solidFill>
              </a:rPr>
              <a:t>Achieving this is accomplished with a laser-focus on the principles of TQM:</a:t>
            </a:r>
          </a:p>
          <a:p>
            <a:pPr fontAlgn="base"/>
            <a:r>
              <a:rPr lang="en-US" b="1" dirty="0" smtClean="0">
                <a:solidFill>
                  <a:srgbClr val="C00000"/>
                </a:solidFill>
              </a:rPr>
              <a:t>1. </a:t>
            </a:r>
            <a:r>
              <a:rPr lang="en-US" b="1" dirty="0" smtClean="0">
                <a:solidFill>
                  <a:srgbClr val="002060"/>
                </a:solidFill>
              </a:rPr>
              <a:t>Customer first:</a:t>
            </a:r>
            <a:r>
              <a:rPr lang="en-US" dirty="0" smtClean="0">
                <a:solidFill>
                  <a:srgbClr val="002060"/>
                </a:solidFill>
              </a:rPr>
              <a:t> </a:t>
            </a:r>
          </a:p>
          <a:p>
            <a:pPr fontAlgn="base"/>
            <a:r>
              <a:rPr lang="en-US" b="1" dirty="0" smtClean="0">
                <a:solidFill>
                  <a:srgbClr val="C00000"/>
                </a:solidFill>
              </a:rPr>
              <a:t>2. </a:t>
            </a:r>
            <a:r>
              <a:rPr lang="en-US" b="1" dirty="0" smtClean="0">
                <a:solidFill>
                  <a:srgbClr val="002060"/>
                </a:solidFill>
              </a:rPr>
              <a:t>Employee ownership/ commitment:</a:t>
            </a:r>
            <a:r>
              <a:rPr lang="en-US" dirty="0" smtClean="0"/>
              <a:t> </a:t>
            </a:r>
          </a:p>
          <a:p>
            <a:pPr fontAlgn="base"/>
            <a:r>
              <a:rPr lang="en-US" b="1" dirty="0" smtClean="0">
                <a:solidFill>
                  <a:srgbClr val="C00000"/>
                </a:solidFill>
              </a:rPr>
              <a:t>3. </a:t>
            </a:r>
            <a:r>
              <a:rPr lang="en-US" b="1" dirty="0" smtClean="0">
                <a:solidFill>
                  <a:srgbClr val="002060"/>
                </a:solidFill>
              </a:rPr>
              <a:t>Process-Centered based </a:t>
            </a:r>
            <a:endParaRPr lang="en-US" dirty="0" smtClean="0">
              <a:solidFill>
                <a:srgbClr val="002060"/>
              </a:solidFill>
            </a:endParaRPr>
          </a:p>
          <a:p>
            <a:pPr fontAlgn="base"/>
            <a:r>
              <a:rPr lang="en-US" b="1" dirty="0" smtClean="0">
                <a:solidFill>
                  <a:srgbClr val="C00000"/>
                </a:solidFill>
              </a:rPr>
              <a:t>4. </a:t>
            </a:r>
            <a:r>
              <a:rPr lang="en-US" b="1" dirty="0" smtClean="0">
                <a:solidFill>
                  <a:srgbClr val="002060"/>
                </a:solidFill>
              </a:rPr>
              <a:t>System integration:</a:t>
            </a:r>
            <a:r>
              <a:rPr lang="en-US" dirty="0" smtClean="0">
                <a:solidFill>
                  <a:srgbClr val="002060"/>
                </a:solidFill>
              </a:rPr>
              <a:t> </a:t>
            </a:r>
          </a:p>
          <a:p>
            <a:pPr fontAlgn="base"/>
            <a:r>
              <a:rPr lang="en-US" b="1" dirty="0" smtClean="0">
                <a:solidFill>
                  <a:srgbClr val="C00000"/>
                </a:solidFill>
              </a:rPr>
              <a:t>5. </a:t>
            </a:r>
            <a:r>
              <a:rPr lang="en-US" b="1" dirty="0" smtClean="0">
                <a:solidFill>
                  <a:srgbClr val="002060"/>
                </a:solidFill>
              </a:rPr>
              <a:t>Effective Communication:</a:t>
            </a:r>
            <a:r>
              <a:rPr lang="en-US" dirty="0" smtClean="0">
                <a:solidFill>
                  <a:srgbClr val="002060"/>
                </a:solidFill>
              </a:rPr>
              <a:t> </a:t>
            </a:r>
          </a:p>
          <a:p>
            <a:pPr fontAlgn="base"/>
            <a:r>
              <a:rPr lang="en-US" b="1" dirty="0" smtClean="0">
                <a:solidFill>
                  <a:srgbClr val="C00000"/>
                </a:solidFill>
              </a:rPr>
              <a:t>6. </a:t>
            </a:r>
            <a:r>
              <a:rPr lang="en-US" b="1" dirty="0" smtClean="0">
                <a:solidFill>
                  <a:srgbClr val="002060"/>
                </a:solidFill>
              </a:rPr>
              <a:t>Data-driven:</a:t>
            </a:r>
            <a:r>
              <a:rPr lang="en-US" dirty="0" smtClean="0">
                <a:solidFill>
                  <a:srgbClr val="002060"/>
                </a:solidFill>
              </a:rPr>
              <a:t> </a:t>
            </a:r>
          </a:p>
          <a:p>
            <a:pPr fontAlgn="base"/>
            <a:r>
              <a:rPr lang="en-US" b="1" dirty="0" smtClean="0">
                <a:solidFill>
                  <a:srgbClr val="C00000"/>
                </a:solidFill>
              </a:rPr>
              <a:t>7. </a:t>
            </a:r>
            <a:r>
              <a:rPr lang="en-US" b="1" dirty="0" smtClean="0">
                <a:solidFill>
                  <a:srgbClr val="002060"/>
                </a:solidFill>
              </a:rPr>
              <a:t>Continuous/Constant improvement:</a:t>
            </a:r>
            <a:r>
              <a:rPr lang="en-US" smtClean="0">
                <a:solidFill>
                  <a:srgbClr val="002060"/>
                </a:solidFill>
              </a:rPr>
              <a:t> </a:t>
            </a:r>
            <a:endParaRPr lang="en-US" dirty="0" smtClean="0">
              <a:solidFill>
                <a:srgbClr val="002060"/>
              </a:solidFill>
            </a:endParaRPr>
          </a:p>
        </p:txBody>
      </p:sp>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r>
              <a:rPr lang="en-US" dirty="0" smtClean="0">
                <a:solidFill>
                  <a:srgbClr val="C00000"/>
                </a:solidFill>
              </a:rPr>
              <a:t>Achieving this is accomplished with a laser-focus on the principles of TQM:</a:t>
            </a:r>
          </a:p>
          <a:p>
            <a:pPr fontAlgn="base"/>
            <a:r>
              <a:rPr lang="en-US" b="1" dirty="0" smtClean="0">
                <a:solidFill>
                  <a:srgbClr val="C00000"/>
                </a:solidFill>
              </a:rPr>
              <a:t>1. Customer first:</a:t>
            </a:r>
            <a:r>
              <a:rPr lang="en-US" dirty="0" smtClean="0"/>
              <a:t> TQM’s first and foremost pillar of success is an unwavering focus on the customer’s experience in all interactions with the organization. From first contact through purchase and continued support, the customer should always be the main priority.</a:t>
            </a:r>
          </a:p>
          <a:p>
            <a:pPr fontAlgn="base"/>
            <a:r>
              <a:rPr lang="en-US" b="1" dirty="0" smtClean="0">
                <a:solidFill>
                  <a:srgbClr val="C00000"/>
                </a:solidFill>
              </a:rPr>
              <a:t>2. Employee ownership/ commitment:</a:t>
            </a:r>
            <a:r>
              <a:rPr lang="en-US" dirty="0" smtClean="0"/>
              <a:t> TQM requires the involvement of every team member to ensure that complete quality control is offered at every level. TQM doesn’t focus on a single department because the goal is to provide customers with a great experience from every level of the organization.</a:t>
            </a:r>
          </a:p>
          <a:p>
            <a:endParaRPr lang="en-IN" b="1" dirty="0"/>
          </a:p>
        </p:txBody>
      </p:sp>
    </p:spTree>
    <p:extLst>
      <p:ext uri="{BB962C8B-B14F-4D97-AF65-F5344CB8AC3E}">
        <p14:creationId xmlns:p14="http://schemas.microsoft.com/office/powerpoint/2010/main" xmlns="" val="69833852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fontAlgn="base"/>
            <a:r>
              <a:rPr lang="en-US" b="1" dirty="0" smtClean="0">
                <a:solidFill>
                  <a:srgbClr val="C00000"/>
                </a:solidFill>
              </a:rPr>
              <a:t>3. Process-Centered</a:t>
            </a:r>
            <a:r>
              <a:rPr lang="en-US" b="1" dirty="0" smtClean="0"/>
              <a:t> </a:t>
            </a:r>
            <a:r>
              <a:rPr lang="en-US" b="1" dirty="0" smtClean="0">
                <a:solidFill>
                  <a:srgbClr val="C00000"/>
                </a:solidFill>
              </a:rPr>
              <a:t>based </a:t>
            </a:r>
            <a:r>
              <a:rPr lang="en-US" dirty="0" smtClean="0"/>
              <a:t>TQM focuses on the creation and implementation of processes that provide organizations with the ability to find success and repeat it. Quantifying success and defining the steps taken to get there are essential for successful implementation of TQM.</a:t>
            </a:r>
          </a:p>
          <a:p>
            <a:pPr fontAlgn="base"/>
            <a:r>
              <a:rPr lang="en-US" b="1" dirty="0" smtClean="0">
                <a:solidFill>
                  <a:srgbClr val="C00000"/>
                </a:solidFill>
              </a:rPr>
              <a:t>4. System integration:</a:t>
            </a:r>
            <a:r>
              <a:rPr lang="en-US" dirty="0" smtClean="0"/>
              <a:t> TQM strategies revolve around leveraging every asset available to the company. This is best achieved through system integrations that combine disparate parts of the organization into a single, well-oiled machine working in complete synergy.</a:t>
            </a:r>
            <a:endParaRPr lang="en-US" dirty="0"/>
          </a:p>
        </p:txBody>
      </p:sp>
    </p:spTree>
    <p:extLst>
      <p:ext uri="{BB962C8B-B14F-4D97-AF65-F5344CB8AC3E}">
        <p14:creationId xmlns:p14="http://schemas.microsoft.com/office/powerpoint/2010/main" xmlns="" val="191524766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pPr fontAlgn="base"/>
            <a:r>
              <a:rPr lang="en-US" b="1" dirty="0" smtClean="0">
                <a:solidFill>
                  <a:srgbClr val="C00000"/>
                </a:solidFill>
              </a:rPr>
              <a:t>5. Effective</a:t>
            </a:r>
            <a:r>
              <a:rPr lang="en-US" b="1" dirty="0" smtClean="0"/>
              <a:t> </a:t>
            </a:r>
            <a:r>
              <a:rPr lang="en-US" b="1" dirty="0" smtClean="0">
                <a:solidFill>
                  <a:srgbClr val="C00000"/>
                </a:solidFill>
              </a:rPr>
              <a:t>Communication:</a:t>
            </a:r>
            <a:r>
              <a:rPr lang="en-US" dirty="0" smtClean="0"/>
              <a:t> TQM requires every team member to be at their best and to function as a value-adding member of that team. This means communication and transparency is a core tenet of successful TQM practices.</a:t>
            </a:r>
          </a:p>
          <a:p>
            <a:pPr fontAlgn="base"/>
            <a:r>
              <a:rPr lang="en-US" b="1" dirty="0" smtClean="0">
                <a:solidFill>
                  <a:srgbClr val="C00000"/>
                </a:solidFill>
              </a:rPr>
              <a:t>6. Data-driven:</a:t>
            </a:r>
            <a:r>
              <a:rPr lang="en-US" dirty="0" smtClean="0"/>
              <a:t> TQM doesn’t employ guesswork. Instead, data is leveraged for the improvement of the organization and decisions are made based on quantifiable facts.</a:t>
            </a:r>
          </a:p>
          <a:p>
            <a:pPr fontAlgn="base"/>
            <a:r>
              <a:rPr lang="en-US" b="1" dirty="0" smtClean="0">
                <a:solidFill>
                  <a:srgbClr val="C00000"/>
                </a:solidFill>
              </a:rPr>
              <a:t>7. Continuous/Constant improvement:</a:t>
            </a:r>
            <a:r>
              <a:rPr lang="en-US" dirty="0" smtClean="0"/>
              <a:t> TQM isn’t a one and done process. Perfection is impossible, so it must always be pursued to get the organization as close as possible to it.</a:t>
            </a:r>
          </a:p>
          <a:p>
            <a:pPr fontAlgn="base"/>
            <a:r>
              <a:rPr lang="en-US" dirty="0" smtClean="0"/>
              <a:t>These pillars of TQM act as a framework for every decision made within the methodology. Whenever your organization feels lost, the TQM ideals are your guiding stars for righting course.</a:t>
            </a:r>
          </a:p>
          <a:p>
            <a:pPr fontAlgn="base"/>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pPr algn="ctr" fontAlgn="base"/>
            <a:r>
              <a:rPr lang="en-US" sz="5600" u="sng" dirty="0" smtClean="0">
                <a:solidFill>
                  <a:srgbClr val="C00000"/>
                </a:solidFill>
              </a:rPr>
              <a:t>How to implement TQM</a:t>
            </a:r>
          </a:p>
          <a:p>
            <a:pPr fontAlgn="base"/>
            <a:r>
              <a:rPr lang="en-US" dirty="0" smtClean="0"/>
              <a:t>The first step for implementing any new system is an honest assessment of the organization as it is today. Implementation of TQM is something that has to be applied to the current structure of the organization; there is no step-by-step guide that will tell you how to do it for your business. Each business is unique and requires its own approach, but the core tenets of TQM can guide each decision.</a:t>
            </a:r>
          </a:p>
          <a:p>
            <a:pPr fontAlgn="base"/>
            <a:r>
              <a:rPr lang="en-US" dirty="0" smtClean="0">
                <a:solidFill>
                  <a:srgbClr val="C00000"/>
                </a:solidFill>
              </a:rPr>
              <a:t>1. Emphasize customer satisfaction:-</a:t>
            </a:r>
          </a:p>
          <a:p>
            <a:pPr fontAlgn="base"/>
            <a:r>
              <a:rPr lang="en-US" dirty="0" smtClean="0"/>
              <a:t>Creating an emphasis on </a:t>
            </a:r>
            <a:r>
              <a:rPr lang="en-US" dirty="0" smtClean="0">
                <a:hlinkClick r:id="rId2"/>
              </a:rPr>
              <a:t>customer satisfaction</a:t>
            </a:r>
            <a:r>
              <a:rPr lang="en-US" dirty="0" smtClean="0"/>
              <a:t> will change the way departments think about their duties. If something they are doing isn’t aiding in the improvement of the quality of the product or increasing the customer’s experience, they aren’t headed in the right direction.</a:t>
            </a: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fontAlgn="base"/>
            <a:r>
              <a:rPr lang="en-US" dirty="0" smtClean="0"/>
              <a:t>Each employee should take ownership of their role and be ready to consider ways in which they can improve their own department and outputs.</a:t>
            </a:r>
          </a:p>
          <a:p>
            <a:pPr fontAlgn="base"/>
            <a:r>
              <a:rPr lang="en-US" dirty="0" smtClean="0">
                <a:solidFill>
                  <a:srgbClr val="C00000"/>
                </a:solidFill>
              </a:rPr>
              <a:t>2. Communicate with everyone:</a:t>
            </a:r>
          </a:p>
          <a:p>
            <a:pPr fontAlgn="base"/>
            <a:r>
              <a:rPr lang="en-US" dirty="0" smtClean="0"/>
              <a:t>Communication throughout the organization is essential for educating everyone about the changes that are coming while also providing an avenue for receiving feedback. As they say, communication is a two-way street. </a:t>
            </a:r>
          </a:p>
          <a:p>
            <a:pPr fontAlgn="base"/>
            <a:r>
              <a:rPr lang="en-US" dirty="0" smtClean="0"/>
              <a:t>Employees will have a much easier time establishing a feeling of ownership over the process when they know their voice is heard and they had a hand in guiding the changes.</a:t>
            </a:r>
          </a:p>
          <a:p>
            <a:pPr lvl="0"/>
            <a:endParaRPr lang="en-IN" dirty="0">
              <a:latin typeface="Aparajita" pitchFamily="34" charset="0"/>
              <a:cs typeface="Aparajita" pitchFamily="34" charset="0"/>
            </a:endParaRP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92500" lnSpcReduction="20000"/>
          </a:bodyPr>
          <a:lstStyle/>
          <a:p>
            <a:pPr fontAlgn="base"/>
            <a:r>
              <a:rPr lang="en-US" dirty="0" smtClean="0">
                <a:solidFill>
                  <a:srgbClr val="C00000"/>
                </a:solidFill>
              </a:rPr>
              <a:t>3. Manage errors</a:t>
            </a:r>
          </a:p>
          <a:p>
            <a:pPr fontAlgn="base"/>
            <a:r>
              <a:rPr lang="en-US" dirty="0" smtClean="0"/>
              <a:t>One of the most important aspects of delivering quality is managing errors. No matter how focused everyone is on driving quality, IT organizations will always run into one issue or another.</a:t>
            </a:r>
          </a:p>
          <a:p>
            <a:pPr fontAlgn="base"/>
            <a:r>
              <a:rPr lang="en-US" dirty="0" smtClean="0"/>
              <a:t>Creating processes that mitigate issues is essential for TQM success. Errors should be addressed and dealt with as quickly as possible of course, but they should also be recorded and tracked.</a:t>
            </a:r>
          </a:p>
          <a:p>
            <a:pPr fontAlgn="base"/>
            <a:r>
              <a:rPr lang="en-US" dirty="0" smtClean="0"/>
              <a:t>Recurrent issues could be indicative of a deeper issue, requiring large-scale changes to current procedures. </a:t>
            </a:r>
          </a:p>
          <a:p>
            <a:pPr fontAlgn="base"/>
            <a:r>
              <a:rPr lang="en-US" dirty="0" smtClean="0"/>
              <a:t>An error is an opportunity to assess a problem, but it’s also a chance to discover what is working. </a:t>
            </a:r>
          </a:p>
          <a:p>
            <a:pPr fontAlgn="base"/>
            <a:r>
              <a:rPr lang="en-US" dirty="0" smtClean="0"/>
              <a:t>Total quality management practitioners should take advantage of errors as a chance to learn from their mistakes and find ways to avoid them in the future.</a:t>
            </a:r>
            <a:endParaRPr lang="en-US" dirty="0"/>
          </a:p>
        </p:txBody>
      </p:sp>
    </p:spTree>
    <p:extLst>
      <p:ext uri="{BB962C8B-B14F-4D97-AF65-F5344CB8AC3E}">
        <p14:creationId xmlns:p14="http://schemas.microsoft.com/office/powerpoint/2010/main" xmlns="" val="328123100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endParaRPr lang="en-US" dirty="0" smtClean="0"/>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endParaRPr lang="en-US" dirty="0" smtClean="0">
              <a:latin typeface="Aparajita" pitchFamily="34" charset="0"/>
              <a:cs typeface="Aparajita" pitchFamily="34" charset="0"/>
            </a:endParaRPr>
          </a:p>
        </p:txBody>
      </p:sp>
    </p:spTree>
    <p:extLst>
      <p:ext uri="{BB962C8B-B14F-4D97-AF65-F5344CB8AC3E}">
        <p14:creationId xmlns:p14="http://schemas.microsoft.com/office/powerpoint/2010/main" xmlns="" val="21401369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12410</TotalTime>
  <Words>7392</Words>
  <Application>Microsoft Office PowerPoint</Application>
  <PresentationFormat>On-screen Show (4:3)</PresentationFormat>
  <Paragraphs>674</Paragraphs>
  <Slides>110</Slides>
  <Notes>2</Notes>
  <HiddenSlides>0</HiddenSlides>
  <MMClips>0</MMClips>
  <ScaleCrop>false</ScaleCrop>
  <HeadingPairs>
    <vt:vector size="4" baseType="variant">
      <vt:variant>
        <vt:lpstr>Theme</vt:lpstr>
      </vt:variant>
      <vt:variant>
        <vt:i4>1</vt:i4>
      </vt:variant>
      <vt:variant>
        <vt:lpstr>Slide Titles</vt:lpstr>
      </vt:variant>
      <vt:variant>
        <vt:i4>110</vt:i4>
      </vt:variant>
    </vt:vector>
  </HeadingPairs>
  <TitlesOfParts>
    <vt:vector size="111" baseType="lpstr">
      <vt:lpstr>Office Theme</vt:lpstr>
      <vt:lpstr>Slide 1</vt:lpstr>
      <vt:lpstr>Slide 2</vt:lpstr>
      <vt:lpstr>   BMC-035-Software Quality Engineering  </vt:lpstr>
      <vt:lpstr>   BMC-035-Software Quality Engineering  </vt:lpstr>
      <vt:lpstr>  BMC-035-Software Quality Engineering </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RCA-E-31 Cloud Computing Syllabus</dc:title>
  <dc:creator>jim107</dc:creator>
  <cp:lastModifiedBy>Vishnu Shukla</cp:lastModifiedBy>
  <cp:revision>594</cp:revision>
  <dcterms:created xsi:type="dcterms:W3CDTF">2019-07-02T09:59:50Z</dcterms:created>
  <dcterms:modified xsi:type="dcterms:W3CDTF">2026-04-06T05:20:45Z</dcterms:modified>
</cp:coreProperties>
</file>