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3"/>
  </p:notesMasterIdLst>
  <p:sldIdLst>
    <p:sldId id="332" r:id="rId2"/>
    <p:sldId id="301" r:id="rId3"/>
    <p:sldId id="337" r:id="rId4"/>
    <p:sldId id="335" r:id="rId5"/>
    <p:sldId id="334" r:id="rId6"/>
    <p:sldId id="327" r:id="rId7"/>
    <p:sldId id="343" r:id="rId8"/>
    <p:sldId id="346" r:id="rId9"/>
    <p:sldId id="349" r:id="rId10"/>
    <p:sldId id="347" r:id="rId11"/>
    <p:sldId id="348" r:id="rId12"/>
    <p:sldId id="353" r:id="rId13"/>
    <p:sldId id="355" r:id="rId14"/>
    <p:sldId id="345" r:id="rId15"/>
    <p:sldId id="350" r:id="rId16"/>
    <p:sldId id="351" r:id="rId17"/>
    <p:sldId id="352" r:id="rId18"/>
    <p:sldId id="354" r:id="rId19"/>
    <p:sldId id="358" r:id="rId20"/>
    <p:sldId id="359" r:id="rId21"/>
    <p:sldId id="360" r:id="rId22"/>
    <p:sldId id="361" r:id="rId23"/>
    <p:sldId id="362" r:id="rId24"/>
    <p:sldId id="363" r:id="rId25"/>
    <p:sldId id="356" r:id="rId26"/>
    <p:sldId id="357" r:id="rId27"/>
    <p:sldId id="364" r:id="rId28"/>
    <p:sldId id="365" r:id="rId29"/>
    <p:sldId id="366" r:id="rId30"/>
    <p:sldId id="367" r:id="rId31"/>
    <p:sldId id="368"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6A8"/>
    <a:srgbClr val="ECED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188" autoAdjust="0"/>
    <p:restoredTop sz="99645" autoAdjust="0"/>
  </p:normalViewPr>
  <p:slideViewPr>
    <p:cSldViewPr>
      <p:cViewPr varScale="1">
        <p:scale>
          <a:sx n="55" d="100"/>
          <a:sy n="55" d="100"/>
        </p:scale>
        <p:origin x="42" y="378"/>
      </p:cViewPr>
      <p:guideLst>
        <p:guide orient="horz" pos="2160"/>
        <p:guide pos="2880"/>
      </p:guideLst>
    </p:cSldViewPr>
  </p:slideViewPr>
  <p:notesTextViewPr>
    <p:cViewPr>
      <p:scale>
        <a:sx n="1" d="1"/>
        <a:sy n="1" d="1"/>
      </p:scale>
      <p:origin x="0" y="0"/>
    </p:cViewPr>
  </p:notesTextViewPr>
  <p:sorterViewPr>
    <p:cViewPr>
      <p:scale>
        <a:sx n="75" d="100"/>
        <a:sy n="75" d="100"/>
      </p:scale>
      <p:origin x="0" y="385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1777178-2AE4-4222-83F1-405C3FDC17C8}" type="datetimeFigureOut">
              <a:rPr lang="en-US" smtClean="0"/>
              <a:t>3/27/2026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7209CAC-E061-48A7-840B-B6349232516B}" type="slidenum">
              <a:rPr lang="en-US" smtClean="0"/>
              <a:t>‹#›</a:t>
            </a:fld>
            <a:endParaRPr lang="en-US"/>
          </a:p>
        </p:txBody>
      </p:sp>
    </p:spTree>
    <p:extLst>
      <p:ext uri="{BB962C8B-B14F-4D97-AF65-F5344CB8AC3E}">
        <p14:creationId xmlns:p14="http://schemas.microsoft.com/office/powerpoint/2010/main" val="4992212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366D783-408F-4FEA-A2B8-B64AAB5EA06B}" type="slidenum">
              <a:rPr lang="en-US" smtClean="0"/>
              <a:t>2</a:t>
            </a:fld>
            <a:endParaRPr lang="en-US"/>
          </a:p>
        </p:txBody>
      </p:sp>
    </p:spTree>
    <p:extLst>
      <p:ext uri="{BB962C8B-B14F-4D97-AF65-F5344CB8AC3E}">
        <p14:creationId xmlns:p14="http://schemas.microsoft.com/office/powerpoint/2010/main" val="17513674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4" name="Rectangle 6"/>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9"/>
          <p:cNvSpPr/>
          <p:nvPr/>
        </p:nvSpPr>
        <p:spPr>
          <a:xfrm>
            <a:off x="-9525" y="6053138"/>
            <a:ext cx="2249488"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10"/>
          <p:cNvSpPr/>
          <p:nvPr/>
        </p:nvSpPr>
        <p:spPr>
          <a:xfrm>
            <a:off x="2359025" y="6043613"/>
            <a:ext cx="6784975"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7" name="Date Placeholder 27"/>
          <p:cNvSpPr>
            <a:spLocks noGrp="1"/>
          </p:cNvSpPr>
          <p:nvPr>
            <p:ph type="dt" sz="half" idx="10"/>
          </p:nvPr>
        </p:nvSpPr>
        <p:spPr>
          <a:xfrm>
            <a:off x="76200" y="6069013"/>
            <a:ext cx="2057400" cy="685800"/>
          </a:xfrm>
        </p:spPr>
        <p:txBody>
          <a:bodyPr>
            <a:noAutofit/>
          </a:bodyPr>
          <a:lstStyle>
            <a:lvl1pPr algn="ctr">
              <a:defRPr sz="2000">
                <a:solidFill>
                  <a:srgbClr val="FFFFFF"/>
                </a:solidFill>
              </a:defRPr>
            </a:lvl1pPr>
          </a:lstStyle>
          <a:p>
            <a:fld id="{EEDC4B60-7EB2-41AB-BE53-E9D2767C2DE4}" type="datetime1">
              <a:rPr lang="en-US" smtClean="0"/>
              <a:t>3/27/2026</a:t>
            </a:fld>
            <a:endParaRPr lang="en-US"/>
          </a:p>
        </p:txBody>
      </p:sp>
      <p:sp>
        <p:nvSpPr>
          <p:cNvPr id="10" name="Footer Placeholder 16"/>
          <p:cNvSpPr>
            <a:spLocks noGrp="1"/>
          </p:cNvSpPr>
          <p:nvPr>
            <p:ph type="ftr" sz="quarter" idx="11"/>
          </p:nvPr>
        </p:nvSpPr>
        <p:spPr>
          <a:xfrm>
            <a:off x="2085975" y="236538"/>
            <a:ext cx="5867400" cy="365125"/>
          </a:xfrm>
        </p:spPr>
        <p:txBody>
          <a:bodyPr/>
          <a:lstStyle>
            <a:lvl1pPr algn="r">
              <a:defRPr>
                <a:solidFill>
                  <a:schemeClr val="tx2"/>
                </a:solidFill>
              </a:defRPr>
            </a:lvl1pPr>
          </a:lstStyle>
          <a:p>
            <a:r>
              <a:rPr lang="en-US" dirty="0"/>
              <a:t>MPEC2026</a:t>
            </a:r>
          </a:p>
        </p:txBody>
      </p:sp>
      <p:sp>
        <p:nvSpPr>
          <p:cNvPr id="11"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CB779743-7B81-4FB7-A3E2-1ACEC99CD8CF}"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a:t>Click to edit Master title style</a:t>
            </a:r>
          </a:p>
        </p:txBody>
      </p:sp>
      <p:sp>
        <p:nvSpPr>
          <p:cNvPr id="8" name="Content Placeholder 7"/>
          <p:cNvSpPr>
            <a:spLocks noGrp="1"/>
          </p:cNvSpPr>
          <p:nvPr>
            <p:ph sz="quarter" idx="1"/>
          </p:nvPr>
        </p:nvSpPr>
        <p:spPr>
          <a:xfrm>
            <a:off x="612648" y="1600200"/>
            <a:ext cx="81534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fld id="{2C5AFDEC-079D-404D-BCFF-836CA422FA59}" type="datetime1">
              <a:rPr lang="en-US" smtClean="0"/>
              <a:t>3/27/2026</a:t>
            </a:fld>
            <a:endParaRPr lang="en-US"/>
          </a:p>
        </p:txBody>
      </p:sp>
      <p:sp>
        <p:nvSpPr>
          <p:cNvPr id="5" name="Footer Placeholder 2"/>
          <p:cNvSpPr>
            <a:spLocks noGrp="1"/>
          </p:cNvSpPr>
          <p:nvPr>
            <p:ph type="ftr" sz="quarter" idx="11"/>
          </p:nvPr>
        </p:nvSpPr>
        <p:spPr/>
        <p:txBody>
          <a:bodyPr/>
          <a:lstStyle>
            <a:lvl1pPr algn="l">
              <a:defRPr/>
            </a:lvl1pPr>
          </a:lstStyle>
          <a:p>
            <a:r>
              <a:rPr lang="en-US" dirty="0"/>
              <a:t>MPEC2026</a:t>
            </a:r>
          </a:p>
        </p:txBody>
      </p:sp>
      <p:sp>
        <p:nvSpPr>
          <p:cNvPr id="6" name="Slide Number Placeholder 22"/>
          <p:cNvSpPr>
            <a:spLocks noGrp="1"/>
          </p:cNvSpPr>
          <p:nvPr>
            <p:ph type="sldNum" sz="quarter" idx="12"/>
          </p:nvPr>
        </p:nvSpPr>
        <p:spPr/>
        <p:txBody>
          <a:bodyPr/>
          <a:lstStyle>
            <a:lvl1pPr>
              <a:defRPr/>
            </a:lvl1pPr>
          </a:lstStyle>
          <a:p>
            <a:fld id="{CB779743-7B81-4FB7-A3E2-1ACEC99CD8C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4"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5"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3" name="Text Placeholder 2"/>
          <p:cNvSpPr>
            <a:spLocks noGrp="1"/>
          </p:cNvSpPr>
          <p:nvPr>
            <p:ph type="body" idx="1"/>
          </p:nvPr>
        </p:nvSpPr>
        <p:spPr>
          <a:xfrm>
            <a:off x="1371600" y="2743200"/>
            <a:ext cx="7123113" cy="1673225"/>
          </a:xfrm>
        </p:spPr>
        <p:txBody>
          <a:bodyPr/>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lang="en-US"/>
              <a:t>Click to edit Master title style</a:t>
            </a:r>
          </a:p>
        </p:txBody>
      </p:sp>
      <p:sp>
        <p:nvSpPr>
          <p:cNvPr id="7" name="Date Placeholder 11"/>
          <p:cNvSpPr>
            <a:spLocks noGrp="1"/>
          </p:cNvSpPr>
          <p:nvPr>
            <p:ph type="dt" sz="half" idx="10"/>
          </p:nvPr>
        </p:nvSpPr>
        <p:spPr/>
        <p:txBody>
          <a:bodyPr/>
          <a:lstStyle>
            <a:lvl1pPr>
              <a:defRPr/>
            </a:lvl1pPr>
          </a:lstStyle>
          <a:p>
            <a:fld id="{30DEC47D-3C75-418C-BFDD-01E41E481FF6}" type="datetime1">
              <a:rPr lang="en-US" smtClean="0"/>
              <a:t>3/27/2026</a:t>
            </a:fld>
            <a:endParaRPr lang="en-US"/>
          </a:p>
        </p:txBody>
      </p:sp>
      <p:sp>
        <p:nvSpPr>
          <p:cNvPr id="8" name="Slide Number Placeholder 12"/>
          <p:cNvSpPr>
            <a:spLocks noGrp="1"/>
          </p:cNvSpPr>
          <p:nvPr>
            <p:ph type="sldNum" sz="quarter" idx="11"/>
          </p:nvPr>
        </p:nvSpPr>
        <p:spPr>
          <a:xfrm>
            <a:off x="0" y="1752600"/>
            <a:ext cx="1295400" cy="701675"/>
          </a:xfrm>
        </p:spPr>
        <p:txBody>
          <a:bodyPr>
            <a:noAutofit/>
          </a:bodyPr>
          <a:lstStyle>
            <a:lvl1pPr>
              <a:defRPr sz="2400">
                <a:solidFill>
                  <a:srgbClr val="FFFFFF"/>
                </a:solidFill>
              </a:defRPr>
            </a:lvl1pPr>
          </a:lstStyle>
          <a:p>
            <a:fld id="{CB779743-7B81-4FB7-A3E2-1ACEC99CD8CF}" type="slidenum">
              <a:rPr lang="en-US" smtClean="0"/>
              <a:t>‹#›</a:t>
            </a:fld>
            <a:endParaRPr lang="en-US"/>
          </a:p>
        </p:txBody>
      </p:sp>
      <p:sp>
        <p:nvSpPr>
          <p:cNvPr id="9" name="Footer Placeholder 13"/>
          <p:cNvSpPr>
            <a:spLocks noGrp="1"/>
          </p:cNvSpPr>
          <p:nvPr>
            <p:ph type="ftr" sz="quarter" idx="12"/>
          </p:nvPr>
        </p:nvSpPr>
        <p:spPr/>
        <p:txBody>
          <a:bodyPr/>
          <a:lstStyle>
            <a:lvl1pPr>
              <a:defRPr/>
            </a:lvl1pPr>
          </a:lstStyle>
          <a:p>
            <a:r>
              <a:rPr lang="en-US" dirty="0"/>
              <a:t>MPEC2026</a:t>
            </a: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7"/>
          <p:cNvSpPr>
            <a:spLocks noGrp="1"/>
          </p:cNvSpPr>
          <p:nvPr>
            <p:ph type="dt" sz="half" idx="10"/>
          </p:nvPr>
        </p:nvSpPr>
        <p:spPr/>
        <p:txBody>
          <a:bodyPr rtlCol="0"/>
          <a:lstStyle>
            <a:lvl1pPr>
              <a:defRPr/>
            </a:lvl1pPr>
          </a:lstStyle>
          <a:p>
            <a:fld id="{5BBA73DE-3522-418F-B2DE-5E6AB53789C3}" type="datetime1">
              <a:rPr lang="en-US" smtClean="0"/>
              <a:t>3/27/2026</a:t>
            </a:fld>
            <a:endParaRPr lang="en-US"/>
          </a:p>
        </p:txBody>
      </p:sp>
      <p:sp>
        <p:nvSpPr>
          <p:cNvPr id="6" name="Slide Number Placeholder 9"/>
          <p:cNvSpPr>
            <a:spLocks noGrp="1"/>
          </p:cNvSpPr>
          <p:nvPr>
            <p:ph type="sldNum" sz="quarter" idx="11"/>
          </p:nvPr>
        </p:nvSpPr>
        <p:spPr/>
        <p:txBody>
          <a:bodyPr rtlCol="0"/>
          <a:lstStyle>
            <a:lvl1pPr>
              <a:defRPr/>
            </a:lvl1pPr>
          </a:lstStyle>
          <a:p>
            <a:fld id="{CB779743-7B81-4FB7-A3E2-1ACEC99CD8CF}" type="slidenum">
              <a:rPr lang="en-US" smtClean="0"/>
              <a:t>‹#›</a:t>
            </a:fld>
            <a:endParaRPr lang="en-US"/>
          </a:p>
        </p:txBody>
      </p:sp>
      <p:sp>
        <p:nvSpPr>
          <p:cNvPr id="7" name="Footer Placeholder 11"/>
          <p:cNvSpPr>
            <a:spLocks noGrp="1"/>
          </p:cNvSpPr>
          <p:nvPr>
            <p:ph type="ftr" sz="quarter" idx="12"/>
          </p:nvPr>
        </p:nvSpPr>
        <p:spPr/>
        <p:txBody>
          <a:bodyPr rtlCol="0"/>
          <a:lstStyle>
            <a:lvl1pPr>
              <a:defRPr/>
            </a:lvl1pPr>
          </a:lstStyle>
          <a:p>
            <a:r>
              <a:rPr lang="en-US" dirty="0"/>
              <a:t>MPEC2026</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a:r>
              <a:rPr lang="en-US"/>
              <a:t>Click to edit Master text styles</a:t>
            </a:r>
          </a:p>
        </p:txBody>
      </p:sp>
      <p:sp>
        <p:nvSpPr>
          <p:cNvPr id="7" name="Date Placeholder 9"/>
          <p:cNvSpPr>
            <a:spLocks noGrp="1"/>
          </p:cNvSpPr>
          <p:nvPr>
            <p:ph type="dt" sz="half" idx="10"/>
          </p:nvPr>
        </p:nvSpPr>
        <p:spPr/>
        <p:txBody>
          <a:bodyPr rtlCol="0"/>
          <a:lstStyle>
            <a:lvl1pPr>
              <a:defRPr/>
            </a:lvl1pPr>
          </a:lstStyle>
          <a:p>
            <a:fld id="{86E65004-DE67-4E0D-9545-AF4F7A515744}" type="datetime1">
              <a:rPr lang="en-US" smtClean="0"/>
              <a:t>3/27/2026</a:t>
            </a:fld>
            <a:endParaRPr lang="en-US"/>
          </a:p>
        </p:txBody>
      </p:sp>
      <p:sp>
        <p:nvSpPr>
          <p:cNvPr id="8" name="Slide Number Placeholder 11"/>
          <p:cNvSpPr>
            <a:spLocks noGrp="1"/>
          </p:cNvSpPr>
          <p:nvPr>
            <p:ph type="sldNum" sz="quarter" idx="11"/>
          </p:nvPr>
        </p:nvSpPr>
        <p:spPr/>
        <p:txBody>
          <a:bodyPr rtlCol="0"/>
          <a:lstStyle>
            <a:lvl1pPr>
              <a:defRPr/>
            </a:lvl1pPr>
          </a:lstStyle>
          <a:p>
            <a:fld id="{CB779743-7B81-4FB7-A3E2-1ACEC99CD8CF}" type="slidenum">
              <a:rPr lang="en-US" smtClean="0"/>
              <a:t>‹#›</a:t>
            </a:fld>
            <a:endParaRPr lang="en-US"/>
          </a:p>
        </p:txBody>
      </p:sp>
      <p:sp>
        <p:nvSpPr>
          <p:cNvPr id="9" name="Footer Placeholder 13"/>
          <p:cNvSpPr>
            <a:spLocks noGrp="1"/>
          </p:cNvSpPr>
          <p:nvPr>
            <p:ph type="ftr" sz="quarter" idx="12"/>
          </p:nvPr>
        </p:nvSpPr>
        <p:spPr/>
        <p:txBody>
          <a:bodyPr rtlCol="0"/>
          <a:lstStyle>
            <a:lvl1pPr>
              <a:defRPr/>
            </a:lvl1pPr>
          </a:lstStyle>
          <a:p>
            <a:r>
              <a:rPr lang="en-US" dirty="0"/>
              <a:t>MPEC2026</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p:cNvSpPr>
            <a:spLocks noGrp="1"/>
          </p:cNvSpPr>
          <p:nvPr>
            <p:ph type="dt" sz="half" idx="10"/>
          </p:nvPr>
        </p:nvSpPr>
        <p:spPr/>
        <p:txBody>
          <a:bodyPr/>
          <a:lstStyle>
            <a:lvl1pPr>
              <a:defRPr/>
            </a:lvl1pPr>
          </a:lstStyle>
          <a:p>
            <a:fld id="{E01DD022-12ED-4DD1-88EF-87D15300C6AD}" type="datetime1">
              <a:rPr lang="en-US" smtClean="0"/>
              <a:t>3/27/2026</a:t>
            </a:fld>
            <a:endParaRPr lang="en-US"/>
          </a:p>
        </p:txBody>
      </p:sp>
      <p:sp>
        <p:nvSpPr>
          <p:cNvPr id="4" name="Footer Placeholder 2"/>
          <p:cNvSpPr>
            <a:spLocks noGrp="1"/>
          </p:cNvSpPr>
          <p:nvPr>
            <p:ph type="ftr" sz="quarter" idx="11"/>
          </p:nvPr>
        </p:nvSpPr>
        <p:spPr/>
        <p:txBody>
          <a:bodyPr/>
          <a:lstStyle>
            <a:lvl1pPr>
              <a:defRPr/>
            </a:lvl1pPr>
          </a:lstStyle>
          <a:p>
            <a:r>
              <a:rPr lang="en-US" dirty="0"/>
              <a:t>MPEC2026</a:t>
            </a:r>
          </a:p>
        </p:txBody>
      </p:sp>
      <p:sp>
        <p:nvSpPr>
          <p:cNvPr id="5" name="Slide Number Placeholder 22"/>
          <p:cNvSpPr>
            <a:spLocks noGrp="1"/>
          </p:cNvSpPr>
          <p:nvPr>
            <p:ph type="sldNum" sz="quarter" idx="12"/>
          </p:nvPr>
        </p:nvSpPr>
        <p:spPr/>
        <p:txBody>
          <a:bodyPr/>
          <a:lstStyle>
            <a:lvl1pPr>
              <a:defRPr/>
            </a:lvl1pPr>
          </a:lstStyle>
          <a:p>
            <a:fld id="{CB779743-7B81-4FB7-A3E2-1ACEC99CD8C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56A26A70-4E7E-42D1-8117-16AB4F9ACAAD}" type="datetime1">
              <a:rPr lang="en-US" smtClean="0"/>
              <a:t>3/27/2026</a:t>
            </a:fld>
            <a:endParaRPr lang="en-US"/>
          </a:p>
        </p:txBody>
      </p:sp>
      <p:sp>
        <p:nvSpPr>
          <p:cNvPr id="3" name="Footer Placeholder 2"/>
          <p:cNvSpPr>
            <a:spLocks noGrp="1"/>
          </p:cNvSpPr>
          <p:nvPr>
            <p:ph type="ftr" sz="quarter" idx="11"/>
          </p:nvPr>
        </p:nvSpPr>
        <p:spPr/>
        <p:txBody>
          <a:bodyPr/>
          <a:lstStyle>
            <a:lvl1pPr>
              <a:defRPr/>
            </a:lvl1pPr>
          </a:lstStyle>
          <a:p>
            <a:r>
              <a:rPr lang="en-US" dirty="0"/>
              <a:t>MPEC2026</a:t>
            </a:r>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CB779743-7B81-4FB7-A3E2-1ACEC99CD8C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lstStyle>
            <a:lvl1pPr algn="l">
              <a:buNone/>
              <a:defRPr sz="4400" b="0"/>
            </a:lvl1pPr>
          </a:lstStyle>
          <a:p>
            <a:r>
              <a:rPr lang="en-US"/>
              <a:t>Click to edit Master title style</a:t>
            </a:r>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p:cNvSpPr>
            <a:spLocks noGrp="1"/>
          </p:cNvSpPr>
          <p:nvPr>
            <p:ph type="dt" sz="half" idx="10"/>
          </p:nvPr>
        </p:nvSpPr>
        <p:spPr/>
        <p:txBody>
          <a:bodyPr/>
          <a:lstStyle>
            <a:lvl1pPr>
              <a:defRPr/>
            </a:lvl1pPr>
          </a:lstStyle>
          <a:p>
            <a:fld id="{CAF77AC9-3067-4A11-A858-493698703076}" type="datetime1">
              <a:rPr lang="en-US" smtClean="0"/>
              <a:t>3/27/2026</a:t>
            </a:fld>
            <a:endParaRPr lang="en-US"/>
          </a:p>
        </p:txBody>
      </p:sp>
      <p:sp>
        <p:nvSpPr>
          <p:cNvPr id="6" name="Footer Placeholder 2"/>
          <p:cNvSpPr>
            <a:spLocks noGrp="1"/>
          </p:cNvSpPr>
          <p:nvPr>
            <p:ph type="ftr" sz="quarter" idx="11"/>
          </p:nvPr>
        </p:nvSpPr>
        <p:spPr/>
        <p:txBody>
          <a:bodyPr/>
          <a:lstStyle>
            <a:lvl1pPr>
              <a:defRPr/>
            </a:lvl1pPr>
          </a:lstStyle>
          <a:p>
            <a:r>
              <a:rPr lang="en-US" dirty="0"/>
              <a:t>MPEC2026</a:t>
            </a:r>
          </a:p>
        </p:txBody>
      </p:sp>
      <p:sp>
        <p:nvSpPr>
          <p:cNvPr id="7" name="Slide Number Placeholder 22"/>
          <p:cNvSpPr>
            <a:spLocks noGrp="1"/>
          </p:cNvSpPr>
          <p:nvPr>
            <p:ph type="sldNum" sz="quarter" idx="12"/>
          </p:nvPr>
        </p:nvSpPr>
        <p:spPr/>
        <p:txBody>
          <a:bodyPr/>
          <a:lstStyle>
            <a:lvl1pPr>
              <a:defRPr/>
            </a:lvl1pPr>
          </a:lstStyle>
          <a:p>
            <a:fld id="{CB779743-7B81-4FB7-A3E2-1ACEC99CD8C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3">
        <a:schemeClr val="bg2"/>
      </p:bgRef>
    </p:bg>
    <p:spTree>
      <p:nvGrpSpPr>
        <p:cNvPr id="1" name=""/>
        <p:cNvGrpSpPr/>
        <p:nvPr/>
      </p:nvGrpSpPr>
      <p:grpSpPr>
        <a:xfrm>
          <a:off x="0" y="0"/>
          <a:ext cx="0" cy="0"/>
          <a:chOff x="0" y="0"/>
          <a:chExt cx="0" cy="0"/>
        </a:xfrm>
      </p:grpSpPr>
      <p:sp>
        <p:nvSpPr>
          <p:cNvPr id="5" name="Rectangle 7"/>
          <p:cNvSpPr/>
          <p:nvPr/>
        </p:nvSpPr>
        <p:spPr bwMode="white">
          <a:xfrm>
            <a:off x="-9525" y="4572000"/>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6" name="Rectangle 8"/>
          <p:cNvSpPr/>
          <p:nvPr/>
        </p:nvSpPr>
        <p:spPr>
          <a:xfrm>
            <a:off x="-9525" y="4664075"/>
            <a:ext cx="1463675"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7" name="Rectangle 9"/>
          <p:cNvSpPr/>
          <p:nvPr/>
        </p:nvSpPr>
        <p:spPr>
          <a:xfrm>
            <a:off x="1544638" y="4654550"/>
            <a:ext cx="7599362"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10"/>
          <p:cNvSpPr/>
          <p:nvPr/>
        </p:nvSpPr>
        <p:spPr bwMode="white">
          <a:xfrm>
            <a:off x="1447800" y="0"/>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800" b="0">
                <a:solidFill>
                  <a:srgbClr val="FFFFFF"/>
                </a:solidFill>
              </a:defRPr>
            </a:lvl1pPr>
          </a:lstStyle>
          <a:p>
            <a:r>
              <a:rPr lang="en-US"/>
              <a:t>Click to edit Master title style</a:t>
            </a:r>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11"/>
          <p:cNvSpPr>
            <a:spLocks noGrp="1"/>
          </p:cNvSpPr>
          <p:nvPr>
            <p:ph type="dt" sz="half" idx="10"/>
          </p:nvPr>
        </p:nvSpPr>
        <p:spPr>
          <a:xfrm>
            <a:off x="6248400" y="6248400"/>
            <a:ext cx="2667000" cy="365125"/>
          </a:xfrm>
        </p:spPr>
        <p:txBody>
          <a:bodyPr rtlCol="0"/>
          <a:lstStyle>
            <a:lvl1pPr>
              <a:defRPr/>
            </a:lvl1pPr>
          </a:lstStyle>
          <a:p>
            <a:fld id="{A9945575-E52C-4255-AD08-20196C6B3D71}" type="datetime1">
              <a:rPr lang="en-US" smtClean="0"/>
              <a:t>3/27/2026</a:t>
            </a:fld>
            <a:endParaRPr lang="en-US"/>
          </a:p>
        </p:txBody>
      </p:sp>
      <p:sp>
        <p:nvSpPr>
          <p:cNvPr id="10" name="Slide Number Placeholder 12"/>
          <p:cNvSpPr>
            <a:spLocks noGrp="1"/>
          </p:cNvSpPr>
          <p:nvPr>
            <p:ph type="sldNum" sz="quarter" idx="11"/>
          </p:nvPr>
        </p:nvSpPr>
        <p:spPr>
          <a:xfrm>
            <a:off x="0" y="4667250"/>
            <a:ext cx="1447800" cy="663575"/>
          </a:xfrm>
        </p:spPr>
        <p:txBody>
          <a:bodyPr rtlCol="0"/>
          <a:lstStyle>
            <a:lvl1pPr>
              <a:defRPr sz="2800"/>
            </a:lvl1pPr>
          </a:lstStyle>
          <a:p>
            <a:fld id="{CB779743-7B81-4FB7-A3E2-1ACEC99CD8CF}" type="slidenum">
              <a:rPr lang="en-US" smtClean="0"/>
              <a:t>‹#›</a:t>
            </a:fld>
            <a:endParaRPr lang="en-US"/>
          </a:p>
        </p:txBody>
      </p:sp>
      <p:sp>
        <p:nvSpPr>
          <p:cNvPr id="11" name="Footer Placeholder 13"/>
          <p:cNvSpPr>
            <a:spLocks noGrp="1"/>
          </p:cNvSpPr>
          <p:nvPr>
            <p:ph type="ftr" sz="quarter" idx="12"/>
          </p:nvPr>
        </p:nvSpPr>
        <p:spPr>
          <a:xfrm>
            <a:off x="1600200" y="6248400"/>
            <a:ext cx="4572000" cy="365125"/>
          </a:xfrm>
        </p:spPr>
        <p:txBody>
          <a:bodyPr rtlCol="0"/>
          <a:lstStyle>
            <a:lvl1pPr>
              <a:defRPr/>
            </a:lvl1pPr>
          </a:lstStyle>
          <a:p>
            <a:r>
              <a:rPr lang="en-US" dirty="0"/>
              <a:t>MPEC2026</a:t>
            </a:r>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p:cNvSpPr>
            <a:spLocks noGrp="1"/>
          </p:cNvSpPr>
          <p:nvPr>
            <p:ph type="dt" sz="half" idx="10"/>
          </p:nvPr>
        </p:nvSpPr>
        <p:spPr/>
        <p:txBody>
          <a:bodyPr/>
          <a:lstStyle>
            <a:lvl1pPr>
              <a:defRPr/>
            </a:lvl1pPr>
          </a:lstStyle>
          <a:p>
            <a:fld id="{D6850E2C-696B-40AF-90BF-A6E1C7CCEC7F}" type="datetime1">
              <a:rPr lang="en-US" smtClean="0"/>
              <a:t>3/27/2026</a:t>
            </a:fld>
            <a:endParaRPr lang="en-US"/>
          </a:p>
        </p:txBody>
      </p:sp>
      <p:sp>
        <p:nvSpPr>
          <p:cNvPr id="5" name="Footer Placeholder 2"/>
          <p:cNvSpPr>
            <a:spLocks noGrp="1"/>
          </p:cNvSpPr>
          <p:nvPr>
            <p:ph type="ftr" sz="quarter" idx="11"/>
          </p:nvPr>
        </p:nvSpPr>
        <p:spPr/>
        <p:txBody>
          <a:bodyPr/>
          <a:lstStyle>
            <a:lvl1pPr>
              <a:defRPr/>
            </a:lvl1pPr>
          </a:lstStyle>
          <a:p>
            <a:r>
              <a:rPr lang="en-US" dirty="0"/>
              <a:t>MPEC2026</a:t>
            </a:r>
          </a:p>
        </p:txBody>
      </p:sp>
      <p:sp>
        <p:nvSpPr>
          <p:cNvPr id="6" name="Slide Number Placeholder 22"/>
          <p:cNvSpPr>
            <a:spLocks noGrp="1"/>
          </p:cNvSpPr>
          <p:nvPr>
            <p:ph type="sldNum" sz="quarter" idx="12"/>
          </p:nvPr>
        </p:nvSpPr>
        <p:spPr/>
        <p:txBody>
          <a:bodyPr/>
          <a:lstStyle>
            <a:lvl1pPr>
              <a:defRPr/>
            </a:lvl1pPr>
          </a:lstStyle>
          <a:p>
            <a:fld id="{CB779743-7B81-4FB7-A3E2-1ACEC99CD8C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6"/>
          <p:cNvSpPr/>
          <p:nvPr/>
        </p:nvSpPr>
        <p:spPr bwMode="white">
          <a:xfrm>
            <a:off x="6096000" y="0"/>
            <a:ext cx="320675"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5"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Vertical Title 1"/>
          <p:cNvSpPr>
            <a:spLocks noGrp="1"/>
          </p:cNvSpPr>
          <p:nvPr>
            <p:ph type="title" orient="vert"/>
          </p:nvPr>
        </p:nvSpPr>
        <p:spPr>
          <a:xfrm>
            <a:off x="6553200" y="609600"/>
            <a:ext cx="2057400" cy="55165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a:xfrm>
            <a:off x="6553200" y="6248400"/>
            <a:ext cx="2209800" cy="365125"/>
          </a:xfrm>
        </p:spPr>
        <p:txBody>
          <a:bodyPr/>
          <a:lstStyle>
            <a:lvl1pPr>
              <a:defRPr/>
            </a:lvl1pPr>
          </a:lstStyle>
          <a:p>
            <a:fld id="{3CBDBDE2-3115-4468-83A9-EF556315FFEA}" type="datetime1">
              <a:rPr lang="en-US" smtClean="0"/>
              <a:t>3/27/2026</a:t>
            </a:fld>
            <a:endParaRPr lang="en-US"/>
          </a:p>
        </p:txBody>
      </p:sp>
      <p:sp>
        <p:nvSpPr>
          <p:cNvPr id="8" name="Footer Placeholder 4"/>
          <p:cNvSpPr>
            <a:spLocks noGrp="1"/>
          </p:cNvSpPr>
          <p:nvPr>
            <p:ph type="ftr" sz="quarter" idx="11"/>
          </p:nvPr>
        </p:nvSpPr>
        <p:spPr>
          <a:xfrm>
            <a:off x="457200" y="6248400"/>
            <a:ext cx="5573713" cy="365125"/>
          </a:xfrm>
        </p:spPr>
        <p:txBody>
          <a:bodyPr/>
          <a:lstStyle>
            <a:lvl1pPr>
              <a:defRPr/>
            </a:lvl1pPr>
          </a:lstStyle>
          <a:p>
            <a:r>
              <a:rPr lang="en-US" dirty="0"/>
              <a:t>MPEC2026</a:t>
            </a:r>
          </a:p>
        </p:txBody>
      </p:sp>
      <p:sp>
        <p:nvSpPr>
          <p:cNvPr id="9" name="Slide Number Placeholder 5"/>
          <p:cNvSpPr>
            <a:spLocks noGrp="1"/>
          </p:cNvSpPr>
          <p:nvPr>
            <p:ph type="sldNum" sz="quarter" idx="12"/>
          </p:nvPr>
        </p:nvSpPr>
        <p:spPr>
          <a:xfrm rot="5400000">
            <a:off x="5989638" y="144462"/>
            <a:ext cx="533400" cy="244475"/>
          </a:xfrm>
        </p:spPr>
        <p:txBody>
          <a:bodyPr/>
          <a:lstStyle>
            <a:lvl1pPr>
              <a:defRPr/>
            </a:lvl1pPr>
          </a:lstStyle>
          <a:p>
            <a:fld id="{CB779743-7B81-4FB7-A3E2-1ACEC99CD8CF}"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228600"/>
            <a:ext cx="8153400" cy="9906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12"/>
          <p:cNvSpPr>
            <a:spLocks noGrp="1"/>
          </p:cNvSpPr>
          <p:nvPr>
            <p:ph type="body" idx="1"/>
          </p:nvPr>
        </p:nvSpPr>
        <p:spPr bwMode="auto">
          <a:xfrm>
            <a:off x="612775" y="1600200"/>
            <a:ext cx="81534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cs typeface="+mn-cs"/>
              </a:defRPr>
            </a:lvl1pPr>
          </a:lstStyle>
          <a:p>
            <a:fld id="{6B885B27-225E-44C3-9776-E594FB50B5AD}" type="datetime1">
              <a:rPr lang="en-US" smtClean="0"/>
              <a:t>3/27/2026</a:t>
            </a:fld>
            <a:endParaRPr lang="en-US"/>
          </a:p>
        </p:txBody>
      </p:sp>
      <p:sp>
        <p:nvSpPr>
          <p:cNvPr id="3" name="Footer Placeholder 2"/>
          <p:cNvSpPr>
            <a:spLocks noGrp="1"/>
          </p:cNvSpPr>
          <p:nvPr>
            <p:ph type="ftr" sz="quarter" idx="3"/>
          </p:nvPr>
        </p:nvSpPr>
        <p:spPr>
          <a:xfrm>
            <a:off x="609600" y="6248400"/>
            <a:ext cx="5421313" cy="365125"/>
          </a:xfrm>
          <a:prstGeom prst="rect">
            <a:avLst/>
          </a:prstGeom>
        </p:spPr>
        <p:txBody>
          <a:bodyPr vert="horz" anchor="ctr"/>
          <a:lstStyle>
            <a:lvl1pPr algn="r" eaLnBrk="1" latinLnBrk="0" hangingPunct="1">
              <a:defRPr kumimoji="0" sz="1400">
                <a:solidFill>
                  <a:schemeClr val="tx2"/>
                </a:solidFill>
                <a:cs typeface="+mn-cs"/>
              </a:defRPr>
            </a:lvl1pPr>
          </a:lstStyle>
          <a:p>
            <a:r>
              <a:rPr lang="en-US" dirty="0"/>
              <a:t>MPEC2026</a:t>
            </a:r>
          </a:p>
        </p:txBody>
      </p:sp>
      <p:sp>
        <p:nvSpPr>
          <p:cNvPr id="7" name="Rectangle 6"/>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8" name="Rectangle 7"/>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9" name="Rectangle 8"/>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sp>
        <p:nvSpPr>
          <p:cNvPr id="23" name="Slide Number Placeholder 22"/>
          <p:cNvSpPr>
            <a:spLocks noGrp="1"/>
          </p:cNvSpPr>
          <p:nvPr>
            <p:ph type="sldNum" sz="quarter" idx="4"/>
          </p:nvPr>
        </p:nvSpPr>
        <p:spPr>
          <a:xfrm>
            <a:off x="0" y="1271588"/>
            <a:ext cx="533400" cy="244475"/>
          </a:xfrm>
          <a:prstGeom prst="rect">
            <a:avLst/>
          </a:prstGeom>
        </p:spPr>
        <p:txBody>
          <a:bodyPr vert="horz" anchor="ctr" anchorCtr="0">
            <a:normAutofit/>
          </a:bodyPr>
          <a:lstStyle>
            <a:lvl1pPr algn="ctr" eaLnBrk="1" latinLnBrk="0" hangingPunct="1">
              <a:defRPr kumimoji="0" sz="1400" b="1">
                <a:solidFill>
                  <a:srgbClr val="FFFFFF"/>
                </a:solidFill>
                <a:cs typeface="+mn-cs"/>
              </a:defRPr>
            </a:lvl1pPr>
          </a:lstStyle>
          <a:p>
            <a:fld id="{CB779743-7B81-4FB7-A3E2-1ACEC99CD8C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rtl="0" eaLnBrk="1" fontAlgn="base" hangingPunct="1">
        <a:spcBef>
          <a:spcPct val="0"/>
        </a:spcBef>
        <a:spcAft>
          <a:spcPct val="0"/>
        </a:spcAft>
        <a:defRPr sz="4400" kern="12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w Cen MT" pitchFamily="34" charset="0"/>
        </a:defRPr>
      </a:lvl2pPr>
      <a:lvl3pPr algn="l" rtl="0" eaLnBrk="1" fontAlgn="base" hangingPunct="1">
        <a:spcBef>
          <a:spcPct val="0"/>
        </a:spcBef>
        <a:spcAft>
          <a:spcPct val="0"/>
        </a:spcAft>
        <a:defRPr sz="4400">
          <a:solidFill>
            <a:schemeClr val="tx2"/>
          </a:solidFill>
          <a:latin typeface="Tw Cen MT" pitchFamily="34" charset="0"/>
        </a:defRPr>
      </a:lvl3pPr>
      <a:lvl4pPr algn="l" rtl="0" eaLnBrk="1" fontAlgn="base" hangingPunct="1">
        <a:spcBef>
          <a:spcPct val="0"/>
        </a:spcBef>
        <a:spcAft>
          <a:spcPct val="0"/>
        </a:spcAft>
        <a:defRPr sz="4400">
          <a:solidFill>
            <a:schemeClr val="tx2"/>
          </a:solidFill>
          <a:latin typeface="Tw Cen MT" pitchFamily="34" charset="0"/>
        </a:defRPr>
      </a:lvl4pPr>
      <a:lvl5pPr algn="l" rtl="0" eaLnBrk="1" fontAlgn="base" hangingPunct="1">
        <a:spcBef>
          <a:spcPct val="0"/>
        </a:spcBef>
        <a:spcAft>
          <a:spcPct val="0"/>
        </a:spcAft>
        <a:defRPr sz="4400">
          <a:solidFill>
            <a:schemeClr val="tx2"/>
          </a:solidFill>
          <a:latin typeface="Tw Cen MT" pitchFamily="34" charset="0"/>
        </a:defRPr>
      </a:lvl5pPr>
      <a:lvl6pPr marL="457200" algn="l" rtl="0" eaLnBrk="1" fontAlgn="base" hangingPunct="1">
        <a:spcBef>
          <a:spcPct val="0"/>
        </a:spcBef>
        <a:spcAft>
          <a:spcPct val="0"/>
        </a:spcAft>
        <a:defRPr sz="4400">
          <a:solidFill>
            <a:schemeClr val="tx2"/>
          </a:solidFill>
          <a:latin typeface="Tw Cen MT" pitchFamily="34" charset="0"/>
        </a:defRPr>
      </a:lvl6pPr>
      <a:lvl7pPr marL="914400" algn="l" rtl="0" eaLnBrk="1" fontAlgn="base" hangingPunct="1">
        <a:spcBef>
          <a:spcPct val="0"/>
        </a:spcBef>
        <a:spcAft>
          <a:spcPct val="0"/>
        </a:spcAft>
        <a:defRPr sz="4400">
          <a:solidFill>
            <a:schemeClr val="tx2"/>
          </a:solidFill>
          <a:latin typeface="Tw Cen MT" pitchFamily="34" charset="0"/>
        </a:defRPr>
      </a:lvl7pPr>
      <a:lvl8pPr marL="1371600" algn="l" rtl="0" eaLnBrk="1" fontAlgn="base" hangingPunct="1">
        <a:spcBef>
          <a:spcPct val="0"/>
        </a:spcBef>
        <a:spcAft>
          <a:spcPct val="0"/>
        </a:spcAft>
        <a:defRPr sz="4400">
          <a:solidFill>
            <a:schemeClr val="tx2"/>
          </a:solidFill>
          <a:latin typeface="Tw Cen MT" pitchFamily="34" charset="0"/>
        </a:defRPr>
      </a:lvl8pPr>
      <a:lvl9pPr marL="1828800" algn="l" rtl="0" eaLnBrk="1" fontAlgn="base" hangingPunct="1">
        <a:spcBef>
          <a:spcPct val="0"/>
        </a:spcBef>
        <a:spcAft>
          <a:spcPct val="0"/>
        </a:spcAft>
        <a:defRPr sz="4400">
          <a:solidFill>
            <a:schemeClr val="tx2"/>
          </a:solidFill>
          <a:latin typeface="Tw Cen MT" pitchFamily="34" charset="0"/>
        </a:defRPr>
      </a:lvl9pPr>
    </p:titleStyle>
    <p:bodyStyle>
      <a:lvl1pPr marL="319088" indent="-319088" algn="l" rtl="0" eaLnBrk="1" fontAlgn="base" hangingPunct="1">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1" fontAlgn="base" hangingPunct="1">
        <a:spcBef>
          <a:spcPts val="400"/>
        </a:spcBef>
        <a:spcAft>
          <a:spcPct val="0"/>
        </a:spcAft>
        <a:buClr>
          <a:srgbClr val="A04DA3"/>
        </a:buClr>
        <a:buSzPct val="75000"/>
        <a:buFont typeface="Wingdings" pitchFamily="2" charset="2"/>
        <a:buChar char=""/>
        <a:defRPr sz="2000" kern="1200">
          <a:solidFill>
            <a:schemeClr val="tx1"/>
          </a:solidFill>
          <a:latin typeface="+mn-lt"/>
          <a:ea typeface="+mn-ea"/>
          <a:cs typeface="+mn-cs"/>
        </a:defRPr>
      </a:lvl4pPr>
      <a:lvl5pPr marL="1828800" indent="-228600" algn="l" rtl="0" eaLnBrk="1" fontAlgn="base" hangingPunct="1">
        <a:spcBef>
          <a:spcPts val="400"/>
        </a:spcBef>
        <a:spcAft>
          <a:spcPct val="0"/>
        </a:spcAft>
        <a:buClr>
          <a:srgbClr val="C4652D"/>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4A4DE-E7F4-CC46-7DDA-9853E3454BAE}"/>
              </a:ext>
            </a:extLst>
          </p:cNvPr>
          <p:cNvSpPr>
            <a:spLocks noGrp="1"/>
          </p:cNvSpPr>
          <p:nvPr>
            <p:ph type="title"/>
          </p:nvPr>
        </p:nvSpPr>
        <p:spPr>
          <a:xfrm>
            <a:off x="504645" y="106363"/>
            <a:ext cx="8531352" cy="990600"/>
          </a:xfrm>
        </p:spPr>
        <p:txBody>
          <a:bodyPr/>
          <a:lstStyle/>
          <a:p>
            <a:r>
              <a:rPr lang="en-IN" b="1" dirty="0"/>
              <a:t>Functions in JavaScript</a:t>
            </a:r>
            <a:br>
              <a:rPr lang="en-IN" b="1" dirty="0"/>
            </a:br>
            <a:endParaRPr lang="en-IN" sz="1600" dirty="0"/>
          </a:p>
        </p:txBody>
      </p:sp>
      <p:sp>
        <p:nvSpPr>
          <p:cNvPr id="4" name="Footer Placeholder 3">
            <a:extLst>
              <a:ext uri="{FF2B5EF4-FFF2-40B4-BE49-F238E27FC236}">
                <a16:creationId xmlns:a16="http://schemas.microsoft.com/office/drawing/2014/main" id="{BD3C8373-26ED-24D5-BE7A-23ABA67F9DBB}"/>
              </a:ext>
            </a:extLst>
          </p:cNvPr>
          <p:cNvSpPr>
            <a:spLocks noGrp="1"/>
          </p:cNvSpPr>
          <p:nvPr>
            <p:ph type="ftr" sz="quarter" idx="11"/>
          </p:nvPr>
        </p:nvSpPr>
        <p:spPr/>
        <p:txBody>
          <a:bodyPr/>
          <a:lstStyle/>
          <a:p>
            <a:r>
              <a:rPr lang="en-US" dirty="0"/>
              <a:t>MPEC2026</a:t>
            </a:r>
          </a:p>
        </p:txBody>
      </p:sp>
      <p:sp>
        <p:nvSpPr>
          <p:cNvPr id="5" name="Slide Number Placeholder 4">
            <a:extLst>
              <a:ext uri="{FF2B5EF4-FFF2-40B4-BE49-F238E27FC236}">
                <a16:creationId xmlns:a16="http://schemas.microsoft.com/office/drawing/2014/main" id="{3BCC965D-E8DD-78E7-F64E-49B26ABE8209}"/>
              </a:ext>
            </a:extLst>
          </p:cNvPr>
          <p:cNvSpPr>
            <a:spLocks noGrp="1"/>
          </p:cNvSpPr>
          <p:nvPr>
            <p:ph type="sldNum" sz="quarter" idx="12"/>
          </p:nvPr>
        </p:nvSpPr>
        <p:spPr/>
        <p:txBody>
          <a:bodyPr>
            <a:normAutofit fontScale="85000" lnSpcReduction="20000"/>
          </a:bodyPr>
          <a:lstStyle/>
          <a:p>
            <a:fld id="{CB779743-7B81-4FB7-A3E2-1ACEC99CD8CF}" type="slidenum">
              <a:rPr lang="en-US" smtClean="0"/>
              <a:t>1</a:t>
            </a:fld>
            <a:endParaRPr lang="en-US"/>
          </a:p>
        </p:txBody>
      </p:sp>
      <p:pic>
        <p:nvPicPr>
          <p:cNvPr id="7172" name="Picture 4" descr="Functions in JavaScript - GeeksforGeeks">
            <a:extLst>
              <a:ext uri="{FF2B5EF4-FFF2-40B4-BE49-F238E27FC236}">
                <a16:creationId xmlns:a16="http://schemas.microsoft.com/office/drawing/2014/main" id="{7428FDD5-BFCF-EB60-CAF2-C5D9D6F11231}"/>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429000" y="1752600"/>
            <a:ext cx="5715000" cy="4678361"/>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B7A54635-9CD0-C1E2-2772-667F8A3E39E3}"/>
              </a:ext>
            </a:extLst>
          </p:cNvPr>
          <p:cNvSpPr txBox="1">
            <a:spLocks/>
          </p:cNvSpPr>
          <p:nvPr/>
        </p:nvSpPr>
        <p:spPr bwMode="auto">
          <a:xfrm>
            <a:off x="121380" y="3216800"/>
            <a:ext cx="4450620" cy="240903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1" fontAlgn="base" hangingPunct="1">
              <a:spcBef>
                <a:spcPct val="0"/>
              </a:spcBef>
              <a:spcAft>
                <a:spcPct val="0"/>
              </a:spcAft>
              <a:defRPr sz="4400" kern="12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w Cen MT" pitchFamily="34" charset="0"/>
              </a:defRPr>
            </a:lvl2pPr>
            <a:lvl3pPr algn="l" rtl="0" eaLnBrk="1" fontAlgn="base" hangingPunct="1">
              <a:spcBef>
                <a:spcPct val="0"/>
              </a:spcBef>
              <a:spcAft>
                <a:spcPct val="0"/>
              </a:spcAft>
              <a:defRPr sz="4400">
                <a:solidFill>
                  <a:schemeClr val="tx2"/>
                </a:solidFill>
                <a:latin typeface="Tw Cen MT" pitchFamily="34" charset="0"/>
              </a:defRPr>
            </a:lvl3pPr>
            <a:lvl4pPr algn="l" rtl="0" eaLnBrk="1" fontAlgn="base" hangingPunct="1">
              <a:spcBef>
                <a:spcPct val="0"/>
              </a:spcBef>
              <a:spcAft>
                <a:spcPct val="0"/>
              </a:spcAft>
              <a:defRPr sz="4400">
                <a:solidFill>
                  <a:schemeClr val="tx2"/>
                </a:solidFill>
                <a:latin typeface="Tw Cen MT" pitchFamily="34" charset="0"/>
              </a:defRPr>
            </a:lvl4pPr>
            <a:lvl5pPr algn="l" rtl="0" eaLnBrk="1" fontAlgn="base" hangingPunct="1">
              <a:spcBef>
                <a:spcPct val="0"/>
              </a:spcBef>
              <a:spcAft>
                <a:spcPct val="0"/>
              </a:spcAft>
              <a:defRPr sz="4400">
                <a:solidFill>
                  <a:schemeClr val="tx2"/>
                </a:solidFill>
                <a:latin typeface="Tw Cen MT" pitchFamily="34" charset="0"/>
              </a:defRPr>
            </a:lvl5pPr>
            <a:lvl6pPr marL="457200" algn="l" rtl="0" eaLnBrk="1" fontAlgn="base" hangingPunct="1">
              <a:spcBef>
                <a:spcPct val="0"/>
              </a:spcBef>
              <a:spcAft>
                <a:spcPct val="0"/>
              </a:spcAft>
              <a:defRPr sz="4400">
                <a:solidFill>
                  <a:schemeClr val="tx2"/>
                </a:solidFill>
                <a:latin typeface="Tw Cen MT" pitchFamily="34" charset="0"/>
              </a:defRPr>
            </a:lvl6pPr>
            <a:lvl7pPr marL="914400" algn="l" rtl="0" eaLnBrk="1" fontAlgn="base" hangingPunct="1">
              <a:spcBef>
                <a:spcPct val="0"/>
              </a:spcBef>
              <a:spcAft>
                <a:spcPct val="0"/>
              </a:spcAft>
              <a:defRPr sz="4400">
                <a:solidFill>
                  <a:schemeClr val="tx2"/>
                </a:solidFill>
                <a:latin typeface="Tw Cen MT" pitchFamily="34" charset="0"/>
              </a:defRPr>
            </a:lvl7pPr>
            <a:lvl8pPr marL="1371600" algn="l" rtl="0" eaLnBrk="1" fontAlgn="base" hangingPunct="1">
              <a:spcBef>
                <a:spcPct val="0"/>
              </a:spcBef>
              <a:spcAft>
                <a:spcPct val="0"/>
              </a:spcAft>
              <a:defRPr sz="4400">
                <a:solidFill>
                  <a:schemeClr val="tx2"/>
                </a:solidFill>
                <a:latin typeface="Tw Cen MT" pitchFamily="34" charset="0"/>
              </a:defRPr>
            </a:lvl8pPr>
            <a:lvl9pPr marL="1828800" algn="l" rtl="0" eaLnBrk="1" fontAlgn="base" hangingPunct="1">
              <a:spcBef>
                <a:spcPct val="0"/>
              </a:spcBef>
              <a:spcAft>
                <a:spcPct val="0"/>
              </a:spcAft>
              <a:defRPr sz="4400">
                <a:solidFill>
                  <a:schemeClr val="tx2"/>
                </a:solidFill>
                <a:latin typeface="Tw Cen MT" pitchFamily="34" charset="0"/>
              </a:defRPr>
            </a:lvl9pPr>
          </a:lstStyle>
          <a:p>
            <a:br>
              <a:rPr lang="en-IN" b="1" dirty="0"/>
            </a:br>
            <a:r>
              <a:rPr lang="en-US" sz="1600" dirty="0"/>
              <a:t>Functions in JavaScript are reusable blocks of code designed to perform specific tasks. They allow you to organize, reuse, and modularize code. It can take inputs, perform actions, and return outputs.</a:t>
            </a:r>
          </a:p>
          <a:p>
            <a:endParaRPr lang="en-US" sz="1600" dirty="0"/>
          </a:p>
          <a:p>
            <a:endParaRPr lang="en-US" sz="1600" dirty="0"/>
          </a:p>
          <a:p>
            <a:r>
              <a:rPr lang="en-US" sz="1600" dirty="0"/>
              <a:t>function greet(name) {   // 'name' is a parameter</a:t>
            </a:r>
          </a:p>
          <a:p>
            <a:r>
              <a:rPr lang="en-US" sz="1600" dirty="0"/>
              <a:t>  console.log("Hello " + name);</a:t>
            </a:r>
          </a:p>
          <a:p>
            <a:r>
              <a:rPr lang="en-US" sz="1600" dirty="0"/>
              <a:t>}</a:t>
            </a:r>
          </a:p>
          <a:p>
            <a:endParaRPr lang="en-US" sz="1600" dirty="0"/>
          </a:p>
          <a:p>
            <a:r>
              <a:rPr lang="en-US" sz="1600" dirty="0"/>
              <a:t>greet("Alice");  // "Alice" is the argument</a:t>
            </a:r>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US" sz="1600" dirty="0"/>
          </a:p>
          <a:p>
            <a:endParaRPr lang="en-IN" sz="1600" dirty="0"/>
          </a:p>
        </p:txBody>
      </p:sp>
    </p:spTree>
    <p:extLst>
      <p:ext uri="{BB962C8B-B14F-4D97-AF65-F5344CB8AC3E}">
        <p14:creationId xmlns:p14="http://schemas.microsoft.com/office/powerpoint/2010/main" val="1801557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normAutofit fontScale="85000" lnSpcReduction="20000"/>
          </a:bodyPr>
          <a:lstStyle/>
          <a:p>
            <a:fld id="{CC76F15A-3445-4ED0-A4DF-DE4BBF06AE1A}" type="slidenum">
              <a:rPr lang="en-US" smtClean="0"/>
              <a:t>2</a:t>
            </a:fld>
            <a:endParaRPr lang="en-US"/>
          </a:p>
        </p:txBody>
      </p:sp>
      <p:sp>
        <p:nvSpPr>
          <p:cNvPr id="8" name="TextBox 7"/>
          <p:cNvSpPr txBox="1"/>
          <p:nvPr/>
        </p:nvSpPr>
        <p:spPr>
          <a:xfrm>
            <a:off x="609600" y="1524000"/>
            <a:ext cx="8153400" cy="1754326"/>
          </a:xfrm>
          <a:prstGeom prst="rect">
            <a:avLst/>
          </a:prstGeom>
          <a:solidFill>
            <a:srgbClr val="F4F6A8"/>
          </a:solidFill>
          <a:ln w="19050">
            <a:solidFill>
              <a:schemeClr val="tx1"/>
            </a:solidFill>
          </a:ln>
        </p:spPr>
        <p:txBody>
          <a:bodyPr wrap="square" rtlCol="0">
            <a:spAutoFit/>
          </a:bodyPr>
          <a:lstStyle/>
          <a:p>
            <a:r>
              <a:rPr lang="en-US" dirty="0">
                <a:latin typeface="Courier New" pitchFamily="49" charset="0"/>
                <a:cs typeface="Courier New" pitchFamily="49" charset="0"/>
              </a:rPr>
              <a:t>function name() {</a:t>
            </a:r>
          </a:p>
          <a:p>
            <a:r>
              <a:rPr lang="en-US" dirty="0">
                <a:latin typeface="Courier New" pitchFamily="49" charset="0"/>
                <a:cs typeface="Courier New" pitchFamily="49" charset="0"/>
              </a:rPr>
              <a:t>statement ;</a:t>
            </a:r>
          </a:p>
          <a:p>
            <a:r>
              <a:rPr lang="en-US" dirty="0">
                <a:latin typeface="Courier New" pitchFamily="49" charset="0"/>
                <a:cs typeface="Courier New" pitchFamily="49" charset="0"/>
              </a:rPr>
              <a:t>statement ;</a:t>
            </a:r>
          </a:p>
          <a:p>
            <a:r>
              <a:rPr lang="en-US" dirty="0">
                <a:latin typeface="Courier New" pitchFamily="49" charset="0"/>
                <a:cs typeface="Courier New" pitchFamily="49" charset="0"/>
              </a:rPr>
              <a:t>...</a:t>
            </a:r>
          </a:p>
          <a:p>
            <a:r>
              <a:rPr lang="en-US" dirty="0">
                <a:latin typeface="Courier New" pitchFamily="49" charset="0"/>
                <a:cs typeface="Courier New" pitchFamily="49" charset="0"/>
              </a:rPr>
              <a:t>statement ;</a:t>
            </a:r>
          </a:p>
          <a:p>
            <a:r>
              <a:rPr lang="en-US" dirty="0">
                <a:latin typeface="Courier New" pitchFamily="49" charset="0"/>
                <a:cs typeface="Courier New" pitchFamily="49" charset="0"/>
              </a:rPr>
              <a:t>}</a:t>
            </a:r>
            <a:r>
              <a:rPr lang="nn-NO" dirty="0">
                <a:latin typeface="Courier New" pitchFamily="49" charset="0"/>
                <a:cs typeface="Courier New" pitchFamily="49" charset="0"/>
              </a:rPr>
              <a:t>		  </a:t>
            </a:r>
            <a:r>
              <a:rPr lang="en-US" dirty="0">
                <a:latin typeface="Consolas" pitchFamily="49" charset="0"/>
                <a:cs typeface="Consolas" pitchFamily="49" charset="0"/>
              </a:rPr>
              <a:t>		           	  	  	  </a:t>
            </a:r>
            <a:r>
              <a:rPr lang="en-US" i="1" dirty="0">
                <a:solidFill>
                  <a:schemeClr val="tx1">
                    <a:lumMod val="50000"/>
                    <a:lumOff val="50000"/>
                  </a:schemeClr>
                </a:solidFill>
                <a:latin typeface="Consolas" pitchFamily="49" charset="0"/>
                <a:cs typeface="Consolas" pitchFamily="49" charset="0"/>
              </a:rPr>
              <a:t>JS</a:t>
            </a:r>
          </a:p>
        </p:txBody>
      </p:sp>
      <p:sp>
        <p:nvSpPr>
          <p:cNvPr id="7" name="Content Placeholder 2"/>
          <p:cNvSpPr txBox="1">
            <a:spLocks/>
          </p:cNvSpPr>
          <p:nvPr/>
        </p:nvSpPr>
        <p:spPr bwMode="auto">
          <a:xfrm>
            <a:off x="533400" y="4495800"/>
            <a:ext cx="8153400" cy="121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19088" indent="-319088" algn="l" rtl="0" eaLnBrk="1" fontAlgn="base" hangingPunct="1">
              <a:spcBef>
                <a:spcPts val="700"/>
              </a:spcBef>
              <a:spcAft>
                <a:spcPct val="0"/>
              </a:spcAft>
              <a:buClr>
                <a:schemeClr val="accent2"/>
              </a:buClr>
              <a:buSzPct val="60000"/>
              <a:buFont typeface="Wingdings" pitchFamily="2" charset="2"/>
              <a:buChar char=""/>
              <a:defRPr sz="2900" kern="1200">
                <a:solidFill>
                  <a:schemeClr val="tx1"/>
                </a:solidFill>
                <a:latin typeface="+mn-lt"/>
                <a:ea typeface="+mn-ea"/>
                <a:cs typeface="+mn-cs"/>
              </a:defRPr>
            </a:lvl1pPr>
            <a:lvl2pPr marL="639763" indent="-273050" algn="l" rtl="0" eaLnBrk="1" fontAlgn="base" hangingPunct="1">
              <a:spcBef>
                <a:spcPts val="550"/>
              </a:spcBef>
              <a:spcAft>
                <a:spcPct val="0"/>
              </a:spcAft>
              <a:buClr>
                <a:schemeClr val="accent1"/>
              </a:buClr>
              <a:buSzPct val="70000"/>
              <a:buFont typeface="Wingdings 2" pitchFamily="18" charset="2"/>
              <a:buChar char=""/>
              <a:defRPr sz="2600" kern="1200">
                <a:solidFill>
                  <a:schemeClr val="tx1"/>
                </a:solidFill>
                <a:latin typeface="+mn-lt"/>
                <a:ea typeface="+mn-ea"/>
                <a:cs typeface="+mn-cs"/>
              </a:defRPr>
            </a:lvl2pPr>
            <a:lvl3pPr marL="914400" indent="-228600" algn="l" rtl="0" eaLnBrk="1" fontAlgn="base" hangingPunct="1">
              <a:spcBef>
                <a:spcPts val="500"/>
              </a:spcBef>
              <a:spcAft>
                <a:spcPct val="0"/>
              </a:spcAft>
              <a:buClr>
                <a:schemeClr val="accent2"/>
              </a:buClr>
              <a:buSzPct val="75000"/>
              <a:buFont typeface="Wingdings" pitchFamily="2" charset="2"/>
              <a:buChar char=""/>
              <a:defRPr sz="2300" kern="1200">
                <a:solidFill>
                  <a:schemeClr val="tx1"/>
                </a:solidFill>
                <a:latin typeface="+mn-lt"/>
                <a:ea typeface="+mn-ea"/>
                <a:cs typeface="+mn-cs"/>
              </a:defRPr>
            </a:lvl3pPr>
            <a:lvl4pPr marL="1371600" indent="-228600" algn="l" rtl="0" eaLnBrk="1" fontAlgn="base" hangingPunct="1">
              <a:spcBef>
                <a:spcPts val="400"/>
              </a:spcBef>
              <a:spcAft>
                <a:spcPct val="0"/>
              </a:spcAft>
              <a:buClr>
                <a:srgbClr val="A04DA3"/>
              </a:buClr>
              <a:buSzPct val="75000"/>
              <a:buFont typeface="Wingdings" pitchFamily="2" charset="2"/>
              <a:buChar char=""/>
              <a:defRPr sz="2000" kern="1200">
                <a:solidFill>
                  <a:schemeClr val="tx1"/>
                </a:solidFill>
                <a:latin typeface="+mn-lt"/>
                <a:ea typeface="+mn-ea"/>
                <a:cs typeface="+mn-cs"/>
              </a:defRPr>
            </a:lvl4pPr>
            <a:lvl5pPr marL="1828800" indent="-228600" algn="l" rtl="0" eaLnBrk="1" fontAlgn="base" hangingPunct="1">
              <a:spcBef>
                <a:spcPts val="400"/>
              </a:spcBef>
              <a:spcAft>
                <a:spcPct val="0"/>
              </a:spcAft>
              <a:buClr>
                <a:srgbClr val="C4652D"/>
              </a:buClr>
              <a:buSzPct val="65000"/>
              <a:buFont typeface="Wingdings" pitchFamily="2" charset="2"/>
              <a:buChar char=""/>
              <a:defRPr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a:buChar char="§"/>
              <a:defRPr kumimoji="0" sz="1800" kern="1200" baseline="0">
                <a:solidFill>
                  <a:schemeClr val="tx1"/>
                </a:solidFill>
                <a:latin typeface="+mn-lt"/>
                <a:ea typeface="+mn-ea"/>
                <a:cs typeface="+mn-cs"/>
              </a:defRPr>
            </a:lvl9pPr>
          </a:lstStyle>
          <a:p>
            <a:r>
              <a:rPr lang="en-US" dirty="0"/>
              <a:t>the above could be the contents of example.js linked to our HTML page</a:t>
            </a:r>
          </a:p>
          <a:p>
            <a:r>
              <a:rPr lang="en-US" dirty="0"/>
              <a:t>statements placed into functions can be evaluated in response to user events</a:t>
            </a:r>
            <a:endParaRPr lang="en-US" sz="1100" dirty="0">
              <a:latin typeface="Courier New" pitchFamily="49" charset="0"/>
              <a:cs typeface="Courier New" pitchFamily="49" charset="0"/>
            </a:endParaRPr>
          </a:p>
        </p:txBody>
      </p:sp>
      <p:sp>
        <p:nvSpPr>
          <p:cNvPr id="6" name="TextBox 5"/>
          <p:cNvSpPr txBox="1"/>
          <p:nvPr/>
        </p:nvSpPr>
        <p:spPr>
          <a:xfrm>
            <a:off x="609600" y="3351074"/>
            <a:ext cx="8153400" cy="1200329"/>
          </a:xfrm>
          <a:prstGeom prst="rect">
            <a:avLst/>
          </a:prstGeom>
          <a:solidFill>
            <a:srgbClr val="F4F6A8"/>
          </a:solidFill>
          <a:ln w="19050">
            <a:solidFill>
              <a:schemeClr val="tx1"/>
            </a:solidFill>
          </a:ln>
        </p:spPr>
        <p:txBody>
          <a:bodyPr wrap="square" rtlCol="0">
            <a:spAutoFit/>
          </a:bodyPr>
          <a:lstStyle/>
          <a:p>
            <a:r>
              <a:rPr lang="en-US" dirty="0">
                <a:latin typeface="Courier New" pitchFamily="49" charset="0"/>
                <a:cs typeface="Courier New" pitchFamily="49" charset="0"/>
              </a:rPr>
              <a:t>function </a:t>
            </a:r>
            <a:r>
              <a:rPr lang="en-US" dirty="0" err="1">
                <a:latin typeface="Courier New" pitchFamily="49" charset="0"/>
                <a:cs typeface="Courier New" pitchFamily="49" charset="0"/>
              </a:rPr>
              <a:t>myFunction</a:t>
            </a:r>
            <a:r>
              <a:rPr lang="en-US" dirty="0">
                <a:latin typeface="Courier New" pitchFamily="49" charset="0"/>
                <a:cs typeface="Courier New" pitchFamily="49" charset="0"/>
              </a:rPr>
              <a:t>() {</a:t>
            </a:r>
          </a:p>
          <a:p>
            <a:r>
              <a:rPr lang="en-US" dirty="0">
                <a:latin typeface="Courier New" pitchFamily="49" charset="0"/>
                <a:cs typeface="Courier New" pitchFamily="49" charset="0"/>
              </a:rPr>
              <a:t>	alert("Hello!");</a:t>
            </a:r>
          </a:p>
          <a:p>
            <a:r>
              <a:rPr lang="en-US" dirty="0">
                <a:latin typeface="Courier New" pitchFamily="49" charset="0"/>
                <a:cs typeface="Courier New" pitchFamily="49" charset="0"/>
              </a:rPr>
              <a:t>	alert("How are you?");</a:t>
            </a:r>
          </a:p>
          <a:p>
            <a:r>
              <a:rPr lang="en-US" dirty="0">
                <a:latin typeface="Courier New" pitchFamily="49" charset="0"/>
                <a:cs typeface="Courier New" pitchFamily="49" charset="0"/>
              </a:rPr>
              <a:t>}    </a:t>
            </a:r>
            <a:r>
              <a:rPr lang="nn-NO" dirty="0">
                <a:latin typeface="Courier New" pitchFamily="49" charset="0"/>
                <a:cs typeface="Courier New" pitchFamily="49" charset="0"/>
              </a:rPr>
              <a:t>	  </a:t>
            </a:r>
            <a:r>
              <a:rPr lang="en-US" dirty="0">
                <a:latin typeface="Consolas" pitchFamily="49" charset="0"/>
                <a:cs typeface="Consolas" pitchFamily="49" charset="0"/>
              </a:rPr>
              <a:t>		           	  	  	         </a:t>
            </a:r>
            <a:r>
              <a:rPr lang="en-US" i="1" dirty="0">
                <a:solidFill>
                  <a:schemeClr val="tx1">
                    <a:lumMod val="50000"/>
                    <a:lumOff val="50000"/>
                  </a:schemeClr>
                </a:solidFill>
                <a:latin typeface="Consolas" pitchFamily="49" charset="0"/>
                <a:cs typeface="Consolas" pitchFamily="49" charset="0"/>
              </a:rPr>
              <a:t>JS</a:t>
            </a:r>
          </a:p>
        </p:txBody>
      </p:sp>
      <p:sp>
        <p:nvSpPr>
          <p:cNvPr id="3" name="Footer Placeholder 2"/>
          <p:cNvSpPr>
            <a:spLocks noGrp="1"/>
          </p:cNvSpPr>
          <p:nvPr>
            <p:ph type="ftr" sz="quarter" idx="11"/>
          </p:nvPr>
        </p:nvSpPr>
        <p:spPr/>
        <p:txBody>
          <a:bodyPr/>
          <a:lstStyle/>
          <a:p>
            <a:r>
              <a:rPr lang="en-US" dirty="0"/>
              <a:t>MPEC2026</a:t>
            </a:r>
          </a:p>
        </p:txBody>
      </p:sp>
    </p:spTree>
    <p:extLst>
      <p:ext uri="{BB962C8B-B14F-4D97-AF65-F5344CB8AC3E}">
        <p14:creationId xmlns:p14="http://schemas.microsoft.com/office/powerpoint/2010/main" val="32944239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BA1911B-4ED6-7567-869B-7D0CD3E3D666}"/>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73F46E71-EEEB-18F0-F33B-F0D99C79AB7E}"/>
              </a:ext>
            </a:extLst>
          </p:cNvPr>
          <p:cNvSpPr>
            <a:spLocks noGrp="1"/>
          </p:cNvSpPr>
          <p:nvPr>
            <p:ph type="sldNum" sz="quarter" idx="12"/>
          </p:nvPr>
        </p:nvSpPr>
        <p:spPr/>
        <p:txBody>
          <a:bodyPr/>
          <a:lstStyle/>
          <a:p>
            <a:fld id="{CB779743-7B81-4FB7-A3E2-1ACEC99CD8CF}" type="slidenum">
              <a:rPr lang="en-US" smtClean="0"/>
              <a:t>3</a:t>
            </a:fld>
            <a:endParaRPr lang="en-US"/>
          </a:p>
        </p:txBody>
      </p:sp>
      <p:sp>
        <p:nvSpPr>
          <p:cNvPr id="4" name="Rectangle 1">
            <a:extLst>
              <a:ext uri="{FF2B5EF4-FFF2-40B4-BE49-F238E27FC236}">
                <a16:creationId xmlns:a16="http://schemas.microsoft.com/office/drawing/2014/main" id="{69B371F6-8575-7EE8-175B-DC58516FB2CF}"/>
              </a:ext>
            </a:extLst>
          </p:cNvPr>
          <p:cNvSpPr>
            <a:spLocks noChangeArrowheads="1"/>
          </p:cNvSpPr>
          <p:nvPr/>
        </p:nvSpPr>
        <p:spPr bwMode="auto">
          <a:xfrm>
            <a:off x="176149" y="59977"/>
            <a:ext cx="7728078"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273239"/>
                </a:solidFill>
                <a:effectLst/>
                <a:latin typeface="Nunito" pitchFamily="2" charset="0"/>
              </a:rPr>
              <a:t>1. Named function: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A </a:t>
            </a:r>
            <a:r>
              <a:rPr kumimoji="0" lang="en-US" altLang="en-US" sz="1300" b="1" i="0" u="sng" strike="noStrike" cap="none" normalizeH="0" baseline="0" dirty="0">
                <a:ln>
                  <a:noFill/>
                </a:ln>
                <a:solidFill>
                  <a:srgbClr val="357960"/>
                </a:solidFill>
                <a:effectLst/>
                <a:latin typeface="Nunito" pitchFamily="2" charset="0"/>
              </a:rPr>
              <a:t>Named function</a:t>
            </a:r>
            <a:r>
              <a:rPr kumimoji="0" lang="en-US" altLang="en-US" sz="1300" b="0" i="0" u="none" strike="noStrike" cap="none" normalizeH="0" baseline="0" dirty="0">
                <a:ln>
                  <a:noFill/>
                </a:ln>
                <a:solidFill>
                  <a:srgbClr val="273239"/>
                </a:solidFill>
                <a:effectLst/>
                <a:latin typeface="Nunito" pitchFamily="2" charset="0"/>
              </a:rPr>
              <a:t> is one that we write in code and then use whenever we need it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 by referencing its name and providing it with some parameters. Named functions come 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 handy when we need to call a function several times to give various values to it or run it multiple times.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BA3F0B72-4CC0-6BC5-93C2-057C9C0B5593}"/>
              </a:ext>
            </a:extLst>
          </p:cNvPr>
          <p:cNvSpPr>
            <a:spLocks noChangeArrowheads="1"/>
          </p:cNvSpPr>
          <p:nvPr/>
        </p:nvSpPr>
        <p:spPr bwMode="auto">
          <a:xfrm>
            <a:off x="0" y="457200"/>
            <a:ext cx="3735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endParaRPr lang="en-IN"/>
          </a:p>
        </p:txBody>
      </p:sp>
      <p:sp>
        <p:nvSpPr>
          <p:cNvPr id="6" name="Rectangle 3">
            <a:extLst>
              <a:ext uri="{FF2B5EF4-FFF2-40B4-BE49-F238E27FC236}">
                <a16:creationId xmlns:a16="http://schemas.microsoft.com/office/drawing/2014/main" id="{F9B060E8-1CBA-9361-0EE5-A3FAB12ADE37}"/>
              </a:ext>
            </a:extLst>
          </p:cNvPr>
          <p:cNvSpPr>
            <a:spLocks noChangeArrowheads="1"/>
          </p:cNvSpPr>
          <p:nvPr/>
        </p:nvSpPr>
        <p:spPr bwMode="auto">
          <a:xfrm>
            <a:off x="176149" y="1041186"/>
            <a:ext cx="3735388"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rPr>
              <a:t>function</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Consolas" panose="020B0609020204030204" pitchFamily="49" charset="0"/>
                <a:cs typeface="Arial" panose="020B0604020202020204" pitchFamily="34" charset="0"/>
              </a:rPr>
              <a:t>add</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a:t>
            </a:r>
            <a:r>
              <a:rPr kumimoji="0" lang="en-US" altLang="en-US" sz="1200" b="0" i="0" u="none" strike="noStrike" cap="none" normalizeH="0" baseline="0" dirty="0">
                <a:ln>
                  <a:noFill/>
                </a:ln>
                <a:solidFill>
                  <a:srgbClr val="0000FF"/>
                </a:solidFill>
                <a:effectLst/>
                <a:latin typeface="Consolas" panose="020B0609020204030204" pitchFamily="49" charset="0"/>
                <a:cs typeface="Arial" panose="020B0604020202020204" pitchFamily="34" charset="0"/>
              </a:rPr>
              <a:t>a</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Consolas" panose="020B0609020204030204" pitchFamily="49" charset="0"/>
                <a:cs typeface="Arial" panose="020B0604020202020204" pitchFamily="34" charset="0"/>
              </a:rPr>
              <a:t>b</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endPar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rPr>
              <a:t>return</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0055AA"/>
                </a:solidFill>
                <a:effectLst/>
                <a:latin typeface="Consolas" panose="020B0609020204030204" pitchFamily="49" charset="0"/>
                <a:cs typeface="Arial" panose="020B0604020202020204" pitchFamily="34" charset="0"/>
              </a:rPr>
              <a:t>a</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 </a:t>
            </a:r>
            <a:r>
              <a:rPr kumimoji="0" lang="en-US" altLang="en-US" sz="1200" b="0" i="0" u="none" strike="noStrike" cap="none" normalizeH="0" baseline="0" dirty="0">
                <a:ln>
                  <a:noFill/>
                </a:ln>
                <a:solidFill>
                  <a:srgbClr val="0055AA"/>
                </a:solidFill>
                <a:effectLst/>
                <a:latin typeface="Consolas" panose="020B0609020204030204" pitchFamily="49" charset="0"/>
                <a:cs typeface="Arial" panose="020B0604020202020204" pitchFamily="34" charset="0"/>
              </a:rPr>
              <a:t>b</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;}console.log(add(</a:t>
            </a:r>
            <a:r>
              <a:rPr kumimoji="0" lang="en-US" altLang="en-US" sz="1200" b="0" i="0" u="none" strike="noStrike" cap="none" normalizeH="0" baseline="0" dirty="0">
                <a:ln>
                  <a:noFill/>
                </a:ln>
                <a:solidFill>
                  <a:srgbClr val="116644"/>
                </a:solidFill>
                <a:effectLst/>
                <a:latin typeface="Consolas" panose="020B0609020204030204" pitchFamily="49" charset="0"/>
                <a:cs typeface="Arial" panose="020B0604020202020204" pitchFamily="34" charset="0"/>
              </a:rPr>
              <a:t>5</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116644"/>
                </a:solidFill>
                <a:effectLst/>
                <a:latin typeface="Consolas" panose="020B0609020204030204" pitchFamily="49" charset="0"/>
                <a:cs typeface="Arial" panose="020B0604020202020204" pitchFamily="34" charset="0"/>
              </a:rPr>
              <a:t>4</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a:t>
            </a:r>
            <a:endParaRPr kumimoji="0" lang="en-US" altLang="en-US" sz="800" b="0" i="0" u="none" strike="noStrike" cap="none" normalizeH="0" baseline="0" dirty="0">
              <a:ln>
                <a:noFill/>
              </a:ln>
              <a:solidFill>
                <a:srgbClr val="000000"/>
              </a:solidFill>
              <a:effectLst/>
              <a:latin typeface="Nunito" pitchFamily="2"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Rectangle 4">
            <a:extLst>
              <a:ext uri="{FF2B5EF4-FFF2-40B4-BE49-F238E27FC236}">
                <a16:creationId xmlns:a16="http://schemas.microsoft.com/office/drawing/2014/main" id="{5C06AF02-1800-EFF2-955A-E17B0A7D6485}"/>
              </a:ext>
            </a:extLst>
          </p:cNvPr>
          <p:cNvSpPr>
            <a:spLocks noChangeArrowheads="1"/>
          </p:cNvSpPr>
          <p:nvPr/>
        </p:nvSpPr>
        <p:spPr bwMode="auto">
          <a:xfrm>
            <a:off x="0" y="4572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5">
            <a:extLst>
              <a:ext uri="{FF2B5EF4-FFF2-40B4-BE49-F238E27FC236}">
                <a16:creationId xmlns:a16="http://schemas.microsoft.com/office/drawing/2014/main" id="{A165CB5A-4AAA-79D4-9A1C-B7324E068E80}"/>
              </a:ext>
            </a:extLst>
          </p:cNvPr>
          <p:cNvSpPr>
            <a:spLocks noChangeArrowheads="1"/>
          </p:cNvSpPr>
          <p:nvPr/>
        </p:nvSpPr>
        <p:spPr bwMode="auto">
          <a:xfrm>
            <a:off x="173274" y="1401587"/>
            <a:ext cx="7977251"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273239"/>
                </a:solidFill>
                <a:effectLst/>
                <a:latin typeface="Nunito" pitchFamily="2" charset="0"/>
              </a:rPr>
              <a:t>2. Anonymous function: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We can define a function in JavaScript without giving it a name.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This nameless function is referred to as the </a:t>
            </a:r>
            <a:r>
              <a:rPr kumimoji="0" lang="en-US" altLang="en-US" sz="1300" b="1" i="0" u="sng" strike="noStrike" cap="none" normalizeH="0" baseline="0" dirty="0">
                <a:ln>
                  <a:noFill/>
                </a:ln>
                <a:solidFill>
                  <a:srgbClr val="357960"/>
                </a:solidFill>
                <a:effectLst/>
                <a:latin typeface="Nunito" pitchFamily="2" charset="0"/>
              </a:rPr>
              <a:t>Anonymous function</a:t>
            </a:r>
            <a:r>
              <a:rPr kumimoji="0" lang="en-US" altLang="en-US" sz="1300" b="0" i="0" u="none" strike="noStrike" cap="none" normalizeH="0" baseline="0" dirty="0">
                <a:ln>
                  <a:noFill/>
                </a:ln>
                <a:solidFill>
                  <a:srgbClr val="273239"/>
                </a:solidFill>
                <a:effectLst/>
                <a:latin typeface="Nunito" pitchFamily="2"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A variable must be assigned to an anonymous function.</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6">
            <a:extLst>
              <a:ext uri="{FF2B5EF4-FFF2-40B4-BE49-F238E27FC236}">
                <a16:creationId xmlns:a16="http://schemas.microsoft.com/office/drawing/2014/main" id="{DA10071D-3E55-F969-2137-EED71F8F05E8}"/>
              </a:ext>
            </a:extLst>
          </p:cNvPr>
          <p:cNvSpPr>
            <a:spLocks noChangeArrowheads="1"/>
          </p:cNvSpPr>
          <p:nvPr/>
        </p:nvSpPr>
        <p:spPr bwMode="auto">
          <a:xfrm>
            <a:off x="176149" y="1955585"/>
            <a:ext cx="3735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endParaRPr lang="en-IN"/>
          </a:p>
        </p:txBody>
      </p:sp>
      <p:sp>
        <p:nvSpPr>
          <p:cNvPr id="10" name="Rectangle 7">
            <a:extLst>
              <a:ext uri="{FF2B5EF4-FFF2-40B4-BE49-F238E27FC236}">
                <a16:creationId xmlns:a16="http://schemas.microsoft.com/office/drawing/2014/main" id="{A066100F-987D-9120-8C55-A29C3EF479FA}"/>
              </a:ext>
            </a:extLst>
          </p:cNvPr>
          <p:cNvSpPr>
            <a:spLocks noChangeArrowheads="1"/>
          </p:cNvSpPr>
          <p:nvPr/>
        </p:nvSpPr>
        <p:spPr bwMode="auto">
          <a:xfrm>
            <a:off x="176149" y="2293186"/>
            <a:ext cx="3735388"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rPr>
              <a:t>let</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Consolas" panose="020B0609020204030204" pitchFamily="49" charset="0"/>
                <a:cs typeface="Arial" panose="020B0604020202020204" pitchFamily="34" charset="0"/>
              </a:rPr>
              <a:t>add</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 </a:t>
            </a:r>
            <a:r>
              <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rPr>
              <a:t>function</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Consolas" panose="020B0609020204030204" pitchFamily="49" charset="0"/>
                <a:cs typeface="Arial" panose="020B0604020202020204" pitchFamily="34" charset="0"/>
              </a:rPr>
              <a:t>a</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Consolas" panose="020B0609020204030204" pitchFamily="49" charset="0"/>
                <a:cs typeface="Arial" panose="020B0604020202020204" pitchFamily="34" charset="0"/>
              </a:rPr>
              <a:t>b</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endPar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rPr>
              <a:t>return</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0055AA"/>
                </a:solidFill>
                <a:effectLst/>
                <a:latin typeface="Consolas" panose="020B0609020204030204" pitchFamily="49" charset="0"/>
                <a:cs typeface="Arial" panose="020B0604020202020204" pitchFamily="34" charset="0"/>
              </a:rPr>
              <a:t>a</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 </a:t>
            </a:r>
            <a:r>
              <a:rPr kumimoji="0" lang="en-US" altLang="en-US" sz="1200" b="0" i="0" u="none" strike="noStrike" cap="none" normalizeH="0" baseline="0" dirty="0">
                <a:ln>
                  <a:noFill/>
                </a:ln>
                <a:solidFill>
                  <a:srgbClr val="0055AA"/>
                </a:solidFill>
                <a:effectLst/>
                <a:latin typeface="Consolas" panose="020B0609020204030204" pitchFamily="49" charset="0"/>
                <a:cs typeface="Arial" panose="020B0604020202020204" pitchFamily="34" charset="0"/>
              </a:rPr>
              <a:t>b</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;}console.log(add(</a:t>
            </a:r>
            <a:r>
              <a:rPr kumimoji="0" lang="en-US" altLang="en-US" sz="1200" b="0" i="0" u="none" strike="noStrike" cap="none" normalizeH="0" baseline="0" dirty="0">
                <a:ln>
                  <a:noFill/>
                </a:ln>
                <a:solidFill>
                  <a:srgbClr val="116644"/>
                </a:solidFill>
                <a:effectLst/>
                <a:latin typeface="Consolas" panose="020B0609020204030204" pitchFamily="49" charset="0"/>
                <a:cs typeface="Arial" panose="020B0604020202020204" pitchFamily="34" charset="0"/>
              </a:rPr>
              <a:t>5</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116644"/>
                </a:solidFill>
                <a:effectLst/>
                <a:latin typeface="Consolas" panose="020B0609020204030204" pitchFamily="49" charset="0"/>
                <a:cs typeface="Arial" panose="020B0604020202020204" pitchFamily="34" charset="0"/>
              </a:rPr>
              <a:t>4</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8">
            <a:extLst>
              <a:ext uri="{FF2B5EF4-FFF2-40B4-BE49-F238E27FC236}">
                <a16:creationId xmlns:a16="http://schemas.microsoft.com/office/drawing/2014/main" id="{CB9EB063-7866-063D-F393-95506E8042EA}"/>
              </a:ext>
            </a:extLst>
          </p:cNvPr>
          <p:cNvSpPr>
            <a:spLocks noChangeArrowheads="1"/>
          </p:cNvSpPr>
          <p:nvPr/>
        </p:nvSpPr>
        <p:spPr bwMode="auto">
          <a:xfrm>
            <a:off x="173274" y="2735670"/>
            <a:ext cx="6705362" cy="13080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273239"/>
                </a:solidFill>
                <a:effectLst/>
                <a:latin typeface="Nunito" pitchFamily="2" charset="0"/>
              </a:rPr>
              <a:t>3. Nested Functions: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A function in JavaScript can contain one or more inner functions.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 These </a:t>
            </a:r>
            <a:r>
              <a:rPr kumimoji="0" lang="en-US" altLang="en-US" sz="1300" b="1" i="0" u="sng" strike="noStrike" cap="none" normalizeH="0" baseline="0" dirty="0">
                <a:ln>
                  <a:noFill/>
                </a:ln>
                <a:solidFill>
                  <a:srgbClr val="357960"/>
                </a:solidFill>
                <a:effectLst/>
                <a:latin typeface="Nunito" pitchFamily="2" charset="0"/>
              </a:rPr>
              <a:t>Nested Functions</a:t>
            </a:r>
            <a:r>
              <a:rPr kumimoji="0" lang="en-US" altLang="en-US" sz="1300" b="0" i="0" u="none" strike="noStrike" cap="none" normalizeH="0" baseline="0" dirty="0">
                <a:ln>
                  <a:noFill/>
                </a:ln>
                <a:solidFill>
                  <a:srgbClr val="273239"/>
                </a:solidFill>
                <a:effectLst/>
                <a:latin typeface="Nunito" pitchFamily="2" charset="0"/>
              </a:rPr>
              <a:t> fall within the purview of the outer function.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The inner function has access to the variables and arguments of the outer function.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However, variables declared within inner functions cannot be accessed by outer functions.</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9">
            <a:extLst>
              <a:ext uri="{FF2B5EF4-FFF2-40B4-BE49-F238E27FC236}">
                <a16:creationId xmlns:a16="http://schemas.microsoft.com/office/drawing/2014/main" id="{B53126A9-6803-AFF8-168D-F834B603030C}"/>
              </a:ext>
            </a:extLst>
          </p:cNvPr>
          <p:cNvSpPr>
            <a:spLocks noChangeArrowheads="1"/>
          </p:cNvSpPr>
          <p:nvPr/>
        </p:nvSpPr>
        <p:spPr bwMode="auto">
          <a:xfrm>
            <a:off x="173274" y="3380179"/>
            <a:ext cx="3735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endParaRPr lang="en-IN"/>
          </a:p>
        </p:txBody>
      </p:sp>
      <p:sp>
        <p:nvSpPr>
          <p:cNvPr id="13" name="Rectangle 10">
            <a:extLst>
              <a:ext uri="{FF2B5EF4-FFF2-40B4-BE49-F238E27FC236}">
                <a16:creationId xmlns:a16="http://schemas.microsoft.com/office/drawing/2014/main" id="{0B9730B5-978D-7EC0-8CF9-64DD8D0020CA}"/>
              </a:ext>
            </a:extLst>
          </p:cNvPr>
          <p:cNvSpPr>
            <a:spLocks noChangeArrowheads="1"/>
          </p:cNvSpPr>
          <p:nvPr/>
        </p:nvSpPr>
        <p:spPr bwMode="auto">
          <a:xfrm>
            <a:off x="173274" y="3926064"/>
            <a:ext cx="3735388"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rPr>
              <a:t>function</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Consolas" panose="020B0609020204030204" pitchFamily="49" charset="0"/>
                <a:cs typeface="Arial" panose="020B0604020202020204" pitchFamily="34" charset="0"/>
              </a:rPr>
              <a:t>msg</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a:t>
            </a:r>
            <a:r>
              <a:rPr kumimoji="0" lang="en-US" altLang="en-US" sz="1200" b="0" i="0" u="none" strike="noStrike" cap="none" normalizeH="0" baseline="0" dirty="0" err="1">
                <a:ln>
                  <a:noFill/>
                </a:ln>
                <a:solidFill>
                  <a:srgbClr val="0000FF"/>
                </a:solidFill>
                <a:effectLst/>
                <a:latin typeface="Consolas" panose="020B0609020204030204" pitchFamily="49" charset="0"/>
                <a:cs typeface="Arial" panose="020B0604020202020204" pitchFamily="34" charset="0"/>
              </a:rPr>
              <a:t>firstName</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endPar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rPr>
              <a:t>function</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Consolas" panose="020B0609020204030204" pitchFamily="49" charset="0"/>
                <a:cs typeface="Arial" panose="020B0604020202020204" pitchFamily="34" charset="0"/>
              </a:rPr>
              <a:t>hey</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 console.log(</a:t>
            </a:r>
            <a:r>
              <a:rPr kumimoji="0" lang="en-US" altLang="en-US" sz="1200" b="0" i="0" u="none" strike="noStrike" cap="none" normalizeH="0" baseline="0" dirty="0">
                <a:ln>
                  <a:noFill/>
                </a:ln>
                <a:solidFill>
                  <a:srgbClr val="AA1111"/>
                </a:solidFill>
                <a:effectLst/>
                <a:latin typeface="Consolas" panose="020B0609020204030204" pitchFamily="49" charset="0"/>
                <a:cs typeface="Arial" panose="020B0604020202020204" pitchFamily="34" charset="0"/>
              </a:rPr>
              <a:t>"Hey "</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 </a:t>
            </a:r>
            <a:r>
              <a:rPr kumimoji="0" lang="en-US" altLang="en-US" sz="1200" b="0" i="0" u="none" strike="noStrike" cap="none" normalizeH="0" baseline="0" dirty="0" err="1">
                <a:ln>
                  <a:noFill/>
                </a:ln>
                <a:solidFill>
                  <a:srgbClr val="0055AA"/>
                </a:solidFill>
                <a:effectLst/>
                <a:latin typeface="Consolas" panose="020B0609020204030204" pitchFamily="49" charset="0"/>
                <a:cs typeface="Arial" panose="020B0604020202020204" pitchFamily="34" charset="0"/>
              </a:rPr>
              <a:t>firstName</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 </a:t>
            </a:r>
            <a:r>
              <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rPr>
              <a:t>return</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0055AA"/>
                </a:solidFill>
                <a:effectLst/>
                <a:latin typeface="Consolas" panose="020B0609020204030204" pitchFamily="49" charset="0"/>
                <a:cs typeface="Arial" panose="020B0604020202020204" pitchFamily="34" charset="0"/>
              </a:rPr>
              <a:t>hey</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();}​msg(</a:t>
            </a:r>
            <a:r>
              <a:rPr kumimoji="0" lang="en-US" altLang="en-US" sz="1200" b="0" i="0" u="none" strike="noStrike" cap="none" normalizeH="0" baseline="0" dirty="0">
                <a:ln>
                  <a:noFill/>
                </a:ln>
                <a:solidFill>
                  <a:srgbClr val="AA1111"/>
                </a:solidFill>
                <a:effectLst/>
                <a:latin typeface="Consolas" panose="020B0609020204030204" pitchFamily="49" charset="0"/>
                <a:cs typeface="Arial" panose="020B0604020202020204" pitchFamily="34" charset="0"/>
              </a:rPr>
              <a:t>"Ravi"</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a:t>
            </a:r>
            <a:endParaRPr kumimoji="0" lang="en-US" altLang="en-US" sz="800" b="0" i="0" u="none" strike="noStrike" cap="none" normalizeH="0" baseline="0" dirty="0">
              <a:ln>
                <a:noFill/>
              </a:ln>
              <a:solidFill>
                <a:srgbClr val="000000"/>
              </a:solidFill>
              <a:effectLst/>
              <a:latin typeface="Nunito" pitchFamily="2"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4" name="Rectangle 11">
            <a:extLst>
              <a:ext uri="{FF2B5EF4-FFF2-40B4-BE49-F238E27FC236}">
                <a16:creationId xmlns:a16="http://schemas.microsoft.com/office/drawing/2014/main" id="{D3FAF1FB-BB4F-5817-305F-EF60F7B25777}"/>
              </a:ext>
            </a:extLst>
          </p:cNvPr>
          <p:cNvSpPr>
            <a:spLocks noChangeArrowheads="1"/>
          </p:cNvSpPr>
          <p:nvPr/>
        </p:nvSpPr>
        <p:spPr bwMode="auto">
          <a:xfrm>
            <a:off x="173274" y="338017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5" name="Rectangle 12">
            <a:extLst>
              <a:ext uri="{FF2B5EF4-FFF2-40B4-BE49-F238E27FC236}">
                <a16:creationId xmlns:a16="http://schemas.microsoft.com/office/drawing/2014/main" id="{77FAC918-12F6-90AA-9FB5-3E8C152B110A}"/>
              </a:ext>
            </a:extLst>
          </p:cNvPr>
          <p:cNvSpPr>
            <a:spLocks noChangeArrowheads="1"/>
          </p:cNvSpPr>
          <p:nvPr/>
        </p:nvSpPr>
        <p:spPr bwMode="auto">
          <a:xfrm>
            <a:off x="173274" y="4226005"/>
            <a:ext cx="8446223" cy="110799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500" b="1" i="0" u="none" strike="noStrike" cap="none" normalizeH="0" baseline="0" dirty="0">
                <a:ln>
                  <a:noFill/>
                </a:ln>
                <a:solidFill>
                  <a:srgbClr val="273239"/>
                </a:solidFill>
                <a:effectLst/>
                <a:latin typeface="Nunito" pitchFamily="2" charset="0"/>
              </a:rPr>
              <a:t>4. Immediately invoked function expression: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The browser executes the invoked function expression as soon as it detects it.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1" i="0" u="sng" strike="noStrike" cap="none" normalizeH="0" baseline="0" dirty="0">
                <a:ln>
                  <a:noFill/>
                </a:ln>
                <a:solidFill>
                  <a:srgbClr val="357960"/>
                </a:solidFill>
                <a:effectLst/>
                <a:latin typeface="Nunito" pitchFamily="2" charset="0"/>
              </a:rPr>
              <a:t>Immediately invoked function expression</a:t>
            </a:r>
            <a:r>
              <a:rPr kumimoji="0" lang="en-US" altLang="en-US" sz="1300" b="0" i="0" u="none" strike="noStrike" cap="none" normalizeH="0" baseline="0" dirty="0">
                <a:ln>
                  <a:noFill/>
                </a:ln>
                <a:solidFill>
                  <a:srgbClr val="273239"/>
                </a:solidFill>
                <a:effectLst/>
                <a:latin typeface="Nunito" pitchFamily="2" charset="0"/>
              </a:rPr>
              <a:t> has the advantage of running instantly where it is situated in the code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and producing direct output. That is, it is unaffected by code that occurs later in the script and can be beneficial.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6" name="Rectangle 13">
            <a:extLst>
              <a:ext uri="{FF2B5EF4-FFF2-40B4-BE49-F238E27FC236}">
                <a16:creationId xmlns:a16="http://schemas.microsoft.com/office/drawing/2014/main" id="{1428A363-1AAD-3788-A844-B978B29382C9}"/>
              </a:ext>
            </a:extLst>
          </p:cNvPr>
          <p:cNvSpPr>
            <a:spLocks noChangeArrowheads="1"/>
          </p:cNvSpPr>
          <p:nvPr/>
        </p:nvSpPr>
        <p:spPr bwMode="auto">
          <a:xfrm>
            <a:off x="381000" y="5033362"/>
            <a:ext cx="3735388"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endParaRPr lang="en-IN"/>
          </a:p>
        </p:txBody>
      </p:sp>
      <p:sp>
        <p:nvSpPr>
          <p:cNvPr id="17" name="Rectangle 14">
            <a:extLst>
              <a:ext uri="{FF2B5EF4-FFF2-40B4-BE49-F238E27FC236}">
                <a16:creationId xmlns:a16="http://schemas.microsoft.com/office/drawing/2014/main" id="{291803AF-019D-A1AE-C80B-5848EE6F3C75}"/>
              </a:ext>
            </a:extLst>
          </p:cNvPr>
          <p:cNvSpPr>
            <a:spLocks noChangeArrowheads="1"/>
          </p:cNvSpPr>
          <p:nvPr/>
        </p:nvSpPr>
        <p:spPr bwMode="auto">
          <a:xfrm>
            <a:off x="173274" y="5194783"/>
            <a:ext cx="3735388"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rPr>
              <a:t>let</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Consolas" panose="020B0609020204030204" pitchFamily="49" charset="0"/>
                <a:cs typeface="Arial" panose="020B0604020202020204" pitchFamily="34" charset="0"/>
              </a:rPr>
              <a:t>msg</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 (</a:t>
            </a:r>
            <a:r>
              <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rPr>
              <a:t>function</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endPar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rPr>
              <a:t>return</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AA1111"/>
                </a:solidFill>
                <a:effectLst/>
                <a:latin typeface="Consolas" panose="020B0609020204030204" pitchFamily="49" charset="0"/>
                <a:cs typeface="Arial" panose="020B0604020202020204" pitchFamily="34" charset="0"/>
              </a:rPr>
              <a:t>"Welcome to </a:t>
            </a:r>
            <a:r>
              <a:rPr kumimoji="0" lang="en-US" altLang="en-US" sz="1200" b="0" i="0" u="none" strike="noStrike" cap="none" normalizeH="0" baseline="0" dirty="0" err="1">
                <a:ln>
                  <a:noFill/>
                </a:ln>
                <a:solidFill>
                  <a:srgbClr val="AA1111"/>
                </a:solidFill>
                <a:effectLst/>
                <a:latin typeface="Consolas" panose="020B0609020204030204" pitchFamily="49" charset="0"/>
                <a:cs typeface="Arial" panose="020B0604020202020204" pitchFamily="34" charset="0"/>
              </a:rPr>
              <a:t>GfG</a:t>
            </a:r>
            <a:r>
              <a:rPr kumimoji="0" lang="en-US" altLang="en-US" sz="1200" b="0" i="0" u="none" strike="noStrike" cap="none" normalizeH="0" baseline="0" dirty="0">
                <a:ln>
                  <a:noFill/>
                </a:ln>
                <a:solidFill>
                  <a:srgbClr val="AA1111"/>
                </a:solidFill>
                <a:effectLst/>
                <a:latin typeface="Consolas" panose="020B0609020204030204" pitchFamily="49" charset="0"/>
                <a:cs typeface="Arial" panose="020B0604020202020204" pitchFamily="34" charset="0"/>
              </a:rPr>
              <a:t>"</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;})();console.log(msg);</a:t>
            </a:r>
            <a:endParaRPr kumimoji="0" lang="en-US" altLang="en-US" sz="1300" b="0" i="0" u="none" strike="noStrike" cap="none" normalizeH="0" baseline="0" dirty="0">
              <a:ln>
                <a:noFill/>
              </a:ln>
              <a:solidFill>
                <a:srgbClr val="000000"/>
              </a:solidFill>
              <a:effectLst/>
              <a:latin typeface="Nunito" pitchFamily="2"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Rectangle 15">
            <a:extLst>
              <a:ext uri="{FF2B5EF4-FFF2-40B4-BE49-F238E27FC236}">
                <a16:creationId xmlns:a16="http://schemas.microsoft.com/office/drawing/2014/main" id="{6CB5D07C-7CFD-A0FA-ABD2-7FB8A4A55A90}"/>
              </a:ext>
            </a:extLst>
          </p:cNvPr>
          <p:cNvSpPr>
            <a:spLocks noChangeArrowheads="1"/>
          </p:cNvSpPr>
          <p:nvPr/>
        </p:nvSpPr>
        <p:spPr bwMode="auto">
          <a:xfrm>
            <a:off x="381000" y="5033362"/>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9" name="Rectangle 16">
            <a:extLst>
              <a:ext uri="{FF2B5EF4-FFF2-40B4-BE49-F238E27FC236}">
                <a16:creationId xmlns:a16="http://schemas.microsoft.com/office/drawing/2014/main" id="{B41934C5-53BB-59FC-1836-5346029768C6}"/>
              </a:ext>
            </a:extLst>
          </p:cNvPr>
          <p:cNvSpPr>
            <a:spLocks noChangeArrowheads="1"/>
          </p:cNvSpPr>
          <p:nvPr/>
        </p:nvSpPr>
        <p:spPr bwMode="auto">
          <a:xfrm>
            <a:off x="173274" y="5485520"/>
            <a:ext cx="8377293" cy="6309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500" b="1" dirty="0">
                <a:solidFill>
                  <a:srgbClr val="273239"/>
                </a:solidFill>
                <a:latin typeface="Nunito" pitchFamily="2" charset="0"/>
              </a:rPr>
              <a:t>5</a:t>
            </a:r>
            <a:r>
              <a:rPr kumimoji="0" lang="en-US" altLang="en-US" sz="1500" b="1" i="0" u="none" strike="noStrike" cap="none" normalizeH="0" baseline="0" dirty="0">
                <a:ln>
                  <a:noFill/>
                </a:ln>
                <a:solidFill>
                  <a:srgbClr val="273239"/>
                </a:solidFill>
                <a:effectLst/>
                <a:latin typeface="Nunito" pitchFamily="2" charset="0"/>
              </a:rPr>
              <a:t>. Arrow Function (ES6)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A new way to write functions using the </a:t>
            </a:r>
            <a:r>
              <a:rPr kumimoji="0" lang="en-US" altLang="en-US" sz="1100" b="0" i="0" u="none" strike="noStrike" cap="none" normalizeH="0" baseline="0" dirty="0">
                <a:ln>
                  <a:noFill/>
                </a:ln>
                <a:solidFill>
                  <a:srgbClr val="273239"/>
                </a:solidFill>
                <a:effectLst/>
                <a:latin typeface="Nunito" pitchFamily="2" charset="0"/>
              </a:rPr>
              <a:t>=&gt;</a:t>
            </a:r>
            <a:r>
              <a:rPr kumimoji="0" lang="en-US" altLang="en-US" sz="1300" b="0" i="0" u="none" strike="noStrike" cap="none" normalizeH="0" baseline="0" dirty="0">
                <a:ln>
                  <a:noFill/>
                </a:ln>
                <a:solidFill>
                  <a:srgbClr val="273239"/>
                </a:solidFill>
                <a:effectLst/>
                <a:latin typeface="Nunito" pitchFamily="2" charset="0"/>
              </a:rPr>
              <a:t> syntax. They are shorter and do not have their own </a:t>
            </a:r>
            <a:r>
              <a:rPr kumimoji="0" lang="en-US" altLang="en-US" sz="1100" b="0" i="0" u="none" strike="noStrike" cap="none" normalizeH="0" baseline="0" dirty="0">
                <a:ln>
                  <a:noFill/>
                </a:ln>
                <a:solidFill>
                  <a:srgbClr val="273239"/>
                </a:solidFill>
                <a:effectLst/>
                <a:latin typeface="Nunito" pitchFamily="2" charset="0"/>
              </a:rPr>
              <a:t>this</a:t>
            </a:r>
            <a:r>
              <a:rPr kumimoji="0" lang="en-US" altLang="en-US" sz="1300" b="0" i="0" u="none" strike="noStrike" cap="none" normalizeH="0" baseline="0" dirty="0">
                <a:ln>
                  <a:noFill/>
                </a:ln>
                <a:solidFill>
                  <a:srgbClr val="273239"/>
                </a:solidFill>
                <a:effectLst/>
                <a:latin typeface="Nunito" pitchFamily="2" charset="0"/>
              </a:rPr>
              <a:t> binding, which</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300" b="0" i="0" u="none" strike="noStrike" cap="none" normalizeH="0" baseline="0" dirty="0">
                <a:ln>
                  <a:noFill/>
                </a:ln>
                <a:solidFill>
                  <a:srgbClr val="273239"/>
                </a:solidFill>
                <a:effectLst/>
                <a:latin typeface="Nunito" pitchFamily="2" charset="0"/>
              </a:rPr>
              <a:t> makes them useful in some cases.</a:t>
            </a:r>
            <a:endParaRPr kumimoji="0" lang="en-US" altLang="en-US" sz="800" b="0" i="0" u="none" strike="noStrike" cap="none" normalizeH="0" baseline="0" dirty="0">
              <a:ln>
                <a:noFill/>
              </a:ln>
              <a:solidFill>
                <a:schemeClr val="tx1"/>
              </a:solidFill>
              <a:effectLst/>
            </a:endParaRPr>
          </a:p>
        </p:txBody>
      </p:sp>
      <p:sp>
        <p:nvSpPr>
          <p:cNvPr id="20" name="Rectangle 17">
            <a:extLst>
              <a:ext uri="{FF2B5EF4-FFF2-40B4-BE49-F238E27FC236}">
                <a16:creationId xmlns:a16="http://schemas.microsoft.com/office/drawing/2014/main" id="{5950C2DB-BBFC-8D55-4AEB-CC857F9B17FE}"/>
              </a:ext>
            </a:extLst>
          </p:cNvPr>
          <p:cNvSpPr>
            <a:spLocks noChangeArrowheads="1"/>
          </p:cNvSpPr>
          <p:nvPr/>
        </p:nvSpPr>
        <p:spPr bwMode="auto">
          <a:xfrm>
            <a:off x="157459" y="6069320"/>
            <a:ext cx="413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endParaRPr lang="en-IN"/>
          </a:p>
        </p:txBody>
      </p:sp>
      <p:sp>
        <p:nvSpPr>
          <p:cNvPr id="21" name="Rectangle 18">
            <a:extLst>
              <a:ext uri="{FF2B5EF4-FFF2-40B4-BE49-F238E27FC236}">
                <a16:creationId xmlns:a16="http://schemas.microsoft.com/office/drawing/2014/main" id="{ECB73DF3-0C4D-DF2B-977C-13A7C6189841}"/>
              </a:ext>
            </a:extLst>
          </p:cNvPr>
          <p:cNvSpPr>
            <a:spLocks noChangeArrowheads="1"/>
          </p:cNvSpPr>
          <p:nvPr/>
        </p:nvSpPr>
        <p:spPr bwMode="auto">
          <a:xfrm>
            <a:off x="173274" y="6148243"/>
            <a:ext cx="4137025"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770088"/>
                </a:solidFill>
                <a:effectLst/>
                <a:latin typeface="Consolas" panose="020B0609020204030204" pitchFamily="49" charset="0"/>
                <a:cs typeface="Arial" panose="020B0604020202020204" pitchFamily="34" charset="0"/>
              </a:rPr>
              <a:t>const</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a:t>
            </a:r>
            <a:r>
              <a:rPr kumimoji="0" lang="en-US" altLang="en-US" sz="1200" b="0" i="0" u="none" strike="noStrike" cap="none" normalizeH="0" baseline="0" dirty="0">
                <a:ln>
                  <a:noFill/>
                </a:ln>
                <a:solidFill>
                  <a:srgbClr val="0000FF"/>
                </a:solidFill>
                <a:effectLst/>
                <a:latin typeface="Consolas" panose="020B0609020204030204" pitchFamily="49" charset="0"/>
                <a:cs typeface="Arial" panose="020B0604020202020204" pitchFamily="34" charset="0"/>
              </a:rPr>
              <a:t>square</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 </a:t>
            </a:r>
            <a:r>
              <a:rPr kumimoji="0" lang="en-US" altLang="en-US" sz="1200" b="0" i="0" u="none" strike="noStrike" cap="none" normalizeH="0" baseline="0" dirty="0">
                <a:ln>
                  <a:noFill/>
                </a:ln>
                <a:solidFill>
                  <a:srgbClr val="0000FF"/>
                </a:solidFill>
                <a:effectLst/>
                <a:latin typeface="Consolas" panose="020B0609020204030204" pitchFamily="49" charset="0"/>
                <a:cs typeface="Arial" panose="020B0604020202020204" pitchFamily="34" charset="0"/>
              </a:rPr>
              <a:t>n</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=&gt; </a:t>
            </a:r>
            <a:r>
              <a:rPr kumimoji="0" lang="en-US" altLang="en-US" sz="1200" b="0" i="0" u="none" strike="noStrike" cap="none" normalizeH="0" baseline="0" dirty="0">
                <a:ln>
                  <a:noFill/>
                </a:ln>
                <a:solidFill>
                  <a:srgbClr val="0055AA"/>
                </a:solidFill>
                <a:effectLst/>
                <a:latin typeface="Consolas" panose="020B0609020204030204" pitchFamily="49" charset="0"/>
                <a:cs typeface="Arial" panose="020B0604020202020204" pitchFamily="34" charset="0"/>
              </a:rPr>
              <a:t>n</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 * </a:t>
            </a:r>
            <a:r>
              <a:rPr kumimoji="0" lang="en-US" altLang="en-US" sz="1200" b="0" i="0" u="none" strike="noStrike" cap="none" normalizeH="0" baseline="0" dirty="0">
                <a:ln>
                  <a:noFill/>
                </a:ln>
                <a:solidFill>
                  <a:srgbClr val="0055AA"/>
                </a:solidFill>
                <a:effectLst/>
                <a:latin typeface="Consolas" panose="020B0609020204030204" pitchFamily="49" charset="0"/>
                <a:cs typeface="Arial" panose="020B0604020202020204" pitchFamily="34" charset="0"/>
              </a:rPr>
              <a:t>n</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console.log(square(</a:t>
            </a:r>
            <a:r>
              <a:rPr kumimoji="0" lang="en-US" altLang="en-US" sz="1200" b="0" i="0" u="none" strike="noStrike" cap="none" normalizeH="0" baseline="0" dirty="0">
                <a:ln>
                  <a:noFill/>
                </a:ln>
                <a:solidFill>
                  <a:srgbClr val="116644"/>
                </a:solidFill>
                <a:effectLst/>
                <a:latin typeface="Consolas" panose="020B0609020204030204" pitchFamily="49" charset="0"/>
                <a:cs typeface="Arial" panose="020B0604020202020204" pitchFamily="34" charset="0"/>
              </a:rPr>
              <a:t>4</a:t>
            </a:r>
            <a:r>
              <a:rPr kumimoji="0" lang="en-US" altLang="en-US" sz="1200" b="0" i="0" u="none" strike="noStrike" cap="none" normalizeH="0" baseline="0" dirty="0">
                <a:ln>
                  <a:noFill/>
                </a:ln>
                <a:solidFill>
                  <a:srgbClr val="000000"/>
                </a:solidFill>
                <a:effectLst/>
                <a:latin typeface="Consolas" panose="020B0609020204030204" pitchFamily="49" charset="0"/>
                <a:cs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2458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0653F45-A8A8-48AB-DAC7-7C2855E7BD4A}"/>
              </a:ext>
            </a:extLst>
          </p:cNvPr>
          <p:cNvSpPr>
            <a:spLocks noGrp="1"/>
          </p:cNvSpPr>
          <p:nvPr>
            <p:ph type="ftr" sz="quarter" idx="11"/>
          </p:nvPr>
        </p:nvSpPr>
        <p:spPr/>
        <p:txBody>
          <a:bodyPr/>
          <a:lstStyle/>
          <a:p>
            <a:r>
              <a:rPr lang="en-US"/>
              <a:t>MPEC2026</a:t>
            </a:r>
            <a:endParaRPr lang="en-US" dirty="0"/>
          </a:p>
        </p:txBody>
      </p:sp>
      <p:sp>
        <p:nvSpPr>
          <p:cNvPr id="5" name="Slide Number Placeholder 4">
            <a:extLst>
              <a:ext uri="{FF2B5EF4-FFF2-40B4-BE49-F238E27FC236}">
                <a16:creationId xmlns:a16="http://schemas.microsoft.com/office/drawing/2014/main" id="{25F4501E-0C1A-4573-121A-CCD01C1E7FBB}"/>
              </a:ext>
            </a:extLst>
          </p:cNvPr>
          <p:cNvSpPr>
            <a:spLocks noGrp="1"/>
          </p:cNvSpPr>
          <p:nvPr>
            <p:ph type="sldNum" sz="quarter" idx="12"/>
          </p:nvPr>
        </p:nvSpPr>
        <p:spPr/>
        <p:txBody>
          <a:bodyPr>
            <a:normAutofit/>
          </a:bodyPr>
          <a:lstStyle/>
          <a:p>
            <a:fld id="{CB779743-7B81-4FB7-A3E2-1ACEC99CD8CF}" type="slidenum">
              <a:rPr lang="en-US" smtClean="0"/>
              <a:t>4</a:t>
            </a:fld>
            <a:endParaRPr lang="en-US"/>
          </a:p>
        </p:txBody>
      </p:sp>
      <p:graphicFrame>
        <p:nvGraphicFramePr>
          <p:cNvPr id="7" name="Table 6">
            <a:extLst>
              <a:ext uri="{FF2B5EF4-FFF2-40B4-BE49-F238E27FC236}">
                <a16:creationId xmlns:a16="http://schemas.microsoft.com/office/drawing/2014/main" id="{F5E09FDB-63D2-8F9B-2F86-7DB8421C0292}"/>
              </a:ext>
            </a:extLst>
          </p:cNvPr>
          <p:cNvGraphicFramePr>
            <a:graphicFrameLocks noGrp="1"/>
          </p:cNvGraphicFramePr>
          <p:nvPr>
            <p:extLst>
              <p:ext uri="{D42A27DB-BD31-4B8C-83A1-F6EECF244321}">
                <p14:modId xmlns:p14="http://schemas.microsoft.com/office/powerpoint/2010/main" val="1214894717"/>
              </p:ext>
            </p:extLst>
          </p:nvPr>
        </p:nvGraphicFramePr>
        <p:xfrm>
          <a:off x="304801" y="291157"/>
          <a:ext cx="8458200" cy="5413088"/>
        </p:xfrm>
        <a:graphic>
          <a:graphicData uri="http://schemas.openxmlformats.org/drawingml/2006/table">
            <a:tbl>
              <a:tblPr>
                <a:tableStyleId>{D7AC3CCA-C797-4891-BE02-D94E43425B78}</a:tableStyleId>
              </a:tblPr>
              <a:tblGrid>
                <a:gridCol w="2915515">
                  <a:extLst>
                    <a:ext uri="{9D8B030D-6E8A-4147-A177-3AD203B41FA5}">
                      <a16:colId xmlns:a16="http://schemas.microsoft.com/office/drawing/2014/main" val="3173031305"/>
                    </a:ext>
                  </a:extLst>
                </a:gridCol>
                <a:gridCol w="2915515">
                  <a:extLst>
                    <a:ext uri="{9D8B030D-6E8A-4147-A177-3AD203B41FA5}">
                      <a16:colId xmlns:a16="http://schemas.microsoft.com/office/drawing/2014/main" val="876166128"/>
                    </a:ext>
                  </a:extLst>
                </a:gridCol>
                <a:gridCol w="2627170">
                  <a:extLst>
                    <a:ext uri="{9D8B030D-6E8A-4147-A177-3AD203B41FA5}">
                      <a16:colId xmlns:a16="http://schemas.microsoft.com/office/drawing/2014/main" val="659573514"/>
                    </a:ext>
                  </a:extLst>
                </a:gridCol>
              </a:tblGrid>
              <a:tr h="295697">
                <a:tc>
                  <a:txBody>
                    <a:bodyPr/>
                    <a:lstStyle/>
                    <a:p>
                      <a:pPr rtl="0">
                        <a:buNone/>
                      </a:pPr>
                      <a:r>
                        <a:rPr lang="en-IN" sz="1800" b="1" dirty="0">
                          <a:solidFill>
                            <a:srgbClr val="1F1F1F"/>
                          </a:solidFill>
                          <a:effectLst/>
                        </a:rPr>
                        <a:t>Type</a:t>
                      </a:r>
                      <a:endParaRPr lang="en-IN" sz="1800" dirty="0">
                        <a:solidFill>
                          <a:srgbClr val="1F1F1F"/>
                        </a:solidFill>
                        <a:effectLst/>
                        <a:latin typeface="Google Sans Text"/>
                      </a:endParaRPr>
                    </a:p>
                  </a:txBody>
                  <a:tcPr marL="28112" marR="35139" marT="46853" marB="46853" anchor="ctr"/>
                </a:tc>
                <a:tc>
                  <a:txBody>
                    <a:bodyPr/>
                    <a:lstStyle/>
                    <a:p>
                      <a:pPr rtl="0">
                        <a:buNone/>
                      </a:pPr>
                      <a:r>
                        <a:rPr lang="en-IN" sz="1800" b="1">
                          <a:solidFill>
                            <a:srgbClr val="1F1F1F"/>
                          </a:solidFill>
                          <a:effectLst/>
                        </a:rPr>
                        <a:t>Syntax Example</a:t>
                      </a:r>
                      <a:endParaRPr lang="en-IN" sz="1800">
                        <a:solidFill>
                          <a:srgbClr val="1F1F1F"/>
                        </a:solidFill>
                        <a:effectLst/>
                        <a:latin typeface="Google Sans Text"/>
                      </a:endParaRPr>
                    </a:p>
                  </a:txBody>
                  <a:tcPr marL="28112" marR="35139" marT="46853" marB="46853" anchor="ctr"/>
                </a:tc>
                <a:tc>
                  <a:txBody>
                    <a:bodyPr/>
                    <a:lstStyle/>
                    <a:p>
                      <a:pPr rtl="0">
                        <a:buNone/>
                      </a:pPr>
                      <a:r>
                        <a:rPr lang="en-IN" sz="1800" b="1">
                          <a:solidFill>
                            <a:srgbClr val="1F1F1F"/>
                          </a:solidFill>
                          <a:effectLst/>
                        </a:rPr>
                        <a:t>Key Characteristic</a:t>
                      </a:r>
                      <a:endParaRPr lang="en-IN"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1839214184"/>
                  </a:ext>
                </a:extLst>
              </a:tr>
              <a:tr h="516105">
                <a:tc>
                  <a:txBody>
                    <a:bodyPr/>
                    <a:lstStyle/>
                    <a:p>
                      <a:pPr rtl="0">
                        <a:buNone/>
                      </a:pPr>
                      <a:r>
                        <a:rPr lang="en-IN" sz="1800" b="1">
                          <a:solidFill>
                            <a:srgbClr val="1F1F1F"/>
                          </a:solidFill>
                          <a:effectLst/>
                        </a:rPr>
                        <a:t>Named</a:t>
                      </a:r>
                      <a:endParaRPr lang="en-IN" sz="180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function name() {}</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a:solidFill>
                            <a:srgbClr val="1F1F1F"/>
                          </a:solidFill>
                          <a:effectLst/>
                        </a:rPr>
                        <a:t>Has a name; hoisted (can be called before defined).</a:t>
                      </a:r>
                      <a:endParaRPr lang="en-US"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3511347402"/>
                  </a:ext>
                </a:extLst>
              </a:tr>
              <a:tr h="516105">
                <a:tc>
                  <a:txBody>
                    <a:bodyPr/>
                    <a:lstStyle/>
                    <a:p>
                      <a:pPr rtl="0">
                        <a:buNone/>
                      </a:pPr>
                      <a:r>
                        <a:rPr lang="en-IN" sz="1800" b="1">
                          <a:solidFill>
                            <a:srgbClr val="1F1F1F"/>
                          </a:solidFill>
                          <a:effectLst/>
                        </a:rPr>
                        <a:t>Anonymous</a:t>
                      </a:r>
                      <a:endParaRPr lang="en-IN" sz="180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function() {}</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a:solidFill>
                            <a:srgbClr val="1F1F1F"/>
                          </a:solidFill>
                          <a:effectLst/>
                        </a:rPr>
                        <a:t>No name; usually assigned to variables or used as callbacks.</a:t>
                      </a:r>
                      <a:endParaRPr lang="en-US"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945851577"/>
                  </a:ext>
                </a:extLst>
              </a:tr>
              <a:tr h="516105">
                <a:tc>
                  <a:txBody>
                    <a:bodyPr/>
                    <a:lstStyle/>
                    <a:p>
                      <a:pPr rtl="0">
                        <a:buNone/>
                      </a:pPr>
                      <a:r>
                        <a:rPr lang="en-IN" sz="1800" b="1">
                          <a:solidFill>
                            <a:srgbClr val="1F1F1F"/>
                          </a:solidFill>
                          <a:effectLst/>
                        </a:rPr>
                        <a:t>Expression</a:t>
                      </a:r>
                      <a:endParaRPr lang="en-IN" sz="180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const x = function() {}</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a:solidFill>
                            <a:srgbClr val="1F1F1F"/>
                          </a:solidFill>
                          <a:effectLst/>
                        </a:rPr>
                        <a:t>Function stored in a variable; not hoisted.</a:t>
                      </a:r>
                      <a:endParaRPr lang="en-US"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818226881"/>
                  </a:ext>
                </a:extLst>
              </a:tr>
              <a:tr h="345960">
                <a:tc>
                  <a:txBody>
                    <a:bodyPr/>
                    <a:lstStyle/>
                    <a:p>
                      <a:pPr rtl="0">
                        <a:buNone/>
                      </a:pPr>
                      <a:r>
                        <a:rPr lang="en-IN" sz="1800" b="1" dirty="0">
                          <a:solidFill>
                            <a:srgbClr val="1F1F1F"/>
                          </a:solidFill>
                          <a:effectLst/>
                        </a:rPr>
                        <a:t>Arrow</a:t>
                      </a:r>
                      <a:endParaRPr lang="en-IN" sz="1800" dirty="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const x = () =&gt; {}</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a:solidFill>
                            <a:srgbClr val="1F1F1F"/>
                          </a:solidFill>
                          <a:effectLst/>
                        </a:rPr>
                        <a:t>Short syntax; no </a:t>
                      </a:r>
                      <a:r>
                        <a:rPr lang="en-US" sz="1800">
                          <a:solidFill>
                            <a:srgbClr val="444746"/>
                          </a:solidFill>
                          <a:effectLst/>
                        </a:rPr>
                        <a:t>this</a:t>
                      </a:r>
                      <a:r>
                        <a:rPr lang="en-US" sz="1800">
                          <a:solidFill>
                            <a:srgbClr val="1F1F1F"/>
                          </a:solidFill>
                          <a:effectLst/>
                        </a:rPr>
                        <a:t> binding.</a:t>
                      </a:r>
                      <a:endParaRPr lang="en-US"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2567264092"/>
                  </a:ext>
                </a:extLst>
              </a:tr>
              <a:tr h="516105">
                <a:tc>
                  <a:txBody>
                    <a:bodyPr/>
                    <a:lstStyle/>
                    <a:p>
                      <a:pPr rtl="0">
                        <a:buNone/>
                      </a:pPr>
                      <a:r>
                        <a:rPr lang="en-IN" sz="1800" b="1" dirty="0">
                          <a:solidFill>
                            <a:srgbClr val="1F1F1F"/>
                          </a:solidFill>
                          <a:effectLst/>
                        </a:rPr>
                        <a:t>IIFE</a:t>
                      </a:r>
                      <a:endParaRPr lang="en-IN" sz="1800" dirty="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 =&gt; {})()</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a:solidFill>
                            <a:srgbClr val="1F1F1F"/>
                          </a:solidFill>
                          <a:effectLst/>
                        </a:rPr>
                        <a:t>Runs immediately after definition; creates local scope.</a:t>
                      </a:r>
                      <a:endParaRPr lang="en-US"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3481141749"/>
                  </a:ext>
                </a:extLst>
              </a:tr>
              <a:tr h="516105">
                <a:tc>
                  <a:txBody>
                    <a:bodyPr/>
                    <a:lstStyle/>
                    <a:p>
                      <a:pPr rtl="0">
                        <a:buNone/>
                      </a:pPr>
                      <a:r>
                        <a:rPr lang="en-IN" sz="1800" b="1">
                          <a:solidFill>
                            <a:srgbClr val="1F1F1F"/>
                          </a:solidFill>
                          <a:effectLst/>
                        </a:rPr>
                        <a:t>Callback</a:t>
                      </a:r>
                      <a:endParaRPr lang="en-IN" sz="180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fn(anotherFn)</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a:solidFill>
                            <a:srgbClr val="1F1F1F"/>
                          </a:solidFill>
                          <a:effectLst/>
                        </a:rPr>
                        <a:t>A function passed as an argument to another.</a:t>
                      </a:r>
                      <a:endParaRPr lang="en-US"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3792009033"/>
                  </a:ext>
                </a:extLst>
              </a:tr>
              <a:tr h="516105">
                <a:tc>
                  <a:txBody>
                    <a:bodyPr/>
                    <a:lstStyle/>
                    <a:p>
                      <a:pPr rtl="0">
                        <a:buNone/>
                      </a:pPr>
                      <a:r>
                        <a:rPr lang="en-IN" sz="1800" b="1" dirty="0">
                          <a:solidFill>
                            <a:srgbClr val="1F1F1F"/>
                          </a:solidFill>
                          <a:effectLst/>
                        </a:rPr>
                        <a:t>Constructor</a:t>
                      </a:r>
                      <a:endParaRPr lang="en-IN" sz="1800" dirty="0">
                        <a:solidFill>
                          <a:srgbClr val="1F1F1F"/>
                        </a:solidFill>
                        <a:effectLst/>
                        <a:latin typeface="Google Sans Text"/>
                      </a:endParaRPr>
                    </a:p>
                  </a:txBody>
                  <a:tcPr marL="28112" marR="35139" marT="46853" marB="46853" anchor="ctr"/>
                </a:tc>
                <a:tc>
                  <a:txBody>
                    <a:bodyPr/>
                    <a:lstStyle/>
                    <a:p>
                      <a:pPr rtl="0">
                        <a:buNone/>
                      </a:pPr>
                      <a:r>
                        <a:rPr lang="en-US" sz="1800">
                          <a:solidFill>
                            <a:srgbClr val="444746"/>
                          </a:solidFill>
                          <a:effectLst/>
                        </a:rPr>
                        <a:t>function User() { this.id = 1 }</a:t>
                      </a:r>
                      <a:endParaRPr lang="en-US" sz="1800">
                        <a:solidFill>
                          <a:srgbClr val="1F1F1F"/>
                        </a:solidFill>
                        <a:effectLst/>
                        <a:latin typeface="Google Sans Text"/>
                      </a:endParaRPr>
                    </a:p>
                  </a:txBody>
                  <a:tcPr marL="28112" marR="35139" marT="46853" marB="46853" anchor="ctr"/>
                </a:tc>
                <a:tc>
                  <a:txBody>
                    <a:bodyPr/>
                    <a:lstStyle/>
                    <a:p>
                      <a:pPr rtl="0">
                        <a:buNone/>
                      </a:pPr>
                      <a:r>
                        <a:rPr lang="en-US" sz="1800" dirty="0">
                          <a:solidFill>
                            <a:srgbClr val="1F1F1F"/>
                          </a:solidFill>
                          <a:effectLst/>
                        </a:rPr>
                        <a:t>Used with </a:t>
                      </a:r>
                      <a:r>
                        <a:rPr lang="en-US" sz="1800" dirty="0">
                          <a:solidFill>
                            <a:srgbClr val="444746"/>
                          </a:solidFill>
                          <a:effectLst/>
                        </a:rPr>
                        <a:t>new</a:t>
                      </a:r>
                      <a:r>
                        <a:rPr lang="en-US" sz="1800" dirty="0">
                          <a:solidFill>
                            <a:srgbClr val="1F1F1F"/>
                          </a:solidFill>
                          <a:effectLst/>
                        </a:rPr>
                        <a:t> to create objects.</a:t>
                      </a:r>
                      <a:endParaRPr lang="en-US" sz="1800" dirty="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630244929"/>
                  </a:ext>
                </a:extLst>
              </a:tr>
            </a:tbl>
          </a:graphicData>
        </a:graphic>
      </p:graphicFrame>
    </p:spTree>
    <p:extLst>
      <p:ext uri="{BB962C8B-B14F-4D97-AF65-F5344CB8AC3E}">
        <p14:creationId xmlns:p14="http://schemas.microsoft.com/office/powerpoint/2010/main" val="7717888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F910AC3-6EC3-6924-6263-3E203902227F}"/>
              </a:ext>
            </a:extLst>
          </p:cNvPr>
          <p:cNvSpPr>
            <a:spLocks noGrp="1"/>
          </p:cNvSpPr>
          <p:nvPr>
            <p:ph type="ftr" sz="quarter" idx="11"/>
          </p:nvPr>
        </p:nvSpPr>
        <p:spPr/>
        <p:txBody>
          <a:bodyPr/>
          <a:lstStyle/>
          <a:p>
            <a:r>
              <a:rPr lang="en-US"/>
              <a:t>MPEC2026</a:t>
            </a:r>
            <a:endParaRPr lang="en-US" dirty="0"/>
          </a:p>
        </p:txBody>
      </p:sp>
      <p:sp>
        <p:nvSpPr>
          <p:cNvPr id="5" name="Slide Number Placeholder 4">
            <a:extLst>
              <a:ext uri="{FF2B5EF4-FFF2-40B4-BE49-F238E27FC236}">
                <a16:creationId xmlns:a16="http://schemas.microsoft.com/office/drawing/2014/main" id="{B7B7FF26-A64B-A835-C7DD-3674B9F01DC3}"/>
              </a:ext>
            </a:extLst>
          </p:cNvPr>
          <p:cNvSpPr>
            <a:spLocks noGrp="1"/>
          </p:cNvSpPr>
          <p:nvPr>
            <p:ph type="sldNum" sz="quarter" idx="12"/>
          </p:nvPr>
        </p:nvSpPr>
        <p:spPr/>
        <p:txBody>
          <a:bodyPr>
            <a:normAutofit fontScale="85000" lnSpcReduction="20000"/>
          </a:bodyPr>
          <a:lstStyle/>
          <a:p>
            <a:fld id="{CB779743-7B81-4FB7-A3E2-1ACEC99CD8CF}" type="slidenum">
              <a:rPr lang="en-US" smtClean="0"/>
              <a:t>5</a:t>
            </a:fld>
            <a:endParaRPr lang="en-US"/>
          </a:p>
        </p:txBody>
      </p:sp>
      <p:graphicFrame>
        <p:nvGraphicFramePr>
          <p:cNvPr id="8" name="Table 7">
            <a:extLst>
              <a:ext uri="{FF2B5EF4-FFF2-40B4-BE49-F238E27FC236}">
                <a16:creationId xmlns:a16="http://schemas.microsoft.com/office/drawing/2014/main" id="{E53EECA0-FA57-DC24-C771-C4F7205DD4D4}"/>
              </a:ext>
            </a:extLst>
          </p:cNvPr>
          <p:cNvGraphicFramePr>
            <a:graphicFrameLocks noGrp="1"/>
          </p:cNvGraphicFramePr>
          <p:nvPr>
            <p:extLst>
              <p:ext uri="{D42A27DB-BD31-4B8C-83A1-F6EECF244321}">
                <p14:modId xmlns:p14="http://schemas.microsoft.com/office/powerpoint/2010/main" val="975442958"/>
              </p:ext>
            </p:extLst>
          </p:nvPr>
        </p:nvGraphicFramePr>
        <p:xfrm>
          <a:off x="114300" y="1516063"/>
          <a:ext cx="8915399" cy="5138768"/>
        </p:xfrm>
        <a:graphic>
          <a:graphicData uri="http://schemas.openxmlformats.org/drawingml/2006/table">
            <a:tbl>
              <a:tblPr>
                <a:tableStyleId>{5202B0CA-FC54-4496-8BCA-5EF66A818D29}</a:tableStyleId>
              </a:tblPr>
              <a:tblGrid>
                <a:gridCol w="3073110">
                  <a:extLst>
                    <a:ext uri="{9D8B030D-6E8A-4147-A177-3AD203B41FA5}">
                      <a16:colId xmlns:a16="http://schemas.microsoft.com/office/drawing/2014/main" val="3173031305"/>
                    </a:ext>
                  </a:extLst>
                </a:gridCol>
                <a:gridCol w="3073110">
                  <a:extLst>
                    <a:ext uri="{9D8B030D-6E8A-4147-A177-3AD203B41FA5}">
                      <a16:colId xmlns:a16="http://schemas.microsoft.com/office/drawing/2014/main" val="876166128"/>
                    </a:ext>
                  </a:extLst>
                </a:gridCol>
                <a:gridCol w="2769179">
                  <a:extLst>
                    <a:ext uri="{9D8B030D-6E8A-4147-A177-3AD203B41FA5}">
                      <a16:colId xmlns:a16="http://schemas.microsoft.com/office/drawing/2014/main" val="659573514"/>
                    </a:ext>
                  </a:extLst>
                </a:gridCol>
              </a:tblGrid>
              <a:tr h="297990">
                <a:tc>
                  <a:txBody>
                    <a:bodyPr/>
                    <a:lstStyle/>
                    <a:p>
                      <a:pPr rtl="0">
                        <a:buNone/>
                      </a:pPr>
                      <a:r>
                        <a:rPr lang="en-IN" sz="1800" b="1">
                          <a:solidFill>
                            <a:srgbClr val="1F1F1F"/>
                          </a:solidFill>
                          <a:effectLst/>
                        </a:rPr>
                        <a:t>Type</a:t>
                      </a:r>
                      <a:endParaRPr lang="en-IN" sz="1800">
                        <a:solidFill>
                          <a:srgbClr val="1F1F1F"/>
                        </a:solidFill>
                        <a:effectLst/>
                        <a:latin typeface="Google Sans Text"/>
                      </a:endParaRPr>
                    </a:p>
                  </a:txBody>
                  <a:tcPr marL="28112" marR="35139" marT="46853" marB="46853" anchor="ctr"/>
                </a:tc>
                <a:tc>
                  <a:txBody>
                    <a:bodyPr/>
                    <a:lstStyle/>
                    <a:p>
                      <a:pPr rtl="0">
                        <a:buNone/>
                      </a:pPr>
                      <a:r>
                        <a:rPr lang="en-IN" sz="1800" b="1">
                          <a:solidFill>
                            <a:srgbClr val="1F1F1F"/>
                          </a:solidFill>
                          <a:effectLst/>
                        </a:rPr>
                        <a:t>Syntax Example</a:t>
                      </a:r>
                      <a:endParaRPr lang="en-IN" sz="1800">
                        <a:solidFill>
                          <a:srgbClr val="1F1F1F"/>
                        </a:solidFill>
                        <a:effectLst/>
                        <a:latin typeface="Google Sans Text"/>
                      </a:endParaRPr>
                    </a:p>
                  </a:txBody>
                  <a:tcPr marL="28112" marR="35139" marT="46853" marB="46853" anchor="ctr"/>
                </a:tc>
                <a:tc>
                  <a:txBody>
                    <a:bodyPr/>
                    <a:lstStyle/>
                    <a:p>
                      <a:pPr rtl="0">
                        <a:buNone/>
                      </a:pPr>
                      <a:r>
                        <a:rPr lang="en-IN" sz="1800" b="1">
                          <a:solidFill>
                            <a:srgbClr val="1F1F1F"/>
                          </a:solidFill>
                          <a:effectLst/>
                        </a:rPr>
                        <a:t>Key Characteristic</a:t>
                      </a:r>
                      <a:endParaRPr lang="en-IN"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1839214184"/>
                  </a:ext>
                </a:extLst>
              </a:tr>
              <a:tr h="520107">
                <a:tc>
                  <a:txBody>
                    <a:bodyPr/>
                    <a:lstStyle/>
                    <a:p>
                      <a:pPr rtl="0">
                        <a:buNone/>
                      </a:pPr>
                      <a:r>
                        <a:rPr lang="en-IN" sz="1800" b="1" dirty="0">
                          <a:solidFill>
                            <a:srgbClr val="1F1F1F"/>
                          </a:solidFill>
                          <a:effectLst/>
                        </a:rPr>
                        <a:t>Async</a:t>
                      </a:r>
                      <a:endParaRPr lang="en-IN" sz="1800" dirty="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async function() { await ... }</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dirty="0">
                          <a:solidFill>
                            <a:srgbClr val="1F1F1F"/>
                          </a:solidFill>
                          <a:effectLst/>
                        </a:rPr>
                        <a:t>Handles promises; always returns a promise.</a:t>
                      </a:r>
                      <a:endParaRPr lang="en-US" sz="1800" dirty="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2616766542"/>
                  </a:ext>
                </a:extLst>
              </a:tr>
              <a:tr h="520107">
                <a:tc>
                  <a:txBody>
                    <a:bodyPr/>
                    <a:lstStyle/>
                    <a:p>
                      <a:pPr rtl="0">
                        <a:buNone/>
                      </a:pPr>
                      <a:r>
                        <a:rPr lang="en-IN" sz="1800" b="1" dirty="0">
                          <a:solidFill>
                            <a:srgbClr val="1F1F1F"/>
                          </a:solidFill>
                          <a:effectLst/>
                        </a:rPr>
                        <a:t>Generator</a:t>
                      </a:r>
                      <a:endParaRPr lang="en-IN" sz="1800" dirty="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function* gen() { yield 1 }</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a:solidFill>
                            <a:srgbClr val="1F1F1F"/>
                          </a:solidFill>
                          <a:effectLst/>
                        </a:rPr>
                        <a:t>Can pause/resume execution using </a:t>
                      </a:r>
                      <a:r>
                        <a:rPr lang="en-US" sz="1800">
                          <a:solidFill>
                            <a:srgbClr val="444746"/>
                          </a:solidFill>
                          <a:effectLst/>
                        </a:rPr>
                        <a:t>yield</a:t>
                      </a:r>
                      <a:r>
                        <a:rPr lang="en-US" sz="1800">
                          <a:solidFill>
                            <a:srgbClr val="1F1F1F"/>
                          </a:solidFill>
                          <a:effectLst/>
                        </a:rPr>
                        <a:t>.</a:t>
                      </a:r>
                      <a:endParaRPr lang="en-US"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3545208510"/>
                  </a:ext>
                </a:extLst>
              </a:tr>
              <a:tr h="520107">
                <a:tc>
                  <a:txBody>
                    <a:bodyPr/>
                    <a:lstStyle/>
                    <a:p>
                      <a:pPr rtl="0">
                        <a:buNone/>
                      </a:pPr>
                      <a:r>
                        <a:rPr lang="en-IN" sz="1800" b="1">
                          <a:solidFill>
                            <a:srgbClr val="1F1F1F"/>
                          </a:solidFill>
                          <a:effectLst/>
                        </a:rPr>
                        <a:t>Recursive</a:t>
                      </a:r>
                      <a:endParaRPr lang="en-IN" sz="180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fn() { if(...) return; fn() }</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a:solidFill>
                            <a:srgbClr val="1F1F1F"/>
                          </a:solidFill>
                          <a:effectLst/>
                        </a:rPr>
                        <a:t>A function that calls itself until a base case is met.</a:t>
                      </a:r>
                      <a:endParaRPr lang="en-US"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3409827124"/>
                  </a:ext>
                </a:extLst>
              </a:tr>
              <a:tr h="520107">
                <a:tc>
                  <a:txBody>
                    <a:bodyPr/>
                    <a:lstStyle/>
                    <a:p>
                      <a:pPr rtl="0">
                        <a:buNone/>
                      </a:pPr>
                      <a:r>
                        <a:rPr lang="en-IN" sz="1800" b="1" dirty="0">
                          <a:solidFill>
                            <a:srgbClr val="1F1F1F"/>
                          </a:solidFill>
                          <a:effectLst/>
                        </a:rPr>
                        <a:t>Higher-Order</a:t>
                      </a:r>
                      <a:endParaRPr lang="en-IN" sz="1800" dirty="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const x = (f) =&gt; f()</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a:solidFill>
                            <a:srgbClr val="1F1F1F"/>
                          </a:solidFill>
                          <a:effectLst/>
                        </a:rPr>
                        <a:t>Takes a function as input or returns one (e.g., </a:t>
                      </a:r>
                      <a:r>
                        <a:rPr lang="en-US" sz="1800">
                          <a:solidFill>
                            <a:srgbClr val="444746"/>
                          </a:solidFill>
                          <a:effectLst/>
                        </a:rPr>
                        <a:t>.map()</a:t>
                      </a:r>
                      <a:r>
                        <a:rPr lang="en-US" sz="1800">
                          <a:solidFill>
                            <a:srgbClr val="1F1F1F"/>
                          </a:solidFill>
                          <a:effectLst/>
                        </a:rPr>
                        <a:t>).</a:t>
                      </a:r>
                      <a:endParaRPr lang="en-US"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340075896"/>
                  </a:ext>
                </a:extLst>
              </a:tr>
              <a:tr h="742223">
                <a:tc>
                  <a:txBody>
                    <a:bodyPr/>
                    <a:lstStyle/>
                    <a:p>
                      <a:pPr rtl="0">
                        <a:buNone/>
                      </a:pPr>
                      <a:r>
                        <a:rPr lang="en-IN" sz="1800" b="1">
                          <a:solidFill>
                            <a:srgbClr val="1F1F1F"/>
                          </a:solidFill>
                          <a:effectLst/>
                        </a:rPr>
                        <a:t>Nested</a:t>
                      </a:r>
                      <a:endParaRPr lang="en-IN" sz="180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function A() { function B() {} }</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a:solidFill>
                            <a:srgbClr val="1F1F1F"/>
                          </a:solidFill>
                          <a:effectLst/>
                        </a:rPr>
                        <a:t>Function inside a function; inner has access to outer's scope.</a:t>
                      </a:r>
                      <a:endParaRPr lang="en-US"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2701907203"/>
                  </a:ext>
                </a:extLst>
              </a:tr>
              <a:tr h="520107">
                <a:tc>
                  <a:txBody>
                    <a:bodyPr/>
                    <a:lstStyle/>
                    <a:p>
                      <a:pPr rtl="0">
                        <a:buNone/>
                      </a:pPr>
                      <a:r>
                        <a:rPr lang="en-IN" sz="1800" b="1">
                          <a:solidFill>
                            <a:srgbClr val="1F1F1F"/>
                          </a:solidFill>
                          <a:effectLst/>
                        </a:rPr>
                        <a:t>Pure</a:t>
                      </a:r>
                      <a:endParaRPr lang="en-IN" sz="180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(a, b) =&gt; a + b</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a:solidFill>
                            <a:srgbClr val="1F1F1F"/>
                          </a:solidFill>
                          <a:effectLst/>
                        </a:rPr>
                        <a:t>Same input = same output; no side effects.</a:t>
                      </a:r>
                      <a:endParaRPr lang="en-US" sz="180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1796709658"/>
                  </a:ext>
                </a:extLst>
              </a:tr>
              <a:tr h="520107">
                <a:tc>
                  <a:txBody>
                    <a:bodyPr/>
                    <a:lstStyle/>
                    <a:p>
                      <a:pPr rtl="0">
                        <a:buNone/>
                      </a:pPr>
                      <a:r>
                        <a:rPr lang="en-IN" sz="1800" b="1">
                          <a:solidFill>
                            <a:srgbClr val="1F1F1F"/>
                          </a:solidFill>
                          <a:effectLst/>
                        </a:rPr>
                        <a:t>Rest Param</a:t>
                      </a:r>
                      <a:endParaRPr lang="en-IN" sz="1800">
                        <a:solidFill>
                          <a:srgbClr val="1F1F1F"/>
                        </a:solidFill>
                        <a:effectLst/>
                        <a:latin typeface="Google Sans Text"/>
                      </a:endParaRPr>
                    </a:p>
                  </a:txBody>
                  <a:tcPr marL="28112" marR="35139" marT="46853" marB="46853" anchor="ctr"/>
                </a:tc>
                <a:tc>
                  <a:txBody>
                    <a:bodyPr/>
                    <a:lstStyle/>
                    <a:p>
                      <a:pPr rtl="0">
                        <a:buNone/>
                      </a:pPr>
                      <a:r>
                        <a:rPr lang="en-IN" sz="1800">
                          <a:solidFill>
                            <a:srgbClr val="444746"/>
                          </a:solidFill>
                          <a:effectLst/>
                        </a:rPr>
                        <a:t>function(...args) {}</a:t>
                      </a:r>
                      <a:endParaRPr lang="en-IN" sz="1800">
                        <a:solidFill>
                          <a:srgbClr val="1F1F1F"/>
                        </a:solidFill>
                        <a:effectLst/>
                        <a:latin typeface="Google Sans Text"/>
                      </a:endParaRPr>
                    </a:p>
                  </a:txBody>
                  <a:tcPr marL="28112" marR="35139" marT="46853" marB="46853" anchor="ctr"/>
                </a:tc>
                <a:tc>
                  <a:txBody>
                    <a:bodyPr/>
                    <a:lstStyle/>
                    <a:p>
                      <a:pPr rtl="0">
                        <a:buNone/>
                      </a:pPr>
                      <a:r>
                        <a:rPr lang="en-US" sz="1800" dirty="0">
                          <a:solidFill>
                            <a:srgbClr val="1F1F1F"/>
                          </a:solidFill>
                          <a:effectLst/>
                        </a:rPr>
                        <a:t>Collects multiple arguments into a single array.</a:t>
                      </a:r>
                      <a:endParaRPr lang="en-US" sz="1800" dirty="0">
                        <a:solidFill>
                          <a:srgbClr val="1F1F1F"/>
                        </a:solidFill>
                        <a:effectLst/>
                        <a:latin typeface="Google Sans Text"/>
                      </a:endParaRPr>
                    </a:p>
                  </a:txBody>
                  <a:tcPr marL="28112" marR="28112" marT="46853" marB="46853" anchor="ctr"/>
                </a:tc>
                <a:extLst>
                  <a:ext uri="{0D108BD9-81ED-4DB2-BD59-A6C34878D82A}">
                    <a16:rowId xmlns:a16="http://schemas.microsoft.com/office/drawing/2014/main" val="430766191"/>
                  </a:ext>
                </a:extLst>
              </a:tr>
            </a:tbl>
          </a:graphicData>
        </a:graphic>
      </p:graphicFrame>
    </p:spTree>
    <p:extLst>
      <p:ext uri="{BB962C8B-B14F-4D97-AF65-F5344CB8AC3E}">
        <p14:creationId xmlns:p14="http://schemas.microsoft.com/office/powerpoint/2010/main" val="4033760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D44C87-415A-D6AF-971E-5923105C627E}"/>
              </a:ext>
            </a:extLst>
          </p:cNvPr>
          <p:cNvSpPr>
            <a:spLocks noGrp="1"/>
          </p:cNvSpPr>
          <p:nvPr>
            <p:ph type="title"/>
          </p:nvPr>
        </p:nvSpPr>
        <p:spPr/>
        <p:txBody>
          <a:bodyPr/>
          <a:lstStyle/>
          <a:p>
            <a:r>
              <a:rPr lang="en-US" sz="3200" b="1" dirty="0"/>
              <a:t>Exploring JavaScript Datatypes and Variables:</a:t>
            </a:r>
            <a:br>
              <a:rPr lang="en-US" b="1" dirty="0"/>
            </a:br>
            <a:endParaRPr lang="en-IN" dirty="0"/>
          </a:p>
        </p:txBody>
      </p:sp>
      <p:sp>
        <p:nvSpPr>
          <p:cNvPr id="3" name="Content Placeholder 2">
            <a:extLst>
              <a:ext uri="{FF2B5EF4-FFF2-40B4-BE49-F238E27FC236}">
                <a16:creationId xmlns:a16="http://schemas.microsoft.com/office/drawing/2014/main" id="{7C0EA0FF-F440-5CAE-4897-C9F11B1F5563}"/>
              </a:ext>
            </a:extLst>
          </p:cNvPr>
          <p:cNvSpPr>
            <a:spLocks noGrp="1"/>
          </p:cNvSpPr>
          <p:nvPr>
            <p:ph sz="quarter" idx="1"/>
          </p:nvPr>
        </p:nvSpPr>
        <p:spPr/>
        <p:txBody>
          <a:bodyPr/>
          <a:lstStyle/>
          <a:p>
            <a:r>
              <a:rPr lang="en-IN" sz="1800" dirty="0"/>
              <a:t>console.log(null === undefined)</a:t>
            </a:r>
          </a:p>
          <a:p>
            <a:r>
              <a:rPr lang="en-IN" sz="1800" dirty="0"/>
              <a:t>console.log(5 &gt; 3 &gt; 2)</a:t>
            </a:r>
          </a:p>
          <a:p>
            <a:r>
              <a:rPr lang="en-IN" sz="1800" dirty="0"/>
              <a:t>console.log([] === [])-</a:t>
            </a:r>
            <a:r>
              <a:rPr lang="en-US" sz="1800" dirty="0"/>
              <a:t>When you compare two arrays with ===, you are comparing their references, not their contents.</a:t>
            </a:r>
            <a:endParaRPr lang="en-IN" sz="1800" dirty="0"/>
          </a:p>
          <a:p>
            <a:r>
              <a:rPr lang="en-IN" sz="1800" dirty="0"/>
              <a:t>console.log(true == 1)</a:t>
            </a:r>
          </a:p>
          <a:p>
            <a:r>
              <a:rPr lang="en-IN" sz="1800" dirty="0"/>
              <a:t>console.log(undefined &gt; 0)-</a:t>
            </a:r>
            <a:r>
              <a:rPr lang="en-US" sz="1600" dirty="0"/>
              <a:t>When JavaScript attempts to compare undefined with 0, it converts undefined to </a:t>
            </a:r>
            <a:r>
              <a:rPr lang="en-US" sz="1600" dirty="0" err="1"/>
              <a:t>NaN</a:t>
            </a:r>
            <a:r>
              <a:rPr lang="en-US" sz="1600" dirty="0"/>
              <a:t> (Not-a-Number). Any comparison involving </a:t>
            </a:r>
            <a:r>
              <a:rPr lang="en-US" sz="1600" dirty="0" err="1"/>
              <a:t>NaN</a:t>
            </a:r>
            <a:r>
              <a:rPr lang="en-US" sz="1600" dirty="0"/>
              <a:t> returns false.</a:t>
            </a:r>
            <a:endParaRPr lang="en-IN" sz="1600" dirty="0"/>
          </a:p>
          <a:p>
            <a:r>
              <a:rPr lang="en-IN" sz="1800" dirty="0"/>
              <a:t>console.log("5" === 5)-</a:t>
            </a:r>
            <a:r>
              <a:rPr lang="en-US" sz="1600" dirty="0"/>
              <a:t>strict equality operator (===) checks both value and type</a:t>
            </a:r>
            <a:endParaRPr lang="en-IN" sz="1600" dirty="0"/>
          </a:p>
          <a:p>
            <a:r>
              <a:rPr lang="en-IN" sz="1800" dirty="0"/>
              <a:t>console.log([1, 2] == [1, 2])</a:t>
            </a:r>
          </a:p>
          <a:p>
            <a:r>
              <a:rPr lang="en-IN" sz="1800" dirty="0"/>
              <a:t>console.log(Infinity &gt; 1000)-</a:t>
            </a:r>
            <a:r>
              <a:rPr lang="en-US" dirty="0"/>
              <a:t> </a:t>
            </a:r>
            <a:r>
              <a:rPr lang="en-US" sz="1600" dirty="0"/>
              <a:t>Infinity represents an unbounded, positive number. It's greater than any finite number,</a:t>
            </a:r>
            <a:endParaRPr lang="en-IN" sz="1600" dirty="0"/>
          </a:p>
        </p:txBody>
      </p:sp>
      <p:sp>
        <p:nvSpPr>
          <p:cNvPr id="4" name="Footer Placeholder 3">
            <a:extLst>
              <a:ext uri="{FF2B5EF4-FFF2-40B4-BE49-F238E27FC236}">
                <a16:creationId xmlns:a16="http://schemas.microsoft.com/office/drawing/2014/main" id="{E93E731F-BC3E-676E-B107-DA0C6AD0EBC0}"/>
              </a:ext>
            </a:extLst>
          </p:cNvPr>
          <p:cNvSpPr>
            <a:spLocks noGrp="1"/>
          </p:cNvSpPr>
          <p:nvPr>
            <p:ph type="ftr" sz="quarter" idx="11"/>
          </p:nvPr>
        </p:nvSpPr>
        <p:spPr/>
        <p:txBody>
          <a:bodyPr/>
          <a:lstStyle/>
          <a:p>
            <a:r>
              <a:rPr lang="en-US" dirty="0"/>
              <a:t>MPEC2026</a:t>
            </a:r>
          </a:p>
          <a:p>
            <a:endParaRPr lang="en-US" dirty="0"/>
          </a:p>
        </p:txBody>
      </p:sp>
      <p:sp>
        <p:nvSpPr>
          <p:cNvPr id="5" name="Slide Number Placeholder 4">
            <a:extLst>
              <a:ext uri="{FF2B5EF4-FFF2-40B4-BE49-F238E27FC236}">
                <a16:creationId xmlns:a16="http://schemas.microsoft.com/office/drawing/2014/main" id="{FB7711CF-68A1-25EA-557E-A55A4FFBCCDF}"/>
              </a:ext>
            </a:extLst>
          </p:cNvPr>
          <p:cNvSpPr>
            <a:spLocks noGrp="1"/>
          </p:cNvSpPr>
          <p:nvPr>
            <p:ph type="sldNum" sz="quarter" idx="12"/>
          </p:nvPr>
        </p:nvSpPr>
        <p:spPr/>
        <p:txBody>
          <a:bodyPr>
            <a:normAutofit fontScale="85000" lnSpcReduction="20000"/>
          </a:bodyPr>
          <a:lstStyle/>
          <a:p>
            <a:fld id="{CB779743-7B81-4FB7-A3E2-1ACEC99CD8CF}" type="slidenum">
              <a:rPr lang="en-US" smtClean="0"/>
              <a:t>6</a:t>
            </a:fld>
            <a:endParaRPr lang="en-US"/>
          </a:p>
        </p:txBody>
      </p:sp>
    </p:spTree>
    <p:extLst>
      <p:ext uri="{BB962C8B-B14F-4D97-AF65-F5344CB8AC3E}">
        <p14:creationId xmlns:p14="http://schemas.microsoft.com/office/powerpoint/2010/main" val="983518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4218A-4C30-2542-E459-E49D12B0939F}"/>
              </a:ext>
            </a:extLst>
          </p:cNvPr>
          <p:cNvSpPr>
            <a:spLocks noGrp="1"/>
          </p:cNvSpPr>
          <p:nvPr>
            <p:ph type="title"/>
          </p:nvPr>
        </p:nvSpPr>
        <p:spPr/>
        <p:txBody>
          <a:bodyPr/>
          <a:lstStyle/>
          <a:p>
            <a:r>
              <a:rPr lang="en-IN" dirty="0"/>
              <a:t>JS ARRAY</a:t>
            </a:r>
          </a:p>
        </p:txBody>
      </p:sp>
      <p:sp>
        <p:nvSpPr>
          <p:cNvPr id="3" name="Content Placeholder 2">
            <a:extLst>
              <a:ext uri="{FF2B5EF4-FFF2-40B4-BE49-F238E27FC236}">
                <a16:creationId xmlns:a16="http://schemas.microsoft.com/office/drawing/2014/main" id="{1D22878C-D6B6-7085-9936-D496B6E24D22}"/>
              </a:ext>
            </a:extLst>
          </p:cNvPr>
          <p:cNvSpPr>
            <a:spLocks noGrp="1"/>
          </p:cNvSpPr>
          <p:nvPr>
            <p:ph sz="quarter" idx="1"/>
          </p:nvPr>
        </p:nvSpPr>
        <p:spPr/>
        <p:txBody>
          <a:bodyPr/>
          <a:lstStyle/>
          <a:p>
            <a:r>
              <a:rPr lang="en-US" dirty="0"/>
              <a:t> an array is an ordered list of values. Each value, known as an element, is assigned a numeric position in the array called its index. The indexing starts at 0, so the first element is at position 0, the second at position 1, and so on.</a:t>
            </a:r>
          </a:p>
          <a:p>
            <a:r>
              <a:rPr lang="en-US" dirty="0"/>
              <a:t>Arrays can hold any type of data-such as numbers, strings, objects, or even other arrays—making them a flexible and essential part of JavaScript programming.</a:t>
            </a:r>
          </a:p>
          <a:p>
            <a:br>
              <a:rPr lang="en-US" dirty="0"/>
            </a:br>
            <a:endParaRPr lang="en-IN" dirty="0"/>
          </a:p>
        </p:txBody>
      </p:sp>
      <p:sp>
        <p:nvSpPr>
          <p:cNvPr id="4" name="Footer Placeholder 3">
            <a:extLst>
              <a:ext uri="{FF2B5EF4-FFF2-40B4-BE49-F238E27FC236}">
                <a16:creationId xmlns:a16="http://schemas.microsoft.com/office/drawing/2014/main" id="{A2BC6619-8022-9560-A4CD-3F37440BBFBA}"/>
              </a:ext>
            </a:extLst>
          </p:cNvPr>
          <p:cNvSpPr>
            <a:spLocks noGrp="1"/>
          </p:cNvSpPr>
          <p:nvPr>
            <p:ph type="ftr" sz="quarter" idx="11"/>
          </p:nvPr>
        </p:nvSpPr>
        <p:spPr/>
        <p:txBody>
          <a:bodyPr/>
          <a:lstStyle/>
          <a:p>
            <a:r>
              <a:rPr lang="en-US"/>
              <a:t>MPEC2026</a:t>
            </a:r>
            <a:endParaRPr lang="en-US" dirty="0"/>
          </a:p>
        </p:txBody>
      </p:sp>
      <p:sp>
        <p:nvSpPr>
          <p:cNvPr id="5" name="Slide Number Placeholder 4">
            <a:extLst>
              <a:ext uri="{FF2B5EF4-FFF2-40B4-BE49-F238E27FC236}">
                <a16:creationId xmlns:a16="http://schemas.microsoft.com/office/drawing/2014/main" id="{8F4FDA5E-3581-1534-3A13-64E68B290406}"/>
              </a:ext>
            </a:extLst>
          </p:cNvPr>
          <p:cNvSpPr>
            <a:spLocks noGrp="1"/>
          </p:cNvSpPr>
          <p:nvPr>
            <p:ph type="sldNum" sz="quarter" idx="12"/>
          </p:nvPr>
        </p:nvSpPr>
        <p:spPr/>
        <p:txBody>
          <a:bodyPr>
            <a:normAutofit fontScale="85000" lnSpcReduction="20000"/>
          </a:bodyPr>
          <a:lstStyle/>
          <a:p>
            <a:fld id="{CB779743-7B81-4FB7-A3E2-1ACEC99CD8CF}" type="slidenum">
              <a:rPr lang="en-US" smtClean="0"/>
              <a:t>7</a:t>
            </a:fld>
            <a:endParaRPr lang="en-US"/>
          </a:p>
        </p:txBody>
      </p:sp>
    </p:spTree>
    <p:extLst>
      <p:ext uri="{BB962C8B-B14F-4D97-AF65-F5344CB8AC3E}">
        <p14:creationId xmlns:p14="http://schemas.microsoft.com/office/powerpoint/2010/main" val="2501797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490C1-603E-F0B3-F0F8-15197DC0007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D812824-3AB8-7E27-CC22-C8D6F9993594}"/>
              </a:ext>
            </a:extLst>
          </p:cNvPr>
          <p:cNvSpPr>
            <a:spLocks noGrp="1"/>
          </p:cNvSpPr>
          <p:nvPr>
            <p:ph type="ftr" sz="quarter" idx="11"/>
          </p:nvPr>
        </p:nvSpPr>
        <p:spPr/>
        <p:txBody>
          <a:bodyPr/>
          <a:lstStyle/>
          <a:p>
            <a:r>
              <a:rPr lang="en-US"/>
              <a:t>MPEC2026</a:t>
            </a:r>
            <a:endParaRPr lang="en-US" dirty="0"/>
          </a:p>
        </p:txBody>
      </p:sp>
      <p:sp>
        <p:nvSpPr>
          <p:cNvPr id="5" name="Slide Number Placeholder 4">
            <a:extLst>
              <a:ext uri="{FF2B5EF4-FFF2-40B4-BE49-F238E27FC236}">
                <a16:creationId xmlns:a16="http://schemas.microsoft.com/office/drawing/2014/main" id="{0F75154A-DF3F-6B26-F5A8-BE6340EBEBEC}"/>
              </a:ext>
            </a:extLst>
          </p:cNvPr>
          <p:cNvSpPr>
            <a:spLocks noGrp="1"/>
          </p:cNvSpPr>
          <p:nvPr>
            <p:ph type="sldNum" sz="quarter" idx="12"/>
          </p:nvPr>
        </p:nvSpPr>
        <p:spPr/>
        <p:txBody>
          <a:bodyPr>
            <a:normAutofit fontScale="85000" lnSpcReduction="20000"/>
          </a:bodyPr>
          <a:lstStyle/>
          <a:p>
            <a:fld id="{CB779743-7B81-4FB7-A3E2-1ACEC99CD8CF}" type="slidenum">
              <a:rPr lang="en-US" smtClean="0"/>
              <a:t>8</a:t>
            </a:fld>
            <a:endParaRPr lang="en-US"/>
          </a:p>
        </p:txBody>
      </p:sp>
      <p:sp>
        <p:nvSpPr>
          <p:cNvPr id="3" name="TextBox 2">
            <a:extLst>
              <a:ext uri="{FF2B5EF4-FFF2-40B4-BE49-F238E27FC236}">
                <a16:creationId xmlns:a16="http://schemas.microsoft.com/office/drawing/2014/main" id="{AD719C10-BB9C-FF2F-6149-B461D7984EC1}"/>
              </a:ext>
            </a:extLst>
          </p:cNvPr>
          <p:cNvSpPr txBox="1"/>
          <p:nvPr/>
        </p:nvSpPr>
        <p:spPr>
          <a:xfrm>
            <a:off x="266700" y="38100"/>
            <a:ext cx="8724900" cy="362920"/>
          </a:xfrm>
          <a:prstGeom prst="rect">
            <a:avLst/>
          </a:prstGeom>
          <a:noFill/>
        </p:spPr>
        <p:txBody>
          <a:bodyPr wrap="square">
            <a:spAutoFit/>
          </a:bodyPr>
          <a:lstStyle/>
          <a:p>
            <a:pPr fontAlgn="base">
              <a:lnSpc>
                <a:spcPts val="2100"/>
              </a:lnSpc>
              <a:spcBef>
                <a:spcPts val="1800"/>
              </a:spcBef>
              <a:spcAft>
                <a:spcPts val="1800"/>
              </a:spcAft>
            </a:pPr>
            <a:r>
              <a:rPr lang="en-US" b="1" i="0">
                <a:solidFill>
                  <a:srgbClr val="273239"/>
                </a:solidFill>
                <a:effectLst/>
                <a:latin typeface="Nunito" pitchFamily="2" charset="0"/>
              </a:rPr>
              <a:t>1. Create Array using Literal-</a:t>
            </a:r>
            <a:r>
              <a:rPr lang="en-US"/>
              <a:t> using square brackets [] to define and initialize the array.</a:t>
            </a:r>
            <a:endParaRPr lang="en-US" b="1" i="0" dirty="0">
              <a:solidFill>
                <a:srgbClr val="273239"/>
              </a:solidFill>
              <a:effectLst/>
              <a:latin typeface="Nunito" pitchFamily="2" charset="0"/>
            </a:endParaRPr>
          </a:p>
        </p:txBody>
      </p:sp>
      <p:sp>
        <p:nvSpPr>
          <p:cNvPr id="7" name="TextBox 6">
            <a:extLst>
              <a:ext uri="{FF2B5EF4-FFF2-40B4-BE49-F238E27FC236}">
                <a16:creationId xmlns:a16="http://schemas.microsoft.com/office/drawing/2014/main" id="{FFA82500-CC58-B94C-92B0-6B75D14D8D51}"/>
              </a:ext>
            </a:extLst>
          </p:cNvPr>
          <p:cNvSpPr txBox="1"/>
          <p:nvPr/>
        </p:nvSpPr>
        <p:spPr>
          <a:xfrm>
            <a:off x="171450" y="401020"/>
            <a:ext cx="4572000" cy="2308324"/>
          </a:xfrm>
          <a:prstGeom prst="rect">
            <a:avLst/>
          </a:prstGeom>
          <a:noFill/>
        </p:spPr>
        <p:txBody>
          <a:bodyPr wrap="square">
            <a:spAutoFit/>
          </a:bodyPr>
          <a:lstStyle/>
          <a:p>
            <a:r>
              <a:rPr lang="en-IN" dirty="0"/>
              <a:t>// Creating an Empty Array</a:t>
            </a:r>
          </a:p>
          <a:p>
            <a:r>
              <a:rPr lang="en-IN" dirty="0"/>
              <a:t>let a = [];</a:t>
            </a:r>
          </a:p>
          <a:p>
            <a:r>
              <a:rPr lang="en-IN" dirty="0"/>
              <a:t>console.log(a);</a:t>
            </a:r>
          </a:p>
          <a:p>
            <a:endParaRPr lang="en-IN" dirty="0"/>
          </a:p>
          <a:p>
            <a:r>
              <a:rPr lang="en-IN" dirty="0"/>
              <a:t>// Creating an Array and Initializing with Values</a:t>
            </a:r>
          </a:p>
          <a:p>
            <a:r>
              <a:rPr lang="en-IN" dirty="0"/>
              <a:t>let b = [10, 20, 30];</a:t>
            </a:r>
          </a:p>
          <a:p>
            <a:r>
              <a:rPr lang="en-IN" dirty="0"/>
              <a:t>console.log(b);</a:t>
            </a:r>
          </a:p>
        </p:txBody>
      </p:sp>
      <p:sp>
        <p:nvSpPr>
          <p:cNvPr id="9" name="TextBox 8">
            <a:extLst>
              <a:ext uri="{FF2B5EF4-FFF2-40B4-BE49-F238E27FC236}">
                <a16:creationId xmlns:a16="http://schemas.microsoft.com/office/drawing/2014/main" id="{A674BFB4-B85A-8342-8D6E-0381549A419C}"/>
              </a:ext>
            </a:extLst>
          </p:cNvPr>
          <p:cNvSpPr txBox="1"/>
          <p:nvPr/>
        </p:nvSpPr>
        <p:spPr>
          <a:xfrm>
            <a:off x="0" y="2709344"/>
            <a:ext cx="9086850" cy="1146468"/>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2. Create using new Keyword (Constructor)</a:t>
            </a:r>
          </a:p>
          <a:p>
            <a:pPr algn="l" rtl="0" fontAlgn="base">
              <a:spcAft>
                <a:spcPts val="750"/>
              </a:spcAft>
              <a:buNone/>
            </a:pPr>
            <a:r>
              <a:rPr lang="en-US" b="0" i="0" dirty="0">
                <a:solidFill>
                  <a:srgbClr val="273239"/>
                </a:solidFill>
                <a:effectLst/>
                <a:latin typeface="Nunito" pitchFamily="2" charset="0"/>
              </a:rPr>
              <a:t>The "</a:t>
            </a:r>
            <a:r>
              <a:rPr lang="en-US" b="1" i="0" dirty="0">
                <a:solidFill>
                  <a:srgbClr val="273239"/>
                </a:solidFill>
                <a:effectLst/>
                <a:latin typeface="Nunito" pitchFamily="2" charset="0"/>
              </a:rPr>
              <a:t>Array Constructor</a:t>
            </a:r>
            <a:r>
              <a:rPr lang="en-US" b="0" i="0" dirty="0">
                <a:solidFill>
                  <a:srgbClr val="273239"/>
                </a:solidFill>
                <a:effectLst/>
                <a:latin typeface="Nunito" pitchFamily="2" charset="0"/>
              </a:rPr>
              <a:t>" refers to a method of creating arrays by invoking the Array constructor function.</a:t>
            </a:r>
          </a:p>
        </p:txBody>
      </p:sp>
    </p:spTree>
    <p:extLst>
      <p:ext uri="{BB962C8B-B14F-4D97-AF65-F5344CB8AC3E}">
        <p14:creationId xmlns:p14="http://schemas.microsoft.com/office/powerpoint/2010/main" val="32925863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849D1-1DBC-2003-CE80-B3156714AD34}"/>
              </a:ext>
            </a:extLst>
          </p:cNvPr>
          <p:cNvSpPr>
            <a:spLocks noGrp="1"/>
          </p:cNvSpPr>
          <p:nvPr>
            <p:ph type="title"/>
          </p:nvPr>
        </p:nvSpPr>
        <p:spPr>
          <a:xfrm>
            <a:off x="838200" y="2438400"/>
            <a:ext cx="8153400" cy="990600"/>
          </a:xfrm>
        </p:spPr>
        <p:txBody>
          <a:bodyPr/>
          <a:lstStyle/>
          <a:p>
            <a:r>
              <a:rPr lang="en-IN" dirty="0"/>
              <a:t>ARRAY OPERATION METHODS</a:t>
            </a:r>
          </a:p>
        </p:txBody>
      </p:sp>
      <p:sp>
        <p:nvSpPr>
          <p:cNvPr id="4" name="Footer Placeholder 3">
            <a:extLst>
              <a:ext uri="{FF2B5EF4-FFF2-40B4-BE49-F238E27FC236}">
                <a16:creationId xmlns:a16="http://schemas.microsoft.com/office/drawing/2014/main" id="{25418CF0-B123-9713-2FAF-0AB5AD623456}"/>
              </a:ext>
            </a:extLst>
          </p:cNvPr>
          <p:cNvSpPr>
            <a:spLocks noGrp="1"/>
          </p:cNvSpPr>
          <p:nvPr>
            <p:ph type="ftr" sz="quarter" idx="11"/>
          </p:nvPr>
        </p:nvSpPr>
        <p:spPr/>
        <p:txBody>
          <a:bodyPr/>
          <a:lstStyle/>
          <a:p>
            <a:r>
              <a:rPr lang="en-US"/>
              <a:t>MPEC2026</a:t>
            </a:r>
            <a:endParaRPr lang="en-US" dirty="0"/>
          </a:p>
        </p:txBody>
      </p:sp>
      <p:sp>
        <p:nvSpPr>
          <p:cNvPr id="5" name="Slide Number Placeholder 4">
            <a:extLst>
              <a:ext uri="{FF2B5EF4-FFF2-40B4-BE49-F238E27FC236}">
                <a16:creationId xmlns:a16="http://schemas.microsoft.com/office/drawing/2014/main" id="{E895D948-4E0F-28E0-0C74-F4779144F4BF}"/>
              </a:ext>
            </a:extLst>
          </p:cNvPr>
          <p:cNvSpPr>
            <a:spLocks noGrp="1"/>
          </p:cNvSpPr>
          <p:nvPr>
            <p:ph type="sldNum" sz="quarter" idx="12"/>
          </p:nvPr>
        </p:nvSpPr>
        <p:spPr/>
        <p:txBody>
          <a:bodyPr>
            <a:normAutofit fontScale="85000" lnSpcReduction="20000"/>
          </a:bodyPr>
          <a:lstStyle/>
          <a:p>
            <a:fld id="{CB779743-7B81-4FB7-A3E2-1ACEC99CD8CF}" type="slidenum">
              <a:rPr lang="en-US" smtClean="0"/>
              <a:t>9</a:t>
            </a:fld>
            <a:endParaRPr lang="en-US"/>
          </a:p>
        </p:txBody>
      </p:sp>
    </p:spTree>
    <p:extLst>
      <p:ext uri="{BB962C8B-B14F-4D97-AF65-F5344CB8AC3E}">
        <p14:creationId xmlns:p14="http://schemas.microsoft.com/office/powerpoint/2010/main" val="21243561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20289C5-10BA-1221-6334-8F8FD249475A}"/>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D0F48814-86F3-4BF6-FB0E-6B25C5D34464}"/>
              </a:ext>
            </a:extLst>
          </p:cNvPr>
          <p:cNvSpPr>
            <a:spLocks noGrp="1"/>
          </p:cNvSpPr>
          <p:nvPr>
            <p:ph type="sldNum" sz="quarter" idx="12"/>
          </p:nvPr>
        </p:nvSpPr>
        <p:spPr/>
        <p:txBody>
          <a:bodyPr/>
          <a:lstStyle/>
          <a:p>
            <a:fld id="{CB779743-7B81-4FB7-A3E2-1ACEC99CD8CF}" type="slidenum">
              <a:rPr lang="en-US" smtClean="0"/>
              <a:t>10</a:t>
            </a:fld>
            <a:endParaRPr lang="en-US"/>
          </a:p>
        </p:txBody>
      </p:sp>
      <p:graphicFrame>
        <p:nvGraphicFramePr>
          <p:cNvPr id="4" name="Table 3">
            <a:extLst>
              <a:ext uri="{FF2B5EF4-FFF2-40B4-BE49-F238E27FC236}">
                <a16:creationId xmlns:a16="http://schemas.microsoft.com/office/drawing/2014/main" id="{DBFE6AB8-7944-59EF-ED3B-2C18DFCE7460}"/>
              </a:ext>
            </a:extLst>
          </p:cNvPr>
          <p:cNvGraphicFramePr>
            <a:graphicFrameLocks noGrp="1"/>
          </p:cNvGraphicFramePr>
          <p:nvPr>
            <p:extLst>
              <p:ext uri="{D42A27DB-BD31-4B8C-83A1-F6EECF244321}">
                <p14:modId xmlns:p14="http://schemas.microsoft.com/office/powerpoint/2010/main" val="1418006746"/>
              </p:ext>
            </p:extLst>
          </p:nvPr>
        </p:nvGraphicFramePr>
        <p:xfrm>
          <a:off x="168839" y="754522"/>
          <a:ext cx="8806321" cy="5108796"/>
        </p:xfrm>
        <a:graphic>
          <a:graphicData uri="http://schemas.openxmlformats.org/drawingml/2006/table">
            <a:tbl>
              <a:tblPr>
                <a:tableStyleId>{BC89EF96-8CEA-46FF-86C4-4CE0E7609802}</a:tableStyleId>
              </a:tblPr>
              <a:tblGrid>
                <a:gridCol w="2257394">
                  <a:extLst>
                    <a:ext uri="{9D8B030D-6E8A-4147-A177-3AD203B41FA5}">
                      <a16:colId xmlns:a16="http://schemas.microsoft.com/office/drawing/2014/main" val="2006653247"/>
                    </a:ext>
                  </a:extLst>
                </a:gridCol>
                <a:gridCol w="2257394">
                  <a:extLst>
                    <a:ext uri="{9D8B030D-6E8A-4147-A177-3AD203B41FA5}">
                      <a16:colId xmlns:a16="http://schemas.microsoft.com/office/drawing/2014/main" val="2149144073"/>
                    </a:ext>
                  </a:extLst>
                </a:gridCol>
                <a:gridCol w="2257394">
                  <a:extLst>
                    <a:ext uri="{9D8B030D-6E8A-4147-A177-3AD203B41FA5}">
                      <a16:colId xmlns:a16="http://schemas.microsoft.com/office/drawing/2014/main" val="3342064212"/>
                    </a:ext>
                  </a:extLst>
                </a:gridCol>
                <a:gridCol w="2034139">
                  <a:extLst>
                    <a:ext uri="{9D8B030D-6E8A-4147-A177-3AD203B41FA5}">
                      <a16:colId xmlns:a16="http://schemas.microsoft.com/office/drawing/2014/main" val="2692784796"/>
                    </a:ext>
                  </a:extLst>
                </a:gridCol>
              </a:tblGrid>
              <a:tr h="201549">
                <a:tc>
                  <a:txBody>
                    <a:bodyPr/>
                    <a:lstStyle/>
                    <a:p>
                      <a:pPr rtl="0">
                        <a:buNone/>
                      </a:pPr>
                      <a:r>
                        <a:rPr lang="en-IN" sz="1600" b="1" dirty="0">
                          <a:solidFill>
                            <a:srgbClr val="1F1F1F"/>
                          </a:solidFill>
                          <a:effectLst/>
                        </a:rPr>
                        <a:t>Category</a:t>
                      </a:r>
                      <a:endParaRPr lang="en-IN" sz="1600" dirty="0">
                        <a:solidFill>
                          <a:srgbClr val="1F1F1F"/>
                        </a:solidFill>
                        <a:effectLst/>
                        <a:latin typeface="Google Sans Text"/>
                      </a:endParaRPr>
                    </a:p>
                  </a:txBody>
                  <a:tcPr marL="23989" marR="29987" marT="39982" marB="39982" anchor="ctr"/>
                </a:tc>
                <a:tc>
                  <a:txBody>
                    <a:bodyPr/>
                    <a:lstStyle/>
                    <a:p>
                      <a:pPr rtl="0">
                        <a:buNone/>
                      </a:pPr>
                      <a:r>
                        <a:rPr lang="en-IN" sz="1600" b="1">
                          <a:solidFill>
                            <a:srgbClr val="1F1F1F"/>
                          </a:solidFill>
                          <a:effectLst/>
                        </a:rPr>
                        <a:t>Method</a:t>
                      </a:r>
                      <a:endParaRPr lang="en-IN" sz="1600">
                        <a:solidFill>
                          <a:srgbClr val="1F1F1F"/>
                        </a:solidFill>
                        <a:effectLst/>
                        <a:latin typeface="Google Sans Text"/>
                      </a:endParaRPr>
                    </a:p>
                  </a:txBody>
                  <a:tcPr marL="23989" marR="29987" marT="39982" marB="39982" anchor="ctr"/>
                </a:tc>
                <a:tc>
                  <a:txBody>
                    <a:bodyPr/>
                    <a:lstStyle/>
                    <a:p>
                      <a:pPr rtl="0">
                        <a:buNone/>
                      </a:pPr>
                      <a:r>
                        <a:rPr lang="en-IN" sz="1600" b="1">
                          <a:solidFill>
                            <a:srgbClr val="1F1F1F"/>
                          </a:solidFill>
                          <a:effectLst/>
                        </a:rPr>
                        <a:t>Description</a:t>
                      </a:r>
                      <a:endParaRPr lang="en-IN" sz="1600">
                        <a:solidFill>
                          <a:srgbClr val="1F1F1F"/>
                        </a:solidFill>
                        <a:effectLst/>
                        <a:latin typeface="Google Sans Text"/>
                      </a:endParaRPr>
                    </a:p>
                  </a:txBody>
                  <a:tcPr marL="23989" marR="29987" marT="39982" marB="39982" anchor="ctr"/>
                </a:tc>
                <a:tc>
                  <a:txBody>
                    <a:bodyPr/>
                    <a:lstStyle/>
                    <a:p>
                      <a:pPr rtl="0">
                        <a:buNone/>
                      </a:pPr>
                      <a:r>
                        <a:rPr lang="en-IN" sz="1600" b="1" dirty="0">
                          <a:solidFill>
                            <a:srgbClr val="1F1F1F"/>
                          </a:solidFill>
                          <a:effectLst/>
                        </a:rPr>
                        <a:t>Mutates Original?</a:t>
                      </a:r>
                      <a:endParaRPr lang="en-IN" sz="1600" dirty="0">
                        <a:solidFill>
                          <a:srgbClr val="1F1F1F"/>
                        </a:solidFill>
                        <a:effectLst/>
                        <a:latin typeface="Google Sans Text"/>
                      </a:endParaRPr>
                    </a:p>
                  </a:txBody>
                  <a:tcPr marL="23989" marR="23989" marT="39982" marB="39982" anchor="ctr"/>
                </a:tc>
                <a:extLst>
                  <a:ext uri="{0D108BD9-81ED-4DB2-BD59-A6C34878D82A}">
                    <a16:rowId xmlns:a16="http://schemas.microsoft.com/office/drawing/2014/main" val="3482215697"/>
                  </a:ext>
                </a:extLst>
              </a:tr>
              <a:tr h="288970">
                <a:tc>
                  <a:txBody>
                    <a:bodyPr/>
                    <a:lstStyle/>
                    <a:p>
                      <a:pPr rtl="0">
                        <a:buNone/>
                      </a:pPr>
                      <a:r>
                        <a:rPr lang="en-IN" sz="1600" b="1">
                          <a:solidFill>
                            <a:srgbClr val="1F1F1F"/>
                          </a:solidFill>
                          <a:effectLst/>
                        </a:rPr>
                        <a:t>Adding/Removing</a:t>
                      </a:r>
                      <a:endParaRPr lang="en-IN" sz="1600">
                        <a:solidFill>
                          <a:srgbClr val="1F1F1F"/>
                        </a:solidFill>
                        <a:effectLst/>
                        <a:latin typeface="Google Sans Text"/>
                      </a:endParaRPr>
                    </a:p>
                  </a:txBody>
                  <a:tcPr marL="23989" marR="29987" marT="39982" marB="39982" anchor="ctr"/>
                </a:tc>
                <a:tc>
                  <a:txBody>
                    <a:bodyPr/>
                    <a:lstStyle/>
                    <a:p>
                      <a:pPr rtl="0">
                        <a:buNone/>
                      </a:pPr>
                      <a:r>
                        <a:rPr lang="en-IN" sz="1600">
                          <a:solidFill>
                            <a:srgbClr val="444746"/>
                          </a:solidFill>
                          <a:effectLst/>
                        </a:rPr>
                        <a:t>push()</a:t>
                      </a:r>
                      <a:r>
                        <a:rPr lang="en-IN" sz="1600">
                          <a:solidFill>
                            <a:srgbClr val="1F1F1F"/>
                          </a:solidFill>
                          <a:effectLst/>
                        </a:rPr>
                        <a:t> / </a:t>
                      </a:r>
                      <a:r>
                        <a:rPr lang="en-IN" sz="1600">
                          <a:solidFill>
                            <a:srgbClr val="444746"/>
                          </a:solidFill>
                          <a:effectLst/>
                        </a:rPr>
                        <a:t>pop()</a:t>
                      </a:r>
                      <a:endParaRPr lang="en-IN" sz="1600">
                        <a:solidFill>
                          <a:srgbClr val="1F1F1F"/>
                        </a:solidFill>
                        <a:effectLst/>
                        <a:latin typeface="Google Sans Text"/>
                      </a:endParaRPr>
                    </a:p>
                  </a:txBody>
                  <a:tcPr marL="23989" marR="29987" marT="39982" marB="39982" anchor="ctr"/>
                </a:tc>
                <a:tc>
                  <a:txBody>
                    <a:bodyPr/>
                    <a:lstStyle/>
                    <a:p>
                      <a:pPr rtl="0">
                        <a:buNone/>
                      </a:pPr>
                      <a:r>
                        <a:rPr lang="en-US" sz="1600">
                          <a:solidFill>
                            <a:srgbClr val="1F1F1F"/>
                          </a:solidFill>
                          <a:effectLst/>
                        </a:rPr>
                        <a:t>Adds/removes from the </a:t>
                      </a:r>
                      <a:r>
                        <a:rPr lang="en-US" sz="1600" b="1">
                          <a:solidFill>
                            <a:srgbClr val="1F1F1F"/>
                          </a:solidFill>
                          <a:effectLst/>
                        </a:rPr>
                        <a:t>end</a:t>
                      </a:r>
                      <a:r>
                        <a:rPr lang="en-US" sz="1600">
                          <a:solidFill>
                            <a:srgbClr val="1F1F1F"/>
                          </a:solidFill>
                          <a:effectLst/>
                        </a:rPr>
                        <a:t>.</a:t>
                      </a:r>
                      <a:endParaRPr lang="en-US" sz="1600">
                        <a:solidFill>
                          <a:srgbClr val="1F1F1F"/>
                        </a:solidFill>
                        <a:effectLst/>
                        <a:latin typeface="Google Sans Text"/>
                      </a:endParaRPr>
                    </a:p>
                  </a:txBody>
                  <a:tcPr marL="23989" marR="29987" marT="39982" marB="39982" anchor="ctr"/>
                </a:tc>
                <a:tc>
                  <a:txBody>
                    <a:bodyPr/>
                    <a:lstStyle/>
                    <a:p>
                      <a:pPr rtl="0">
                        <a:buNone/>
                      </a:pPr>
                      <a:r>
                        <a:rPr lang="en-IN" sz="1600" dirty="0">
                          <a:solidFill>
                            <a:srgbClr val="1F1F1F"/>
                          </a:solidFill>
                          <a:effectLst/>
                        </a:rPr>
                        <a:t>Yes</a:t>
                      </a:r>
                      <a:endParaRPr lang="en-IN" sz="1600" dirty="0">
                        <a:solidFill>
                          <a:srgbClr val="1F1F1F"/>
                        </a:solidFill>
                        <a:effectLst/>
                        <a:latin typeface="Google Sans Text"/>
                      </a:endParaRPr>
                    </a:p>
                  </a:txBody>
                  <a:tcPr marL="23989" marR="23989" marT="39982" marB="39982" anchor="ctr"/>
                </a:tc>
                <a:extLst>
                  <a:ext uri="{0D108BD9-81ED-4DB2-BD59-A6C34878D82A}">
                    <a16:rowId xmlns:a16="http://schemas.microsoft.com/office/drawing/2014/main" val="2537741304"/>
                  </a:ext>
                </a:extLst>
              </a:tr>
              <a:tr h="288970">
                <a:tc>
                  <a:txBody>
                    <a:bodyPr/>
                    <a:lstStyle/>
                    <a:p>
                      <a:pPr rtl="0">
                        <a:buNone/>
                      </a:pPr>
                      <a:endParaRPr lang="en-IN" sz="1600">
                        <a:solidFill>
                          <a:srgbClr val="1F1F1F"/>
                        </a:solidFill>
                        <a:effectLst/>
                        <a:latin typeface="Google Sans Text"/>
                      </a:endParaRPr>
                    </a:p>
                  </a:txBody>
                  <a:tcPr marL="23989" marR="29987" marT="39982" marB="39982" anchor="ctr"/>
                </a:tc>
                <a:tc>
                  <a:txBody>
                    <a:bodyPr/>
                    <a:lstStyle/>
                    <a:p>
                      <a:pPr rtl="0">
                        <a:buNone/>
                      </a:pPr>
                      <a:r>
                        <a:rPr lang="en-IN" sz="1600">
                          <a:solidFill>
                            <a:srgbClr val="444746"/>
                          </a:solidFill>
                          <a:effectLst/>
                        </a:rPr>
                        <a:t>unshift()</a:t>
                      </a:r>
                      <a:r>
                        <a:rPr lang="en-IN" sz="1600">
                          <a:solidFill>
                            <a:srgbClr val="1F1F1F"/>
                          </a:solidFill>
                          <a:effectLst/>
                        </a:rPr>
                        <a:t> / </a:t>
                      </a:r>
                      <a:r>
                        <a:rPr lang="en-IN" sz="1600">
                          <a:solidFill>
                            <a:srgbClr val="444746"/>
                          </a:solidFill>
                          <a:effectLst/>
                        </a:rPr>
                        <a:t>shift()</a:t>
                      </a:r>
                      <a:endParaRPr lang="en-IN" sz="1600">
                        <a:solidFill>
                          <a:srgbClr val="1F1F1F"/>
                        </a:solidFill>
                        <a:effectLst/>
                        <a:latin typeface="Google Sans Text"/>
                      </a:endParaRPr>
                    </a:p>
                  </a:txBody>
                  <a:tcPr marL="23989" marR="29987" marT="39982" marB="39982" anchor="ctr"/>
                </a:tc>
                <a:tc>
                  <a:txBody>
                    <a:bodyPr/>
                    <a:lstStyle/>
                    <a:p>
                      <a:pPr rtl="0">
                        <a:buNone/>
                      </a:pPr>
                      <a:r>
                        <a:rPr lang="en-US" sz="1600">
                          <a:solidFill>
                            <a:srgbClr val="1F1F1F"/>
                          </a:solidFill>
                          <a:effectLst/>
                        </a:rPr>
                        <a:t>Adds/removes from the </a:t>
                      </a:r>
                      <a:r>
                        <a:rPr lang="en-US" sz="1600" b="1">
                          <a:solidFill>
                            <a:srgbClr val="1F1F1F"/>
                          </a:solidFill>
                          <a:effectLst/>
                        </a:rPr>
                        <a:t>beginning</a:t>
                      </a:r>
                      <a:r>
                        <a:rPr lang="en-US" sz="1600">
                          <a:solidFill>
                            <a:srgbClr val="1F1F1F"/>
                          </a:solidFill>
                          <a:effectLst/>
                        </a:rPr>
                        <a:t>.</a:t>
                      </a:r>
                      <a:endParaRPr lang="en-US" sz="1600">
                        <a:solidFill>
                          <a:srgbClr val="1F1F1F"/>
                        </a:solidFill>
                        <a:effectLst/>
                        <a:latin typeface="Google Sans Text"/>
                      </a:endParaRPr>
                    </a:p>
                  </a:txBody>
                  <a:tcPr marL="23989" marR="29987" marT="39982" marB="39982" anchor="ctr"/>
                </a:tc>
                <a:tc>
                  <a:txBody>
                    <a:bodyPr/>
                    <a:lstStyle/>
                    <a:p>
                      <a:pPr rtl="0">
                        <a:buNone/>
                      </a:pPr>
                      <a:r>
                        <a:rPr lang="en-IN" sz="1600">
                          <a:solidFill>
                            <a:srgbClr val="1F1F1F"/>
                          </a:solidFill>
                          <a:effectLst/>
                        </a:rPr>
                        <a:t>Yes</a:t>
                      </a:r>
                      <a:endParaRPr lang="en-IN" sz="1600">
                        <a:solidFill>
                          <a:srgbClr val="1F1F1F"/>
                        </a:solidFill>
                        <a:effectLst/>
                        <a:latin typeface="Google Sans Text"/>
                      </a:endParaRPr>
                    </a:p>
                  </a:txBody>
                  <a:tcPr marL="23989" marR="23989" marT="39982" marB="39982" anchor="ctr"/>
                </a:tc>
                <a:extLst>
                  <a:ext uri="{0D108BD9-81ED-4DB2-BD59-A6C34878D82A}">
                    <a16:rowId xmlns:a16="http://schemas.microsoft.com/office/drawing/2014/main" val="2324037792"/>
                  </a:ext>
                </a:extLst>
              </a:tr>
              <a:tr h="381853">
                <a:tc>
                  <a:txBody>
                    <a:bodyPr/>
                    <a:lstStyle/>
                    <a:p>
                      <a:pPr rtl="0">
                        <a:buNone/>
                      </a:pPr>
                      <a:endParaRPr lang="en-IN" sz="1600">
                        <a:solidFill>
                          <a:srgbClr val="1F1F1F"/>
                        </a:solidFill>
                        <a:effectLst/>
                        <a:latin typeface="Google Sans Text"/>
                      </a:endParaRPr>
                    </a:p>
                  </a:txBody>
                  <a:tcPr marL="23989" marR="29987" marT="39982" marB="39982" anchor="ctr"/>
                </a:tc>
                <a:tc>
                  <a:txBody>
                    <a:bodyPr/>
                    <a:lstStyle/>
                    <a:p>
                      <a:pPr rtl="0">
                        <a:buNone/>
                      </a:pPr>
                      <a:r>
                        <a:rPr lang="en-IN" sz="1600" dirty="0">
                          <a:solidFill>
                            <a:srgbClr val="444746"/>
                          </a:solidFill>
                          <a:effectLst/>
                        </a:rPr>
                        <a:t>splice()</a:t>
                      </a:r>
                      <a:endParaRPr lang="en-IN" sz="1600" dirty="0">
                        <a:solidFill>
                          <a:srgbClr val="1F1F1F"/>
                        </a:solidFill>
                        <a:effectLst/>
                        <a:latin typeface="Google Sans Text"/>
                      </a:endParaRPr>
                    </a:p>
                  </a:txBody>
                  <a:tcPr marL="23989" marR="29987" marT="39982" marB="39982" anchor="ctr"/>
                </a:tc>
                <a:tc>
                  <a:txBody>
                    <a:bodyPr/>
                    <a:lstStyle/>
                    <a:p>
                      <a:pPr rtl="0">
                        <a:buNone/>
                      </a:pPr>
                      <a:r>
                        <a:rPr lang="en-US" sz="1600">
                          <a:solidFill>
                            <a:srgbClr val="1F1F1F"/>
                          </a:solidFill>
                          <a:effectLst/>
                        </a:rPr>
                        <a:t>Adds, removes, or replaces elements at any index.</a:t>
                      </a:r>
                      <a:endParaRPr lang="en-US" sz="1600">
                        <a:solidFill>
                          <a:srgbClr val="1F1F1F"/>
                        </a:solidFill>
                        <a:effectLst/>
                        <a:latin typeface="Google Sans Text"/>
                      </a:endParaRPr>
                    </a:p>
                  </a:txBody>
                  <a:tcPr marL="23989" marR="29987" marT="39982" marB="39982" anchor="ctr"/>
                </a:tc>
                <a:tc>
                  <a:txBody>
                    <a:bodyPr/>
                    <a:lstStyle/>
                    <a:p>
                      <a:pPr rtl="0">
                        <a:buNone/>
                      </a:pPr>
                      <a:r>
                        <a:rPr lang="en-IN" sz="1600">
                          <a:solidFill>
                            <a:srgbClr val="1F1F1F"/>
                          </a:solidFill>
                          <a:effectLst/>
                        </a:rPr>
                        <a:t>Yes</a:t>
                      </a:r>
                      <a:endParaRPr lang="en-IN" sz="1600">
                        <a:solidFill>
                          <a:srgbClr val="1F1F1F"/>
                        </a:solidFill>
                        <a:effectLst/>
                        <a:latin typeface="Google Sans Text"/>
                      </a:endParaRPr>
                    </a:p>
                  </a:txBody>
                  <a:tcPr marL="23989" marR="23989" marT="39982" marB="39982" anchor="ctr"/>
                </a:tc>
                <a:extLst>
                  <a:ext uri="{0D108BD9-81ED-4DB2-BD59-A6C34878D82A}">
                    <a16:rowId xmlns:a16="http://schemas.microsoft.com/office/drawing/2014/main" val="4121408185"/>
                  </a:ext>
                </a:extLst>
              </a:tr>
              <a:tr h="381853">
                <a:tc>
                  <a:txBody>
                    <a:bodyPr/>
                    <a:lstStyle/>
                    <a:p>
                      <a:pPr rtl="0">
                        <a:buNone/>
                      </a:pPr>
                      <a:r>
                        <a:rPr lang="en-IN" sz="1600" b="1">
                          <a:solidFill>
                            <a:srgbClr val="1F1F1F"/>
                          </a:solidFill>
                          <a:effectLst/>
                        </a:rPr>
                        <a:t>Transforming</a:t>
                      </a:r>
                      <a:endParaRPr lang="en-IN" sz="1600">
                        <a:solidFill>
                          <a:srgbClr val="1F1F1F"/>
                        </a:solidFill>
                        <a:effectLst/>
                        <a:latin typeface="Google Sans Text"/>
                      </a:endParaRPr>
                    </a:p>
                  </a:txBody>
                  <a:tcPr marL="23989" marR="29987" marT="39982" marB="39982" anchor="ctr"/>
                </a:tc>
                <a:tc>
                  <a:txBody>
                    <a:bodyPr/>
                    <a:lstStyle/>
                    <a:p>
                      <a:pPr rtl="0">
                        <a:buNone/>
                      </a:pPr>
                      <a:r>
                        <a:rPr lang="en-IN" sz="1600">
                          <a:solidFill>
                            <a:srgbClr val="444746"/>
                          </a:solidFill>
                          <a:effectLst/>
                        </a:rPr>
                        <a:t>map()</a:t>
                      </a:r>
                      <a:endParaRPr lang="en-IN" sz="1600">
                        <a:solidFill>
                          <a:srgbClr val="1F1F1F"/>
                        </a:solidFill>
                        <a:effectLst/>
                        <a:latin typeface="Google Sans Text"/>
                      </a:endParaRPr>
                    </a:p>
                  </a:txBody>
                  <a:tcPr marL="23989" marR="29987" marT="39982" marB="39982" anchor="ctr"/>
                </a:tc>
                <a:tc>
                  <a:txBody>
                    <a:bodyPr/>
                    <a:lstStyle/>
                    <a:p>
                      <a:pPr rtl="0">
                        <a:buNone/>
                      </a:pPr>
                      <a:r>
                        <a:rPr lang="en-US" sz="1600">
                          <a:solidFill>
                            <a:srgbClr val="1F1F1F"/>
                          </a:solidFill>
                          <a:effectLst/>
                        </a:rPr>
                        <a:t>Creates a new array by calling a function on every element.</a:t>
                      </a:r>
                      <a:endParaRPr lang="en-US" sz="1600">
                        <a:solidFill>
                          <a:srgbClr val="1F1F1F"/>
                        </a:solidFill>
                        <a:effectLst/>
                        <a:latin typeface="Google Sans Text"/>
                      </a:endParaRPr>
                    </a:p>
                  </a:txBody>
                  <a:tcPr marL="23989" marR="29987" marT="39982" marB="39982" anchor="ctr"/>
                </a:tc>
                <a:tc>
                  <a:txBody>
                    <a:bodyPr/>
                    <a:lstStyle/>
                    <a:p>
                      <a:pPr rtl="0">
                        <a:buNone/>
                      </a:pPr>
                      <a:r>
                        <a:rPr lang="en-IN" sz="1600">
                          <a:solidFill>
                            <a:srgbClr val="1F1F1F"/>
                          </a:solidFill>
                          <a:effectLst/>
                        </a:rPr>
                        <a:t>No</a:t>
                      </a:r>
                      <a:endParaRPr lang="en-IN" sz="1600">
                        <a:solidFill>
                          <a:srgbClr val="1F1F1F"/>
                        </a:solidFill>
                        <a:effectLst/>
                        <a:latin typeface="Google Sans Text"/>
                      </a:endParaRPr>
                    </a:p>
                  </a:txBody>
                  <a:tcPr marL="23989" marR="23989" marT="39982" marB="39982" anchor="ctr"/>
                </a:tc>
                <a:extLst>
                  <a:ext uri="{0D108BD9-81ED-4DB2-BD59-A6C34878D82A}">
                    <a16:rowId xmlns:a16="http://schemas.microsoft.com/office/drawing/2014/main" val="2604817601"/>
                  </a:ext>
                </a:extLst>
              </a:tr>
              <a:tr h="381853">
                <a:tc>
                  <a:txBody>
                    <a:bodyPr/>
                    <a:lstStyle/>
                    <a:p>
                      <a:pPr rtl="0">
                        <a:buNone/>
                      </a:pPr>
                      <a:endParaRPr lang="en-IN" sz="1600">
                        <a:solidFill>
                          <a:srgbClr val="1F1F1F"/>
                        </a:solidFill>
                        <a:effectLst/>
                        <a:latin typeface="Google Sans Text"/>
                      </a:endParaRPr>
                    </a:p>
                  </a:txBody>
                  <a:tcPr marL="23989" marR="29987" marT="39982" marB="39982" anchor="ctr"/>
                </a:tc>
                <a:tc>
                  <a:txBody>
                    <a:bodyPr/>
                    <a:lstStyle/>
                    <a:p>
                      <a:pPr rtl="0">
                        <a:buNone/>
                      </a:pPr>
                      <a:r>
                        <a:rPr lang="en-IN" sz="1600">
                          <a:solidFill>
                            <a:srgbClr val="444746"/>
                          </a:solidFill>
                          <a:effectLst/>
                        </a:rPr>
                        <a:t>filter()</a:t>
                      </a:r>
                      <a:endParaRPr lang="en-IN" sz="1600">
                        <a:solidFill>
                          <a:srgbClr val="1F1F1F"/>
                        </a:solidFill>
                        <a:effectLst/>
                        <a:latin typeface="Google Sans Text"/>
                      </a:endParaRPr>
                    </a:p>
                  </a:txBody>
                  <a:tcPr marL="23989" marR="29987" marT="39982" marB="39982" anchor="ctr"/>
                </a:tc>
                <a:tc>
                  <a:txBody>
                    <a:bodyPr/>
                    <a:lstStyle/>
                    <a:p>
                      <a:pPr rtl="0">
                        <a:buNone/>
                      </a:pPr>
                      <a:r>
                        <a:rPr lang="en-US" sz="1600">
                          <a:solidFill>
                            <a:srgbClr val="1F1F1F"/>
                          </a:solidFill>
                          <a:effectLst/>
                        </a:rPr>
                        <a:t>Creates a new array with elements that pass a test.</a:t>
                      </a:r>
                      <a:endParaRPr lang="en-US" sz="1600">
                        <a:solidFill>
                          <a:srgbClr val="1F1F1F"/>
                        </a:solidFill>
                        <a:effectLst/>
                        <a:latin typeface="Google Sans Text"/>
                      </a:endParaRPr>
                    </a:p>
                  </a:txBody>
                  <a:tcPr marL="23989" marR="29987" marT="39982" marB="39982" anchor="ctr"/>
                </a:tc>
                <a:tc>
                  <a:txBody>
                    <a:bodyPr/>
                    <a:lstStyle/>
                    <a:p>
                      <a:pPr rtl="0">
                        <a:buNone/>
                      </a:pPr>
                      <a:r>
                        <a:rPr lang="en-IN" sz="1600">
                          <a:solidFill>
                            <a:srgbClr val="1F1F1F"/>
                          </a:solidFill>
                          <a:effectLst/>
                        </a:rPr>
                        <a:t>No</a:t>
                      </a:r>
                      <a:endParaRPr lang="en-IN" sz="1600">
                        <a:solidFill>
                          <a:srgbClr val="1F1F1F"/>
                        </a:solidFill>
                        <a:effectLst/>
                        <a:latin typeface="Google Sans Text"/>
                      </a:endParaRPr>
                    </a:p>
                  </a:txBody>
                  <a:tcPr marL="23989" marR="23989" marT="39982" marB="39982" anchor="ctr"/>
                </a:tc>
                <a:extLst>
                  <a:ext uri="{0D108BD9-81ED-4DB2-BD59-A6C34878D82A}">
                    <a16:rowId xmlns:a16="http://schemas.microsoft.com/office/drawing/2014/main" val="148749349"/>
                  </a:ext>
                </a:extLst>
              </a:tr>
              <a:tr h="381853">
                <a:tc>
                  <a:txBody>
                    <a:bodyPr/>
                    <a:lstStyle/>
                    <a:p>
                      <a:pPr rtl="0">
                        <a:buNone/>
                      </a:pPr>
                      <a:endParaRPr lang="en-IN" sz="1600">
                        <a:solidFill>
                          <a:srgbClr val="1F1F1F"/>
                        </a:solidFill>
                        <a:effectLst/>
                        <a:latin typeface="Google Sans Text"/>
                      </a:endParaRPr>
                    </a:p>
                  </a:txBody>
                  <a:tcPr marL="23989" marR="29987" marT="39982" marB="39982" anchor="ctr"/>
                </a:tc>
                <a:tc>
                  <a:txBody>
                    <a:bodyPr/>
                    <a:lstStyle/>
                    <a:p>
                      <a:pPr rtl="0">
                        <a:buNone/>
                      </a:pPr>
                      <a:r>
                        <a:rPr lang="en-IN" sz="1600">
                          <a:solidFill>
                            <a:srgbClr val="444746"/>
                          </a:solidFill>
                          <a:effectLst/>
                        </a:rPr>
                        <a:t>reduce()</a:t>
                      </a:r>
                      <a:endParaRPr lang="en-IN" sz="1600">
                        <a:solidFill>
                          <a:srgbClr val="1F1F1F"/>
                        </a:solidFill>
                        <a:effectLst/>
                        <a:latin typeface="Google Sans Text"/>
                      </a:endParaRPr>
                    </a:p>
                  </a:txBody>
                  <a:tcPr marL="23989" marR="29987" marT="39982" marB="39982" anchor="ctr"/>
                </a:tc>
                <a:tc>
                  <a:txBody>
                    <a:bodyPr/>
                    <a:lstStyle/>
                    <a:p>
                      <a:pPr rtl="0">
                        <a:buNone/>
                      </a:pPr>
                      <a:r>
                        <a:rPr lang="en-US" sz="1600">
                          <a:solidFill>
                            <a:srgbClr val="1F1F1F"/>
                          </a:solidFill>
                          <a:effectLst/>
                        </a:rPr>
                        <a:t>Reduces the array to a single value (e.g., a sum).</a:t>
                      </a:r>
                      <a:endParaRPr lang="en-US" sz="1600">
                        <a:solidFill>
                          <a:srgbClr val="1F1F1F"/>
                        </a:solidFill>
                        <a:effectLst/>
                        <a:latin typeface="Google Sans Text"/>
                      </a:endParaRPr>
                    </a:p>
                  </a:txBody>
                  <a:tcPr marL="23989" marR="29987" marT="39982" marB="39982" anchor="ctr"/>
                </a:tc>
                <a:tc>
                  <a:txBody>
                    <a:bodyPr/>
                    <a:lstStyle/>
                    <a:p>
                      <a:pPr rtl="0">
                        <a:buNone/>
                      </a:pPr>
                      <a:r>
                        <a:rPr lang="en-IN" sz="1600">
                          <a:solidFill>
                            <a:srgbClr val="1F1F1F"/>
                          </a:solidFill>
                          <a:effectLst/>
                        </a:rPr>
                        <a:t>No</a:t>
                      </a:r>
                      <a:endParaRPr lang="en-IN" sz="1600">
                        <a:solidFill>
                          <a:srgbClr val="1F1F1F"/>
                        </a:solidFill>
                        <a:effectLst/>
                        <a:latin typeface="Google Sans Text"/>
                      </a:endParaRPr>
                    </a:p>
                  </a:txBody>
                  <a:tcPr marL="23989" marR="23989" marT="39982" marB="39982" anchor="ctr"/>
                </a:tc>
                <a:extLst>
                  <a:ext uri="{0D108BD9-81ED-4DB2-BD59-A6C34878D82A}">
                    <a16:rowId xmlns:a16="http://schemas.microsoft.com/office/drawing/2014/main" val="4229744261"/>
                  </a:ext>
                </a:extLst>
              </a:tr>
              <a:tr h="381853">
                <a:tc>
                  <a:txBody>
                    <a:bodyPr/>
                    <a:lstStyle/>
                    <a:p>
                      <a:pPr rtl="0">
                        <a:buNone/>
                      </a:pPr>
                      <a:r>
                        <a:rPr lang="en-IN" sz="1600" b="1" dirty="0">
                          <a:solidFill>
                            <a:srgbClr val="1F1F1F"/>
                          </a:solidFill>
                          <a:effectLst/>
                        </a:rPr>
                        <a:t>Searching</a:t>
                      </a:r>
                      <a:endParaRPr lang="en-IN" sz="1600" dirty="0">
                        <a:solidFill>
                          <a:srgbClr val="1F1F1F"/>
                        </a:solidFill>
                        <a:effectLst/>
                        <a:latin typeface="Google Sans Text"/>
                      </a:endParaRPr>
                    </a:p>
                  </a:txBody>
                  <a:tcPr marL="23989" marR="29987" marT="39982" marB="39982" anchor="ctr"/>
                </a:tc>
                <a:tc>
                  <a:txBody>
                    <a:bodyPr/>
                    <a:lstStyle/>
                    <a:p>
                      <a:pPr rtl="0">
                        <a:buNone/>
                      </a:pPr>
                      <a:r>
                        <a:rPr lang="en-IN" sz="1600" dirty="0">
                          <a:solidFill>
                            <a:srgbClr val="444746"/>
                          </a:solidFill>
                          <a:effectLst/>
                        </a:rPr>
                        <a:t>find()</a:t>
                      </a:r>
                      <a:endParaRPr lang="en-IN" sz="1600" dirty="0">
                        <a:solidFill>
                          <a:srgbClr val="1F1F1F"/>
                        </a:solidFill>
                        <a:effectLst/>
                        <a:latin typeface="Google Sans Text"/>
                      </a:endParaRPr>
                    </a:p>
                  </a:txBody>
                  <a:tcPr marL="23989" marR="29987" marT="39982" marB="39982" anchor="ctr"/>
                </a:tc>
                <a:tc>
                  <a:txBody>
                    <a:bodyPr/>
                    <a:lstStyle/>
                    <a:p>
                      <a:pPr rtl="0">
                        <a:buNone/>
                      </a:pPr>
                      <a:r>
                        <a:rPr lang="en-US" sz="1600">
                          <a:solidFill>
                            <a:srgbClr val="1F1F1F"/>
                          </a:solidFill>
                          <a:effectLst/>
                        </a:rPr>
                        <a:t>Returns the </a:t>
                      </a:r>
                      <a:r>
                        <a:rPr lang="en-US" sz="1600" b="1">
                          <a:solidFill>
                            <a:srgbClr val="1F1F1F"/>
                          </a:solidFill>
                          <a:effectLst/>
                        </a:rPr>
                        <a:t>first</a:t>
                      </a:r>
                      <a:r>
                        <a:rPr lang="en-US" sz="1600">
                          <a:solidFill>
                            <a:srgbClr val="1F1F1F"/>
                          </a:solidFill>
                          <a:effectLst/>
                        </a:rPr>
                        <a:t> element that passes a test.</a:t>
                      </a:r>
                      <a:endParaRPr lang="en-US" sz="1600">
                        <a:solidFill>
                          <a:srgbClr val="1F1F1F"/>
                        </a:solidFill>
                        <a:effectLst/>
                        <a:latin typeface="Google Sans Text"/>
                      </a:endParaRPr>
                    </a:p>
                  </a:txBody>
                  <a:tcPr marL="23989" marR="29987" marT="39982" marB="39982" anchor="ctr"/>
                </a:tc>
                <a:tc>
                  <a:txBody>
                    <a:bodyPr/>
                    <a:lstStyle/>
                    <a:p>
                      <a:pPr rtl="0">
                        <a:buNone/>
                      </a:pPr>
                      <a:r>
                        <a:rPr lang="en-IN" sz="1600" dirty="0">
                          <a:solidFill>
                            <a:srgbClr val="1F1F1F"/>
                          </a:solidFill>
                          <a:effectLst/>
                        </a:rPr>
                        <a:t>No</a:t>
                      </a:r>
                      <a:endParaRPr lang="en-IN" sz="1600" dirty="0">
                        <a:solidFill>
                          <a:srgbClr val="1F1F1F"/>
                        </a:solidFill>
                        <a:effectLst/>
                        <a:latin typeface="Google Sans Text"/>
                      </a:endParaRPr>
                    </a:p>
                  </a:txBody>
                  <a:tcPr marL="23989" marR="23989" marT="39982" marB="39982" anchor="ctr"/>
                </a:tc>
                <a:extLst>
                  <a:ext uri="{0D108BD9-81ED-4DB2-BD59-A6C34878D82A}">
                    <a16:rowId xmlns:a16="http://schemas.microsoft.com/office/drawing/2014/main" val="1800495095"/>
                  </a:ext>
                </a:extLst>
              </a:tr>
              <a:tr h="381853">
                <a:tc>
                  <a:txBody>
                    <a:bodyPr/>
                    <a:lstStyle/>
                    <a:p>
                      <a:pPr rtl="0">
                        <a:buNone/>
                      </a:pPr>
                      <a:endParaRPr lang="en-IN" sz="1600" dirty="0">
                        <a:solidFill>
                          <a:srgbClr val="1F1F1F"/>
                        </a:solidFill>
                        <a:effectLst/>
                        <a:latin typeface="Google Sans Text"/>
                      </a:endParaRPr>
                    </a:p>
                  </a:txBody>
                  <a:tcPr marL="23989" marR="29987" marT="39982" marB="39982" anchor="ctr"/>
                </a:tc>
                <a:tc>
                  <a:txBody>
                    <a:bodyPr/>
                    <a:lstStyle/>
                    <a:p>
                      <a:pPr rtl="0">
                        <a:buNone/>
                      </a:pPr>
                      <a:r>
                        <a:rPr lang="en-IN" sz="1600">
                          <a:solidFill>
                            <a:srgbClr val="444746"/>
                          </a:solidFill>
                          <a:effectLst/>
                        </a:rPr>
                        <a:t>findIndex()</a:t>
                      </a:r>
                      <a:endParaRPr lang="en-IN" sz="1600">
                        <a:solidFill>
                          <a:srgbClr val="1F1F1F"/>
                        </a:solidFill>
                        <a:effectLst/>
                        <a:latin typeface="Google Sans Text"/>
                      </a:endParaRPr>
                    </a:p>
                  </a:txBody>
                  <a:tcPr marL="23989" marR="29987" marT="39982" marB="39982" anchor="ctr"/>
                </a:tc>
                <a:tc>
                  <a:txBody>
                    <a:bodyPr/>
                    <a:lstStyle/>
                    <a:p>
                      <a:pPr rtl="0">
                        <a:buNone/>
                      </a:pPr>
                      <a:r>
                        <a:rPr lang="en-US" sz="1600">
                          <a:solidFill>
                            <a:srgbClr val="1F1F1F"/>
                          </a:solidFill>
                          <a:effectLst/>
                        </a:rPr>
                        <a:t>Returns the </a:t>
                      </a:r>
                      <a:r>
                        <a:rPr lang="en-US" sz="1600" b="1">
                          <a:solidFill>
                            <a:srgbClr val="1F1F1F"/>
                          </a:solidFill>
                          <a:effectLst/>
                        </a:rPr>
                        <a:t>index</a:t>
                      </a:r>
                      <a:r>
                        <a:rPr lang="en-US" sz="1600">
                          <a:solidFill>
                            <a:srgbClr val="1F1F1F"/>
                          </a:solidFill>
                          <a:effectLst/>
                        </a:rPr>
                        <a:t> of the first element that passes.</a:t>
                      </a:r>
                      <a:endParaRPr lang="en-US" sz="1600">
                        <a:solidFill>
                          <a:srgbClr val="1F1F1F"/>
                        </a:solidFill>
                        <a:effectLst/>
                        <a:latin typeface="Google Sans Text"/>
                      </a:endParaRPr>
                    </a:p>
                  </a:txBody>
                  <a:tcPr marL="23989" marR="29987" marT="39982" marB="39982" anchor="ctr"/>
                </a:tc>
                <a:tc>
                  <a:txBody>
                    <a:bodyPr/>
                    <a:lstStyle/>
                    <a:p>
                      <a:pPr rtl="0">
                        <a:buNone/>
                      </a:pPr>
                      <a:r>
                        <a:rPr lang="en-IN" sz="1600" dirty="0">
                          <a:solidFill>
                            <a:srgbClr val="1F1F1F"/>
                          </a:solidFill>
                          <a:effectLst/>
                        </a:rPr>
                        <a:t>No</a:t>
                      </a:r>
                      <a:endParaRPr lang="en-IN" sz="1600" dirty="0">
                        <a:solidFill>
                          <a:srgbClr val="1F1F1F"/>
                        </a:solidFill>
                        <a:effectLst/>
                        <a:latin typeface="Google Sans Text"/>
                      </a:endParaRPr>
                    </a:p>
                  </a:txBody>
                  <a:tcPr marL="23989" marR="23989" marT="39982" marB="39982" anchor="ctr"/>
                </a:tc>
                <a:extLst>
                  <a:ext uri="{0D108BD9-81ED-4DB2-BD59-A6C34878D82A}">
                    <a16:rowId xmlns:a16="http://schemas.microsoft.com/office/drawing/2014/main" val="266968386"/>
                  </a:ext>
                </a:extLst>
              </a:tr>
            </a:tbl>
          </a:graphicData>
        </a:graphic>
      </p:graphicFrame>
    </p:spTree>
    <p:extLst>
      <p:ext uri="{BB962C8B-B14F-4D97-AF65-F5344CB8AC3E}">
        <p14:creationId xmlns:p14="http://schemas.microsoft.com/office/powerpoint/2010/main" val="8284452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449BD-6E0F-EBD9-5F94-66F6766FF81A}"/>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D2FDB8FB-DD42-93E0-7D6B-3B164ACDA2F2}"/>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5201F606-F7BF-61CA-C98D-A1F0A4378C38}"/>
              </a:ext>
            </a:extLst>
          </p:cNvPr>
          <p:cNvSpPr>
            <a:spLocks noGrp="1"/>
          </p:cNvSpPr>
          <p:nvPr>
            <p:ph type="sldNum" sz="quarter" idx="12"/>
          </p:nvPr>
        </p:nvSpPr>
        <p:spPr/>
        <p:txBody>
          <a:bodyPr/>
          <a:lstStyle/>
          <a:p>
            <a:fld id="{CB779743-7B81-4FB7-A3E2-1ACEC99CD8CF}" type="slidenum">
              <a:rPr lang="en-US" smtClean="0"/>
              <a:t>11</a:t>
            </a:fld>
            <a:endParaRPr lang="en-US"/>
          </a:p>
        </p:txBody>
      </p:sp>
      <p:graphicFrame>
        <p:nvGraphicFramePr>
          <p:cNvPr id="5" name="Table 4">
            <a:extLst>
              <a:ext uri="{FF2B5EF4-FFF2-40B4-BE49-F238E27FC236}">
                <a16:creationId xmlns:a16="http://schemas.microsoft.com/office/drawing/2014/main" id="{C687A0D8-B518-3875-9124-0EA88B336C3B}"/>
              </a:ext>
            </a:extLst>
          </p:cNvPr>
          <p:cNvGraphicFramePr>
            <a:graphicFrameLocks noGrp="1"/>
          </p:cNvGraphicFramePr>
          <p:nvPr>
            <p:extLst>
              <p:ext uri="{D42A27DB-BD31-4B8C-83A1-F6EECF244321}">
                <p14:modId xmlns:p14="http://schemas.microsoft.com/office/powerpoint/2010/main" val="3380705793"/>
              </p:ext>
            </p:extLst>
          </p:nvPr>
        </p:nvGraphicFramePr>
        <p:xfrm>
          <a:off x="318628" y="2516891"/>
          <a:ext cx="8806321" cy="2026736"/>
        </p:xfrm>
        <a:graphic>
          <a:graphicData uri="http://schemas.openxmlformats.org/drawingml/2006/table">
            <a:tbl>
              <a:tblPr/>
              <a:tblGrid>
                <a:gridCol w="2257394">
                  <a:extLst>
                    <a:ext uri="{9D8B030D-6E8A-4147-A177-3AD203B41FA5}">
                      <a16:colId xmlns:a16="http://schemas.microsoft.com/office/drawing/2014/main" val="627154568"/>
                    </a:ext>
                  </a:extLst>
                </a:gridCol>
                <a:gridCol w="2257394">
                  <a:extLst>
                    <a:ext uri="{9D8B030D-6E8A-4147-A177-3AD203B41FA5}">
                      <a16:colId xmlns:a16="http://schemas.microsoft.com/office/drawing/2014/main" val="3476331216"/>
                    </a:ext>
                  </a:extLst>
                </a:gridCol>
                <a:gridCol w="2257394">
                  <a:extLst>
                    <a:ext uri="{9D8B030D-6E8A-4147-A177-3AD203B41FA5}">
                      <a16:colId xmlns:a16="http://schemas.microsoft.com/office/drawing/2014/main" val="4001800237"/>
                    </a:ext>
                  </a:extLst>
                </a:gridCol>
                <a:gridCol w="2034139">
                  <a:extLst>
                    <a:ext uri="{9D8B030D-6E8A-4147-A177-3AD203B41FA5}">
                      <a16:colId xmlns:a16="http://schemas.microsoft.com/office/drawing/2014/main" val="2633751169"/>
                    </a:ext>
                  </a:extLst>
                </a:gridCol>
              </a:tblGrid>
              <a:tr h="381853">
                <a:tc>
                  <a:txBody>
                    <a:bodyPr/>
                    <a:lstStyle/>
                    <a:p>
                      <a:pPr rtl="0">
                        <a:buNone/>
                      </a:pPr>
                      <a:r>
                        <a:rPr lang="en-IN" sz="1600" b="1" dirty="0">
                          <a:solidFill>
                            <a:srgbClr val="1F1F1F"/>
                          </a:solidFill>
                          <a:effectLst/>
                          <a:latin typeface="Google Sans Text"/>
                        </a:rPr>
                        <a:t>Ordering</a:t>
                      </a:r>
                      <a:endParaRPr lang="en-IN" sz="1600" dirty="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dirty="0">
                          <a:solidFill>
                            <a:srgbClr val="444746"/>
                          </a:solidFill>
                          <a:effectLst/>
                          <a:latin typeface="Google Sans Text"/>
                        </a:rPr>
                        <a:t>sort()</a:t>
                      </a:r>
                      <a:endParaRPr lang="en-IN" sz="1600" dirty="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Sorts the elements (alphabetically by default).</a:t>
                      </a: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b="1" dirty="0">
                          <a:solidFill>
                            <a:srgbClr val="1F1F1F"/>
                          </a:solidFill>
                          <a:effectLst/>
                          <a:latin typeface="Google Sans Text"/>
                        </a:rPr>
                        <a:t>Yes</a:t>
                      </a:r>
                      <a:endParaRPr lang="en-IN" sz="1600" dirty="0">
                        <a:solidFill>
                          <a:srgbClr val="1F1F1F"/>
                        </a:solidFill>
                        <a:effectLst/>
                        <a:latin typeface="Google Sans Text"/>
                      </a:endParaRPr>
                    </a:p>
                  </a:txBody>
                  <a:tcPr marL="23989" marR="23989"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66445099"/>
                  </a:ext>
                </a:extLst>
              </a:tr>
              <a:tr h="288970">
                <a:tc>
                  <a:txBody>
                    <a:bodyPr/>
                    <a:lstStyle/>
                    <a:p>
                      <a:pPr rtl="0">
                        <a:buNone/>
                      </a:pPr>
                      <a:endParaRPr lang="en-IN" sz="1600" dirty="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a:solidFill>
                            <a:srgbClr val="444746"/>
                          </a:solidFill>
                          <a:effectLst/>
                          <a:latin typeface="Google Sans Text"/>
                        </a:rPr>
                        <a:t>reverse()</a:t>
                      </a:r>
                      <a:endParaRPr lang="en-IN" sz="160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Reverses the order of elements.</a:t>
                      </a: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b="1">
                          <a:solidFill>
                            <a:srgbClr val="1F1F1F"/>
                          </a:solidFill>
                          <a:effectLst/>
                          <a:latin typeface="Google Sans Text"/>
                        </a:rPr>
                        <a:t>Yes</a:t>
                      </a:r>
                      <a:endParaRPr lang="en-IN" sz="1600">
                        <a:solidFill>
                          <a:srgbClr val="1F1F1F"/>
                        </a:solidFill>
                        <a:effectLst/>
                        <a:latin typeface="Google Sans Text"/>
                      </a:endParaRPr>
                    </a:p>
                  </a:txBody>
                  <a:tcPr marL="23989" marR="23989"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59991746"/>
                  </a:ext>
                </a:extLst>
              </a:tr>
              <a:tr h="288970">
                <a:tc>
                  <a:txBody>
                    <a:bodyPr/>
                    <a:lstStyle/>
                    <a:p>
                      <a:pPr rtl="0">
                        <a:buNone/>
                      </a:pPr>
                      <a:r>
                        <a:rPr lang="en-IN" sz="1600" b="1">
                          <a:solidFill>
                            <a:srgbClr val="1F1F1F"/>
                          </a:solidFill>
                          <a:effectLst/>
                          <a:latin typeface="Google Sans Text"/>
                        </a:rPr>
                        <a:t>Combining</a:t>
                      </a:r>
                      <a:endParaRPr lang="en-IN" sz="160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a:solidFill>
                            <a:srgbClr val="444746"/>
                          </a:solidFill>
                          <a:effectLst/>
                          <a:latin typeface="Google Sans Text"/>
                        </a:rPr>
                        <a:t>concat()</a:t>
                      </a:r>
                      <a:endParaRPr lang="en-IN" sz="160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Joins two or more arrays.</a:t>
                      </a: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a:solidFill>
                            <a:srgbClr val="1F1F1F"/>
                          </a:solidFill>
                          <a:effectLst/>
                          <a:latin typeface="Google Sans Text"/>
                        </a:rPr>
                        <a:t>No</a:t>
                      </a:r>
                    </a:p>
                  </a:txBody>
                  <a:tcPr marL="23989" marR="23989"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64565946"/>
                  </a:ext>
                </a:extLst>
              </a:tr>
              <a:tr h="288970">
                <a:tc>
                  <a:txBody>
                    <a:bodyPr/>
                    <a:lstStyle/>
                    <a:p>
                      <a:pPr rtl="0">
                        <a:buNone/>
                      </a:pPr>
                      <a:endParaRPr lang="en-IN" sz="160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a:solidFill>
                            <a:srgbClr val="444746"/>
                          </a:solidFill>
                          <a:effectLst/>
                          <a:latin typeface="Google Sans Text"/>
                        </a:rPr>
                        <a:t>join()</a:t>
                      </a:r>
                      <a:endParaRPr lang="en-IN" sz="160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Joins all elements into a single string.</a:t>
                      </a: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dirty="0">
                          <a:solidFill>
                            <a:srgbClr val="1F1F1F"/>
                          </a:solidFill>
                          <a:effectLst/>
                          <a:latin typeface="Google Sans Text"/>
                        </a:rPr>
                        <a:t>No</a:t>
                      </a:r>
                    </a:p>
                  </a:txBody>
                  <a:tcPr marL="23989" marR="23989"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67256511"/>
                  </a:ext>
                </a:extLst>
              </a:tr>
            </a:tbl>
          </a:graphicData>
        </a:graphic>
      </p:graphicFrame>
      <p:graphicFrame>
        <p:nvGraphicFramePr>
          <p:cNvPr id="6" name="Table 5">
            <a:extLst>
              <a:ext uri="{FF2B5EF4-FFF2-40B4-BE49-F238E27FC236}">
                <a16:creationId xmlns:a16="http://schemas.microsoft.com/office/drawing/2014/main" id="{B03A1B1A-CF18-DC95-0FB0-489308C90898}"/>
              </a:ext>
            </a:extLst>
          </p:cNvPr>
          <p:cNvGraphicFramePr>
            <a:graphicFrameLocks noGrp="1"/>
          </p:cNvGraphicFramePr>
          <p:nvPr>
            <p:extLst>
              <p:ext uri="{D42A27DB-BD31-4B8C-83A1-F6EECF244321}">
                <p14:modId xmlns:p14="http://schemas.microsoft.com/office/powerpoint/2010/main" val="130746204"/>
              </p:ext>
            </p:extLst>
          </p:nvPr>
        </p:nvGraphicFramePr>
        <p:xfrm>
          <a:off x="337679" y="1360712"/>
          <a:ext cx="8806321" cy="1135288"/>
        </p:xfrm>
        <a:graphic>
          <a:graphicData uri="http://schemas.openxmlformats.org/drawingml/2006/table">
            <a:tbl>
              <a:tblPr/>
              <a:tblGrid>
                <a:gridCol w="2257394">
                  <a:extLst>
                    <a:ext uri="{9D8B030D-6E8A-4147-A177-3AD203B41FA5}">
                      <a16:colId xmlns:a16="http://schemas.microsoft.com/office/drawing/2014/main" val="4266455849"/>
                    </a:ext>
                  </a:extLst>
                </a:gridCol>
                <a:gridCol w="2257394">
                  <a:extLst>
                    <a:ext uri="{9D8B030D-6E8A-4147-A177-3AD203B41FA5}">
                      <a16:colId xmlns:a16="http://schemas.microsoft.com/office/drawing/2014/main" val="500995629"/>
                    </a:ext>
                  </a:extLst>
                </a:gridCol>
                <a:gridCol w="2257394">
                  <a:extLst>
                    <a:ext uri="{9D8B030D-6E8A-4147-A177-3AD203B41FA5}">
                      <a16:colId xmlns:a16="http://schemas.microsoft.com/office/drawing/2014/main" val="1012072412"/>
                    </a:ext>
                  </a:extLst>
                </a:gridCol>
                <a:gridCol w="2034139">
                  <a:extLst>
                    <a:ext uri="{9D8B030D-6E8A-4147-A177-3AD203B41FA5}">
                      <a16:colId xmlns:a16="http://schemas.microsoft.com/office/drawing/2014/main" val="4192610476"/>
                    </a:ext>
                  </a:extLst>
                </a:gridCol>
              </a:tblGrid>
              <a:tr h="381853">
                <a:tc>
                  <a:txBody>
                    <a:bodyPr/>
                    <a:lstStyle/>
                    <a:p>
                      <a:pPr rtl="0">
                        <a:buNone/>
                      </a:pPr>
                      <a:endParaRPr lang="en-IN" sz="160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dirty="0">
                          <a:solidFill>
                            <a:srgbClr val="444746"/>
                          </a:solidFill>
                          <a:effectLst/>
                          <a:latin typeface="Google Sans Text"/>
                        </a:rPr>
                        <a:t>includes()</a:t>
                      </a:r>
                      <a:endParaRPr lang="en-IN" sz="1600" dirty="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Checks if an array contains a specific value.</a:t>
                      </a: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a:solidFill>
                            <a:srgbClr val="1F1F1F"/>
                          </a:solidFill>
                          <a:effectLst/>
                          <a:latin typeface="Google Sans Text"/>
                        </a:rPr>
                        <a:t>No</a:t>
                      </a:r>
                    </a:p>
                  </a:txBody>
                  <a:tcPr marL="23989" marR="23989"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276892222"/>
                  </a:ext>
                </a:extLst>
              </a:tr>
              <a:tr h="381853">
                <a:tc>
                  <a:txBody>
                    <a:bodyPr/>
                    <a:lstStyle/>
                    <a:p>
                      <a:pPr rtl="0">
                        <a:buNone/>
                      </a:pPr>
                      <a:endParaRPr lang="en-IN" sz="160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a:solidFill>
                            <a:srgbClr val="444746"/>
                          </a:solidFill>
                          <a:effectLst/>
                          <a:latin typeface="Google Sans Text"/>
                        </a:rPr>
                        <a:t>indexOf()</a:t>
                      </a:r>
                      <a:endParaRPr lang="en-IN" sz="160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US" sz="1600">
                          <a:solidFill>
                            <a:srgbClr val="1F1F1F"/>
                          </a:solidFill>
                          <a:effectLst/>
                          <a:latin typeface="Google Sans Text"/>
                        </a:rPr>
                        <a:t>Returns the first index where a value is found.</a:t>
                      </a: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dirty="0">
                          <a:solidFill>
                            <a:srgbClr val="1F1F1F"/>
                          </a:solidFill>
                          <a:effectLst/>
                          <a:latin typeface="Google Sans Text"/>
                        </a:rPr>
                        <a:t>No</a:t>
                      </a:r>
                    </a:p>
                  </a:txBody>
                  <a:tcPr marL="23989" marR="23989"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349212132"/>
                  </a:ext>
                </a:extLst>
              </a:tr>
            </a:tbl>
          </a:graphicData>
        </a:graphic>
      </p:graphicFrame>
      <p:graphicFrame>
        <p:nvGraphicFramePr>
          <p:cNvPr id="7" name="Table 6">
            <a:extLst>
              <a:ext uri="{FF2B5EF4-FFF2-40B4-BE49-F238E27FC236}">
                <a16:creationId xmlns:a16="http://schemas.microsoft.com/office/drawing/2014/main" id="{B05D6434-01B2-963B-7DE1-2D8D68A2606C}"/>
              </a:ext>
            </a:extLst>
          </p:cNvPr>
          <p:cNvGraphicFramePr>
            <a:graphicFrameLocks noGrp="1"/>
          </p:cNvGraphicFramePr>
          <p:nvPr>
            <p:extLst>
              <p:ext uri="{D42A27DB-BD31-4B8C-83A1-F6EECF244321}">
                <p14:modId xmlns:p14="http://schemas.microsoft.com/office/powerpoint/2010/main" val="1757518146"/>
              </p:ext>
            </p:extLst>
          </p:nvPr>
        </p:nvGraphicFramePr>
        <p:xfrm>
          <a:off x="318629" y="1016017"/>
          <a:ext cx="8806321" cy="323804"/>
        </p:xfrm>
        <a:graphic>
          <a:graphicData uri="http://schemas.openxmlformats.org/drawingml/2006/table">
            <a:tbl>
              <a:tblPr/>
              <a:tblGrid>
                <a:gridCol w="2257394">
                  <a:extLst>
                    <a:ext uri="{9D8B030D-6E8A-4147-A177-3AD203B41FA5}">
                      <a16:colId xmlns:a16="http://schemas.microsoft.com/office/drawing/2014/main" val="3059388302"/>
                    </a:ext>
                  </a:extLst>
                </a:gridCol>
                <a:gridCol w="2257394">
                  <a:extLst>
                    <a:ext uri="{9D8B030D-6E8A-4147-A177-3AD203B41FA5}">
                      <a16:colId xmlns:a16="http://schemas.microsoft.com/office/drawing/2014/main" val="1122979506"/>
                    </a:ext>
                  </a:extLst>
                </a:gridCol>
                <a:gridCol w="2257394">
                  <a:extLst>
                    <a:ext uri="{9D8B030D-6E8A-4147-A177-3AD203B41FA5}">
                      <a16:colId xmlns:a16="http://schemas.microsoft.com/office/drawing/2014/main" val="3415309498"/>
                    </a:ext>
                  </a:extLst>
                </a:gridCol>
                <a:gridCol w="2034139">
                  <a:extLst>
                    <a:ext uri="{9D8B030D-6E8A-4147-A177-3AD203B41FA5}">
                      <a16:colId xmlns:a16="http://schemas.microsoft.com/office/drawing/2014/main" val="583438996"/>
                    </a:ext>
                  </a:extLst>
                </a:gridCol>
              </a:tblGrid>
              <a:tr h="201549">
                <a:tc>
                  <a:txBody>
                    <a:bodyPr/>
                    <a:lstStyle/>
                    <a:p>
                      <a:pPr rtl="0">
                        <a:buNone/>
                      </a:pPr>
                      <a:r>
                        <a:rPr lang="en-IN" sz="1600" b="1" dirty="0">
                          <a:solidFill>
                            <a:srgbClr val="1F1F1F"/>
                          </a:solidFill>
                          <a:effectLst/>
                          <a:latin typeface="Google Sans Text"/>
                        </a:rPr>
                        <a:t>Category</a:t>
                      </a:r>
                      <a:endParaRPr lang="en-IN" sz="1600" dirty="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b="1">
                          <a:solidFill>
                            <a:srgbClr val="1F1F1F"/>
                          </a:solidFill>
                          <a:effectLst/>
                          <a:latin typeface="Google Sans Text"/>
                        </a:rPr>
                        <a:t>Method</a:t>
                      </a:r>
                      <a:endParaRPr lang="en-IN" sz="160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b="1">
                          <a:solidFill>
                            <a:srgbClr val="1F1F1F"/>
                          </a:solidFill>
                          <a:effectLst/>
                          <a:latin typeface="Google Sans Text"/>
                        </a:rPr>
                        <a:t>Description</a:t>
                      </a:r>
                      <a:endParaRPr lang="en-IN" sz="1600">
                        <a:solidFill>
                          <a:srgbClr val="1F1F1F"/>
                        </a:solidFill>
                        <a:effectLst/>
                        <a:latin typeface="Google Sans Text"/>
                      </a:endParaRPr>
                    </a:p>
                  </a:txBody>
                  <a:tcPr marL="23989" marR="29987"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rtl="0">
                        <a:buNone/>
                      </a:pPr>
                      <a:r>
                        <a:rPr lang="en-IN" sz="1600" b="1" dirty="0">
                          <a:solidFill>
                            <a:srgbClr val="1F1F1F"/>
                          </a:solidFill>
                          <a:effectLst/>
                          <a:latin typeface="Google Sans Text"/>
                        </a:rPr>
                        <a:t>Mutates Original?</a:t>
                      </a:r>
                      <a:endParaRPr lang="en-IN" sz="1600" dirty="0">
                        <a:solidFill>
                          <a:srgbClr val="1F1F1F"/>
                        </a:solidFill>
                        <a:effectLst/>
                        <a:latin typeface="Google Sans Text"/>
                      </a:endParaRPr>
                    </a:p>
                  </a:txBody>
                  <a:tcPr marL="23989" marR="23989" marT="39982" marB="39982"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61963817"/>
                  </a:ext>
                </a:extLst>
              </a:tr>
            </a:tbl>
          </a:graphicData>
        </a:graphic>
      </p:graphicFrame>
    </p:spTree>
    <p:extLst>
      <p:ext uri="{BB962C8B-B14F-4D97-AF65-F5344CB8AC3E}">
        <p14:creationId xmlns:p14="http://schemas.microsoft.com/office/powerpoint/2010/main" val="2293799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E3443B3-C088-E366-1D70-C5C23139690C}"/>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37E4B324-4E51-6C56-5661-3086E0F5C794}"/>
              </a:ext>
            </a:extLst>
          </p:cNvPr>
          <p:cNvSpPr>
            <a:spLocks noGrp="1"/>
          </p:cNvSpPr>
          <p:nvPr>
            <p:ph type="sldNum" sz="quarter" idx="12"/>
          </p:nvPr>
        </p:nvSpPr>
        <p:spPr/>
        <p:txBody>
          <a:bodyPr/>
          <a:lstStyle/>
          <a:p>
            <a:fld id="{CB779743-7B81-4FB7-A3E2-1ACEC99CD8CF}" type="slidenum">
              <a:rPr lang="en-US" smtClean="0"/>
              <a:t>12</a:t>
            </a:fld>
            <a:endParaRPr lang="en-US"/>
          </a:p>
        </p:txBody>
      </p:sp>
      <p:sp>
        <p:nvSpPr>
          <p:cNvPr id="5" name="TextBox 4">
            <a:extLst>
              <a:ext uri="{FF2B5EF4-FFF2-40B4-BE49-F238E27FC236}">
                <a16:creationId xmlns:a16="http://schemas.microsoft.com/office/drawing/2014/main" id="{6B043111-41D6-E0BD-AF2A-42A5B710982E}"/>
              </a:ext>
            </a:extLst>
          </p:cNvPr>
          <p:cNvSpPr txBox="1"/>
          <p:nvPr/>
        </p:nvSpPr>
        <p:spPr>
          <a:xfrm>
            <a:off x="5862" y="59809"/>
            <a:ext cx="4572000" cy="369332"/>
          </a:xfrm>
          <a:prstGeom prst="rect">
            <a:avLst/>
          </a:prstGeom>
          <a:noFill/>
        </p:spPr>
        <p:txBody>
          <a:bodyPr wrap="square">
            <a:spAutoFit/>
          </a:bodyPr>
          <a:lstStyle/>
          <a:p>
            <a:r>
              <a:rPr lang="en-US" dirty="0"/>
              <a:t>1. Adding and Removing Elements</a:t>
            </a:r>
            <a:endParaRPr lang="en-IN" dirty="0"/>
          </a:p>
        </p:txBody>
      </p:sp>
      <p:sp>
        <p:nvSpPr>
          <p:cNvPr id="7" name="TextBox 6">
            <a:extLst>
              <a:ext uri="{FF2B5EF4-FFF2-40B4-BE49-F238E27FC236}">
                <a16:creationId xmlns:a16="http://schemas.microsoft.com/office/drawing/2014/main" id="{1C487411-8FEE-048C-738B-077976496F1A}"/>
              </a:ext>
            </a:extLst>
          </p:cNvPr>
          <p:cNvSpPr txBox="1"/>
          <p:nvPr/>
        </p:nvSpPr>
        <p:spPr>
          <a:xfrm>
            <a:off x="5862" y="423279"/>
            <a:ext cx="4598376" cy="4247317"/>
          </a:xfrm>
          <a:prstGeom prst="rect">
            <a:avLst/>
          </a:prstGeom>
          <a:noFill/>
        </p:spPr>
        <p:txBody>
          <a:bodyPr wrap="square">
            <a:spAutoFit/>
          </a:bodyPr>
          <a:lstStyle/>
          <a:p>
            <a:r>
              <a:rPr lang="en-IN" dirty="0"/>
              <a:t>let fruits = ['apple', 'banana'];</a:t>
            </a:r>
          </a:p>
          <a:p>
            <a:endParaRPr lang="en-IN" dirty="0"/>
          </a:p>
          <a:p>
            <a:r>
              <a:rPr lang="en-IN" dirty="0" err="1"/>
              <a:t>fruits.push</a:t>
            </a:r>
            <a:r>
              <a:rPr lang="en-IN" dirty="0"/>
              <a:t>('cherry');     // ['apple', 'banana', 'cherry']</a:t>
            </a:r>
          </a:p>
          <a:p>
            <a:r>
              <a:rPr lang="en-IN" dirty="0" err="1"/>
              <a:t>fruits.pop</a:t>
            </a:r>
            <a:r>
              <a:rPr lang="en-IN" dirty="0"/>
              <a:t>();              // ['apple', 'banana'] (removes cherry)</a:t>
            </a:r>
          </a:p>
          <a:p>
            <a:r>
              <a:rPr lang="en-IN" dirty="0" err="1"/>
              <a:t>fruits.unshift</a:t>
            </a:r>
            <a:r>
              <a:rPr lang="en-IN" dirty="0"/>
              <a:t>('mango');   // ['mango', 'apple', 'banana']</a:t>
            </a:r>
          </a:p>
          <a:p>
            <a:r>
              <a:rPr lang="en-IN" dirty="0" err="1"/>
              <a:t>fruits.shift</a:t>
            </a:r>
            <a:r>
              <a:rPr lang="en-IN" dirty="0"/>
              <a:t>();            // ['apple', 'banana'] (removes mango)</a:t>
            </a:r>
          </a:p>
          <a:p>
            <a:endParaRPr lang="en-IN" dirty="0"/>
          </a:p>
          <a:p>
            <a:r>
              <a:rPr lang="en-IN" dirty="0"/>
              <a:t>// Splice: (start index, how many to remove, items to add)</a:t>
            </a:r>
          </a:p>
          <a:p>
            <a:r>
              <a:rPr lang="en-IN" dirty="0" err="1"/>
              <a:t>fruits.splice</a:t>
            </a:r>
            <a:r>
              <a:rPr lang="en-IN" dirty="0"/>
              <a:t>(1, 0, 'orange'); // ['apple', 'orange', 'banana']</a:t>
            </a:r>
          </a:p>
        </p:txBody>
      </p:sp>
      <p:sp>
        <p:nvSpPr>
          <p:cNvPr id="8" name="TextBox 7">
            <a:extLst>
              <a:ext uri="{FF2B5EF4-FFF2-40B4-BE49-F238E27FC236}">
                <a16:creationId xmlns:a16="http://schemas.microsoft.com/office/drawing/2014/main" id="{03DE62ED-06A9-6A5F-3E73-5D3A5E4DD742}"/>
              </a:ext>
            </a:extLst>
          </p:cNvPr>
          <p:cNvSpPr txBox="1"/>
          <p:nvPr/>
        </p:nvSpPr>
        <p:spPr>
          <a:xfrm>
            <a:off x="4355124" y="148966"/>
            <a:ext cx="4572000" cy="369332"/>
          </a:xfrm>
          <a:prstGeom prst="rect">
            <a:avLst/>
          </a:prstGeom>
          <a:noFill/>
        </p:spPr>
        <p:txBody>
          <a:bodyPr wrap="square">
            <a:spAutoFit/>
          </a:bodyPr>
          <a:lstStyle/>
          <a:p>
            <a:r>
              <a:rPr lang="en-IN" dirty="0"/>
              <a:t>2.Transforming</a:t>
            </a:r>
          </a:p>
        </p:txBody>
      </p:sp>
      <p:sp>
        <p:nvSpPr>
          <p:cNvPr id="10" name="TextBox 9">
            <a:extLst>
              <a:ext uri="{FF2B5EF4-FFF2-40B4-BE49-F238E27FC236}">
                <a16:creationId xmlns:a16="http://schemas.microsoft.com/office/drawing/2014/main" id="{F2B7AB11-103C-5A58-BD33-4D6CB7C48EAD}"/>
              </a:ext>
            </a:extLst>
          </p:cNvPr>
          <p:cNvSpPr txBox="1"/>
          <p:nvPr/>
        </p:nvSpPr>
        <p:spPr>
          <a:xfrm>
            <a:off x="4355124" y="508312"/>
            <a:ext cx="4712676" cy="923330"/>
          </a:xfrm>
          <a:prstGeom prst="rect">
            <a:avLst/>
          </a:prstGeom>
          <a:noFill/>
        </p:spPr>
        <p:txBody>
          <a:bodyPr wrap="square">
            <a:spAutoFit/>
          </a:bodyPr>
          <a:lstStyle/>
          <a:p>
            <a:r>
              <a:rPr lang="en-US" dirty="0"/>
              <a:t>These are essential for modern JavaScript development. They do not change the original array; they return a new one</a:t>
            </a:r>
            <a:endParaRPr lang="en-IN" dirty="0"/>
          </a:p>
        </p:txBody>
      </p:sp>
      <p:sp>
        <p:nvSpPr>
          <p:cNvPr id="12" name="TextBox 11">
            <a:extLst>
              <a:ext uri="{FF2B5EF4-FFF2-40B4-BE49-F238E27FC236}">
                <a16:creationId xmlns:a16="http://schemas.microsoft.com/office/drawing/2014/main" id="{55674F83-09AD-1609-1FDA-EC0E5719608C}"/>
              </a:ext>
            </a:extLst>
          </p:cNvPr>
          <p:cNvSpPr txBox="1"/>
          <p:nvPr/>
        </p:nvSpPr>
        <p:spPr>
          <a:xfrm>
            <a:off x="4267200" y="1295400"/>
            <a:ext cx="4870938" cy="5503753"/>
          </a:xfrm>
          <a:prstGeom prst="rect">
            <a:avLst/>
          </a:prstGeom>
          <a:noFill/>
        </p:spPr>
        <p:txBody>
          <a:bodyPr wrap="square">
            <a:spAutoFit/>
          </a:bodyPr>
          <a:lstStyle/>
          <a:p>
            <a:r>
              <a:rPr lang="en-IN" dirty="0" err="1"/>
              <a:t>const</a:t>
            </a:r>
            <a:r>
              <a:rPr lang="en-IN" dirty="0"/>
              <a:t> </a:t>
            </a:r>
            <a:r>
              <a:rPr lang="en-IN" dirty="0" err="1"/>
              <a:t>nums</a:t>
            </a:r>
            <a:r>
              <a:rPr lang="en-IN" dirty="0"/>
              <a:t> = [1, 2, 3, 4, 5];</a:t>
            </a:r>
          </a:p>
          <a:p>
            <a:endParaRPr lang="en-IN" dirty="0"/>
          </a:p>
          <a:p>
            <a:r>
              <a:rPr lang="en-IN" dirty="0"/>
              <a:t>// map: Double every number</a:t>
            </a:r>
          </a:p>
          <a:p>
            <a:r>
              <a:rPr lang="en-IN" dirty="0" err="1"/>
              <a:t>const</a:t>
            </a:r>
            <a:r>
              <a:rPr lang="en-IN" dirty="0"/>
              <a:t> doubled = </a:t>
            </a:r>
            <a:r>
              <a:rPr lang="en-IN" dirty="0" err="1"/>
              <a:t>nums.map</a:t>
            </a:r>
            <a:r>
              <a:rPr lang="en-IN" dirty="0"/>
              <a:t>(n =&gt; n * 2); // [2, 4, 6, 8, 10]</a:t>
            </a:r>
          </a:p>
          <a:p>
            <a:endParaRPr lang="en-IN" dirty="0"/>
          </a:p>
          <a:p>
            <a:r>
              <a:rPr lang="en-IN" dirty="0"/>
              <a:t>// filter: Keep only even numbers</a:t>
            </a:r>
          </a:p>
          <a:p>
            <a:r>
              <a:rPr lang="en-IN" dirty="0" err="1"/>
              <a:t>const</a:t>
            </a:r>
            <a:r>
              <a:rPr lang="en-IN" dirty="0"/>
              <a:t> evens = </a:t>
            </a:r>
            <a:r>
              <a:rPr lang="en-IN" dirty="0" err="1"/>
              <a:t>nums.filter</a:t>
            </a:r>
            <a:r>
              <a:rPr lang="en-IN" dirty="0"/>
              <a:t>(n =&gt; n % 2 === 0); // [2, 4]</a:t>
            </a:r>
          </a:p>
          <a:p>
            <a:endParaRPr lang="en-IN" dirty="0"/>
          </a:p>
          <a:p>
            <a:r>
              <a:rPr lang="en-IN" dirty="0"/>
              <a:t>// reduce: Sum everything up (</a:t>
            </a:r>
            <a:r>
              <a:rPr lang="en-IN" dirty="0" err="1"/>
              <a:t>acc</a:t>
            </a:r>
            <a:r>
              <a:rPr lang="en-IN" dirty="0"/>
              <a:t> = accumulator, </a:t>
            </a:r>
            <a:r>
              <a:rPr lang="en-IN" dirty="0" err="1"/>
              <a:t>curr</a:t>
            </a:r>
            <a:r>
              <a:rPr lang="en-IN" dirty="0"/>
              <a:t> = current value)</a:t>
            </a:r>
          </a:p>
          <a:p>
            <a:r>
              <a:rPr lang="en-IN" dirty="0" err="1"/>
              <a:t>const</a:t>
            </a:r>
            <a:r>
              <a:rPr lang="en-IN" dirty="0"/>
              <a:t> sum = </a:t>
            </a:r>
            <a:r>
              <a:rPr lang="en-IN" dirty="0" err="1"/>
              <a:t>nums.reduce</a:t>
            </a:r>
            <a:r>
              <a:rPr lang="en-IN" dirty="0"/>
              <a:t>((</a:t>
            </a:r>
            <a:r>
              <a:rPr lang="en-IN" dirty="0" err="1"/>
              <a:t>acc</a:t>
            </a:r>
            <a:r>
              <a:rPr lang="en-IN" dirty="0"/>
              <a:t>, </a:t>
            </a:r>
            <a:r>
              <a:rPr lang="en-IN" dirty="0" err="1"/>
              <a:t>curr</a:t>
            </a:r>
            <a:r>
              <a:rPr lang="en-IN" dirty="0"/>
              <a:t>) =&gt; </a:t>
            </a:r>
            <a:r>
              <a:rPr lang="en-IN" dirty="0" err="1"/>
              <a:t>acc</a:t>
            </a:r>
            <a:r>
              <a:rPr lang="en-IN" dirty="0"/>
              <a:t> + </a:t>
            </a:r>
            <a:r>
              <a:rPr lang="en-IN" dirty="0" err="1"/>
              <a:t>curr</a:t>
            </a:r>
            <a:r>
              <a:rPr lang="en-IN" dirty="0"/>
              <a:t>, 0); // 15</a:t>
            </a:r>
          </a:p>
          <a:p>
            <a:r>
              <a:rPr lang="en-US" dirty="0"/>
              <a:t>// The Totalizer</a:t>
            </a:r>
          </a:p>
          <a:p>
            <a:r>
              <a:rPr lang="en-US" dirty="0"/>
              <a:t>const prices = [10, 5, 2];</a:t>
            </a:r>
          </a:p>
          <a:p>
            <a:r>
              <a:rPr lang="en-US" dirty="0"/>
              <a:t>const bill = </a:t>
            </a:r>
            <a:r>
              <a:rPr lang="en-US" dirty="0" err="1"/>
              <a:t>prices.reduce</a:t>
            </a:r>
            <a:r>
              <a:rPr lang="en-US" dirty="0"/>
              <a:t>((</a:t>
            </a:r>
            <a:r>
              <a:rPr lang="en-US" dirty="0" err="1"/>
              <a:t>runningTotal</a:t>
            </a:r>
            <a:r>
              <a:rPr lang="en-US" dirty="0"/>
              <a:t>, </a:t>
            </a:r>
            <a:r>
              <a:rPr lang="en-US" dirty="0" err="1"/>
              <a:t>nextItem</a:t>
            </a:r>
            <a:r>
              <a:rPr lang="en-US" dirty="0"/>
              <a:t>) =&gt; </a:t>
            </a:r>
            <a:r>
              <a:rPr lang="en-US" dirty="0" err="1"/>
              <a:t>runningTotal</a:t>
            </a:r>
            <a:r>
              <a:rPr lang="en-US" dirty="0"/>
              <a:t> + </a:t>
            </a:r>
            <a:r>
              <a:rPr lang="en-US" dirty="0" err="1"/>
              <a:t>nextItem</a:t>
            </a:r>
            <a:r>
              <a:rPr lang="en-US" dirty="0"/>
              <a:t>, 0); </a:t>
            </a:r>
          </a:p>
          <a:p>
            <a:r>
              <a:rPr lang="en-US" dirty="0"/>
              <a:t>// 10 + 5 + 2 = 17</a:t>
            </a:r>
            <a:endParaRPr lang="en-IN" dirty="0"/>
          </a:p>
        </p:txBody>
      </p:sp>
    </p:spTree>
    <p:extLst>
      <p:ext uri="{BB962C8B-B14F-4D97-AF65-F5344CB8AC3E}">
        <p14:creationId xmlns:p14="http://schemas.microsoft.com/office/powerpoint/2010/main" val="1450278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E259A6F-7471-F042-2C83-632C6B2712B4}"/>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CBD193F6-53C2-46E2-C3CC-D303D2AEECA8}"/>
              </a:ext>
            </a:extLst>
          </p:cNvPr>
          <p:cNvSpPr>
            <a:spLocks noGrp="1"/>
          </p:cNvSpPr>
          <p:nvPr>
            <p:ph type="sldNum" sz="quarter" idx="12"/>
          </p:nvPr>
        </p:nvSpPr>
        <p:spPr/>
        <p:txBody>
          <a:bodyPr/>
          <a:lstStyle/>
          <a:p>
            <a:fld id="{CB779743-7B81-4FB7-A3E2-1ACEC99CD8CF}" type="slidenum">
              <a:rPr lang="en-US" smtClean="0"/>
              <a:t>13</a:t>
            </a:fld>
            <a:endParaRPr lang="en-US"/>
          </a:p>
        </p:txBody>
      </p:sp>
      <p:sp>
        <p:nvSpPr>
          <p:cNvPr id="9" name="Title 1">
            <a:extLst>
              <a:ext uri="{FF2B5EF4-FFF2-40B4-BE49-F238E27FC236}">
                <a16:creationId xmlns:a16="http://schemas.microsoft.com/office/drawing/2014/main" id="{9CF73BAC-92A8-37DD-4519-5CFBEE876681}"/>
              </a:ext>
            </a:extLst>
          </p:cNvPr>
          <p:cNvSpPr txBox="1">
            <a:spLocks/>
          </p:cNvSpPr>
          <p:nvPr/>
        </p:nvSpPr>
        <p:spPr>
          <a:xfrm>
            <a:off x="990600" y="2590800"/>
            <a:ext cx="8153400" cy="990600"/>
          </a:xfrm>
          <a:prstGeom prst="rect">
            <a:avLst/>
          </a:prstGeom>
        </p:spPr>
        <p:txBody>
          <a:bodyPr/>
          <a:lstStyle>
            <a:lvl1pPr algn="l" rtl="0" eaLnBrk="1" fontAlgn="base" hangingPunct="1">
              <a:spcBef>
                <a:spcPct val="0"/>
              </a:spcBef>
              <a:spcAft>
                <a:spcPct val="0"/>
              </a:spcAft>
              <a:defRPr sz="4400" kern="12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Tw Cen MT" pitchFamily="34" charset="0"/>
              </a:defRPr>
            </a:lvl2pPr>
            <a:lvl3pPr algn="l" rtl="0" eaLnBrk="1" fontAlgn="base" hangingPunct="1">
              <a:spcBef>
                <a:spcPct val="0"/>
              </a:spcBef>
              <a:spcAft>
                <a:spcPct val="0"/>
              </a:spcAft>
              <a:defRPr sz="4400">
                <a:solidFill>
                  <a:schemeClr val="tx2"/>
                </a:solidFill>
                <a:latin typeface="Tw Cen MT" pitchFamily="34" charset="0"/>
              </a:defRPr>
            </a:lvl3pPr>
            <a:lvl4pPr algn="l" rtl="0" eaLnBrk="1" fontAlgn="base" hangingPunct="1">
              <a:spcBef>
                <a:spcPct val="0"/>
              </a:spcBef>
              <a:spcAft>
                <a:spcPct val="0"/>
              </a:spcAft>
              <a:defRPr sz="4400">
                <a:solidFill>
                  <a:schemeClr val="tx2"/>
                </a:solidFill>
                <a:latin typeface="Tw Cen MT" pitchFamily="34" charset="0"/>
              </a:defRPr>
            </a:lvl4pPr>
            <a:lvl5pPr algn="l" rtl="0" eaLnBrk="1" fontAlgn="base" hangingPunct="1">
              <a:spcBef>
                <a:spcPct val="0"/>
              </a:spcBef>
              <a:spcAft>
                <a:spcPct val="0"/>
              </a:spcAft>
              <a:defRPr sz="4400">
                <a:solidFill>
                  <a:schemeClr val="tx2"/>
                </a:solidFill>
                <a:latin typeface="Tw Cen MT" pitchFamily="34" charset="0"/>
              </a:defRPr>
            </a:lvl5pPr>
            <a:lvl6pPr marL="457200" algn="l" rtl="0" eaLnBrk="1" fontAlgn="base" hangingPunct="1">
              <a:spcBef>
                <a:spcPct val="0"/>
              </a:spcBef>
              <a:spcAft>
                <a:spcPct val="0"/>
              </a:spcAft>
              <a:defRPr sz="4400">
                <a:solidFill>
                  <a:schemeClr val="tx2"/>
                </a:solidFill>
                <a:latin typeface="Tw Cen MT" pitchFamily="34" charset="0"/>
              </a:defRPr>
            </a:lvl6pPr>
            <a:lvl7pPr marL="914400" algn="l" rtl="0" eaLnBrk="1" fontAlgn="base" hangingPunct="1">
              <a:spcBef>
                <a:spcPct val="0"/>
              </a:spcBef>
              <a:spcAft>
                <a:spcPct val="0"/>
              </a:spcAft>
              <a:defRPr sz="4400">
                <a:solidFill>
                  <a:schemeClr val="tx2"/>
                </a:solidFill>
                <a:latin typeface="Tw Cen MT" pitchFamily="34" charset="0"/>
              </a:defRPr>
            </a:lvl7pPr>
            <a:lvl8pPr marL="1371600" algn="l" rtl="0" eaLnBrk="1" fontAlgn="base" hangingPunct="1">
              <a:spcBef>
                <a:spcPct val="0"/>
              </a:spcBef>
              <a:spcAft>
                <a:spcPct val="0"/>
              </a:spcAft>
              <a:defRPr sz="4400">
                <a:solidFill>
                  <a:schemeClr val="tx2"/>
                </a:solidFill>
                <a:latin typeface="Tw Cen MT" pitchFamily="34" charset="0"/>
              </a:defRPr>
            </a:lvl8pPr>
            <a:lvl9pPr marL="1828800" algn="l" rtl="0" eaLnBrk="1" fontAlgn="base" hangingPunct="1">
              <a:spcBef>
                <a:spcPct val="0"/>
              </a:spcBef>
              <a:spcAft>
                <a:spcPct val="0"/>
              </a:spcAft>
              <a:defRPr sz="4400">
                <a:solidFill>
                  <a:schemeClr val="tx2"/>
                </a:solidFill>
                <a:latin typeface="Tw Cen MT" pitchFamily="34" charset="0"/>
              </a:defRPr>
            </a:lvl9pPr>
          </a:lstStyle>
          <a:p>
            <a:r>
              <a:rPr lang="en-IN" b="1" dirty="0"/>
              <a:t>Array methods implementation</a:t>
            </a:r>
            <a:endParaRPr lang="en-IN" sz="1600" dirty="0"/>
          </a:p>
        </p:txBody>
      </p:sp>
      <p:sp>
        <p:nvSpPr>
          <p:cNvPr id="11" name="Footer Placeholder 3">
            <a:extLst>
              <a:ext uri="{FF2B5EF4-FFF2-40B4-BE49-F238E27FC236}">
                <a16:creationId xmlns:a16="http://schemas.microsoft.com/office/drawing/2014/main" id="{2392EB71-8379-E99B-DC52-8A7548EAA385}"/>
              </a:ext>
            </a:extLst>
          </p:cNvPr>
          <p:cNvSpPr txBox="1">
            <a:spLocks/>
          </p:cNvSpPr>
          <p:nvPr/>
        </p:nvSpPr>
        <p:spPr>
          <a:xfrm>
            <a:off x="609600" y="6248400"/>
            <a:ext cx="5421313" cy="365125"/>
          </a:xfrm>
          <a:prstGeom prst="rect">
            <a:avLst/>
          </a:prstGeom>
        </p:spPr>
        <p:txBody>
          <a:bodyPr vert="horz" anchor="ctr"/>
          <a:lstStyle>
            <a:defPPr>
              <a:defRPr lang="en-US"/>
            </a:defPPr>
            <a:lvl1pPr marL="0" algn="r" defTabSz="914400" rtl="0" eaLnBrk="1" latinLnBrk="0" hangingPunct="1">
              <a:defRPr kumimoji="0" sz="14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MPEC2026</a:t>
            </a:r>
            <a:endParaRPr lang="en-US" dirty="0"/>
          </a:p>
        </p:txBody>
      </p:sp>
      <p:sp>
        <p:nvSpPr>
          <p:cNvPr id="12" name="Slide Number Placeholder 4">
            <a:extLst>
              <a:ext uri="{FF2B5EF4-FFF2-40B4-BE49-F238E27FC236}">
                <a16:creationId xmlns:a16="http://schemas.microsoft.com/office/drawing/2014/main" id="{0A9D4776-7A06-3586-5428-FF63B9F45822}"/>
              </a:ext>
            </a:extLst>
          </p:cNvPr>
          <p:cNvSpPr txBox="1">
            <a:spLocks/>
          </p:cNvSpPr>
          <p:nvPr/>
        </p:nvSpPr>
        <p:spPr>
          <a:xfrm>
            <a:off x="0" y="1271588"/>
            <a:ext cx="533400" cy="244475"/>
          </a:xfrm>
          <a:prstGeom prst="rect">
            <a:avLst/>
          </a:prstGeom>
        </p:spPr>
        <p:txBody>
          <a:bodyPr vert="horz" anchor="ctr" anchorCtr="0">
            <a:normAutofit fontScale="85000" lnSpcReduction="20000"/>
          </a:bodyPr>
          <a:lstStyle>
            <a:defPPr>
              <a:defRPr lang="en-US"/>
            </a:defPPr>
            <a:lvl1pPr marL="0" algn="ctr" defTabSz="914400" rtl="0" eaLnBrk="1" latinLnBrk="0" hangingPunct="1">
              <a:defRPr kumimoji="0" sz="14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B779743-7B81-4FB7-A3E2-1ACEC99CD8CF}" type="slidenum">
              <a:rPr lang="en-US" smtClean="0"/>
              <a:pPr/>
              <a:t>13</a:t>
            </a:fld>
            <a:endParaRPr lang="en-US"/>
          </a:p>
        </p:txBody>
      </p:sp>
    </p:spTree>
    <p:extLst>
      <p:ext uri="{BB962C8B-B14F-4D97-AF65-F5344CB8AC3E}">
        <p14:creationId xmlns:p14="http://schemas.microsoft.com/office/powerpoint/2010/main" val="4138240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DB631-796F-C48A-7C38-78FA75E9556D}"/>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07A995F-2B49-4D20-8691-19E12F183851}"/>
              </a:ext>
            </a:extLst>
          </p:cNvPr>
          <p:cNvSpPr>
            <a:spLocks noGrp="1"/>
          </p:cNvSpPr>
          <p:nvPr>
            <p:ph type="ftr" sz="quarter" idx="11"/>
          </p:nvPr>
        </p:nvSpPr>
        <p:spPr/>
        <p:txBody>
          <a:bodyPr/>
          <a:lstStyle/>
          <a:p>
            <a:r>
              <a:rPr lang="en-US"/>
              <a:t>MPEC2026</a:t>
            </a:r>
            <a:endParaRPr lang="en-US" dirty="0"/>
          </a:p>
        </p:txBody>
      </p:sp>
      <p:sp>
        <p:nvSpPr>
          <p:cNvPr id="5" name="Slide Number Placeholder 4">
            <a:extLst>
              <a:ext uri="{FF2B5EF4-FFF2-40B4-BE49-F238E27FC236}">
                <a16:creationId xmlns:a16="http://schemas.microsoft.com/office/drawing/2014/main" id="{6E2B3F11-962F-F039-9622-A172B412700A}"/>
              </a:ext>
            </a:extLst>
          </p:cNvPr>
          <p:cNvSpPr>
            <a:spLocks noGrp="1"/>
          </p:cNvSpPr>
          <p:nvPr>
            <p:ph type="sldNum" sz="quarter" idx="12"/>
          </p:nvPr>
        </p:nvSpPr>
        <p:spPr/>
        <p:txBody>
          <a:bodyPr>
            <a:normAutofit fontScale="85000" lnSpcReduction="20000"/>
          </a:bodyPr>
          <a:lstStyle/>
          <a:p>
            <a:fld id="{CB779743-7B81-4FB7-A3E2-1ACEC99CD8CF}" type="slidenum">
              <a:rPr lang="en-US" smtClean="0"/>
              <a:t>14</a:t>
            </a:fld>
            <a:endParaRPr lang="en-US"/>
          </a:p>
        </p:txBody>
      </p:sp>
      <p:sp>
        <p:nvSpPr>
          <p:cNvPr id="3" name="TextBox 2">
            <a:extLst>
              <a:ext uri="{FF2B5EF4-FFF2-40B4-BE49-F238E27FC236}">
                <a16:creationId xmlns:a16="http://schemas.microsoft.com/office/drawing/2014/main" id="{3B413FAB-B3A4-D2C0-C981-112A06A5DBDC}"/>
              </a:ext>
            </a:extLst>
          </p:cNvPr>
          <p:cNvSpPr txBox="1"/>
          <p:nvPr/>
        </p:nvSpPr>
        <p:spPr>
          <a:xfrm>
            <a:off x="0" y="888977"/>
            <a:ext cx="4572000" cy="363561"/>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1. Accessing Elements of an Array</a:t>
            </a:r>
          </a:p>
        </p:txBody>
      </p:sp>
      <p:sp>
        <p:nvSpPr>
          <p:cNvPr id="7" name="TextBox 6">
            <a:extLst>
              <a:ext uri="{FF2B5EF4-FFF2-40B4-BE49-F238E27FC236}">
                <a16:creationId xmlns:a16="http://schemas.microsoft.com/office/drawing/2014/main" id="{F23BBE86-D884-FF26-9763-ADE929FE34D1}"/>
              </a:ext>
            </a:extLst>
          </p:cNvPr>
          <p:cNvSpPr txBox="1"/>
          <p:nvPr/>
        </p:nvSpPr>
        <p:spPr>
          <a:xfrm>
            <a:off x="19050" y="1535113"/>
            <a:ext cx="4600574" cy="2031325"/>
          </a:xfrm>
          <a:prstGeom prst="rect">
            <a:avLst/>
          </a:prstGeom>
          <a:noFill/>
        </p:spPr>
        <p:txBody>
          <a:bodyPr wrap="square">
            <a:spAutoFit/>
          </a:bodyPr>
          <a:lstStyle/>
          <a:p>
            <a:r>
              <a:rPr lang="en-IN" dirty="0"/>
              <a:t>// Creating an Array and Initializing with Values</a:t>
            </a:r>
          </a:p>
          <a:p>
            <a:r>
              <a:rPr lang="en-IN" dirty="0"/>
              <a:t>let a = ["HTML", "CSS", "JS"];</a:t>
            </a:r>
          </a:p>
          <a:p>
            <a:endParaRPr lang="en-IN" dirty="0"/>
          </a:p>
          <a:p>
            <a:r>
              <a:rPr lang="en-IN" dirty="0"/>
              <a:t>// Accessing Array Elements</a:t>
            </a:r>
          </a:p>
          <a:p>
            <a:r>
              <a:rPr lang="en-IN" dirty="0"/>
              <a:t>console.log(a[0]);</a:t>
            </a:r>
          </a:p>
          <a:p>
            <a:r>
              <a:rPr lang="en-IN" dirty="0"/>
              <a:t>console.log(a[1]);</a:t>
            </a:r>
          </a:p>
        </p:txBody>
      </p:sp>
      <p:sp>
        <p:nvSpPr>
          <p:cNvPr id="9" name="TextBox 8">
            <a:extLst>
              <a:ext uri="{FF2B5EF4-FFF2-40B4-BE49-F238E27FC236}">
                <a16:creationId xmlns:a16="http://schemas.microsoft.com/office/drawing/2014/main" id="{DE9367CE-CD18-3BA8-1185-77F33E5FEEB1}"/>
              </a:ext>
            </a:extLst>
          </p:cNvPr>
          <p:cNvSpPr txBox="1"/>
          <p:nvPr/>
        </p:nvSpPr>
        <p:spPr>
          <a:xfrm>
            <a:off x="19050" y="3849013"/>
            <a:ext cx="4600574" cy="632866"/>
          </a:xfrm>
          <a:prstGeom prst="rect">
            <a:avLst/>
          </a:prstGeom>
          <a:noFill/>
        </p:spPr>
        <p:txBody>
          <a:bodyPr wrap="square">
            <a:spAutoFit/>
          </a:bodyPr>
          <a:lstStyle/>
          <a:p>
            <a:pPr algn="l" fontAlgn="base">
              <a:lnSpc>
                <a:spcPts val="2100"/>
              </a:lnSpc>
              <a:spcBef>
                <a:spcPts val="1800"/>
              </a:spcBef>
              <a:spcAft>
                <a:spcPts val="1800"/>
              </a:spcAft>
              <a:buNone/>
            </a:pPr>
            <a:r>
              <a:rPr lang="en-US" b="1" i="0">
                <a:solidFill>
                  <a:srgbClr val="273239"/>
                </a:solidFill>
                <a:effectLst/>
                <a:latin typeface="Nunito" pitchFamily="2" charset="0"/>
              </a:rPr>
              <a:t>2. Accessing the First Element of an Array</a:t>
            </a:r>
            <a:endParaRPr lang="en-US" b="1" i="0" dirty="0">
              <a:solidFill>
                <a:srgbClr val="273239"/>
              </a:solidFill>
              <a:effectLst/>
              <a:latin typeface="Nunito" pitchFamily="2" charset="0"/>
            </a:endParaRPr>
          </a:p>
        </p:txBody>
      </p:sp>
      <p:sp>
        <p:nvSpPr>
          <p:cNvPr id="11" name="TextBox 10">
            <a:extLst>
              <a:ext uri="{FF2B5EF4-FFF2-40B4-BE49-F238E27FC236}">
                <a16:creationId xmlns:a16="http://schemas.microsoft.com/office/drawing/2014/main" id="{14E3E5C8-44CB-B302-EB8E-349F16CA727E}"/>
              </a:ext>
            </a:extLst>
          </p:cNvPr>
          <p:cNvSpPr txBox="1"/>
          <p:nvPr/>
        </p:nvSpPr>
        <p:spPr>
          <a:xfrm>
            <a:off x="51005" y="4432250"/>
            <a:ext cx="4601496" cy="2308324"/>
          </a:xfrm>
          <a:prstGeom prst="rect">
            <a:avLst/>
          </a:prstGeom>
          <a:noFill/>
        </p:spPr>
        <p:txBody>
          <a:bodyPr wrap="square">
            <a:spAutoFit/>
          </a:bodyPr>
          <a:lstStyle/>
          <a:p>
            <a:r>
              <a:rPr lang="en-IN"/>
              <a:t>// Creating an Array and Initializing with Values</a:t>
            </a:r>
          </a:p>
          <a:p>
            <a:r>
              <a:rPr lang="en-IN"/>
              <a:t>let a = ["HTML", "CSS", "JS"];</a:t>
            </a:r>
          </a:p>
          <a:p>
            <a:endParaRPr lang="en-IN"/>
          </a:p>
          <a:p>
            <a:r>
              <a:rPr lang="en-IN"/>
              <a:t>// Accessing First Array Elements</a:t>
            </a:r>
          </a:p>
          <a:p>
            <a:r>
              <a:rPr lang="en-IN"/>
              <a:t>let fst = a[0];</a:t>
            </a:r>
          </a:p>
          <a:p>
            <a:endParaRPr lang="en-IN"/>
          </a:p>
          <a:p>
            <a:r>
              <a:rPr lang="en-IN"/>
              <a:t>console.log("First Item: ", fst);</a:t>
            </a:r>
            <a:endParaRPr lang="en-IN" dirty="0"/>
          </a:p>
        </p:txBody>
      </p:sp>
      <p:sp>
        <p:nvSpPr>
          <p:cNvPr id="13" name="TextBox 12">
            <a:extLst>
              <a:ext uri="{FF2B5EF4-FFF2-40B4-BE49-F238E27FC236}">
                <a16:creationId xmlns:a16="http://schemas.microsoft.com/office/drawing/2014/main" id="{66D9452B-CA3B-08B9-8A6B-C234F1F59FC0}"/>
              </a:ext>
            </a:extLst>
          </p:cNvPr>
          <p:cNvSpPr txBox="1"/>
          <p:nvPr/>
        </p:nvSpPr>
        <p:spPr>
          <a:xfrm>
            <a:off x="4572000" y="859597"/>
            <a:ext cx="4800600" cy="363561"/>
          </a:xfrm>
          <a:prstGeom prst="rect">
            <a:avLst/>
          </a:prstGeom>
          <a:noFill/>
        </p:spPr>
        <p:txBody>
          <a:bodyPr wrap="square">
            <a:spAutoFit/>
          </a:bodyPr>
          <a:lstStyle/>
          <a:p>
            <a:pPr algn="l" fontAlgn="base">
              <a:lnSpc>
                <a:spcPts val="2100"/>
              </a:lnSpc>
              <a:spcBef>
                <a:spcPts val="1800"/>
              </a:spcBef>
              <a:spcAft>
                <a:spcPts val="1800"/>
              </a:spcAft>
              <a:buNone/>
            </a:pPr>
            <a:r>
              <a:rPr lang="en-US" b="1" i="0">
                <a:solidFill>
                  <a:srgbClr val="273239"/>
                </a:solidFill>
                <a:effectLst/>
                <a:latin typeface="Nunito" pitchFamily="2" charset="0"/>
              </a:rPr>
              <a:t>3. Accessing the Last Element of an Array</a:t>
            </a:r>
            <a:endParaRPr lang="en-US" b="1" i="0" dirty="0">
              <a:solidFill>
                <a:srgbClr val="273239"/>
              </a:solidFill>
              <a:effectLst/>
              <a:latin typeface="Nunito" pitchFamily="2" charset="0"/>
            </a:endParaRPr>
          </a:p>
        </p:txBody>
      </p:sp>
      <p:sp>
        <p:nvSpPr>
          <p:cNvPr id="15" name="TextBox 14">
            <a:extLst>
              <a:ext uri="{FF2B5EF4-FFF2-40B4-BE49-F238E27FC236}">
                <a16:creationId xmlns:a16="http://schemas.microsoft.com/office/drawing/2014/main" id="{B21FB2B1-C343-CE82-F81A-BDE08440ED6C}"/>
              </a:ext>
            </a:extLst>
          </p:cNvPr>
          <p:cNvSpPr txBox="1"/>
          <p:nvPr/>
        </p:nvSpPr>
        <p:spPr>
          <a:xfrm>
            <a:off x="4572000" y="1535113"/>
            <a:ext cx="4712676" cy="2031325"/>
          </a:xfrm>
          <a:prstGeom prst="rect">
            <a:avLst/>
          </a:prstGeom>
          <a:noFill/>
        </p:spPr>
        <p:txBody>
          <a:bodyPr wrap="square">
            <a:spAutoFit/>
          </a:bodyPr>
          <a:lstStyle/>
          <a:p>
            <a:r>
              <a:rPr lang="en-IN" dirty="0"/>
              <a:t>// Creating an Array and Initializing with Values</a:t>
            </a:r>
          </a:p>
          <a:p>
            <a:r>
              <a:rPr lang="en-IN" dirty="0"/>
              <a:t>let a = ["HTML", "CSS", "JS"];</a:t>
            </a:r>
          </a:p>
          <a:p>
            <a:endParaRPr lang="en-IN" dirty="0"/>
          </a:p>
          <a:p>
            <a:r>
              <a:rPr lang="en-IN" dirty="0"/>
              <a:t>// Accessing Last Array Elements</a:t>
            </a:r>
          </a:p>
          <a:p>
            <a:r>
              <a:rPr lang="en-IN" dirty="0"/>
              <a:t>let </a:t>
            </a:r>
            <a:r>
              <a:rPr lang="en-IN" dirty="0" err="1"/>
              <a:t>lst</a:t>
            </a:r>
            <a:r>
              <a:rPr lang="en-IN" dirty="0"/>
              <a:t> = a[</a:t>
            </a:r>
            <a:r>
              <a:rPr lang="en-IN" dirty="0" err="1"/>
              <a:t>a.length</a:t>
            </a:r>
            <a:r>
              <a:rPr lang="en-IN" dirty="0"/>
              <a:t> - 1];</a:t>
            </a:r>
          </a:p>
          <a:p>
            <a:endParaRPr lang="en-IN" dirty="0"/>
          </a:p>
          <a:p>
            <a:r>
              <a:rPr lang="en-IN" dirty="0"/>
              <a:t>console.log("First Item: ", </a:t>
            </a:r>
            <a:r>
              <a:rPr lang="en-IN" dirty="0" err="1"/>
              <a:t>lst</a:t>
            </a:r>
            <a:r>
              <a:rPr lang="en-IN" dirty="0"/>
              <a:t>);</a:t>
            </a:r>
          </a:p>
        </p:txBody>
      </p:sp>
      <p:sp>
        <p:nvSpPr>
          <p:cNvPr id="17" name="TextBox 16">
            <a:extLst>
              <a:ext uri="{FF2B5EF4-FFF2-40B4-BE49-F238E27FC236}">
                <a16:creationId xmlns:a16="http://schemas.microsoft.com/office/drawing/2014/main" id="{D844DAEE-8FAC-0C9B-457F-DE2C8E4FFD49}"/>
              </a:ext>
            </a:extLst>
          </p:cNvPr>
          <p:cNvSpPr txBox="1"/>
          <p:nvPr/>
        </p:nvSpPr>
        <p:spPr>
          <a:xfrm>
            <a:off x="4572000" y="3843036"/>
            <a:ext cx="4712676" cy="363561"/>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4. Modifying the Array Elements</a:t>
            </a:r>
          </a:p>
        </p:txBody>
      </p:sp>
      <p:sp>
        <p:nvSpPr>
          <p:cNvPr id="19" name="TextBox 18">
            <a:extLst>
              <a:ext uri="{FF2B5EF4-FFF2-40B4-BE49-F238E27FC236}">
                <a16:creationId xmlns:a16="http://schemas.microsoft.com/office/drawing/2014/main" id="{47E7E9C6-7D57-AB07-27B2-719714B65B2B}"/>
              </a:ext>
            </a:extLst>
          </p:cNvPr>
          <p:cNvSpPr txBox="1"/>
          <p:nvPr/>
        </p:nvSpPr>
        <p:spPr>
          <a:xfrm>
            <a:off x="4572000" y="4316435"/>
            <a:ext cx="4712676" cy="1754326"/>
          </a:xfrm>
          <a:prstGeom prst="rect">
            <a:avLst/>
          </a:prstGeom>
          <a:noFill/>
        </p:spPr>
        <p:txBody>
          <a:bodyPr wrap="square">
            <a:spAutoFit/>
          </a:bodyPr>
          <a:lstStyle/>
          <a:p>
            <a:r>
              <a:rPr lang="en-IN" dirty="0"/>
              <a:t>// Creating an Array and Initializing with Values</a:t>
            </a:r>
          </a:p>
          <a:p>
            <a:r>
              <a:rPr lang="en-IN" dirty="0"/>
              <a:t>let a = ["HTML", "CSS", "JS"];</a:t>
            </a:r>
          </a:p>
          <a:p>
            <a:r>
              <a:rPr lang="en-IN" dirty="0"/>
              <a:t>console.log(a);</a:t>
            </a:r>
          </a:p>
          <a:p>
            <a:endParaRPr lang="en-IN" dirty="0"/>
          </a:p>
          <a:p>
            <a:r>
              <a:rPr lang="en-IN" dirty="0"/>
              <a:t>a[1]= "Bootstrap";</a:t>
            </a:r>
          </a:p>
          <a:p>
            <a:r>
              <a:rPr lang="en-IN" dirty="0"/>
              <a:t>console.log(a);</a:t>
            </a:r>
          </a:p>
        </p:txBody>
      </p:sp>
    </p:spTree>
    <p:extLst>
      <p:ext uri="{BB962C8B-B14F-4D97-AF65-F5344CB8AC3E}">
        <p14:creationId xmlns:p14="http://schemas.microsoft.com/office/powerpoint/2010/main" val="1852588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4421936-0CD0-4F9E-EE7B-E2BEE22A52DC}"/>
              </a:ext>
            </a:extLst>
          </p:cNvPr>
          <p:cNvSpPr>
            <a:spLocks noGrp="1"/>
          </p:cNvSpPr>
          <p:nvPr>
            <p:ph type="ftr" sz="quarter" idx="11"/>
          </p:nvPr>
        </p:nvSpPr>
        <p:spPr/>
        <p:txBody>
          <a:bodyPr/>
          <a:lstStyle/>
          <a:p>
            <a:r>
              <a:rPr lang="en-US"/>
              <a:t>MPEC2026</a:t>
            </a:r>
            <a:endParaRPr lang="en-US" dirty="0"/>
          </a:p>
        </p:txBody>
      </p:sp>
      <p:sp>
        <p:nvSpPr>
          <p:cNvPr id="5" name="Slide Number Placeholder 4">
            <a:extLst>
              <a:ext uri="{FF2B5EF4-FFF2-40B4-BE49-F238E27FC236}">
                <a16:creationId xmlns:a16="http://schemas.microsoft.com/office/drawing/2014/main" id="{35753397-FF9D-0C3B-43DD-F1CA54FA917D}"/>
              </a:ext>
            </a:extLst>
          </p:cNvPr>
          <p:cNvSpPr>
            <a:spLocks noGrp="1"/>
          </p:cNvSpPr>
          <p:nvPr>
            <p:ph type="sldNum" sz="quarter" idx="12"/>
          </p:nvPr>
        </p:nvSpPr>
        <p:spPr/>
        <p:txBody>
          <a:bodyPr>
            <a:normAutofit fontScale="85000" lnSpcReduction="20000"/>
          </a:bodyPr>
          <a:lstStyle/>
          <a:p>
            <a:fld id="{CB779743-7B81-4FB7-A3E2-1ACEC99CD8CF}" type="slidenum">
              <a:rPr lang="en-US" smtClean="0"/>
              <a:t>15</a:t>
            </a:fld>
            <a:endParaRPr lang="en-US"/>
          </a:p>
        </p:txBody>
      </p:sp>
      <p:sp>
        <p:nvSpPr>
          <p:cNvPr id="7" name="TextBox 6">
            <a:extLst>
              <a:ext uri="{FF2B5EF4-FFF2-40B4-BE49-F238E27FC236}">
                <a16:creationId xmlns:a16="http://schemas.microsoft.com/office/drawing/2014/main" id="{E5AD6899-C06F-82D3-782D-0BD2182C8BDF}"/>
              </a:ext>
            </a:extLst>
          </p:cNvPr>
          <p:cNvSpPr txBox="1"/>
          <p:nvPr/>
        </p:nvSpPr>
        <p:spPr>
          <a:xfrm>
            <a:off x="35169" y="908027"/>
            <a:ext cx="4572000" cy="363561"/>
          </a:xfrm>
          <a:prstGeom prst="rect">
            <a:avLst/>
          </a:prstGeom>
          <a:noFill/>
        </p:spPr>
        <p:txBody>
          <a:bodyPr wrap="square">
            <a:spAutoFit/>
          </a:bodyPr>
          <a:lstStyle/>
          <a:p>
            <a:pPr algn="l" fontAlgn="base">
              <a:lnSpc>
                <a:spcPts val="2100"/>
              </a:lnSpc>
              <a:spcBef>
                <a:spcPts val="1800"/>
              </a:spcBef>
              <a:spcAft>
                <a:spcPts val="1800"/>
              </a:spcAft>
              <a:buNone/>
            </a:pPr>
            <a:r>
              <a:rPr lang="en-US" b="1" i="0">
                <a:solidFill>
                  <a:srgbClr val="273239"/>
                </a:solidFill>
                <a:effectLst/>
                <a:latin typeface="Nunito" pitchFamily="2" charset="0"/>
              </a:rPr>
              <a:t>5. Adding Elements to the Array</a:t>
            </a:r>
            <a:endParaRPr lang="en-US" b="1" i="0" dirty="0">
              <a:solidFill>
                <a:srgbClr val="273239"/>
              </a:solidFill>
              <a:effectLst/>
              <a:latin typeface="Nunito" pitchFamily="2" charset="0"/>
            </a:endParaRPr>
          </a:p>
        </p:txBody>
      </p:sp>
      <p:sp>
        <p:nvSpPr>
          <p:cNvPr id="9" name="TextBox 8">
            <a:extLst>
              <a:ext uri="{FF2B5EF4-FFF2-40B4-BE49-F238E27FC236}">
                <a16:creationId xmlns:a16="http://schemas.microsoft.com/office/drawing/2014/main" id="{B8FF050C-74A9-5164-E2AC-12BB10062B69}"/>
              </a:ext>
            </a:extLst>
          </p:cNvPr>
          <p:cNvSpPr txBox="1"/>
          <p:nvPr/>
        </p:nvSpPr>
        <p:spPr>
          <a:xfrm>
            <a:off x="35169" y="1533648"/>
            <a:ext cx="4580792" cy="3139321"/>
          </a:xfrm>
          <a:prstGeom prst="rect">
            <a:avLst/>
          </a:prstGeom>
          <a:noFill/>
        </p:spPr>
        <p:txBody>
          <a:bodyPr wrap="square">
            <a:spAutoFit/>
          </a:bodyPr>
          <a:lstStyle/>
          <a:p>
            <a:r>
              <a:rPr lang="en-IN" dirty="0"/>
              <a:t>// Creating an Array and Initializing with Values</a:t>
            </a:r>
          </a:p>
          <a:p>
            <a:r>
              <a:rPr lang="en-IN" dirty="0"/>
              <a:t>let a = ["HTML", "CSS", "JS"];</a:t>
            </a:r>
          </a:p>
          <a:p>
            <a:endParaRPr lang="en-IN" dirty="0"/>
          </a:p>
          <a:p>
            <a:r>
              <a:rPr lang="en-IN" dirty="0"/>
              <a:t>// Add Element to the end of Array</a:t>
            </a:r>
          </a:p>
          <a:p>
            <a:r>
              <a:rPr lang="en-IN" dirty="0" err="1"/>
              <a:t>a.push</a:t>
            </a:r>
            <a:r>
              <a:rPr lang="en-IN" dirty="0"/>
              <a:t>("Node.js");</a:t>
            </a:r>
          </a:p>
          <a:p>
            <a:endParaRPr lang="en-IN" dirty="0"/>
          </a:p>
          <a:p>
            <a:r>
              <a:rPr lang="en-IN" dirty="0"/>
              <a:t>// Add Element to the beginning</a:t>
            </a:r>
          </a:p>
          <a:p>
            <a:r>
              <a:rPr lang="en-IN" dirty="0" err="1"/>
              <a:t>a.unshift</a:t>
            </a:r>
            <a:r>
              <a:rPr lang="en-IN" dirty="0"/>
              <a:t>("Web Development");</a:t>
            </a:r>
          </a:p>
          <a:p>
            <a:endParaRPr lang="en-IN" dirty="0"/>
          </a:p>
          <a:p>
            <a:r>
              <a:rPr lang="en-IN" dirty="0"/>
              <a:t>console.log(a);</a:t>
            </a:r>
          </a:p>
        </p:txBody>
      </p:sp>
      <p:sp>
        <p:nvSpPr>
          <p:cNvPr id="11" name="TextBox 10">
            <a:extLst>
              <a:ext uri="{FF2B5EF4-FFF2-40B4-BE49-F238E27FC236}">
                <a16:creationId xmlns:a16="http://schemas.microsoft.com/office/drawing/2014/main" id="{97318AE2-6FDD-254A-45F0-B1999FDE0E3D}"/>
              </a:ext>
            </a:extLst>
          </p:cNvPr>
          <p:cNvSpPr txBox="1"/>
          <p:nvPr/>
        </p:nvSpPr>
        <p:spPr>
          <a:xfrm>
            <a:off x="4876800" y="908027"/>
            <a:ext cx="4580792" cy="363561"/>
          </a:xfrm>
          <a:prstGeom prst="rect">
            <a:avLst/>
          </a:prstGeom>
          <a:noFill/>
        </p:spPr>
        <p:txBody>
          <a:bodyPr wrap="square">
            <a:spAutoFit/>
          </a:bodyPr>
          <a:lstStyle/>
          <a:p>
            <a:pPr algn="l" fontAlgn="base">
              <a:lnSpc>
                <a:spcPts val="2100"/>
              </a:lnSpc>
              <a:spcBef>
                <a:spcPts val="1800"/>
              </a:spcBef>
              <a:spcAft>
                <a:spcPts val="1800"/>
              </a:spcAft>
              <a:buNone/>
            </a:pPr>
            <a:r>
              <a:rPr lang="en-US" b="1" i="0">
                <a:solidFill>
                  <a:srgbClr val="273239"/>
                </a:solidFill>
                <a:effectLst/>
                <a:latin typeface="Nunito" pitchFamily="2" charset="0"/>
              </a:rPr>
              <a:t>6. Removing Elements from an Array</a:t>
            </a:r>
            <a:endParaRPr lang="en-US" b="1" i="0" dirty="0">
              <a:solidFill>
                <a:srgbClr val="273239"/>
              </a:solidFill>
              <a:effectLst/>
              <a:latin typeface="Nunito" pitchFamily="2" charset="0"/>
            </a:endParaRPr>
          </a:p>
        </p:txBody>
      </p:sp>
      <p:sp>
        <p:nvSpPr>
          <p:cNvPr id="13" name="TextBox 12">
            <a:extLst>
              <a:ext uri="{FF2B5EF4-FFF2-40B4-BE49-F238E27FC236}">
                <a16:creationId xmlns:a16="http://schemas.microsoft.com/office/drawing/2014/main" id="{9941C461-0796-53E2-C6A3-8B3A6186B620}"/>
              </a:ext>
            </a:extLst>
          </p:cNvPr>
          <p:cNvSpPr txBox="1"/>
          <p:nvPr/>
        </p:nvSpPr>
        <p:spPr>
          <a:xfrm>
            <a:off x="4404946" y="1533648"/>
            <a:ext cx="4739054" cy="4524315"/>
          </a:xfrm>
          <a:prstGeom prst="rect">
            <a:avLst/>
          </a:prstGeom>
          <a:noFill/>
        </p:spPr>
        <p:txBody>
          <a:bodyPr wrap="square">
            <a:spAutoFit/>
          </a:bodyPr>
          <a:lstStyle/>
          <a:p>
            <a:r>
              <a:rPr lang="en-IN" dirty="0"/>
              <a:t>// Creating an Array and Initializing with Values</a:t>
            </a:r>
          </a:p>
          <a:p>
            <a:r>
              <a:rPr lang="en-IN" dirty="0"/>
              <a:t>let a = ["HTML", "CSS", "JS"];</a:t>
            </a:r>
          </a:p>
          <a:p>
            <a:r>
              <a:rPr lang="en-IN" dirty="0"/>
              <a:t>console.log("Original Array: " + a);</a:t>
            </a:r>
          </a:p>
          <a:p>
            <a:endParaRPr lang="en-IN" dirty="0"/>
          </a:p>
          <a:p>
            <a:r>
              <a:rPr lang="en-IN" dirty="0"/>
              <a:t>// Removes and returns the last element</a:t>
            </a:r>
          </a:p>
          <a:p>
            <a:r>
              <a:rPr lang="en-IN" dirty="0"/>
              <a:t>let </a:t>
            </a:r>
            <a:r>
              <a:rPr lang="en-IN" dirty="0" err="1"/>
              <a:t>lst</a:t>
            </a:r>
            <a:r>
              <a:rPr lang="en-IN" dirty="0"/>
              <a:t> = </a:t>
            </a:r>
            <a:r>
              <a:rPr lang="en-IN" dirty="0" err="1"/>
              <a:t>a.pop</a:t>
            </a:r>
            <a:r>
              <a:rPr lang="en-IN" dirty="0"/>
              <a:t>();</a:t>
            </a:r>
          </a:p>
          <a:p>
            <a:r>
              <a:rPr lang="en-IN" dirty="0"/>
              <a:t>console.log("After Removing the last: " + a);</a:t>
            </a:r>
          </a:p>
          <a:p>
            <a:endParaRPr lang="en-IN" dirty="0"/>
          </a:p>
          <a:p>
            <a:r>
              <a:rPr lang="en-IN" dirty="0"/>
              <a:t>// Removes and returns the first element</a:t>
            </a:r>
          </a:p>
          <a:p>
            <a:r>
              <a:rPr lang="en-IN" dirty="0"/>
              <a:t>let </a:t>
            </a:r>
            <a:r>
              <a:rPr lang="en-IN" dirty="0" err="1"/>
              <a:t>fst</a:t>
            </a:r>
            <a:r>
              <a:rPr lang="en-IN" dirty="0"/>
              <a:t> = </a:t>
            </a:r>
            <a:r>
              <a:rPr lang="en-IN" dirty="0" err="1"/>
              <a:t>a.shift</a:t>
            </a:r>
            <a:r>
              <a:rPr lang="en-IN" dirty="0"/>
              <a:t>();</a:t>
            </a:r>
          </a:p>
          <a:p>
            <a:r>
              <a:rPr lang="en-IN" dirty="0"/>
              <a:t>console.log("After Removing the First: " + a);</a:t>
            </a:r>
          </a:p>
          <a:p>
            <a:endParaRPr lang="en-IN" dirty="0"/>
          </a:p>
          <a:p>
            <a:r>
              <a:rPr lang="en-IN" dirty="0"/>
              <a:t>// Removes 2 elements starting from index 1</a:t>
            </a:r>
          </a:p>
          <a:p>
            <a:r>
              <a:rPr lang="en-IN" dirty="0" err="1"/>
              <a:t>a.splice</a:t>
            </a:r>
            <a:r>
              <a:rPr lang="en-IN" dirty="0"/>
              <a:t>(1, 2);</a:t>
            </a:r>
          </a:p>
          <a:p>
            <a:r>
              <a:rPr lang="en-IN" dirty="0"/>
              <a:t>console.log("After Removing 2 elements starting from index 1: " + a);</a:t>
            </a:r>
          </a:p>
        </p:txBody>
      </p:sp>
    </p:spTree>
    <p:extLst>
      <p:ext uri="{BB962C8B-B14F-4D97-AF65-F5344CB8AC3E}">
        <p14:creationId xmlns:p14="http://schemas.microsoft.com/office/powerpoint/2010/main" val="1143810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76BB80C-A7B4-CF86-9F11-A406E065C529}"/>
              </a:ext>
            </a:extLst>
          </p:cNvPr>
          <p:cNvSpPr>
            <a:spLocks noGrp="1"/>
          </p:cNvSpPr>
          <p:nvPr>
            <p:ph type="ftr" sz="quarter" idx="11"/>
          </p:nvPr>
        </p:nvSpPr>
        <p:spPr/>
        <p:txBody>
          <a:bodyPr/>
          <a:lstStyle/>
          <a:p>
            <a:r>
              <a:rPr lang="en-US"/>
              <a:t>MPEC2026</a:t>
            </a:r>
            <a:endParaRPr lang="en-US" dirty="0"/>
          </a:p>
        </p:txBody>
      </p:sp>
      <p:sp>
        <p:nvSpPr>
          <p:cNvPr id="5" name="Slide Number Placeholder 4">
            <a:extLst>
              <a:ext uri="{FF2B5EF4-FFF2-40B4-BE49-F238E27FC236}">
                <a16:creationId xmlns:a16="http://schemas.microsoft.com/office/drawing/2014/main" id="{636D586F-FE0F-B17F-CA25-2F095CA2D641}"/>
              </a:ext>
            </a:extLst>
          </p:cNvPr>
          <p:cNvSpPr>
            <a:spLocks noGrp="1"/>
          </p:cNvSpPr>
          <p:nvPr>
            <p:ph type="sldNum" sz="quarter" idx="12"/>
          </p:nvPr>
        </p:nvSpPr>
        <p:spPr/>
        <p:txBody>
          <a:bodyPr>
            <a:normAutofit fontScale="85000" lnSpcReduction="20000"/>
          </a:bodyPr>
          <a:lstStyle/>
          <a:p>
            <a:fld id="{CB779743-7B81-4FB7-A3E2-1ACEC99CD8CF}" type="slidenum">
              <a:rPr lang="en-US" smtClean="0"/>
              <a:t>16</a:t>
            </a:fld>
            <a:endParaRPr lang="en-US"/>
          </a:p>
        </p:txBody>
      </p:sp>
      <p:sp>
        <p:nvSpPr>
          <p:cNvPr id="7" name="TextBox 6">
            <a:extLst>
              <a:ext uri="{FF2B5EF4-FFF2-40B4-BE49-F238E27FC236}">
                <a16:creationId xmlns:a16="http://schemas.microsoft.com/office/drawing/2014/main" id="{9B422B03-9D1E-7B32-C678-68A5378D813F}"/>
              </a:ext>
            </a:extLst>
          </p:cNvPr>
          <p:cNvSpPr txBox="1"/>
          <p:nvPr/>
        </p:nvSpPr>
        <p:spPr>
          <a:xfrm>
            <a:off x="0" y="896304"/>
            <a:ext cx="4572000" cy="363561"/>
          </a:xfrm>
          <a:prstGeom prst="rect">
            <a:avLst/>
          </a:prstGeom>
          <a:noFill/>
        </p:spPr>
        <p:txBody>
          <a:bodyPr wrap="square">
            <a:spAutoFit/>
          </a:bodyPr>
          <a:lstStyle/>
          <a:p>
            <a:pPr algn="l" fontAlgn="base">
              <a:lnSpc>
                <a:spcPts val="2100"/>
              </a:lnSpc>
              <a:spcBef>
                <a:spcPts val="1800"/>
              </a:spcBef>
              <a:spcAft>
                <a:spcPts val="1800"/>
              </a:spcAft>
              <a:buNone/>
            </a:pPr>
            <a:r>
              <a:rPr lang="en-IN" b="1" i="0">
                <a:solidFill>
                  <a:srgbClr val="273239"/>
                </a:solidFill>
                <a:effectLst/>
                <a:latin typeface="Nunito" pitchFamily="2" charset="0"/>
              </a:rPr>
              <a:t>7. Array Length</a:t>
            </a:r>
            <a:endParaRPr lang="en-IN" b="1" i="0" dirty="0">
              <a:solidFill>
                <a:srgbClr val="273239"/>
              </a:solidFill>
              <a:effectLst/>
              <a:latin typeface="Nunito" pitchFamily="2" charset="0"/>
            </a:endParaRPr>
          </a:p>
        </p:txBody>
      </p:sp>
      <p:sp>
        <p:nvSpPr>
          <p:cNvPr id="9" name="TextBox 8">
            <a:extLst>
              <a:ext uri="{FF2B5EF4-FFF2-40B4-BE49-F238E27FC236}">
                <a16:creationId xmlns:a16="http://schemas.microsoft.com/office/drawing/2014/main" id="{2401F5C3-D01F-88B2-DBB0-5F300CAEBCF9}"/>
              </a:ext>
            </a:extLst>
          </p:cNvPr>
          <p:cNvSpPr txBox="1"/>
          <p:nvPr/>
        </p:nvSpPr>
        <p:spPr>
          <a:xfrm>
            <a:off x="35169" y="1516063"/>
            <a:ext cx="4598376" cy="2031325"/>
          </a:xfrm>
          <a:prstGeom prst="rect">
            <a:avLst/>
          </a:prstGeom>
          <a:noFill/>
        </p:spPr>
        <p:txBody>
          <a:bodyPr wrap="square">
            <a:spAutoFit/>
          </a:bodyPr>
          <a:lstStyle/>
          <a:p>
            <a:r>
              <a:rPr lang="en-IN" dirty="0"/>
              <a:t>// Creating an Array and Initializing with Values</a:t>
            </a:r>
          </a:p>
          <a:p>
            <a:r>
              <a:rPr lang="en-IN" dirty="0"/>
              <a:t>let a = ["HTML", "CSS", "JS"];</a:t>
            </a:r>
          </a:p>
          <a:p>
            <a:endParaRPr lang="en-IN" dirty="0"/>
          </a:p>
          <a:p>
            <a:r>
              <a:rPr lang="en-IN" dirty="0"/>
              <a:t>let </a:t>
            </a:r>
            <a:r>
              <a:rPr lang="en-IN" dirty="0" err="1"/>
              <a:t>len</a:t>
            </a:r>
            <a:r>
              <a:rPr lang="en-IN" dirty="0"/>
              <a:t> = </a:t>
            </a:r>
            <a:r>
              <a:rPr lang="en-IN" dirty="0" err="1"/>
              <a:t>a.length</a:t>
            </a:r>
            <a:r>
              <a:rPr lang="en-IN" dirty="0"/>
              <a:t>;</a:t>
            </a:r>
          </a:p>
          <a:p>
            <a:endParaRPr lang="en-IN" dirty="0"/>
          </a:p>
          <a:p>
            <a:r>
              <a:rPr lang="en-IN" dirty="0"/>
              <a:t>console.log("Array Length: " + </a:t>
            </a:r>
            <a:r>
              <a:rPr lang="en-IN" dirty="0" err="1"/>
              <a:t>len</a:t>
            </a:r>
            <a:r>
              <a:rPr lang="en-IN" dirty="0"/>
              <a:t>);</a:t>
            </a:r>
          </a:p>
        </p:txBody>
      </p:sp>
      <p:sp>
        <p:nvSpPr>
          <p:cNvPr id="11" name="TextBox 10">
            <a:extLst>
              <a:ext uri="{FF2B5EF4-FFF2-40B4-BE49-F238E27FC236}">
                <a16:creationId xmlns:a16="http://schemas.microsoft.com/office/drawing/2014/main" id="{136175CD-3832-ECAF-7167-D301B1FCA77B}"/>
              </a:ext>
            </a:extLst>
          </p:cNvPr>
          <p:cNvSpPr txBox="1"/>
          <p:nvPr/>
        </p:nvSpPr>
        <p:spPr>
          <a:xfrm>
            <a:off x="4343400" y="842623"/>
            <a:ext cx="4953000" cy="363561"/>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8. Increase and Decrease the Array Length</a:t>
            </a:r>
          </a:p>
        </p:txBody>
      </p:sp>
      <p:sp>
        <p:nvSpPr>
          <p:cNvPr id="13" name="TextBox 12">
            <a:extLst>
              <a:ext uri="{FF2B5EF4-FFF2-40B4-BE49-F238E27FC236}">
                <a16:creationId xmlns:a16="http://schemas.microsoft.com/office/drawing/2014/main" id="{DEBDE9AE-E0E1-5F72-F612-83B9D81DEC73}"/>
              </a:ext>
            </a:extLst>
          </p:cNvPr>
          <p:cNvSpPr txBox="1"/>
          <p:nvPr/>
        </p:nvSpPr>
        <p:spPr>
          <a:xfrm>
            <a:off x="4481146" y="1516063"/>
            <a:ext cx="4677508" cy="3139321"/>
          </a:xfrm>
          <a:prstGeom prst="rect">
            <a:avLst/>
          </a:prstGeom>
          <a:noFill/>
        </p:spPr>
        <p:txBody>
          <a:bodyPr wrap="square">
            <a:spAutoFit/>
          </a:bodyPr>
          <a:lstStyle/>
          <a:p>
            <a:r>
              <a:rPr lang="en-IN" dirty="0"/>
              <a:t>// Creating an Array and Initializing with Values</a:t>
            </a:r>
          </a:p>
          <a:p>
            <a:r>
              <a:rPr lang="en-IN" dirty="0"/>
              <a:t>let a = ["HTML", "CSS", "JS"]</a:t>
            </a:r>
          </a:p>
          <a:p>
            <a:endParaRPr lang="en-IN" dirty="0"/>
          </a:p>
          <a:p>
            <a:r>
              <a:rPr lang="en-IN" dirty="0"/>
              <a:t>// Increase the array length to 7</a:t>
            </a:r>
          </a:p>
          <a:p>
            <a:r>
              <a:rPr lang="en-IN" dirty="0" err="1"/>
              <a:t>a.length</a:t>
            </a:r>
            <a:r>
              <a:rPr lang="en-IN" dirty="0"/>
              <a:t> = 7;</a:t>
            </a:r>
          </a:p>
          <a:p>
            <a:endParaRPr lang="en-IN" dirty="0"/>
          </a:p>
          <a:p>
            <a:r>
              <a:rPr lang="en-IN" dirty="0"/>
              <a:t>console.log("After Increasing Length: ", a);</a:t>
            </a:r>
          </a:p>
          <a:p>
            <a:endParaRPr lang="en-IN" dirty="0"/>
          </a:p>
          <a:p>
            <a:r>
              <a:rPr lang="en-IN" dirty="0"/>
              <a:t>// Decrease the array length to 2</a:t>
            </a:r>
          </a:p>
          <a:p>
            <a:r>
              <a:rPr lang="en-IN" dirty="0" err="1"/>
              <a:t>a.length</a:t>
            </a:r>
            <a:r>
              <a:rPr lang="en-IN" dirty="0"/>
              <a:t> = 2;</a:t>
            </a:r>
          </a:p>
          <a:p>
            <a:r>
              <a:rPr lang="en-IN" dirty="0"/>
              <a:t>console.log("After Decreasing Length: ", a)</a:t>
            </a:r>
          </a:p>
        </p:txBody>
      </p:sp>
      <p:sp>
        <p:nvSpPr>
          <p:cNvPr id="15" name="TextBox 14">
            <a:extLst>
              <a:ext uri="{FF2B5EF4-FFF2-40B4-BE49-F238E27FC236}">
                <a16:creationId xmlns:a16="http://schemas.microsoft.com/office/drawing/2014/main" id="{CC4C7F81-4D65-B4BC-500A-2CEBBD0BE885}"/>
              </a:ext>
            </a:extLst>
          </p:cNvPr>
          <p:cNvSpPr txBox="1"/>
          <p:nvPr/>
        </p:nvSpPr>
        <p:spPr>
          <a:xfrm>
            <a:off x="17584" y="4394840"/>
            <a:ext cx="4677508" cy="363561"/>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9. Iterating Through Array Elements</a:t>
            </a:r>
          </a:p>
        </p:txBody>
      </p:sp>
      <p:sp>
        <p:nvSpPr>
          <p:cNvPr id="17" name="TextBox 16">
            <a:extLst>
              <a:ext uri="{FF2B5EF4-FFF2-40B4-BE49-F238E27FC236}">
                <a16:creationId xmlns:a16="http://schemas.microsoft.com/office/drawing/2014/main" id="{4509D3A0-F71C-E068-277A-FDE2775F5B40}"/>
              </a:ext>
            </a:extLst>
          </p:cNvPr>
          <p:cNvSpPr txBox="1"/>
          <p:nvPr/>
        </p:nvSpPr>
        <p:spPr>
          <a:xfrm>
            <a:off x="52754" y="4826675"/>
            <a:ext cx="4677508" cy="2031325"/>
          </a:xfrm>
          <a:prstGeom prst="rect">
            <a:avLst/>
          </a:prstGeom>
          <a:noFill/>
        </p:spPr>
        <p:txBody>
          <a:bodyPr wrap="square">
            <a:spAutoFit/>
          </a:bodyPr>
          <a:lstStyle/>
          <a:p>
            <a:r>
              <a:rPr lang="en-IN" dirty="0"/>
              <a:t>// Creating an Array and Initializing with Values</a:t>
            </a:r>
          </a:p>
          <a:p>
            <a:r>
              <a:rPr lang="en-IN" dirty="0"/>
              <a:t>let a = ["HTML", "CSS", "JS"];</a:t>
            </a:r>
          </a:p>
          <a:p>
            <a:endParaRPr lang="en-IN" dirty="0"/>
          </a:p>
          <a:p>
            <a:r>
              <a:rPr lang="en-IN" dirty="0"/>
              <a:t>// Iterating through for loop</a:t>
            </a:r>
          </a:p>
          <a:p>
            <a:r>
              <a:rPr lang="en-IN" dirty="0"/>
              <a:t>for (let </a:t>
            </a:r>
            <a:r>
              <a:rPr lang="en-IN" dirty="0" err="1"/>
              <a:t>i</a:t>
            </a:r>
            <a:r>
              <a:rPr lang="en-IN" dirty="0"/>
              <a:t> = 0; </a:t>
            </a:r>
            <a:r>
              <a:rPr lang="en-IN" dirty="0" err="1"/>
              <a:t>i</a:t>
            </a:r>
            <a:r>
              <a:rPr lang="en-IN" dirty="0"/>
              <a:t> &lt; </a:t>
            </a:r>
            <a:r>
              <a:rPr lang="en-IN" dirty="0" err="1"/>
              <a:t>a.length</a:t>
            </a:r>
            <a:r>
              <a:rPr lang="en-IN" dirty="0"/>
              <a:t>; </a:t>
            </a:r>
            <a:r>
              <a:rPr lang="en-IN" dirty="0" err="1"/>
              <a:t>i</a:t>
            </a:r>
            <a:r>
              <a:rPr lang="en-IN" dirty="0"/>
              <a:t>++) {</a:t>
            </a:r>
          </a:p>
          <a:p>
            <a:r>
              <a:rPr lang="en-IN" dirty="0"/>
              <a:t>    console.log(a[</a:t>
            </a:r>
            <a:r>
              <a:rPr lang="en-IN" dirty="0" err="1"/>
              <a:t>i</a:t>
            </a:r>
            <a:r>
              <a:rPr lang="en-IN" dirty="0"/>
              <a:t>])</a:t>
            </a:r>
          </a:p>
          <a:p>
            <a:r>
              <a:rPr lang="en-IN" dirty="0"/>
              <a:t>}</a:t>
            </a:r>
          </a:p>
        </p:txBody>
      </p:sp>
      <p:sp>
        <p:nvSpPr>
          <p:cNvPr id="20" name="TextBox 19">
            <a:extLst>
              <a:ext uri="{FF2B5EF4-FFF2-40B4-BE49-F238E27FC236}">
                <a16:creationId xmlns:a16="http://schemas.microsoft.com/office/drawing/2014/main" id="{F50E4FD5-9404-0061-7692-257DB053AB2C}"/>
              </a:ext>
            </a:extLst>
          </p:cNvPr>
          <p:cNvSpPr txBox="1"/>
          <p:nvPr/>
        </p:nvSpPr>
        <p:spPr>
          <a:xfrm>
            <a:off x="4730262" y="4726916"/>
            <a:ext cx="4677508" cy="369332"/>
          </a:xfrm>
          <a:prstGeom prst="rect">
            <a:avLst/>
          </a:prstGeom>
          <a:noFill/>
        </p:spPr>
        <p:txBody>
          <a:bodyPr wrap="square">
            <a:spAutoFit/>
          </a:bodyPr>
          <a:lstStyle/>
          <a:p>
            <a:r>
              <a:rPr lang="en-IN" b="1"/>
              <a:t>10.join()</a:t>
            </a:r>
            <a:endParaRPr lang="en-IN" b="1" dirty="0"/>
          </a:p>
        </p:txBody>
      </p:sp>
      <p:sp>
        <p:nvSpPr>
          <p:cNvPr id="22" name="TextBox 21">
            <a:extLst>
              <a:ext uri="{FF2B5EF4-FFF2-40B4-BE49-F238E27FC236}">
                <a16:creationId xmlns:a16="http://schemas.microsoft.com/office/drawing/2014/main" id="{7E372263-1E81-8447-CFB1-1ED92A13B283}"/>
              </a:ext>
            </a:extLst>
          </p:cNvPr>
          <p:cNvSpPr txBox="1"/>
          <p:nvPr/>
        </p:nvSpPr>
        <p:spPr>
          <a:xfrm>
            <a:off x="4633545" y="5070848"/>
            <a:ext cx="4731656" cy="1200329"/>
          </a:xfrm>
          <a:prstGeom prst="rect">
            <a:avLst/>
          </a:prstGeom>
          <a:noFill/>
        </p:spPr>
        <p:txBody>
          <a:bodyPr wrap="square">
            <a:spAutoFit/>
          </a:bodyPr>
          <a:lstStyle/>
          <a:p>
            <a:r>
              <a:rPr lang="en-IN" dirty="0"/>
              <a:t>// The Connector</a:t>
            </a:r>
          </a:p>
          <a:p>
            <a:r>
              <a:rPr lang="en-IN" dirty="0" err="1"/>
              <a:t>const</a:t>
            </a:r>
            <a:r>
              <a:rPr lang="en-IN" dirty="0"/>
              <a:t> words = ['I', 'love', 'JS'];</a:t>
            </a:r>
          </a:p>
          <a:p>
            <a:r>
              <a:rPr lang="en-IN" dirty="0" err="1"/>
              <a:t>const</a:t>
            </a:r>
            <a:r>
              <a:rPr lang="en-IN" dirty="0"/>
              <a:t> sentence = </a:t>
            </a:r>
            <a:r>
              <a:rPr lang="en-IN" dirty="0" err="1"/>
              <a:t>words.join</a:t>
            </a:r>
            <a:r>
              <a:rPr lang="en-IN" dirty="0"/>
              <a:t>(" ❤️ "); </a:t>
            </a:r>
          </a:p>
          <a:p>
            <a:r>
              <a:rPr lang="en-IN" dirty="0"/>
              <a:t>// Result: "I ❤️ love ❤️ JS"</a:t>
            </a:r>
          </a:p>
        </p:txBody>
      </p:sp>
    </p:spTree>
    <p:extLst>
      <p:ext uri="{BB962C8B-B14F-4D97-AF65-F5344CB8AC3E}">
        <p14:creationId xmlns:p14="http://schemas.microsoft.com/office/powerpoint/2010/main" val="1703225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AD661FF-2F12-23E9-8B3F-1DCD5C53FB89}"/>
              </a:ext>
            </a:extLst>
          </p:cNvPr>
          <p:cNvSpPr>
            <a:spLocks noGrp="1"/>
          </p:cNvSpPr>
          <p:nvPr>
            <p:ph type="ftr" sz="quarter" idx="11"/>
          </p:nvPr>
        </p:nvSpPr>
        <p:spPr/>
        <p:txBody>
          <a:bodyPr/>
          <a:lstStyle/>
          <a:p>
            <a:r>
              <a:rPr lang="en-US"/>
              <a:t>MPEC2026</a:t>
            </a:r>
            <a:endParaRPr lang="en-US" dirty="0"/>
          </a:p>
        </p:txBody>
      </p:sp>
      <p:sp>
        <p:nvSpPr>
          <p:cNvPr id="5" name="Slide Number Placeholder 4">
            <a:extLst>
              <a:ext uri="{FF2B5EF4-FFF2-40B4-BE49-F238E27FC236}">
                <a16:creationId xmlns:a16="http://schemas.microsoft.com/office/drawing/2014/main" id="{9B8C6C79-482A-2EC2-C10D-3549B4E24280}"/>
              </a:ext>
            </a:extLst>
          </p:cNvPr>
          <p:cNvSpPr>
            <a:spLocks noGrp="1"/>
          </p:cNvSpPr>
          <p:nvPr>
            <p:ph type="sldNum" sz="quarter" idx="12"/>
          </p:nvPr>
        </p:nvSpPr>
        <p:spPr/>
        <p:txBody>
          <a:bodyPr>
            <a:normAutofit fontScale="85000" lnSpcReduction="20000"/>
          </a:bodyPr>
          <a:lstStyle/>
          <a:p>
            <a:fld id="{CB779743-7B81-4FB7-A3E2-1ACEC99CD8CF}" type="slidenum">
              <a:rPr lang="en-US" smtClean="0"/>
              <a:t>17</a:t>
            </a:fld>
            <a:endParaRPr lang="en-US"/>
          </a:p>
        </p:txBody>
      </p:sp>
      <p:sp>
        <p:nvSpPr>
          <p:cNvPr id="7" name="TextBox 6">
            <a:extLst>
              <a:ext uri="{FF2B5EF4-FFF2-40B4-BE49-F238E27FC236}">
                <a16:creationId xmlns:a16="http://schemas.microsoft.com/office/drawing/2014/main" id="{5A724B43-77AC-7ECC-3D06-0B42406A2FAE}"/>
              </a:ext>
            </a:extLst>
          </p:cNvPr>
          <p:cNvSpPr txBox="1"/>
          <p:nvPr/>
        </p:nvSpPr>
        <p:spPr>
          <a:xfrm>
            <a:off x="0" y="908027"/>
            <a:ext cx="4572000" cy="363561"/>
          </a:xfrm>
          <a:prstGeom prst="rect">
            <a:avLst/>
          </a:prstGeom>
          <a:noFill/>
        </p:spPr>
        <p:txBody>
          <a:bodyPr wrap="square">
            <a:spAutoFit/>
          </a:bodyPr>
          <a:lstStyle/>
          <a:p>
            <a:pPr algn="l" fontAlgn="base">
              <a:lnSpc>
                <a:spcPts val="2100"/>
              </a:lnSpc>
              <a:spcBef>
                <a:spcPts val="1800"/>
              </a:spcBef>
              <a:spcAft>
                <a:spcPts val="1800"/>
              </a:spcAft>
              <a:buNone/>
            </a:pPr>
            <a:r>
              <a:rPr lang="en-IN" b="1" i="0" dirty="0">
                <a:solidFill>
                  <a:srgbClr val="273239"/>
                </a:solidFill>
                <a:effectLst/>
                <a:latin typeface="Nunito" pitchFamily="2" charset="0"/>
              </a:rPr>
              <a:t>11. Array Concatenation</a:t>
            </a:r>
          </a:p>
        </p:txBody>
      </p:sp>
      <p:sp>
        <p:nvSpPr>
          <p:cNvPr id="9" name="TextBox 8">
            <a:extLst>
              <a:ext uri="{FF2B5EF4-FFF2-40B4-BE49-F238E27FC236}">
                <a16:creationId xmlns:a16="http://schemas.microsoft.com/office/drawing/2014/main" id="{EB53C5C9-2F9F-8B9F-6258-CECA99F2E779}"/>
              </a:ext>
            </a:extLst>
          </p:cNvPr>
          <p:cNvSpPr txBox="1"/>
          <p:nvPr/>
        </p:nvSpPr>
        <p:spPr>
          <a:xfrm>
            <a:off x="0" y="1516063"/>
            <a:ext cx="4598376" cy="2862322"/>
          </a:xfrm>
          <a:prstGeom prst="rect">
            <a:avLst/>
          </a:prstGeom>
          <a:noFill/>
        </p:spPr>
        <p:txBody>
          <a:bodyPr wrap="square">
            <a:spAutoFit/>
          </a:bodyPr>
          <a:lstStyle/>
          <a:p>
            <a:r>
              <a:rPr lang="en-IN" dirty="0"/>
              <a:t>// Creating an Array and Initializing with Values</a:t>
            </a:r>
          </a:p>
          <a:p>
            <a:r>
              <a:rPr lang="en-IN" dirty="0"/>
              <a:t>let a = ["HTML", "CSS", "JS", "React"];</a:t>
            </a:r>
          </a:p>
          <a:p>
            <a:r>
              <a:rPr lang="en-IN" dirty="0"/>
              <a:t>let b = ["Node.js", "Expess.js"];</a:t>
            </a:r>
          </a:p>
          <a:p>
            <a:endParaRPr lang="en-IN" dirty="0"/>
          </a:p>
          <a:p>
            <a:r>
              <a:rPr lang="en-IN" dirty="0"/>
              <a:t>// Concatenate both arrays</a:t>
            </a:r>
          </a:p>
          <a:p>
            <a:r>
              <a:rPr lang="en-IN" dirty="0"/>
              <a:t>let </a:t>
            </a:r>
            <a:r>
              <a:rPr lang="en-IN" dirty="0" err="1"/>
              <a:t>concateArray</a:t>
            </a:r>
            <a:r>
              <a:rPr lang="en-IN" dirty="0"/>
              <a:t> = </a:t>
            </a:r>
            <a:r>
              <a:rPr lang="en-IN" dirty="0" err="1"/>
              <a:t>a.concat</a:t>
            </a:r>
            <a:r>
              <a:rPr lang="en-IN" dirty="0"/>
              <a:t>(b);</a:t>
            </a:r>
          </a:p>
          <a:p>
            <a:endParaRPr lang="en-IN" dirty="0"/>
          </a:p>
          <a:p>
            <a:r>
              <a:rPr lang="en-IN" dirty="0"/>
              <a:t>console.log("Concatenated Array: ", </a:t>
            </a:r>
            <a:r>
              <a:rPr lang="en-IN" dirty="0" err="1"/>
              <a:t>concateArray</a:t>
            </a:r>
            <a:r>
              <a:rPr lang="en-IN" dirty="0"/>
              <a:t>);</a:t>
            </a:r>
          </a:p>
        </p:txBody>
      </p:sp>
    </p:spTree>
    <p:extLst>
      <p:ext uri="{BB962C8B-B14F-4D97-AF65-F5344CB8AC3E}">
        <p14:creationId xmlns:p14="http://schemas.microsoft.com/office/powerpoint/2010/main" val="36917509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DD7B701-F9ED-6CF3-AA56-5D0F3439727F}"/>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A66565AB-C573-26D0-409D-61C2D273CA34}"/>
              </a:ext>
            </a:extLst>
          </p:cNvPr>
          <p:cNvSpPr>
            <a:spLocks noGrp="1"/>
          </p:cNvSpPr>
          <p:nvPr>
            <p:ph type="sldNum" sz="quarter" idx="12"/>
          </p:nvPr>
        </p:nvSpPr>
        <p:spPr/>
        <p:txBody>
          <a:bodyPr/>
          <a:lstStyle/>
          <a:p>
            <a:fld id="{CB779743-7B81-4FB7-A3E2-1ACEC99CD8CF}" type="slidenum">
              <a:rPr lang="en-US" smtClean="0"/>
              <a:t>18</a:t>
            </a:fld>
            <a:endParaRPr lang="en-US"/>
          </a:p>
        </p:txBody>
      </p:sp>
      <p:sp>
        <p:nvSpPr>
          <p:cNvPr id="5" name="TextBox 4">
            <a:extLst>
              <a:ext uri="{FF2B5EF4-FFF2-40B4-BE49-F238E27FC236}">
                <a16:creationId xmlns:a16="http://schemas.microsoft.com/office/drawing/2014/main" id="{6C6CFB42-7A3F-3AC8-E463-58ED9B4D21D8}"/>
              </a:ext>
            </a:extLst>
          </p:cNvPr>
          <p:cNvSpPr txBox="1"/>
          <p:nvPr/>
        </p:nvSpPr>
        <p:spPr>
          <a:xfrm>
            <a:off x="5862" y="59809"/>
            <a:ext cx="4572000" cy="369332"/>
          </a:xfrm>
          <a:prstGeom prst="rect">
            <a:avLst/>
          </a:prstGeom>
          <a:noFill/>
        </p:spPr>
        <p:txBody>
          <a:bodyPr wrap="square">
            <a:spAutoFit/>
          </a:bodyPr>
          <a:lstStyle/>
          <a:p>
            <a:r>
              <a:rPr lang="en-IN" dirty="0"/>
              <a:t>3. Searching and Finding</a:t>
            </a:r>
          </a:p>
        </p:txBody>
      </p:sp>
      <p:sp>
        <p:nvSpPr>
          <p:cNvPr id="7" name="TextBox 6">
            <a:extLst>
              <a:ext uri="{FF2B5EF4-FFF2-40B4-BE49-F238E27FC236}">
                <a16:creationId xmlns:a16="http://schemas.microsoft.com/office/drawing/2014/main" id="{E72D7AE1-2286-E2E2-58E4-8006DE6CAD64}"/>
              </a:ext>
            </a:extLst>
          </p:cNvPr>
          <p:cNvSpPr txBox="1"/>
          <p:nvPr/>
        </p:nvSpPr>
        <p:spPr>
          <a:xfrm>
            <a:off x="35168" y="464310"/>
            <a:ext cx="7584831" cy="3693319"/>
          </a:xfrm>
          <a:prstGeom prst="rect">
            <a:avLst/>
          </a:prstGeom>
          <a:noFill/>
        </p:spPr>
        <p:txBody>
          <a:bodyPr wrap="square">
            <a:spAutoFit/>
          </a:bodyPr>
          <a:lstStyle/>
          <a:p>
            <a:r>
              <a:rPr lang="en-IN" dirty="0" err="1"/>
              <a:t>const</a:t>
            </a:r>
            <a:r>
              <a:rPr lang="en-IN" dirty="0"/>
              <a:t> users = [</a:t>
            </a:r>
          </a:p>
          <a:p>
            <a:r>
              <a:rPr lang="en-IN" dirty="0"/>
              <a:t>  { id: 1, name: 'Alice' },</a:t>
            </a:r>
          </a:p>
          <a:p>
            <a:r>
              <a:rPr lang="en-IN" dirty="0"/>
              <a:t>  { id: 2, name: 'Bob' }</a:t>
            </a:r>
          </a:p>
          <a:p>
            <a:r>
              <a:rPr lang="en-IN" dirty="0"/>
              <a:t>];</a:t>
            </a:r>
          </a:p>
          <a:p>
            <a:endParaRPr lang="en-IN" dirty="0"/>
          </a:p>
          <a:p>
            <a:r>
              <a:rPr lang="en-IN" dirty="0"/>
              <a:t>// find: Returns the first object that matches</a:t>
            </a:r>
          </a:p>
          <a:p>
            <a:r>
              <a:rPr lang="en-IN" dirty="0" err="1"/>
              <a:t>const</a:t>
            </a:r>
            <a:r>
              <a:rPr lang="en-IN" dirty="0"/>
              <a:t> bob = </a:t>
            </a:r>
            <a:r>
              <a:rPr lang="en-IN" dirty="0" err="1"/>
              <a:t>users.find</a:t>
            </a:r>
            <a:r>
              <a:rPr lang="en-IN" dirty="0"/>
              <a:t>(user =&gt; user.name === 'Bob'); // { id: 2, name: 'Bob' }</a:t>
            </a:r>
          </a:p>
          <a:p>
            <a:endParaRPr lang="en-IN" dirty="0"/>
          </a:p>
          <a:p>
            <a:r>
              <a:rPr lang="en-IN" dirty="0"/>
              <a:t>// </a:t>
            </a:r>
            <a:r>
              <a:rPr lang="en-IN" dirty="0" err="1"/>
              <a:t>findIndex</a:t>
            </a:r>
            <a:r>
              <a:rPr lang="en-IN" dirty="0"/>
              <a:t>: Where is Bob?</a:t>
            </a:r>
          </a:p>
          <a:p>
            <a:r>
              <a:rPr lang="en-IN" dirty="0" err="1"/>
              <a:t>const</a:t>
            </a:r>
            <a:r>
              <a:rPr lang="en-IN" dirty="0"/>
              <a:t> </a:t>
            </a:r>
            <a:r>
              <a:rPr lang="en-IN" dirty="0" err="1"/>
              <a:t>bobIndex</a:t>
            </a:r>
            <a:r>
              <a:rPr lang="en-IN" dirty="0"/>
              <a:t> = </a:t>
            </a:r>
            <a:r>
              <a:rPr lang="en-IN" dirty="0" err="1"/>
              <a:t>users.findIndex</a:t>
            </a:r>
            <a:r>
              <a:rPr lang="en-IN" dirty="0"/>
              <a:t>(user =&gt; user.name === 'Bob'); // 1</a:t>
            </a:r>
          </a:p>
          <a:p>
            <a:endParaRPr lang="en-IN" dirty="0"/>
          </a:p>
          <a:p>
            <a:r>
              <a:rPr lang="en-IN" dirty="0"/>
              <a:t>// includes: Simple true/false check</a:t>
            </a:r>
          </a:p>
          <a:p>
            <a:r>
              <a:rPr lang="en-IN" dirty="0" err="1"/>
              <a:t>const</a:t>
            </a:r>
            <a:r>
              <a:rPr lang="en-IN" dirty="0"/>
              <a:t> </a:t>
            </a:r>
            <a:r>
              <a:rPr lang="en-IN" dirty="0" err="1"/>
              <a:t>hasApple</a:t>
            </a:r>
            <a:r>
              <a:rPr lang="en-IN" dirty="0"/>
              <a:t> = ['apple', 'pear'].includes('apple'); // true</a:t>
            </a:r>
          </a:p>
        </p:txBody>
      </p:sp>
    </p:spTree>
    <p:extLst>
      <p:ext uri="{BB962C8B-B14F-4D97-AF65-F5344CB8AC3E}">
        <p14:creationId xmlns:p14="http://schemas.microsoft.com/office/powerpoint/2010/main" val="9403715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86A7389-6EE2-9609-6C1D-35482A79DF95}"/>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09C8B7B4-169B-3DF6-B3C1-A1DF52B324DE}"/>
              </a:ext>
            </a:extLst>
          </p:cNvPr>
          <p:cNvSpPr>
            <a:spLocks noGrp="1"/>
          </p:cNvSpPr>
          <p:nvPr>
            <p:ph type="sldNum" sz="quarter" idx="12"/>
          </p:nvPr>
        </p:nvSpPr>
        <p:spPr/>
        <p:txBody>
          <a:bodyPr/>
          <a:lstStyle/>
          <a:p>
            <a:fld id="{CB779743-7B81-4FB7-A3E2-1ACEC99CD8CF}" type="slidenum">
              <a:rPr lang="en-US" smtClean="0"/>
              <a:t>19</a:t>
            </a:fld>
            <a:endParaRPr lang="en-US"/>
          </a:p>
        </p:txBody>
      </p:sp>
      <p:sp>
        <p:nvSpPr>
          <p:cNvPr id="5" name="TextBox 4">
            <a:extLst>
              <a:ext uri="{FF2B5EF4-FFF2-40B4-BE49-F238E27FC236}">
                <a16:creationId xmlns:a16="http://schemas.microsoft.com/office/drawing/2014/main" id="{3DE2FD95-0F95-CBB8-0243-8B50C9A9D00C}"/>
              </a:ext>
            </a:extLst>
          </p:cNvPr>
          <p:cNvSpPr txBox="1"/>
          <p:nvPr/>
        </p:nvSpPr>
        <p:spPr>
          <a:xfrm>
            <a:off x="5862" y="580536"/>
            <a:ext cx="4572000" cy="450764"/>
          </a:xfrm>
          <a:prstGeom prst="rect">
            <a:avLst/>
          </a:prstGeom>
          <a:noFill/>
        </p:spPr>
        <p:txBody>
          <a:bodyPr wrap="square">
            <a:spAutoFit/>
          </a:bodyPr>
          <a:lstStyle/>
          <a:p>
            <a:pPr algn="l">
              <a:lnSpc>
                <a:spcPts val="2625"/>
              </a:lnSpc>
              <a:buNone/>
            </a:pPr>
            <a:r>
              <a:rPr lang="en-IN" sz="3200" b="1" i="0" dirty="0">
                <a:solidFill>
                  <a:srgbClr val="273239"/>
                </a:solidFill>
                <a:effectLst/>
                <a:latin typeface="Source Sans 3"/>
              </a:rPr>
              <a:t>Asynchronous JavaScript</a:t>
            </a:r>
          </a:p>
        </p:txBody>
      </p:sp>
      <p:sp>
        <p:nvSpPr>
          <p:cNvPr id="7" name="TextBox 6">
            <a:extLst>
              <a:ext uri="{FF2B5EF4-FFF2-40B4-BE49-F238E27FC236}">
                <a16:creationId xmlns:a16="http://schemas.microsoft.com/office/drawing/2014/main" id="{96F527C8-0C7C-1105-BF6E-372A96876E7E}"/>
              </a:ext>
            </a:extLst>
          </p:cNvPr>
          <p:cNvSpPr txBox="1"/>
          <p:nvPr/>
        </p:nvSpPr>
        <p:spPr>
          <a:xfrm>
            <a:off x="118697" y="1897098"/>
            <a:ext cx="8531468" cy="4154984"/>
          </a:xfrm>
          <a:prstGeom prst="rect">
            <a:avLst/>
          </a:prstGeom>
          <a:noFill/>
        </p:spPr>
        <p:txBody>
          <a:bodyPr wrap="square">
            <a:spAutoFit/>
          </a:bodyPr>
          <a:lstStyle/>
          <a:p>
            <a:r>
              <a:rPr lang="en-US" sz="2400" b="0" i="0" dirty="0">
                <a:solidFill>
                  <a:srgbClr val="273239"/>
                </a:solidFill>
                <a:effectLst/>
                <a:latin typeface="Nunito" pitchFamily="2" charset="0"/>
              </a:rPr>
              <a:t>Asynchronous JavaScript is a programming approach that enables the non-blocking execution of tasks, allowing concurrent operations, improved responsiveness, and efficient handling of time-consuming operations in web applications, JavaScript is a single-threaded and synchronous language. The code is executed in order one at a time, But </a:t>
            </a:r>
            <a:r>
              <a:rPr lang="en-US" sz="2400" b="0" i="0" dirty="0" err="1">
                <a:solidFill>
                  <a:srgbClr val="273239"/>
                </a:solidFill>
                <a:effectLst/>
                <a:latin typeface="Nunito" pitchFamily="2" charset="0"/>
              </a:rPr>
              <a:t>Javascript</a:t>
            </a:r>
            <a:r>
              <a:rPr lang="en-US" sz="2400" b="0" i="0" dirty="0">
                <a:solidFill>
                  <a:srgbClr val="273239"/>
                </a:solidFill>
                <a:effectLst/>
                <a:latin typeface="Nunito" pitchFamily="2" charset="0"/>
              </a:rPr>
              <a:t> may appear to be asynchronous in some situations.</a:t>
            </a:r>
            <a:r>
              <a:rPr lang="en-US" sz="2400" dirty="0">
                <a:solidFill>
                  <a:srgbClr val="273239"/>
                </a:solidFill>
                <a:latin typeface="Nunito" pitchFamily="2" charset="0"/>
              </a:rPr>
              <a:t> here are several methods that can be used to perform asynchronous </a:t>
            </a:r>
            <a:r>
              <a:rPr lang="en-US" sz="2400" dirty="0" err="1">
                <a:solidFill>
                  <a:srgbClr val="273239"/>
                </a:solidFill>
                <a:latin typeface="Nunito" pitchFamily="2" charset="0"/>
              </a:rPr>
              <a:t>javascript</a:t>
            </a:r>
            <a:r>
              <a:rPr lang="en-US" sz="2400" dirty="0">
                <a:solidFill>
                  <a:srgbClr val="273239"/>
                </a:solidFill>
                <a:latin typeface="Nunito" pitchFamily="2" charset="0"/>
              </a:rPr>
              <a:t> tasks, which are listed below:</a:t>
            </a:r>
            <a:endParaRPr lang="en-IN" sz="2400" dirty="0"/>
          </a:p>
          <a:p>
            <a:endParaRPr lang="en-IN" sz="2400" dirty="0"/>
          </a:p>
        </p:txBody>
      </p:sp>
      <p:sp>
        <p:nvSpPr>
          <p:cNvPr id="9" name="TextBox 8">
            <a:extLst>
              <a:ext uri="{FF2B5EF4-FFF2-40B4-BE49-F238E27FC236}">
                <a16:creationId xmlns:a16="http://schemas.microsoft.com/office/drawing/2014/main" id="{9F315B16-EF41-A716-1BE4-F53300CF79A8}"/>
              </a:ext>
            </a:extLst>
          </p:cNvPr>
          <p:cNvSpPr txBox="1"/>
          <p:nvPr/>
        </p:nvSpPr>
        <p:spPr>
          <a:xfrm>
            <a:off x="5862" y="1880644"/>
            <a:ext cx="8757138" cy="369332"/>
          </a:xfrm>
          <a:prstGeom prst="rect">
            <a:avLst/>
          </a:prstGeom>
          <a:noFill/>
        </p:spPr>
        <p:txBody>
          <a:bodyPr wrap="square">
            <a:spAutoFit/>
          </a:bodyPr>
          <a:lstStyle/>
          <a:p>
            <a:r>
              <a:rPr lang="en-US" b="0" i="0" dirty="0">
                <a:solidFill>
                  <a:srgbClr val="273239"/>
                </a:solidFill>
                <a:effectLst/>
                <a:latin typeface="Nunito" pitchFamily="2" charset="0"/>
              </a:rPr>
              <a:t>T</a:t>
            </a:r>
            <a:endParaRPr lang="en-IN" dirty="0"/>
          </a:p>
        </p:txBody>
      </p:sp>
    </p:spTree>
    <p:extLst>
      <p:ext uri="{BB962C8B-B14F-4D97-AF65-F5344CB8AC3E}">
        <p14:creationId xmlns:p14="http://schemas.microsoft.com/office/powerpoint/2010/main" val="958698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AF47A4D-07E5-EFB5-A599-5AE6A2C7FC13}"/>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BC56C2BC-A566-8238-4799-09D0C80963F5}"/>
              </a:ext>
            </a:extLst>
          </p:cNvPr>
          <p:cNvSpPr>
            <a:spLocks noGrp="1"/>
          </p:cNvSpPr>
          <p:nvPr>
            <p:ph type="sldNum" sz="quarter" idx="12"/>
          </p:nvPr>
        </p:nvSpPr>
        <p:spPr/>
        <p:txBody>
          <a:bodyPr/>
          <a:lstStyle/>
          <a:p>
            <a:fld id="{CB779743-7B81-4FB7-A3E2-1ACEC99CD8CF}" type="slidenum">
              <a:rPr lang="en-US" smtClean="0"/>
              <a:t>20</a:t>
            </a:fld>
            <a:endParaRPr lang="en-US"/>
          </a:p>
        </p:txBody>
      </p:sp>
      <p:sp>
        <p:nvSpPr>
          <p:cNvPr id="5" name="TextBox 4">
            <a:extLst>
              <a:ext uri="{FF2B5EF4-FFF2-40B4-BE49-F238E27FC236}">
                <a16:creationId xmlns:a16="http://schemas.microsoft.com/office/drawing/2014/main" id="{83798802-3B00-D342-1599-6D9DCDDBF019}"/>
              </a:ext>
            </a:extLst>
          </p:cNvPr>
          <p:cNvSpPr txBox="1"/>
          <p:nvPr/>
        </p:nvSpPr>
        <p:spPr>
          <a:xfrm>
            <a:off x="0" y="42817"/>
            <a:ext cx="4572000" cy="403316"/>
          </a:xfrm>
          <a:prstGeom prst="rect">
            <a:avLst/>
          </a:prstGeom>
          <a:noFill/>
        </p:spPr>
        <p:txBody>
          <a:bodyPr wrap="square">
            <a:spAutoFit/>
          </a:bodyPr>
          <a:lstStyle/>
          <a:p>
            <a:pPr algn="l">
              <a:lnSpc>
                <a:spcPts val="2625"/>
              </a:lnSpc>
              <a:buNone/>
            </a:pPr>
            <a:r>
              <a:rPr lang="en-IN" b="1" i="0" dirty="0">
                <a:solidFill>
                  <a:srgbClr val="273239"/>
                </a:solidFill>
                <a:effectLst/>
                <a:latin typeface="Source Sans 3"/>
              </a:rPr>
              <a:t>JavaScript Callbacks</a:t>
            </a:r>
          </a:p>
        </p:txBody>
      </p:sp>
      <p:sp>
        <p:nvSpPr>
          <p:cNvPr id="7" name="TextBox 6">
            <a:extLst>
              <a:ext uri="{FF2B5EF4-FFF2-40B4-BE49-F238E27FC236}">
                <a16:creationId xmlns:a16="http://schemas.microsoft.com/office/drawing/2014/main" id="{37371116-E635-C7BE-877C-2AFE017C2E0F}"/>
              </a:ext>
            </a:extLst>
          </p:cNvPr>
          <p:cNvSpPr txBox="1"/>
          <p:nvPr/>
        </p:nvSpPr>
        <p:spPr>
          <a:xfrm>
            <a:off x="35169" y="1255559"/>
            <a:ext cx="9296400" cy="2041585"/>
          </a:xfrm>
          <a:prstGeom prst="rect">
            <a:avLst/>
          </a:prstGeom>
          <a:noFill/>
        </p:spPr>
        <p:txBody>
          <a:bodyPr wrap="square">
            <a:spAutoFit/>
          </a:bodyPr>
          <a:lstStyle/>
          <a:p>
            <a:pPr algn="l" rtl="0" fontAlgn="base">
              <a:spcAft>
                <a:spcPts val="750"/>
              </a:spcAft>
              <a:buNone/>
            </a:pPr>
            <a:r>
              <a:rPr lang="en-US" b="0" i="0" dirty="0">
                <a:solidFill>
                  <a:srgbClr val="273239"/>
                </a:solidFill>
                <a:effectLst/>
                <a:latin typeface="Nunito" pitchFamily="2" charset="0"/>
              </a:rPr>
              <a:t>A callback function is a function that is passed as an argument to another function and executed later.</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 function can accept another function as a parameter.</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Callbacks allow one function to call another at a later time.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 callback function can execute after another function has finished.</a:t>
            </a:r>
          </a:p>
        </p:txBody>
      </p:sp>
      <p:sp>
        <p:nvSpPr>
          <p:cNvPr id="9" name="TextBox 8">
            <a:extLst>
              <a:ext uri="{FF2B5EF4-FFF2-40B4-BE49-F238E27FC236}">
                <a16:creationId xmlns:a16="http://schemas.microsoft.com/office/drawing/2014/main" id="{010A92BC-F730-BD7B-9C1F-23DF6192B82A}"/>
              </a:ext>
            </a:extLst>
          </p:cNvPr>
          <p:cNvSpPr txBox="1"/>
          <p:nvPr/>
        </p:nvSpPr>
        <p:spPr>
          <a:xfrm>
            <a:off x="11723" y="3341611"/>
            <a:ext cx="4677508" cy="2862322"/>
          </a:xfrm>
          <a:prstGeom prst="rect">
            <a:avLst/>
          </a:prstGeom>
          <a:noFill/>
        </p:spPr>
        <p:txBody>
          <a:bodyPr wrap="square">
            <a:spAutoFit/>
          </a:bodyPr>
          <a:lstStyle/>
          <a:p>
            <a:r>
              <a:rPr lang="en-IN" b="1" dirty="0"/>
              <a:t>function greet(name, callback) {</a:t>
            </a:r>
          </a:p>
          <a:p>
            <a:r>
              <a:rPr lang="en-IN" b="1" dirty="0"/>
              <a:t>    console.log("Hello, " + name);</a:t>
            </a:r>
          </a:p>
          <a:p>
            <a:r>
              <a:rPr lang="en-IN" b="1" dirty="0"/>
              <a:t>    callback();</a:t>
            </a:r>
          </a:p>
          <a:p>
            <a:r>
              <a:rPr lang="en-IN" b="1" dirty="0"/>
              <a:t>}</a:t>
            </a:r>
          </a:p>
          <a:p>
            <a:endParaRPr lang="en-IN" b="1" dirty="0"/>
          </a:p>
          <a:p>
            <a:r>
              <a:rPr lang="en-IN" b="1" dirty="0"/>
              <a:t>function </a:t>
            </a:r>
            <a:r>
              <a:rPr lang="en-IN" b="1" dirty="0" err="1"/>
              <a:t>sayBye</a:t>
            </a:r>
            <a:r>
              <a:rPr lang="en-IN" b="1" dirty="0"/>
              <a:t>() {</a:t>
            </a:r>
          </a:p>
          <a:p>
            <a:r>
              <a:rPr lang="en-IN" b="1" dirty="0"/>
              <a:t>    console.log("Goodbye!");</a:t>
            </a:r>
          </a:p>
          <a:p>
            <a:r>
              <a:rPr lang="en-IN" b="1" dirty="0"/>
              <a:t>}</a:t>
            </a:r>
          </a:p>
          <a:p>
            <a:endParaRPr lang="en-IN" b="1" dirty="0"/>
          </a:p>
          <a:p>
            <a:r>
              <a:rPr lang="en-IN" b="1" dirty="0"/>
              <a:t>greet("Ajay", </a:t>
            </a:r>
            <a:r>
              <a:rPr lang="en-IN" b="1" dirty="0" err="1"/>
              <a:t>sayBye</a:t>
            </a:r>
            <a:r>
              <a:rPr lang="en-IN" b="1" dirty="0"/>
              <a:t>);</a:t>
            </a:r>
          </a:p>
        </p:txBody>
      </p:sp>
      <p:sp>
        <p:nvSpPr>
          <p:cNvPr id="11" name="TextBox 10">
            <a:extLst>
              <a:ext uri="{FF2B5EF4-FFF2-40B4-BE49-F238E27FC236}">
                <a16:creationId xmlns:a16="http://schemas.microsoft.com/office/drawing/2014/main" id="{5F0446A3-E5E1-126A-9DD8-2114D27D7F28}"/>
              </a:ext>
            </a:extLst>
          </p:cNvPr>
          <p:cNvSpPr txBox="1"/>
          <p:nvPr/>
        </p:nvSpPr>
        <p:spPr>
          <a:xfrm>
            <a:off x="17585" y="439952"/>
            <a:ext cx="8927123" cy="1426031"/>
          </a:xfrm>
          <a:prstGeom prst="rect">
            <a:avLst/>
          </a:prstGeom>
          <a:noFill/>
        </p:spPr>
        <p:txBody>
          <a:bodyPr wrap="square">
            <a:spAutoFit/>
          </a:bodyPr>
          <a:lstStyle/>
          <a:p>
            <a:pPr algn="l" rtl="0" fontAlgn="base">
              <a:spcAft>
                <a:spcPts val="750"/>
              </a:spcAft>
              <a:buNone/>
            </a:pPr>
            <a:r>
              <a:rPr lang="en-US" sz="1600" b="0" i="0" dirty="0">
                <a:solidFill>
                  <a:srgbClr val="273239"/>
                </a:solidFill>
                <a:effectLst/>
                <a:latin typeface="Nunito" pitchFamily="2" charset="0"/>
              </a:rPr>
              <a:t>Callbacks are functions passed as arguments to be executed after an asynchronous operation completes. They are used in asynchronous JavaScript to handle responses and ensure non-blocking execution,</a:t>
            </a:r>
          </a:p>
          <a:p>
            <a:pPr>
              <a:buNone/>
            </a:pPr>
            <a:br>
              <a:rPr lang="en-US" sz="1600" dirty="0"/>
            </a:br>
            <a:endParaRPr lang="en-IN" sz="1600" dirty="0"/>
          </a:p>
        </p:txBody>
      </p:sp>
      <p:sp>
        <p:nvSpPr>
          <p:cNvPr id="13" name="TextBox 12">
            <a:extLst>
              <a:ext uri="{FF2B5EF4-FFF2-40B4-BE49-F238E27FC236}">
                <a16:creationId xmlns:a16="http://schemas.microsoft.com/office/drawing/2014/main" id="{2DD1B36C-E665-C879-7820-6BBE4FC534A6}"/>
              </a:ext>
            </a:extLst>
          </p:cNvPr>
          <p:cNvSpPr txBox="1"/>
          <p:nvPr/>
        </p:nvSpPr>
        <p:spPr>
          <a:xfrm>
            <a:off x="3810000" y="4817239"/>
            <a:ext cx="4695092" cy="646331"/>
          </a:xfrm>
          <a:prstGeom prst="rect">
            <a:avLst/>
          </a:prstGeom>
          <a:noFill/>
        </p:spPr>
        <p:txBody>
          <a:bodyPr wrap="square">
            <a:spAutoFit/>
          </a:bodyPr>
          <a:lstStyle/>
          <a:p>
            <a:r>
              <a:rPr lang="en-US" b="0" i="0" dirty="0">
                <a:solidFill>
                  <a:srgbClr val="273239"/>
                </a:solidFill>
                <a:effectLst/>
                <a:latin typeface="Nunito" pitchFamily="2" charset="0"/>
              </a:rPr>
              <a:t>Here, </a:t>
            </a:r>
            <a:r>
              <a:rPr lang="en-US" b="0" i="0" dirty="0" err="1">
                <a:solidFill>
                  <a:srgbClr val="273239"/>
                </a:solidFill>
                <a:effectLst/>
                <a:latin typeface="Nunito" pitchFamily="2" charset="0"/>
              </a:rPr>
              <a:t>sayBye</a:t>
            </a:r>
            <a:r>
              <a:rPr lang="en-US" b="0" i="0" dirty="0">
                <a:solidFill>
                  <a:srgbClr val="273239"/>
                </a:solidFill>
                <a:effectLst/>
                <a:latin typeface="Nunito" pitchFamily="2" charset="0"/>
              </a:rPr>
              <a:t>() is passed as a callback to greet(), which executes after the greeting.</a:t>
            </a:r>
            <a:endParaRPr lang="en-IN" dirty="0"/>
          </a:p>
        </p:txBody>
      </p:sp>
    </p:spTree>
    <p:extLst>
      <p:ext uri="{BB962C8B-B14F-4D97-AF65-F5344CB8AC3E}">
        <p14:creationId xmlns:p14="http://schemas.microsoft.com/office/powerpoint/2010/main" val="24041959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275E73-A671-66C1-55D4-E2C0FCB8825D}"/>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DA6688A6-BF8E-3D58-AB08-2DC89A37841A}"/>
              </a:ext>
            </a:extLst>
          </p:cNvPr>
          <p:cNvSpPr>
            <a:spLocks noGrp="1"/>
          </p:cNvSpPr>
          <p:nvPr>
            <p:ph type="sldNum" sz="quarter" idx="12"/>
          </p:nvPr>
        </p:nvSpPr>
        <p:spPr/>
        <p:txBody>
          <a:bodyPr/>
          <a:lstStyle/>
          <a:p>
            <a:fld id="{CB779743-7B81-4FB7-A3E2-1ACEC99CD8CF}" type="slidenum">
              <a:rPr lang="en-US" smtClean="0"/>
              <a:t>21</a:t>
            </a:fld>
            <a:endParaRPr lang="en-US"/>
          </a:p>
        </p:txBody>
      </p:sp>
      <p:sp>
        <p:nvSpPr>
          <p:cNvPr id="5" name="TextBox 4">
            <a:extLst>
              <a:ext uri="{FF2B5EF4-FFF2-40B4-BE49-F238E27FC236}">
                <a16:creationId xmlns:a16="http://schemas.microsoft.com/office/drawing/2014/main" id="{EDDFF7A9-27FC-9780-A2B1-0B0B91FBAFB7}"/>
              </a:ext>
            </a:extLst>
          </p:cNvPr>
          <p:cNvSpPr txBox="1"/>
          <p:nvPr/>
        </p:nvSpPr>
        <p:spPr>
          <a:xfrm>
            <a:off x="0" y="652837"/>
            <a:ext cx="4572000" cy="2092881"/>
          </a:xfrm>
          <a:prstGeom prst="rect">
            <a:avLst/>
          </a:prstGeom>
          <a:noFill/>
        </p:spPr>
        <p:txBody>
          <a:bodyPr wrap="square">
            <a:spAutoFit/>
          </a:bodyPr>
          <a:lstStyle/>
          <a:p>
            <a:r>
              <a:rPr lang="en-IN" dirty="0"/>
              <a:t>console.log("Start");</a:t>
            </a:r>
          </a:p>
          <a:p>
            <a:r>
              <a:rPr lang="en-IN" dirty="0" err="1"/>
              <a:t>setTimeout</a:t>
            </a:r>
            <a:r>
              <a:rPr lang="en-IN" dirty="0"/>
              <a:t>(function () {</a:t>
            </a:r>
          </a:p>
          <a:p>
            <a:r>
              <a:rPr lang="en-IN" dirty="0"/>
              <a:t>    console.log("Inside </a:t>
            </a:r>
            <a:r>
              <a:rPr lang="en-IN" dirty="0" err="1"/>
              <a:t>setTimeout</a:t>
            </a:r>
            <a:r>
              <a:rPr lang="en-IN" dirty="0"/>
              <a:t>");</a:t>
            </a:r>
          </a:p>
          <a:p>
            <a:r>
              <a:rPr lang="en-IN" dirty="0"/>
              <a:t>}, 2000);</a:t>
            </a:r>
          </a:p>
          <a:p>
            <a:r>
              <a:rPr lang="en-IN" dirty="0"/>
              <a:t>console.log("End");</a:t>
            </a:r>
          </a:p>
          <a:p>
            <a:r>
              <a:rPr lang="en-IN" sz="4000" dirty="0"/>
              <a:t>CODE-</a:t>
            </a:r>
          </a:p>
        </p:txBody>
      </p:sp>
      <p:sp>
        <p:nvSpPr>
          <p:cNvPr id="7" name="TextBox 6">
            <a:extLst>
              <a:ext uri="{FF2B5EF4-FFF2-40B4-BE49-F238E27FC236}">
                <a16:creationId xmlns:a16="http://schemas.microsoft.com/office/drawing/2014/main" id="{25170477-FC2E-8A72-3C00-4D1E0D9228FA}"/>
              </a:ext>
            </a:extLst>
          </p:cNvPr>
          <p:cNvSpPr txBox="1"/>
          <p:nvPr/>
        </p:nvSpPr>
        <p:spPr>
          <a:xfrm>
            <a:off x="-49822" y="323533"/>
            <a:ext cx="4598376" cy="369332"/>
          </a:xfrm>
          <a:prstGeom prst="rect">
            <a:avLst/>
          </a:prstGeom>
          <a:noFill/>
        </p:spPr>
        <p:txBody>
          <a:bodyPr wrap="square">
            <a:spAutoFit/>
          </a:bodyPr>
          <a:lstStyle/>
          <a:p>
            <a:r>
              <a:rPr lang="en-IN" b="1" i="0" dirty="0">
                <a:solidFill>
                  <a:srgbClr val="273239"/>
                </a:solidFill>
                <a:effectLst/>
                <a:latin typeface="Nunito" pitchFamily="2" charset="0"/>
              </a:rPr>
              <a:t>Callbacks for Asynchronous Execution</a:t>
            </a:r>
            <a:endParaRPr lang="en-IN" dirty="0"/>
          </a:p>
        </p:txBody>
      </p:sp>
      <p:sp>
        <p:nvSpPr>
          <p:cNvPr id="8" name="Rectangle 1">
            <a:extLst>
              <a:ext uri="{FF2B5EF4-FFF2-40B4-BE49-F238E27FC236}">
                <a16:creationId xmlns:a16="http://schemas.microsoft.com/office/drawing/2014/main" id="{D8A26FB7-CD9E-E550-D3AE-FAACAA2A2AB0}"/>
              </a:ext>
            </a:extLst>
          </p:cNvPr>
          <p:cNvSpPr>
            <a:spLocks noChangeArrowheads="1"/>
          </p:cNvSpPr>
          <p:nvPr/>
        </p:nvSpPr>
        <p:spPr bwMode="auto">
          <a:xfrm>
            <a:off x="49822" y="4423101"/>
            <a:ext cx="8893421" cy="70967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14245" rIns="0" bIns="21424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ectangle 2">
            <a:extLst>
              <a:ext uri="{FF2B5EF4-FFF2-40B4-BE49-F238E27FC236}">
                <a16:creationId xmlns:a16="http://schemas.microsoft.com/office/drawing/2014/main" id="{63ED7282-7E21-F53D-A585-933B113CD8DE}"/>
              </a:ext>
            </a:extLst>
          </p:cNvPr>
          <p:cNvSpPr>
            <a:spLocks noChangeArrowheads="1"/>
          </p:cNvSpPr>
          <p:nvPr/>
        </p:nvSpPr>
        <p:spPr bwMode="auto">
          <a:xfrm>
            <a:off x="49822" y="3886200"/>
            <a:ext cx="41370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D1562B19-3ACB-93DA-7F12-A41ED8B856E6}"/>
              </a:ext>
            </a:extLst>
          </p:cNvPr>
          <p:cNvSpPr txBox="1"/>
          <p:nvPr/>
        </p:nvSpPr>
        <p:spPr>
          <a:xfrm>
            <a:off x="533400" y="2839145"/>
            <a:ext cx="4651130" cy="3416320"/>
          </a:xfrm>
          <a:prstGeom prst="rect">
            <a:avLst/>
          </a:prstGeom>
          <a:noFill/>
        </p:spPr>
        <p:txBody>
          <a:bodyPr wrap="square">
            <a:spAutoFit/>
          </a:bodyPr>
          <a:lstStyle/>
          <a:p>
            <a:r>
              <a:rPr lang="en-IN" dirty="0"/>
              <a:t>function calc(a, b, callback) {</a:t>
            </a:r>
          </a:p>
          <a:p>
            <a:r>
              <a:rPr lang="en-IN" dirty="0"/>
              <a:t>    return callback(a, b);</a:t>
            </a:r>
          </a:p>
          <a:p>
            <a:r>
              <a:rPr lang="en-IN" dirty="0"/>
              <a:t>}</a:t>
            </a:r>
          </a:p>
          <a:p>
            <a:r>
              <a:rPr lang="en-IN" dirty="0"/>
              <a:t>function add(x, y) {</a:t>
            </a:r>
          </a:p>
          <a:p>
            <a:r>
              <a:rPr lang="en-IN" dirty="0"/>
              <a:t>    return x + y;</a:t>
            </a:r>
          </a:p>
          <a:p>
            <a:r>
              <a:rPr lang="en-IN" dirty="0"/>
              <a:t>}</a:t>
            </a:r>
          </a:p>
          <a:p>
            <a:r>
              <a:rPr lang="en-IN" dirty="0"/>
              <a:t>function </a:t>
            </a:r>
            <a:r>
              <a:rPr lang="en-IN" dirty="0" err="1"/>
              <a:t>mul</a:t>
            </a:r>
            <a:r>
              <a:rPr lang="en-IN" dirty="0"/>
              <a:t>(x, y) {</a:t>
            </a:r>
          </a:p>
          <a:p>
            <a:r>
              <a:rPr lang="en-IN" dirty="0"/>
              <a:t>    return x * y;</a:t>
            </a:r>
          </a:p>
          <a:p>
            <a:r>
              <a:rPr lang="en-IN" dirty="0"/>
              <a:t>}</a:t>
            </a:r>
          </a:p>
          <a:p>
            <a:endParaRPr lang="en-IN" dirty="0"/>
          </a:p>
          <a:p>
            <a:r>
              <a:rPr lang="en-IN" dirty="0"/>
              <a:t>console.log(calc(5, 3, add));    </a:t>
            </a:r>
          </a:p>
          <a:p>
            <a:r>
              <a:rPr lang="en-IN" dirty="0"/>
              <a:t>console.log(calc(5, 3, </a:t>
            </a:r>
            <a:r>
              <a:rPr lang="en-IN" dirty="0" err="1"/>
              <a:t>mul</a:t>
            </a:r>
            <a:r>
              <a:rPr lang="en-IN" dirty="0"/>
              <a:t>));</a:t>
            </a:r>
          </a:p>
        </p:txBody>
      </p:sp>
      <p:sp>
        <p:nvSpPr>
          <p:cNvPr id="13" name="TextBox 12">
            <a:extLst>
              <a:ext uri="{FF2B5EF4-FFF2-40B4-BE49-F238E27FC236}">
                <a16:creationId xmlns:a16="http://schemas.microsoft.com/office/drawing/2014/main" id="{50040220-8C08-725E-9C4E-734D162BFC52}"/>
              </a:ext>
            </a:extLst>
          </p:cNvPr>
          <p:cNvSpPr txBox="1"/>
          <p:nvPr/>
        </p:nvSpPr>
        <p:spPr>
          <a:xfrm>
            <a:off x="2895600" y="0"/>
            <a:ext cx="5196254" cy="363561"/>
          </a:xfrm>
          <a:prstGeom prst="rect">
            <a:avLst/>
          </a:prstGeom>
          <a:noFill/>
        </p:spPr>
        <p:txBody>
          <a:bodyPr wrap="square">
            <a:spAutoFit/>
          </a:bodyPr>
          <a:lstStyle/>
          <a:p>
            <a:pPr algn="l" fontAlgn="base">
              <a:lnSpc>
                <a:spcPts val="2100"/>
              </a:lnSpc>
              <a:buNone/>
            </a:pPr>
            <a:r>
              <a:rPr lang="en-US" b="1" i="0" dirty="0">
                <a:solidFill>
                  <a:srgbClr val="273239"/>
                </a:solidFill>
                <a:effectLst/>
                <a:latin typeface="Nunito" pitchFamily="2" charset="0"/>
              </a:rPr>
              <a:t>Working of Callbacks in JavaScript</a:t>
            </a:r>
          </a:p>
        </p:txBody>
      </p:sp>
    </p:spTree>
    <p:extLst>
      <p:ext uri="{BB962C8B-B14F-4D97-AF65-F5344CB8AC3E}">
        <p14:creationId xmlns:p14="http://schemas.microsoft.com/office/powerpoint/2010/main" val="24067221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A702236-AA52-5CDA-008F-D078B89C49AF}"/>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293BAAB0-0D31-61F5-0FEA-AC56C4300A03}"/>
              </a:ext>
            </a:extLst>
          </p:cNvPr>
          <p:cNvSpPr>
            <a:spLocks noGrp="1"/>
          </p:cNvSpPr>
          <p:nvPr>
            <p:ph type="sldNum" sz="quarter" idx="12"/>
          </p:nvPr>
        </p:nvSpPr>
        <p:spPr/>
        <p:txBody>
          <a:bodyPr/>
          <a:lstStyle/>
          <a:p>
            <a:fld id="{CB779743-7B81-4FB7-A3E2-1ACEC99CD8CF}" type="slidenum">
              <a:rPr lang="en-US" smtClean="0"/>
              <a:t>22</a:t>
            </a:fld>
            <a:endParaRPr lang="en-US"/>
          </a:p>
        </p:txBody>
      </p:sp>
      <p:sp>
        <p:nvSpPr>
          <p:cNvPr id="5" name="TextBox 4">
            <a:extLst>
              <a:ext uri="{FF2B5EF4-FFF2-40B4-BE49-F238E27FC236}">
                <a16:creationId xmlns:a16="http://schemas.microsoft.com/office/drawing/2014/main" id="{3FCE3F03-C8E8-CC3A-4E9E-2DBDDAFF9C8C}"/>
              </a:ext>
            </a:extLst>
          </p:cNvPr>
          <p:cNvSpPr txBox="1"/>
          <p:nvPr/>
        </p:nvSpPr>
        <p:spPr>
          <a:xfrm>
            <a:off x="304800" y="3081699"/>
            <a:ext cx="4572000" cy="3139321"/>
          </a:xfrm>
          <a:prstGeom prst="rect">
            <a:avLst/>
          </a:prstGeom>
          <a:noFill/>
        </p:spPr>
        <p:txBody>
          <a:bodyPr wrap="square">
            <a:spAutoFit/>
          </a:bodyPr>
          <a:lstStyle/>
          <a:p>
            <a:r>
              <a:rPr lang="en-IN" dirty="0"/>
              <a:t>function calc(a, b, callback) {</a:t>
            </a:r>
          </a:p>
          <a:p>
            <a:r>
              <a:rPr lang="en-IN" dirty="0"/>
              <a:t>    return callback(a, b);</a:t>
            </a:r>
          </a:p>
          <a:p>
            <a:r>
              <a:rPr lang="en-IN" dirty="0"/>
              <a:t>}</a:t>
            </a:r>
          </a:p>
          <a:p>
            <a:r>
              <a:rPr lang="en-IN" dirty="0"/>
              <a:t>function add(x, y) {</a:t>
            </a:r>
          </a:p>
          <a:p>
            <a:r>
              <a:rPr lang="en-IN" dirty="0"/>
              <a:t>    return x + y;</a:t>
            </a:r>
          </a:p>
          <a:p>
            <a:r>
              <a:rPr lang="en-IN" dirty="0"/>
              <a:t>}</a:t>
            </a:r>
          </a:p>
          <a:p>
            <a:r>
              <a:rPr lang="en-IN" dirty="0"/>
              <a:t>function </a:t>
            </a:r>
            <a:r>
              <a:rPr lang="en-IN" dirty="0" err="1"/>
              <a:t>mul</a:t>
            </a:r>
            <a:r>
              <a:rPr lang="en-IN" dirty="0"/>
              <a:t>(x, y) {</a:t>
            </a:r>
          </a:p>
          <a:p>
            <a:r>
              <a:rPr lang="en-IN" dirty="0"/>
              <a:t>    return x * y;</a:t>
            </a:r>
          </a:p>
          <a:p>
            <a:r>
              <a:rPr lang="en-IN" dirty="0"/>
              <a:t>}</a:t>
            </a:r>
          </a:p>
          <a:p>
            <a:r>
              <a:rPr lang="en-IN" dirty="0"/>
              <a:t>console.log(calc(5, 3, add));    </a:t>
            </a:r>
          </a:p>
          <a:p>
            <a:r>
              <a:rPr lang="en-IN" dirty="0"/>
              <a:t>console.log(calc(5, 3, </a:t>
            </a:r>
            <a:r>
              <a:rPr lang="en-IN" dirty="0" err="1"/>
              <a:t>mul</a:t>
            </a:r>
            <a:r>
              <a:rPr lang="en-IN" dirty="0"/>
              <a:t>));</a:t>
            </a:r>
          </a:p>
        </p:txBody>
      </p:sp>
      <p:sp>
        <p:nvSpPr>
          <p:cNvPr id="7" name="TextBox 6">
            <a:extLst>
              <a:ext uri="{FF2B5EF4-FFF2-40B4-BE49-F238E27FC236}">
                <a16:creationId xmlns:a16="http://schemas.microsoft.com/office/drawing/2014/main" id="{A4B00416-A13F-333C-C6D2-D83AD7C90478}"/>
              </a:ext>
            </a:extLst>
          </p:cNvPr>
          <p:cNvSpPr txBox="1"/>
          <p:nvPr/>
        </p:nvSpPr>
        <p:spPr>
          <a:xfrm>
            <a:off x="287215" y="2143512"/>
            <a:ext cx="8856785" cy="95410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73239"/>
                </a:solidFill>
                <a:effectLst/>
                <a:latin typeface="Nunito" pitchFamily="2" charset="0"/>
              </a:rPr>
              <a:t>2. Callbacks in Functions Handling Operations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Nunito" pitchFamily="2" charset="0"/>
              </a:rPr>
              <a:t>When a function needs to execute different behaviors based on input, callbacks make the function flexible</a:t>
            </a:r>
            <a:endParaRPr lang="en-IN" dirty="0"/>
          </a:p>
        </p:txBody>
      </p:sp>
      <p:sp>
        <p:nvSpPr>
          <p:cNvPr id="9" name="TextBox 8">
            <a:extLst>
              <a:ext uri="{FF2B5EF4-FFF2-40B4-BE49-F238E27FC236}">
                <a16:creationId xmlns:a16="http://schemas.microsoft.com/office/drawing/2014/main" id="{5EFB8CF0-EDC1-06B8-11C5-8AE506AF3856}"/>
              </a:ext>
            </a:extLst>
          </p:cNvPr>
          <p:cNvSpPr txBox="1"/>
          <p:nvPr/>
        </p:nvSpPr>
        <p:spPr>
          <a:xfrm>
            <a:off x="266700" y="-23446"/>
            <a:ext cx="8856785" cy="307776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273239"/>
                </a:solidFill>
                <a:effectLst/>
                <a:latin typeface="Nunito" pitchFamily="2" charset="0"/>
              </a:rPr>
              <a:t>Uses of Callbacks in JavaScript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73239"/>
                </a:solidFill>
                <a:effectLst/>
                <a:latin typeface="Nunito" pitchFamily="2" charset="0"/>
              </a:rPr>
              <a:t>1. Handling Asynchronous Operations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Nunito" pitchFamily="2" charset="0"/>
              </a:rPr>
              <a:t>Callbacks are widely used in</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273239"/>
                </a:solidFill>
                <a:effectLst/>
                <a:latin typeface="Nunito" pitchFamily="2" charset="0"/>
              </a:rPr>
              <a:t>API requests (fetching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273239"/>
                </a:solidFill>
                <a:effectLst/>
                <a:latin typeface="Nunito" pitchFamily="2" charset="0"/>
              </a:rPr>
              <a:t>Reading files (Node.js file system)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273239"/>
                </a:solidFill>
                <a:effectLst/>
                <a:latin typeface="Nunito" pitchFamily="2" charset="0"/>
              </a:rPr>
              <a:t>Event listeners (clicks, keyboard inputs)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273239"/>
                </a:solidFill>
                <a:effectLst/>
                <a:latin typeface="Nunito" pitchFamily="2" charset="0"/>
              </a:rPr>
              <a:t>Database queries (retrieving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rgbClr val="273239"/>
              </a:solidFill>
              <a:effectLst/>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273239"/>
                </a:solidFill>
                <a:effectLst/>
                <a:latin typeface="Nunito" pitchFamily="2" charset="0"/>
              </a:rPr>
              <a:t>.</a:t>
            </a:r>
            <a:endParaRPr kumimoji="0" lang="en-US" altLang="en-US" sz="10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391977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6C0811-A6FB-FE55-8F5E-3C05F866C238}"/>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683B3F64-96F9-2A71-B4F8-BF2C40CBF363}"/>
              </a:ext>
            </a:extLst>
          </p:cNvPr>
          <p:cNvSpPr>
            <a:spLocks noGrp="1"/>
          </p:cNvSpPr>
          <p:nvPr>
            <p:ph type="sldNum" sz="quarter" idx="12"/>
          </p:nvPr>
        </p:nvSpPr>
        <p:spPr/>
        <p:txBody>
          <a:bodyPr/>
          <a:lstStyle/>
          <a:p>
            <a:fld id="{CB779743-7B81-4FB7-A3E2-1ACEC99CD8CF}" type="slidenum">
              <a:rPr lang="en-US" smtClean="0"/>
              <a:t>23</a:t>
            </a:fld>
            <a:endParaRPr lang="en-US"/>
          </a:p>
        </p:txBody>
      </p:sp>
      <p:sp>
        <p:nvSpPr>
          <p:cNvPr id="4" name="Rectangle 1">
            <a:extLst>
              <a:ext uri="{FF2B5EF4-FFF2-40B4-BE49-F238E27FC236}">
                <a16:creationId xmlns:a16="http://schemas.microsoft.com/office/drawing/2014/main" id="{24294E4B-EE2B-009B-2956-7D57482D261B}"/>
              </a:ext>
            </a:extLst>
          </p:cNvPr>
          <p:cNvSpPr>
            <a:spLocks noChangeArrowheads="1"/>
          </p:cNvSpPr>
          <p:nvPr/>
        </p:nvSpPr>
        <p:spPr bwMode="auto">
          <a:xfrm>
            <a:off x="171450" y="0"/>
            <a:ext cx="6697346" cy="154067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14245" rIns="0" bIns="21424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273239"/>
                </a:solidFill>
                <a:effectLst/>
                <a:latin typeface="Nunito" pitchFamily="2" charset="0"/>
              </a:rPr>
              <a:t>3. Callbacks in Event Listeners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0"/>
              </a:rPr>
              <a:t>JavaScript is event-driven, and callbacks handle user interactions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273239"/>
                </a:solidFill>
                <a:effectLst/>
                <a:latin typeface="Nunito" pitchFamily="2" charset="0"/>
              </a:rPr>
              <a:t> like clicks and key presses.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5" name="Rectangle 2">
            <a:extLst>
              <a:ext uri="{FF2B5EF4-FFF2-40B4-BE49-F238E27FC236}">
                <a16:creationId xmlns:a16="http://schemas.microsoft.com/office/drawing/2014/main" id="{04B2E9CA-CBBA-FBCE-88AE-2A50A627EF52}"/>
              </a:ext>
            </a:extLst>
          </p:cNvPr>
          <p:cNvSpPr>
            <a:spLocks noChangeArrowheads="1"/>
          </p:cNvSpPr>
          <p:nvPr/>
        </p:nvSpPr>
        <p:spPr bwMode="auto">
          <a:xfrm>
            <a:off x="171450" y="1118607"/>
            <a:ext cx="8930053" cy="775597"/>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30000"/>
              </a:spcBef>
              <a:spcAft>
                <a:spcPct val="0"/>
              </a:spcAft>
              <a:defRPr sz="1200">
                <a:solidFill>
                  <a:schemeClr val="tx1"/>
                </a:solidFill>
                <a:latin typeface="Arial" panose="020B0604020202020204" pitchFamily="34" charset="0"/>
              </a:defRPr>
            </a:lvl1pPr>
            <a:lvl2pPr eaLnBrk="0" fontAlgn="base" hangingPunct="0">
              <a:spcBef>
                <a:spcPct val="30000"/>
              </a:spcBef>
              <a:spcAft>
                <a:spcPct val="0"/>
              </a:spcAft>
              <a:defRPr sz="1200">
                <a:solidFill>
                  <a:schemeClr val="tx1"/>
                </a:solidFill>
                <a:latin typeface="Arial" panose="020B0604020202020204" pitchFamily="34" charset="0"/>
              </a:defRPr>
            </a:lvl2pPr>
            <a:lvl3pPr eaLnBrk="0" fontAlgn="base" hangingPunct="0">
              <a:spcBef>
                <a:spcPct val="30000"/>
              </a:spcBef>
              <a:spcAft>
                <a:spcPct val="0"/>
              </a:spcAft>
              <a:defRPr sz="1200">
                <a:solidFill>
                  <a:schemeClr val="tx1"/>
                </a:solidFill>
                <a:latin typeface="Arial" panose="020B0604020202020204" pitchFamily="34" charset="0"/>
              </a:defRPr>
            </a:lvl3pPr>
            <a:lvl4pPr eaLnBrk="0" fontAlgn="base" hangingPunct="0">
              <a:spcBef>
                <a:spcPct val="30000"/>
              </a:spcBef>
              <a:spcAft>
                <a:spcPct val="0"/>
              </a:spcAft>
              <a:defRPr sz="1200">
                <a:solidFill>
                  <a:schemeClr val="tx1"/>
                </a:solidFill>
                <a:latin typeface="Arial" panose="020B0604020202020204" pitchFamily="34" charset="0"/>
              </a:defRPr>
            </a:lvl4pPr>
            <a:lvl5pPr eaLnBrk="0" fontAlgn="base" hangingPunct="0">
              <a:spcBef>
                <a:spcPct val="30000"/>
              </a:spcBef>
              <a:spcAft>
                <a:spcPct val="0"/>
              </a:spcAft>
              <a:defRPr sz="1200">
                <a:solidFill>
                  <a:schemeClr val="tx1"/>
                </a:solidFill>
                <a:latin typeface="Arial" panose="020B0604020202020204" pitchFamily="34" charset="0"/>
              </a:defRPr>
            </a:lvl5pPr>
            <a:lvl6pPr eaLnBrk="0" fontAlgn="base" hangingPunct="0">
              <a:spcBef>
                <a:spcPct val="30000"/>
              </a:spcBef>
              <a:spcAft>
                <a:spcPct val="0"/>
              </a:spcAft>
              <a:defRPr sz="1200">
                <a:solidFill>
                  <a:schemeClr val="tx1"/>
                </a:solidFill>
                <a:latin typeface="Arial" panose="020B0604020202020204" pitchFamily="34" charset="0"/>
              </a:defRPr>
            </a:lvl6pPr>
            <a:lvl7pPr eaLnBrk="0" fontAlgn="base" hangingPunct="0">
              <a:spcBef>
                <a:spcPct val="30000"/>
              </a:spcBef>
              <a:spcAft>
                <a:spcPct val="0"/>
              </a:spcAft>
              <a:defRPr sz="1200">
                <a:solidFill>
                  <a:schemeClr val="tx1"/>
                </a:solidFill>
                <a:latin typeface="Arial" panose="020B0604020202020204" pitchFamily="34" charset="0"/>
              </a:defRPr>
            </a:lvl7pPr>
            <a:lvl8pPr eaLnBrk="0" fontAlgn="base" hangingPunct="0">
              <a:spcBef>
                <a:spcPct val="30000"/>
              </a:spcBef>
              <a:spcAft>
                <a:spcPct val="0"/>
              </a:spcAft>
              <a:defRPr sz="1200">
                <a:solidFill>
                  <a:schemeClr val="tx1"/>
                </a:solidFill>
                <a:latin typeface="Arial" panose="020B0604020202020204" pitchFamily="34" charset="0"/>
              </a:defRPr>
            </a:lvl8pPr>
            <a:lvl9pPr eaLnBrk="0" fontAlgn="base" hangingPunct="0">
              <a:spcBef>
                <a:spcPct val="30000"/>
              </a:spcBef>
              <a:spcAft>
                <a:spcPct val="0"/>
              </a:spcAft>
              <a:defRPr sz="1200">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onsolas" panose="020B0609020204030204" pitchFamily="49" charset="0"/>
                <a:cs typeface="Arial" panose="020B0604020202020204" pitchFamily="34" charset="0"/>
              </a:rPr>
              <a:t>.</a:t>
            </a:r>
            <a:r>
              <a:rPr kumimoji="0" lang="en-US" altLang="en-US" sz="1400" b="0" i="0" u="none" strike="noStrike" cap="none" normalizeH="0" baseline="0" dirty="0" err="1">
                <a:ln>
                  <a:noFill/>
                </a:ln>
                <a:solidFill>
                  <a:schemeClr val="tx1"/>
                </a:solidFill>
                <a:effectLst/>
                <a:latin typeface="Consolas" panose="020B0609020204030204" pitchFamily="49" charset="0"/>
                <a:cs typeface="Arial" panose="020B0604020202020204" pitchFamily="34" charset="0"/>
              </a:rPr>
              <a:t>getElementById</a:t>
            </a:r>
            <a:r>
              <a:rPr kumimoji="0" lang="en-US" altLang="en-US" sz="1400" b="0" i="0" u="none" strike="noStrike" cap="none" normalizeH="0" baseline="0" dirty="0">
                <a:ln>
                  <a:noFill/>
                </a:ln>
                <a:solidFill>
                  <a:schemeClr val="tx1"/>
                </a:solidFill>
                <a:effectLst/>
                <a:latin typeface="Consolas" panose="020B0609020204030204" pitchFamily="49" charset="0"/>
                <a:cs typeface="Arial" panose="020B0604020202020204" pitchFamily="34" charset="0"/>
              </a:rPr>
              <a:t>(</a:t>
            </a:r>
            <a:r>
              <a:rPr kumimoji="0" lang="en-US" altLang="en-US" sz="1400" b="0" i="0" u="none" strike="noStrike" cap="none" normalizeH="0" baseline="0" dirty="0">
                <a:ln>
                  <a:noFill/>
                </a:ln>
                <a:solidFill>
                  <a:srgbClr val="BA2121"/>
                </a:solidFill>
                <a:effectLst/>
                <a:latin typeface="Consolas" panose="020B0609020204030204" pitchFamily="49" charset="0"/>
                <a:cs typeface="Arial" panose="020B0604020202020204" pitchFamily="34" charset="0"/>
              </a:rPr>
              <a:t>"</a:t>
            </a:r>
            <a:r>
              <a:rPr kumimoji="0" lang="en-US" altLang="en-US" sz="1400" b="0" i="0" u="none" strike="noStrike" cap="none" normalizeH="0" baseline="0" dirty="0" err="1">
                <a:ln>
                  <a:noFill/>
                </a:ln>
                <a:solidFill>
                  <a:srgbClr val="BA2121"/>
                </a:solidFill>
                <a:effectLst/>
                <a:latin typeface="Consolas" panose="020B0609020204030204" pitchFamily="49" charset="0"/>
                <a:cs typeface="Arial" panose="020B0604020202020204" pitchFamily="34" charset="0"/>
              </a:rPr>
              <a:t>myButton</a:t>
            </a:r>
            <a:r>
              <a:rPr kumimoji="0" lang="en-US" altLang="en-US" sz="1400" b="0" i="0" u="none" strike="noStrike" cap="none" normalizeH="0" baseline="0" dirty="0">
                <a:ln>
                  <a:noFill/>
                </a:ln>
                <a:solidFill>
                  <a:srgbClr val="BA2121"/>
                </a:solidFill>
                <a:effectLst/>
                <a:latin typeface="Consolas" panose="020B0609020204030204" pitchFamily="49" charset="0"/>
                <a:cs typeface="Arial" panose="020B0604020202020204" pitchFamily="34" charset="0"/>
              </a:rPr>
              <a:t>"</a:t>
            </a:r>
            <a:r>
              <a:rPr kumimoji="0" lang="en-US" altLang="en-US" sz="1400" b="0" i="0" u="none" strike="noStrike" cap="none" normalizeH="0" baseline="0" dirty="0">
                <a:ln>
                  <a:noFill/>
                </a:ln>
                <a:solidFill>
                  <a:schemeClr val="tx1"/>
                </a:solidFill>
                <a:effectLst/>
                <a:latin typeface="Consolas" panose="020B0609020204030204" pitchFamily="49" charset="0"/>
                <a:cs typeface="Arial" panose="020B0604020202020204" pitchFamily="34" charset="0"/>
              </a:rPr>
              <a:t>).</a:t>
            </a:r>
            <a:r>
              <a:rPr kumimoji="0" lang="en-US" altLang="en-US" sz="1400" b="0" i="0" u="none" strike="noStrike" cap="none" normalizeH="0" baseline="0" dirty="0" err="1">
                <a:ln>
                  <a:noFill/>
                </a:ln>
                <a:solidFill>
                  <a:schemeClr val="tx1"/>
                </a:solidFill>
                <a:effectLst/>
                <a:latin typeface="Consolas" panose="020B0609020204030204" pitchFamily="49" charset="0"/>
                <a:cs typeface="Arial" panose="020B0604020202020204" pitchFamily="34" charset="0"/>
              </a:rPr>
              <a:t>addEventListener</a:t>
            </a:r>
            <a:endParaRPr kumimoji="0" lang="en-US" altLang="en-US" sz="1400" b="0" i="0" u="none" strike="noStrike" cap="none" normalizeH="0" baseline="0" dirty="0">
              <a:ln>
                <a:noFill/>
              </a:ln>
              <a:solidFill>
                <a:schemeClr val="tx1"/>
              </a:solidFill>
              <a:effectLst/>
              <a:latin typeface="Consolas" panose="020B0609020204030204" pitchFamily="49"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chemeClr val="tx1"/>
                </a:solidFill>
                <a:effectLst/>
                <a:latin typeface="Consolas" panose="020B0609020204030204" pitchFamily="49" charset="0"/>
                <a:cs typeface="Arial" panose="020B0604020202020204" pitchFamily="34" charset="0"/>
              </a:rPr>
              <a:t>(</a:t>
            </a:r>
            <a:r>
              <a:rPr kumimoji="0" lang="en-US" altLang="en-US" sz="1400" b="0" i="0" u="none" strike="noStrike" cap="none" normalizeH="0" baseline="0" dirty="0">
                <a:ln>
                  <a:noFill/>
                </a:ln>
                <a:solidFill>
                  <a:srgbClr val="BA2121"/>
                </a:solidFill>
                <a:effectLst/>
                <a:latin typeface="Consolas" panose="020B0609020204030204" pitchFamily="49" charset="0"/>
                <a:cs typeface="Arial" panose="020B0604020202020204" pitchFamily="34" charset="0"/>
              </a:rPr>
              <a:t>"click"</a:t>
            </a:r>
            <a:r>
              <a:rPr kumimoji="0" lang="en-US" altLang="en-US" sz="1400" b="0" i="0" u="none" strike="noStrike" cap="none" normalizeH="0" baseline="0" dirty="0">
                <a:ln>
                  <a:noFill/>
                </a:ln>
                <a:solidFill>
                  <a:schemeClr val="tx1"/>
                </a:solidFill>
                <a:effectLst/>
                <a:latin typeface="Consolas" panose="020B0609020204030204" pitchFamily="49" charset="0"/>
                <a:cs typeface="Arial" panose="020B0604020202020204" pitchFamily="34" charset="0"/>
              </a:rPr>
              <a:t>,</a:t>
            </a:r>
            <a:r>
              <a:rPr kumimoji="0" lang="en-US" altLang="en-US" sz="1400" b="0" i="0" u="none" strike="noStrike" cap="none" normalizeH="0" baseline="0" dirty="0">
                <a:ln>
                  <a:noFill/>
                </a:ln>
                <a:solidFill>
                  <a:srgbClr val="BBBBBB"/>
                </a:solidFill>
                <a:effectLst/>
                <a:latin typeface="Consolas" panose="020B0609020204030204" pitchFamily="49" charset="0"/>
                <a:cs typeface="Arial" panose="020B0604020202020204" pitchFamily="34" charset="0"/>
              </a:rPr>
              <a:t> </a:t>
            </a:r>
            <a:r>
              <a:rPr kumimoji="0" lang="en-US" altLang="en-US" sz="1400" b="1" i="0" u="none" strike="noStrike" cap="none" normalizeH="0" baseline="0" dirty="0">
                <a:ln>
                  <a:noFill/>
                </a:ln>
                <a:solidFill>
                  <a:srgbClr val="008000"/>
                </a:solidFill>
                <a:effectLst/>
                <a:latin typeface="Consolas" panose="020B0609020204030204" pitchFamily="49" charset="0"/>
                <a:cs typeface="Arial" panose="020B0604020202020204" pitchFamily="34" charset="0"/>
              </a:rPr>
              <a:t>function</a:t>
            </a:r>
            <a:r>
              <a:rPr kumimoji="0" lang="en-US" altLang="en-US" sz="1400" b="0" i="0" u="none" strike="noStrike" cap="none" normalizeH="0" baseline="0" dirty="0">
                <a:ln>
                  <a:noFill/>
                </a:ln>
                <a:solidFill>
                  <a:srgbClr val="BBBBBB"/>
                </a:solidFill>
                <a:effectLst/>
                <a:latin typeface="Consolas" panose="020B0609020204030204" pitchFamily="49" charset="0"/>
                <a:cs typeface="Arial" panose="020B0604020202020204" pitchFamily="34" charset="0"/>
              </a:rPr>
              <a:t> </a:t>
            </a:r>
            <a:r>
              <a:rPr kumimoji="0" lang="en-US" altLang="en-US" sz="1400" b="0" i="0" u="none" strike="noStrike" cap="none" normalizeH="0" baseline="0" dirty="0">
                <a:ln>
                  <a:noFill/>
                </a:ln>
                <a:solidFill>
                  <a:schemeClr val="tx1"/>
                </a:solidFill>
                <a:effectLst/>
                <a:latin typeface="Consolas" panose="020B0609020204030204" pitchFamily="49" charset="0"/>
                <a:cs typeface="Arial" panose="020B0604020202020204" pitchFamily="34" charset="0"/>
              </a:rPr>
              <a:t>()</a:t>
            </a:r>
            <a:r>
              <a:rPr kumimoji="0" lang="en-US" altLang="en-US" sz="1400" b="0" i="0" u="none" strike="noStrike" cap="none" normalizeH="0" baseline="0" dirty="0">
                <a:ln>
                  <a:noFill/>
                </a:ln>
                <a:solidFill>
                  <a:srgbClr val="BBBBBB"/>
                </a:solidFill>
                <a:effectLst/>
                <a:latin typeface="Consolas" panose="020B0609020204030204" pitchFamily="49" charset="0"/>
                <a:cs typeface="Arial" panose="020B0604020202020204" pitchFamily="34" charset="0"/>
              </a:rPr>
              <a:t> </a:t>
            </a:r>
            <a:r>
              <a:rPr kumimoji="0" lang="en-US" altLang="en-US" sz="1400" b="0" i="0" u="none" strike="noStrike" cap="none" normalizeH="0" baseline="0" dirty="0">
                <a:ln>
                  <a:noFill/>
                </a:ln>
                <a:solidFill>
                  <a:schemeClr val="tx1"/>
                </a:solidFill>
                <a:effectLst/>
                <a:latin typeface="Consolas" panose="020B0609020204030204" pitchFamily="49" charset="0"/>
                <a:cs typeface="Arial" panose="020B0604020202020204" pitchFamily="34" charset="0"/>
              </a:rPr>
              <a:t>{ console.log(</a:t>
            </a:r>
            <a:r>
              <a:rPr kumimoji="0" lang="en-US" altLang="en-US" sz="1400" b="0" i="0" u="none" strike="noStrike" cap="none" normalizeH="0" baseline="0" dirty="0">
                <a:ln>
                  <a:noFill/>
                </a:ln>
                <a:solidFill>
                  <a:srgbClr val="BA2121"/>
                </a:solidFill>
                <a:effectLst/>
                <a:latin typeface="Consolas" panose="020B0609020204030204" pitchFamily="49" charset="0"/>
                <a:cs typeface="Arial" panose="020B0604020202020204" pitchFamily="34" charset="0"/>
              </a:rPr>
              <a:t>"Button clicked!"</a:t>
            </a:r>
            <a:r>
              <a:rPr kumimoji="0" lang="en-US" altLang="en-US" sz="1400" b="0" i="0" u="none" strike="noStrike" cap="none" normalizeH="0" baseline="0" dirty="0">
                <a:ln>
                  <a:noFill/>
                </a:ln>
                <a:solidFill>
                  <a:schemeClr val="tx1"/>
                </a:solidFill>
                <a:effectLst/>
                <a:latin typeface="Consolas" panose="020B0609020204030204" pitchFamily="49" charset="0"/>
                <a:cs typeface="Arial" panose="020B0604020202020204" pitchFamily="34" charset="0"/>
              </a:rPr>
              <a:t>); }); </a:t>
            </a:r>
            <a:endParaRPr kumimoji="0" lang="en-US" altLang="en-US" sz="1400" b="0" i="0" u="none" strike="noStrike" cap="none" normalizeH="0" baseline="0" dirty="0">
              <a:ln>
                <a:noFill/>
              </a:ln>
              <a:solidFill>
                <a:schemeClr val="tx1"/>
              </a:solidFill>
              <a:effectLst/>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altLang="en-US" sz="1400" b="0" i="0" u="none" strike="noStrike" cap="none" normalizeH="0" baseline="0" dirty="0">
                <a:ln>
                  <a:noFill/>
                </a:ln>
                <a:solidFill>
                  <a:srgbClr val="273239"/>
                </a:solidFill>
                <a:effectLst/>
                <a:latin typeface="Nunito" pitchFamily="2" charset="0"/>
              </a:rPr>
              <a:t>Here, the anonymous function is a callback that runs when the button is clicked.</a:t>
            </a:r>
            <a:endParaRPr kumimoji="0" lang="en-US" altLang="en-US" sz="1400" b="0" i="0" u="none" strike="noStrike" cap="none" normalizeH="0" baseline="0" dirty="0">
              <a:ln>
                <a:noFill/>
              </a:ln>
              <a:solidFill>
                <a:schemeClr val="tx1"/>
              </a:solidFill>
              <a:effectLst/>
            </a:endParaRPr>
          </a:p>
        </p:txBody>
      </p:sp>
      <p:sp>
        <p:nvSpPr>
          <p:cNvPr id="7" name="TextBox 6">
            <a:extLst>
              <a:ext uri="{FF2B5EF4-FFF2-40B4-BE49-F238E27FC236}">
                <a16:creationId xmlns:a16="http://schemas.microsoft.com/office/drawing/2014/main" id="{A11AC414-681D-A42C-77EF-330627D0070B}"/>
              </a:ext>
            </a:extLst>
          </p:cNvPr>
          <p:cNvSpPr txBox="1"/>
          <p:nvPr/>
        </p:nvSpPr>
        <p:spPr>
          <a:xfrm>
            <a:off x="213947" y="2361210"/>
            <a:ext cx="8156330" cy="638636"/>
          </a:xfrm>
          <a:prstGeom prst="rect">
            <a:avLst/>
          </a:prstGeom>
          <a:noFill/>
        </p:spPr>
        <p:txBody>
          <a:bodyPr wrap="square">
            <a:spAutoFit/>
          </a:bodyPr>
          <a:lstStyle/>
          <a:p>
            <a:pPr algn="l" fontAlgn="base">
              <a:lnSpc>
                <a:spcPts val="2100"/>
              </a:lnSpc>
              <a:buNone/>
            </a:pPr>
            <a:r>
              <a:rPr lang="en-US" b="1" i="0" dirty="0">
                <a:solidFill>
                  <a:srgbClr val="273239"/>
                </a:solidFill>
                <a:effectLst/>
                <a:latin typeface="Nunito" pitchFamily="2" charset="0"/>
              </a:rPr>
              <a:t>Problems with Callbacks</a:t>
            </a:r>
          </a:p>
          <a:p>
            <a:pPr algn="l" rtl="0" fontAlgn="base">
              <a:spcAft>
                <a:spcPts val="750"/>
              </a:spcAft>
              <a:buNone/>
            </a:pPr>
            <a:r>
              <a:rPr lang="en-US" b="0" i="0" dirty="0">
                <a:solidFill>
                  <a:srgbClr val="273239"/>
                </a:solidFill>
                <a:effectLst/>
                <a:latin typeface="Nunito" pitchFamily="2" charset="0"/>
              </a:rPr>
              <a:t>Although callbacks are useful, they have some drawbacks</a:t>
            </a:r>
          </a:p>
        </p:txBody>
      </p:sp>
      <p:sp>
        <p:nvSpPr>
          <p:cNvPr id="13" name="TextBox 12">
            <a:extLst>
              <a:ext uri="{FF2B5EF4-FFF2-40B4-BE49-F238E27FC236}">
                <a16:creationId xmlns:a16="http://schemas.microsoft.com/office/drawing/2014/main" id="{061B3A6C-359A-0D5F-D084-9BDB5C67DFE2}"/>
              </a:ext>
            </a:extLst>
          </p:cNvPr>
          <p:cNvSpPr txBox="1"/>
          <p:nvPr/>
        </p:nvSpPr>
        <p:spPr>
          <a:xfrm>
            <a:off x="213947" y="3158261"/>
            <a:ext cx="7874976" cy="1146468"/>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1. Callback Hell (Nested Callbacks)</a:t>
            </a:r>
          </a:p>
          <a:p>
            <a:pPr algn="l" rtl="0" fontAlgn="base">
              <a:spcAft>
                <a:spcPts val="750"/>
              </a:spcAft>
              <a:buNone/>
            </a:pPr>
            <a:r>
              <a:rPr lang="en-US" b="0" i="0" dirty="0">
                <a:solidFill>
                  <a:srgbClr val="273239"/>
                </a:solidFill>
                <a:effectLst/>
                <a:latin typeface="Nunito" pitchFamily="2" charset="0"/>
              </a:rPr>
              <a:t>When callbacks are nested deeply, the code becomes unreadable and hard to maintain.</a:t>
            </a:r>
          </a:p>
        </p:txBody>
      </p:sp>
      <p:sp>
        <p:nvSpPr>
          <p:cNvPr id="15" name="TextBox 14">
            <a:extLst>
              <a:ext uri="{FF2B5EF4-FFF2-40B4-BE49-F238E27FC236}">
                <a16:creationId xmlns:a16="http://schemas.microsoft.com/office/drawing/2014/main" id="{6EDEF602-7274-2128-E78A-AAA024CFF6A3}"/>
              </a:ext>
            </a:extLst>
          </p:cNvPr>
          <p:cNvSpPr txBox="1"/>
          <p:nvPr/>
        </p:nvSpPr>
        <p:spPr>
          <a:xfrm>
            <a:off x="152400" y="4287144"/>
            <a:ext cx="8156329" cy="646331"/>
          </a:xfrm>
          <a:prstGeom prst="rect">
            <a:avLst/>
          </a:prstGeom>
          <a:noFill/>
        </p:spPr>
        <p:txBody>
          <a:bodyPr wrap="square">
            <a:spAutoFit/>
          </a:bodyPr>
          <a:lstStyle/>
          <a:p>
            <a:r>
              <a:rPr lang="en-US" b="0" i="0" dirty="0">
                <a:solidFill>
                  <a:srgbClr val="273239"/>
                </a:solidFill>
                <a:effectLst/>
                <a:latin typeface="Nunito" pitchFamily="2" charset="0"/>
              </a:rPr>
              <a:t>As the number of steps increases, the nesting grows deeper, making the code difficult to manage.</a:t>
            </a:r>
            <a:endParaRPr lang="en-IN" dirty="0"/>
          </a:p>
        </p:txBody>
      </p:sp>
      <p:sp>
        <p:nvSpPr>
          <p:cNvPr id="17" name="TextBox 16">
            <a:extLst>
              <a:ext uri="{FF2B5EF4-FFF2-40B4-BE49-F238E27FC236}">
                <a16:creationId xmlns:a16="http://schemas.microsoft.com/office/drawing/2014/main" id="{18D6F312-1A70-6765-B2CB-DCEAC9C62AD6}"/>
              </a:ext>
            </a:extLst>
          </p:cNvPr>
          <p:cNvSpPr txBox="1"/>
          <p:nvPr/>
        </p:nvSpPr>
        <p:spPr>
          <a:xfrm>
            <a:off x="96716" y="5171587"/>
            <a:ext cx="8680450" cy="869469"/>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2. Error Handling Issues in Callbacks</a:t>
            </a:r>
          </a:p>
          <a:p>
            <a:pPr algn="l" rtl="0" fontAlgn="base">
              <a:spcAft>
                <a:spcPts val="750"/>
              </a:spcAft>
              <a:buNone/>
            </a:pPr>
            <a:r>
              <a:rPr lang="en-US" b="0" i="0" dirty="0">
                <a:solidFill>
                  <a:srgbClr val="273239"/>
                </a:solidFill>
                <a:effectLst/>
                <a:latin typeface="Nunito" pitchFamily="2" charset="0"/>
              </a:rPr>
              <a:t>Error handling can get messy when dealing with nested callbacks.</a:t>
            </a:r>
          </a:p>
        </p:txBody>
      </p:sp>
    </p:spTree>
    <p:extLst>
      <p:ext uri="{BB962C8B-B14F-4D97-AF65-F5344CB8AC3E}">
        <p14:creationId xmlns:p14="http://schemas.microsoft.com/office/powerpoint/2010/main" val="34798458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4F8FAE-1C76-9C99-5CCA-EB98755F664E}"/>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6A6E06A9-3E70-E227-9B33-601FC45F08ED}"/>
              </a:ext>
            </a:extLst>
          </p:cNvPr>
          <p:cNvSpPr>
            <a:spLocks noGrp="1"/>
          </p:cNvSpPr>
          <p:nvPr>
            <p:ph type="sldNum" sz="quarter" idx="12"/>
          </p:nvPr>
        </p:nvSpPr>
        <p:spPr/>
        <p:txBody>
          <a:bodyPr/>
          <a:lstStyle/>
          <a:p>
            <a:fld id="{CB779743-7B81-4FB7-A3E2-1ACEC99CD8CF}" type="slidenum">
              <a:rPr lang="en-US" smtClean="0"/>
              <a:t>24</a:t>
            </a:fld>
            <a:endParaRPr lang="en-US"/>
          </a:p>
        </p:txBody>
      </p:sp>
      <p:sp>
        <p:nvSpPr>
          <p:cNvPr id="5" name="TextBox 4">
            <a:extLst>
              <a:ext uri="{FF2B5EF4-FFF2-40B4-BE49-F238E27FC236}">
                <a16:creationId xmlns:a16="http://schemas.microsoft.com/office/drawing/2014/main" id="{A49333B4-EF99-1E83-419D-6F040E472E93}"/>
              </a:ext>
            </a:extLst>
          </p:cNvPr>
          <p:cNvSpPr txBox="1"/>
          <p:nvPr/>
        </p:nvSpPr>
        <p:spPr>
          <a:xfrm>
            <a:off x="4419600" y="0"/>
            <a:ext cx="4572000" cy="7294305"/>
          </a:xfrm>
          <a:prstGeom prst="rect">
            <a:avLst/>
          </a:prstGeom>
          <a:noFill/>
        </p:spPr>
        <p:txBody>
          <a:bodyPr wrap="square">
            <a:spAutoFit/>
          </a:bodyPr>
          <a:lstStyle/>
          <a:p>
            <a:r>
              <a:rPr lang="en-IN" dirty="0"/>
              <a:t>function step1(callback) {</a:t>
            </a:r>
          </a:p>
          <a:p>
            <a:r>
              <a:rPr lang="en-IN" dirty="0"/>
              <a:t>    </a:t>
            </a:r>
            <a:r>
              <a:rPr lang="en-IN" dirty="0" err="1"/>
              <a:t>setTimeout</a:t>
            </a:r>
            <a:r>
              <a:rPr lang="en-IN" dirty="0"/>
              <a:t>(() =&gt; {</a:t>
            </a:r>
          </a:p>
          <a:p>
            <a:r>
              <a:rPr lang="en-IN" dirty="0"/>
              <a:t>        console.log("Step 1 completed");</a:t>
            </a:r>
          </a:p>
          <a:p>
            <a:r>
              <a:rPr lang="en-IN" dirty="0"/>
              <a:t>        callback();</a:t>
            </a:r>
          </a:p>
          <a:p>
            <a:r>
              <a:rPr lang="en-IN" dirty="0"/>
              <a:t>    }, 1000);</a:t>
            </a:r>
          </a:p>
          <a:p>
            <a:r>
              <a:rPr lang="en-IN" dirty="0"/>
              <a:t>}</a:t>
            </a:r>
          </a:p>
          <a:p>
            <a:r>
              <a:rPr lang="en-IN" dirty="0"/>
              <a:t>function step2(callback) {</a:t>
            </a:r>
          </a:p>
          <a:p>
            <a:r>
              <a:rPr lang="en-IN" dirty="0"/>
              <a:t>    </a:t>
            </a:r>
            <a:r>
              <a:rPr lang="en-IN" dirty="0" err="1"/>
              <a:t>setTimeout</a:t>
            </a:r>
            <a:r>
              <a:rPr lang="en-IN" dirty="0"/>
              <a:t>(() =&gt; {</a:t>
            </a:r>
          </a:p>
          <a:p>
            <a:r>
              <a:rPr lang="en-IN" dirty="0"/>
              <a:t>        console.log("Step 2 completed");</a:t>
            </a:r>
          </a:p>
          <a:p>
            <a:r>
              <a:rPr lang="en-IN" dirty="0"/>
              <a:t>        callback();</a:t>
            </a:r>
          </a:p>
          <a:p>
            <a:r>
              <a:rPr lang="en-IN" dirty="0"/>
              <a:t>    }, 1000);</a:t>
            </a:r>
          </a:p>
          <a:p>
            <a:r>
              <a:rPr lang="en-IN" dirty="0"/>
              <a:t>}</a:t>
            </a:r>
          </a:p>
          <a:p>
            <a:r>
              <a:rPr lang="en-IN" dirty="0"/>
              <a:t>function step3(callback) {</a:t>
            </a:r>
          </a:p>
          <a:p>
            <a:r>
              <a:rPr lang="en-IN" dirty="0"/>
              <a:t>    </a:t>
            </a:r>
            <a:r>
              <a:rPr lang="en-IN" dirty="0" err="1"/>
              <a:t>setTimeout</a:t>
            </a:r>
            <a:r>
              <a:rPr lang="en-IN" dirty="0"/>
              <a:t>(() =&gt; {</a:t>
            </a:r>
          </a:p>
          <a:p>
            <a:r>
              <a:rPr lang="en-IN" dirty="0"/>
              <a:t>        console.log("Step 3 completed");</a:t>
            </a:r>
          </a:p>
          <a:p>
            <a:r>
              <a:rPr lang="en-IN" dirty="0"/>
              <a:t>        callback();</a:t>
            </a:r>
          </a:p>
          <a:p>
            <a:r>
              <a:rPr lang="en-IN" dirty="0"/>
              <a:t>    }, 1000);</a:t>
            </a:r>
          </a:p>
          <a:p>
            <a:r>
              <a:rPr lang="en-IN" dirty="0"/>
              <a:t>}</a:t>
            </a:r>
          </a:p>
          <a:p>
            <a:r>
              <a:rPr lang="en-IN" dirty="0"/>
              <a:t>step1(() =&gt; {</a:t>
            </a:r>
          </a:p>
          <a:p>
            <a:r>
              <a:rPr lang="en-IN" dirty="0"/>
              <a:t>    step2(() =&gt; {</a:t>
            </a:r>
          </a:p>
          <a:p>
            <a:r>
              <a:rPr lang="en-IN" dirty="0"/>
              <a:t>        step3(() =&gt; {</a:t>
            </a:r>
          </a:p>
          <a:p>
            <a:r>
              <a:rPr lang="en-IN" dirty="0"/>
              <a:t>            console.log("All steps completed");</a:t>
            </a:r>
          </a:p>
          <a:p>
            <a:r>
              <a:rPr lang="en-IN" dirty="0"/>
              <a:t>        });</a:t>
            </a:r>
          </a:p>
          <a:p>
            <a:r>
              <a:rPr lang="en-IN" dirty="0"/>
              <a:t>    });</a:t>
            </a:r>
          </a:p>
          <a:p>
            <a:r>
              <a:rPr lang="en-IN" dirty="0"/>
              <a:t>});</a:t>
            </a:r>
          </a:p>
        </p:txBody>
      </p:sp>
      <p:sp>
        <p:nvSpPr>
          <p:cNvPr id="9" name="TextBox 8">
            <a:extLst>
              <a:ext uri="{FF2B5EF4-FFF2-40B4-BE49-F238E27FC236}">
                <a16:creationId xmlns:a16="http://schemas.microsoft.com/office/drawing/2014/main" id="{8ABCA914-F19C-6D67-93FC-012A2F0A2E56}"/>
              </a:ext>
            </a:extLst>
          </p:cNvPr>
          <p:cNvSpPr txBox="1"/>
          <p:nvPr/>
        </p:nvSpPr>
        <p:spPr>
          <a:xfrm>
            <a:off x="0" y="244475"/>
            <a:ext cx="4651130" cy="1423467"/>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1. Callback Hell (Nested Callbacks)</a:t>
            </a:r>
          </a:p>
          <a:p>
            <a:pPr algn="l" rtl="0" fontAlgn="base">
              <a:spcAft>
                <a:spcPts val="750"/>
              </a:spcAft>
              <a:buNone/>
            </a:pPr>
            <a:r>
              <a:rPr lang="en-US" b="0" i="0" dirty="0">
                <a:solidFill>
                  <a:srgbClr val="273239"/>
                </a:solidFill>
                <a:effectLst/>
                <a:latin typeface="Nunito" pitchFamily="2" charset="0"/>
              </a:rPr>
              <a:t>When callbacks are nested deeply, the code becomes unreadable and hard to maintain.</a:t>
            </a:r>
          </a:p>
        </p:txBody>
      </p:sp>
    </p:spTree>
    <p:extLst>
      <p:ext uri="{BB962C8B-B14F-4D97-AF65-F5344CB8AC3E}">
        <p14:creationId xmlns:p14="http://schemas.microsoft.com/office/powerpoint/2010/main" val="30327851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80DD678-DD03-CADD-CC16-8D2885F1DC63}"/>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A3706A06-71B8-A8D2-6154-460E91FA5AB8}"/>
              </a:ext>
            </a:extLst>
          </p:cNvPr>
          <p:cNvSpPr>
            <a:spLocks noGrp="1"/>
          </p:cNvSpPr>
          <p:nvPr>
            <p:ph type="sldNum" sz="quarter" idx="12"/>
          </p:nvPr>
        </p:nvSpPr>
        <p:spPr/>
        <p:txBody>
          <a:bodyPr/>
          <a:lstStyle/>
          <a:p>
            <a:fld id="{CB779743-7B81-4FB7-A3E2-1ACEC99CD8CF}" type="slidenum">
              <a:rPr lang="en-US" smtClean="0"/>
              <a:t>25</a:t>
            </a:fld>
            <a:endParaRPr lang="en-US"/>
          </a:p>
        </p:txBody>
      </p:sp>
      <p:sp>
        <p:nvSpPr>
          <p:cNvPr id="7" name="TextBox 6">
            <a:extLst>
              <a:ext uri="{FF2B5EF4-FFF2-40B4-BE49-F238E27FC236}">
                <a16:creationId xmlns:a16="http://schemas.microsoft.com/office/drawing/2014/main" id="{9E85D04D-0EE4-E5E8-8541-02A39B56F544}"/>
              </a:ext>
            </a:extLst>
          </p:cNvPr>
          <p:cNvSpPr txBox="1"/>
          <p:nvPr/>
        </p:nvSpPr>
        <p:spPr>
          <a:xfrm>
            <a:off x="90854" y="0"/>
            <a:ext cx="9053146" cy="1908215"/>
          </a:xfrm>
          <a:prstGeom prst="rect">
            <a:avLst/>
          </a:prstGeom>
          <a:noFill/>
        </p:spPr>
        <p:txBody>
          <a:bodyPr wrap="square">
            <a:spAutoFit/>
          </a:bodyPr>
          <a:lstStyle/>
          <a:p>
            <a:pPr>
              <a:buNone/>
            </a:pPr>
            <a:r>
              <a:rPr lang="en-IN" b="1" dirty="0"/>
              <a:t>WHAT IS A PROMISE IN JAVASCRIPT?</a:t>
            </a:r>
          </a:p>
          <a:p>
            <a:pPr>
              <a:buNone/>
            </a:pPr>
            <a:endParaRPr lang="en-IN" sz="2000" b="1" dirty="0"/>
          </a:p>
          <a:p>
            <a:pPr>
              <a:buNone/>
            </a:pPr>
            <a:r>
              <a:rPr lang="en-US" sz="2000" dirty="0"/>
              <a:t>Promises are objects representing the eventual completion (or failure) of an asynchronous operation, providing better handling of asynchronous code with .then() and .catch().</a:t>
            </a:r>
            <a:endParaRPr lang="en-IN" sz="2000" b="1" dirty="0"/>
          </a:p>
          <a:p>
            <a:pPr>
              <a:buNone/>
            </a:pPr>
            <a:r>
              <a:rPr lang="en-IN" sz="2000" dirty="0"/>
              <a:t>“Promise </a:t>
            </a:r>
            <a:r>
              <a:rPr lang="en-IN" sz="2000" dirty="0" err="1"/>
              <a:t>matlab</a:t>
            </a:r>
            <a:r>
              <a:rPr lang="en-IN" sz="2000" dirty="0"/>
              <a:t> future ka result – </a:t>
            </a:r>
            <a:r>
              <a:rPr lang="en-IN" sz="2000" dirty="0" err="1"/>
              <a:t>ya</a:t>
            </a:r>
            <a:r>
              <a:rPr lang="en-IN" sz="2000" dirty="0"/>
              <a:t> </a:t>
            </a:r>
            <a:r>
              <a:rPr lang="en-IN" sz="2000" dirty="0" err="1"/>
              <a:t>toh</a:t>
            </a:r>
            <a:r>
              <a:rPr lang="en-IN" sz="2000" dirty="0"/>
              <a:t> </a:t>
            </a:r>
            <a:r>
              <a:rPr lang="en-IN" sz="2000" dirty="0" err="1"/>
              <a:t>milega</a:t>
            </a:r>
            <a:r>
              <a:rPr lang="en-IN" sz="2000" dirty="0"/>
              <a:t> </a:t>
            </a:r>
            <a:r>
              <a:rPr lang="en-IN" sz="2000" dirty="0" err="1"/>
              <a:t>ya</a:t>
            </a:r>
            <a:r>
              <a:rPr lang="en-IN" sz="2000" dirty="0"/>
              <a:t> fail </a:t>
            </a:r>
            <a:r>
              <a:rPr lang="en-IN" sz="2000" dirty="0" err="1"/>
              <a:t>hoga</a:t>
            </a:r>
            <a:r>
              <a:rPr lang="en-IN" sz="2000" dirty="0"/>
              <a:t>”</a:t>
            </a:r>
          </a:p>
        </p:txBody>
      </p:sp>
      <p:sp>
        <p:nvSpPr>
          <p:cNvPr id="9" name="TextBox 8">
            <a:extLst>
              <a:ext uri="{FF2B5EF4-FFF2-40B4-BE49-F238E27FC236}">
                <a16:creationId xmlns:a16="http://schemas.microsoft.com/office/drawing/2014/main" id="{FB851DD9-1F35-B2E2-BE70-640B97B38FF2}"/>
              </a:ext>
            </a:extLst>
          </p:cNvPr>
          <p:cNvSpPr txBox="1"/>
          <p:nvPr/>
        </p:nvSpPr>
        <p:spPr>
          <a:xfrm>
            <a:off x="5516563" y="3239166"/>
            <a:ext cx="3094037" cy="258532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t>Start Promise</a:t>
            </a:r>
          </a:p>
          <a:p>
            <a:r>
              <a:rPr lang="en-IN" dirty="0"/>
              <a:t>     ↓</a:t>
            </a:r>
          </a:p>
          <a:p>
            <a:r>
              <a:rPr lang="en-IN" dirty="0"/>
              <a:t>  Pending</a:t>
            </a:r>
          </a:p>
          <a:p>
            <a:r>
              <a:rPr lang="en-IN" dirty="0"/>
              <a:t>     ↓</a:t>
            </a:r>
          </a:p>
          <a:p>
            <a:r>
              <a:rPr lang="en-IN" dirty="0"/>
              <a:t> ┌───┐</a:t>
            </a:r>
          </a:p>
          <a:p>
            <a:r>
              <a:rPr lang="en-IN" dirty="0"/>
              <a:t> ↓               ↓</a:t>
            </a:r>
          </a:p>
          <a:p>
            <a:r>
              <a:rPr lang="en-IN" dirty="0"/>
              <a:t>Resolved ✅     Rejected ❌</a:t>
            </a:r>
          </a:p>
          <a:p>
            <a:r>
              <a:rPr lang="en-IN" dirty="0"/>
              <a:t> ↓               ↓</a:t>
            </a:r>
          </a:p>
          <a:p>
            <a:r>
              <a:rPr lang="en-IN" dirty="0"/>
              <a:t>then()          catch()</a:t>
            </a:r>
          </a:p>
        </p:txBody>
      </p:sp>
      <p:sp>
        <p:nvSpPr>
          <p:cNvPr id="11" name="TextBox 10">
            <a:extLst>
              <a:ext uri="{FF2B5EF4-FFF2-40B4-BE49-F238E27FC236}">
                <a16:creationId xmlns:a16="http://schemas.microsoft.com/office/drawing/2014/main" id="{5D7DD023-DB08-3D55-9F27-82F7166C2E02}"/>
              </a:ext>
            </a:extLst>
          </p:cNvPr>
          <p:cNvSpPr txBox="1"/>
          <p:nvPr/>
        </p:nvSpPr>
        <p:spPr>
          <a:xfrm>
            <a:off x="533400" y="3845639"/>
            <a:ext cx="6365630" cy="2585323"/>
          </a:xfrm>
          <a:prstGeom prst="rect">
            <a:avLst/>
          </a:prstGeom>
          <a:noFill/>
        </p:spPr>
        <p:txBody>
          <a:bodyPr wrap="square">
            <a:spAutoFit/>
          </a:bodyPr>
          <a:lstStyle/>
          <a:p>
            <a:r>
              <a:rPr lang="en-IN" dirty="0"/>
              <a:t>CODE-</a:t>
            </a:r>
          </a:p>
          <a:p>
            <a:r>
              <a:rPr lang="en-IN" dirty="0"/>
              <a:t>let promise = new Promise(function(resolve, reject) {</a:t>
            </a:r>
          </a:p>
          <a:p>
            <a:r>
              <a:rPr lang="en-IN" dirty="0"/>
              <a:t>    let success = true;</a:t>
            </a:r>
          </a:p>
          <a:p>
            <a:r>
              <a:rPr lang="en-IN" dirty="0"/>
              <a:t>    if(success) {</a:t>
            </a:r>
          </a:p>
          <a:p>
            <a:r>
              <a:rPr lang="en-IN" dirty="0"/>
              <a:t>        resolve("Kaam </a:t>
            </a:r>
            <a:r>
              <a:rPr lang="en-IN" dirty="0" err="1"/>
              <a:t>ho</a:t>
            </a:r>
            <a:r>
              <a:rPr lang="en-IN" dirty="0"/>
              <a:t> </a:t>
            </a:r>
            <a:r>
              <a:rPr lang="en-IN" dirty="0" err="1"/>
              <a:t>gaya</a:t>
            </a:r>
            <a:r>
              <a:rPr lang="en-IN" dirty="0"/>
              <a:t> ✅");</a:t>
            </a:r>
          </a:p>
          <a:p>
            <a:r>
              <a:rPr lang="en-IN" dirty="0"/>
              <a:t>    } else {</a:t>
            </a:r>
          </a:p>
          <a:p>
            <a:r>
              <a:rPr lang="en-IN" dirty="0"/>
              <a:t>        reject("Kaam fail ❌");</a:t>
            </a:r>
          </a:p>
          <a:p>
            <a:r>
              <a:rPr lang="en-IN" dirty="0"/>
              <a:t>    }</a:t>
            </a:r>
          </a:p>
          <a:p>
            <a:r>
              <a:rPr lang="en-IN" dirty="0"/>
              <a:t>});</a:t>
            </a:r>
          </a:p>
        </p:txBody>
      </p:sp>
      <p:sp>
        <p:nvSpPr>
          <p:cNvPr id="15" name="TextBox 14">
            <a:extLst>
              <a:ext uri="{FF2B5EF4-FFF2-40B4-BE49-F238E27FC236}">
                <a16:creationId xmlns:a16="http://schemas.microsoft.com/office/drawing/2014/main" id="{BA049F62-6EF3-278B-39F6-281C3BFB418C}"/>
              </a:ext>
            </a:extLst>
          </p:cNvPr>
          <p:cNvSpPr txBox="1"/>
          <p:nvPr/>
        </p:nvSpPr>
        <p:spPr>
          <a:xfrm>
            <a:off x="168518" y="2715984"/>
            <a:ext cx="6537081" cy="1179810"/>
          </a:xfrm>
          <a:prstGeom prst="rect">
            <a:avLst/>
          </a:prstGeom>
          <a:noFill/>
        </p:spPr>
        <p:txBody>
          <a:bodyPr wrap="square">
            <a:spAutoFit/>
          </a:bodyPr>
          <a:lstStyle/>
          <a:p>
            <a:pPr algn="l" rtl="0" fontAlgn="base">
              <a:spcAft>
                <a:spcPts val="750"/>
              </a:spcAft>
              <a:buNone/>
            </a:pPr>
            <a:r>
              <a:rPr lang="en-US" sz="1600" b="1" i="0" dirty="0">
                <a:solidFill>
                  <a:srgbClr val="273239"/>
                </a:solidFill>
                <a:effectLst/>
                <a:latin typeface="Nunito" pitchFamily="2" charset="0"/>
              </a:rPr>
              <a:t>Syntax:</a:t>
            </a:r>
            <a:endParaRPr lang="en-US" sz="1600" b="0" i="0" dirty="0">
              <a:solidFill>
                <a:srgbClr val="273239"/>
              </a:solidFill>
              <a:effectLst/>
              <a:latin typeface="Nunito" pitchFamily="2" charset="0"/>
            </a:endParaRPr>
          </a:p>
          <a:p>
            <a:pPr algn="l" fontAlgn="base">
              <a:spcAft>
                <a:spcPts val="750"/>
              </a:spcAft>
              <a:buNone/>
            </a:pPr>
            <a:r>
              <a:rPr lang="en-US" sz="1600" b="0" i="0" dirty="0">
                <a:effectLst/>
                <a:latin typeface="Consolas" panose="020B0609020204030204" pitchFamily="49" charset="0"/>
              </a:rPr>
              <a:t>let promise = new Promise(function(resolve, reject){</a:t>
            </a:r>
            <a:br>
              <a:rPr lang="en-US" sz="1600" b="0" i="0" dirty="0">
                <a:effectLst/>
                <a:latin typeface="Consolas" panose="020B0609020204030204" pitchFamily="49" charset="0"/>
              </a:rPr>
            </a:br>
            <a:r>
              <a:rPr lang="en-US" sz="1600" b="0" i="0" dirty="0">
                <a:effectLst/>
                <a:latin typeface="Consolas" panose="020B0609020204030204" pitchFamily="49" charset="0"/>
              </a:rPr>
              <a:t>     //do something</a:t>
            </a:r>
            <a:br>
              <a:rPr lang="en-US" sz="1600" b="0" i="0" dirty="0">
                <a:effectLst/>
                <a:latin typeface="Consolas" panose="020B0609020204030204" pitchFamily="49" charset="0"/>
              </a:rPr>
            </a:br>
            <a:r>
              <a:rPr lang="en-US" sz="1600" b="0" i="0" dirty="0">
                <a:effectLst/>
                <a:latin typeface="Consolas" panose="020B0609020204030204" pitchFamily="49" charset="0"/>
              </a:rPr>
              <a:t>});</a:t>
            </a:r>
          </a:p>
        </p:txBody>
      </p:sp>
    </p:spTree>
    <p:extLst>
      <p:ext uri="{BB962C8B-B14F-4D97-AF65-F5344CB8AC3E}">
        <p14:creationId xmlns:p14="http://schemas.microsoft.com/office/powerpoint/2010/main" val="9492881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1B0E13B-5D85-3009-98EA-36B9B61DC668}"/>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62E75C41-0338-2ABF-57F9-9DF19C48C3F8}"/>
              </a:ext>
            </a:extLst>
          </p:cNvPr>
          <p:cNvSpPr>
            <a:spLocks noGrp="1"/>
          </p:cNvSpPr>
          <p:nvPr>
            <p:ph type="sldNum" sz="quarter" idx="12"/>
          </p:nvPr>
        </p:nvSpPr>
        <p:spPr/>
        <p:txBody>
          <a:bodyPr/>
          <a:lstStyle/>
          <a:p>
            <a:fld id="{CB779743-7B81-4FB7-A3E2-1ACEC99CD8CF}" type="slidenum">
              <a:rPr lang="en-US" smtClean="0"/>
              <a:t>26</a:t>
            </a:fld>
            <a:endParaRPr lang="en-US"/>
          </a:p>
        </p:txBody>
      </p:sp>
      <p:sp>
        <p:nvSpPr>
          <p:cNvPr id="13" name="TextBox 12">
            <a:extLst>
              <a:ext uri="{FF2B5EF4-FFF2-40B4-BE49-F238E27FC236}">
                <a16:creationId xmlns:a16="http://schemas.microsoft.com/office/drawing/2014/main" id="{4184D46C-860D-FB52-B32B-6BE914A51B82}"/>
              </a:ext>
            </a:extLst>
          </p:cNvPr>
          <p:cNvSpPr txBox="1"/>
          <p:nvPr/>
        </p:nvSpPr>
        <p:spPr>
          <a:xfrm>
            <a:off x="0" y="19050"/>
            <a:ext cx="9105900" cy="1200329"/>
          </a:xfrm>
          <a:prstGeom prst="rect">
            <a:avLst/>
          </a:prstGeom>
          <a:noFill/>
        </p:spPr>
        <p:txBody>
          <a:bodyPr wrap="square">
            <a:spAutoFit/>
          </a:bodyPr>
          <a:lstStyle/>
          <a:p>
            <a:pPr fontAlgn="base"/>
            <a:r>
              <a:rPr lang="en-US" b="1" dirty="0"/>
              <a:t>Pending:</a:t>
            </a:r>
            <a:r>
              <a:rPr lang="en-US" dirty="0"/>
              <a:t> The task is in the initial state.</a:t>
            </a:r>
          </a:p>
          <a:p>
            <a:pPr fontAlgn="base"/>
            <a:r>
              <a:rPr lang="en-US" b="1" dirty="0"/>
              <a:t>Fulfilled: </a:t>
            </a:r>
            <a:r>
              <a:rPr lang="en-US" dirty="0"/>
              <a:t>The task was completed successfully, and the result is available.</a:t>
            </a:r>
          </a:p>
          <a:p>
            <a:pPr fontAlgn="base"/>
            <a:r>
              <a:rPr lang="en-US" b="1" dirty="0"/>
              <a:t>Rejected:</a:t>
            </a:r>
            <a:r>
              <a:rPr lang="en-US" dirty="0"/>
              <a:t> The task failed, and an error is provided.</a:t>
            </a:r>
          </a:p>
          <a:p>
            <a:pPr fontAlgn="base"/>
            <a:endParaRPr lang="en-US" dirty="0"/>
          </a:p>
        </p:txBody>
      </p:sp>
      <p:sp>
        <p:nvSpPr>
          <p:cNvPr id="5" name="TextBox 4">
            <a:extLst>
              <a:ext uri="{FF2B5EF4-FFF2-40B4-BE49-F238E27FC236}">
                <a16:creationId xmlns:a16="http://schemas.microsoft.com/office/drawing/2014/main" id="{B604981F-EFB6-C952-8074-15D96477BE7A}"/>
              </a:ext>
            </a:extLst>
          </p:cNvPr>
          <p:cNvSpPr txBox="1"/>
          <p:nvPr/>
        </p:nvSpPr>
        <p:spPr>
          <a:xfrm>
            <a:off x="76200" y="4321076"/>
            <a:ext cx="9086850" cy="2308324"/>
          </a:xfrm>
          <a:prstGeom prst="rect">
            <a:avLst/>
          </a:prstGeom>
          <a:noFill/>
        </p:spPr>
        <p:txBody>
          <a:bodyPr wrap="square">
            <a:spAutoFit/>
          </a:bodyPr>
          <a:lstStyle/>
          <a:p>
            <a:r>
              <a:rPr lang="en-IN" dirty="0"/>
              <a:t>let </a:t>
            </a:r>
            <a:r>
              <a:rPr lang="en-IN" dirty="0" err="1"/>
              <a:t>checkEven</a:t>
            </a:r>
            <a:r>
              <a:rPr lang="en-IN" dirty="0"/>
              <a:t> = new Promise((resolve, reject) =&gt; {</a:t>
            </a:r>
          </a:p>
          <a:p>
            <a:r>
              <a:rPr lang="en-IN" dirty="0"/>
              <a:t>    let number = 4;</a:t>
            </a:r>
          </a:p>
          <a:p>
            <a:r>
              <a:rPr lang="en-IN" dirty="0"/>
              <a:t>    if (number % 2 === 0) resolve("The number is even!");</a:t>
            </a:r>
          </a:p>
          <a:p>
            <a:r>
              <a:rPr lang="en-IN" dirty="0"/>
              <a:t>    else reject("The number is odd!");</a:t>
            </a:r>
          </a:p>
          <a:p>
            <a:r>
              <a:rPr lang="en-IN" dirty="0"/>
              <a:t>});</a:t>
            </a:r>
          </a:p>
          <a:p>
            <a:r>
              <a:rPr lang="en-IN" dirty="0" err="1"/>
              <a:t>checkEven</a:t>
            </a:r>
            <a:endParaRPr lang="en-IN" dirty="0"/>
          </a:p>
          <a:p>
            <a:r>
              <a:rPr lang="en-IN" dirty="0"/>
              <a:t>    .then((message) =&gt; console.log(message)) // On success</a:t>
            </a:r>
          </a:p>
          <a:p>
            <a:r>
              <a:rPr lang="en-IN" dirty="0"/>
              <a:t>    .catch((error) =&gt; </a:t>
            </a:r>
            <a:r>
              <a:rPr lang="en-IN" dirty="0" err="1"/>
              <a:t>console.error</a:t>
            </a:r>
            <a:r>
              <a:rPr lang="en-IN" dirty="0"/>
              <a:t>(error)); // On failure</a:t>
            </a:r>
          </a:p>
        </p:txBody>
      </p:sp>
      <p:sp>
        <p:nvSpPr>
          <p:cNvPr id="7" name="TextBox 6">
            <a:extLst>
              <a:ext uri="{FF2B5EF4-FFF2-40B4-BE49-F238E27FC236}">
                <a16:creationId xmlns:a16="http://schemas.microsoft.com/office/drawing/2014/main" id="{CEF584BB-27F6-75BE-4B8C-F105C3554C34}"/>
              </a:ext>
            </a:extLst>
          </p:cNvPr>
          <p:cNvSpPr txBox="1"/>
          <p:nvPr/>
        </p:nvSpPr>
        <p:spPr>
          <a:xfrm>
            <a:off x="19050" y="838200"/>
            <a:ext cx="9067800" cy="3139321"/>
          </a:xfrm>
          <a:prstGeom prst="rect">
            <a:avLst/>
          </a:prstGeom>
          <a:noFill/>
        </p:spPr>
        <p:txBody>
          <a:bodyPr wrap="square">
            <a:spAutoFit/>
          </a:bodyPr>
          <a:lstStyle/>
          <a:p>
            <a:pPr fontAlgn="base"/>
            <a:r>
              <a:rPr lang="en-US" b="1" dirty="0"/>
              <a:t>Syntax</a:t>
            </a:r>
            <a:endParaRPr lang="en-US" dirty="0"/>
          </a:p>
          <a:p>
            <a:pPr fontAlgn="base"/>
            <a:r>
              <a:rPr lang="en-US" i="1" dirty="0"/>
              <a:t>let promise = new Promise((resolve, reject) =&gt; {</a:t>
            </a:r>
            <a:br>
              <a:rPr lang="en-US" i="1" dirty="0"/>
            </a:br>
            <a:r>
              <a:rPr lang="en-US" i="1" dirty="0"/>
              <a:t>// Perform async operation</a:t>
            </a:r>
            <a:br>
              <a:rPr lang="en-US" i="1" dirty="0"/>
            </a:br>
            <a:r>
              <a:rPr lang="en-US" i="1" dirty="0"/>
              <a:t>if (</a:t>
            </a:r>
            <a:r>
              <a:rPr lang="en-US" i="1" dirty="0" err="1"/>
              <a:t>operationSuccessful</a:t>
            </a:r>
            <a:r>
              <a:rPr lang="en-US" i="1" dirty="0"/>
              <a:t>) {</a:t>
            </a:r>
            <a:br>
              <a:rPr lang="en-US" i="1" dirty="0"/>
            </a:br>
            <a:r>
              <a:rPr lang="en-US" i="1" dirty="0"/>
              <a:t>resolve("Task successful");</a:t>
            </a:r>
            <a:br>
              <a:rPr lang="en-US" i="1" dirty="0"/>
            </a:br>
            <a:r>
              <a:rPr lang="en-US" i="1" dirty="0"/>
              <a:t>} else {</a:t>
            </a:r>
            <a:br>
              <a:rPr lang="en-US" i="1" dirty="0"/>
            </a:br>
            <a:r>
              <a:rPr lang="en-US" i="1" dirty="0"/>
              <a:t>reject("Task failed");</a:t>
            </a:r>
            <a:br>
              <a:rPr lang="en-US" i="1" dirty="0"/>
            </a:br>
            <a:r>
              <a:rPr lang="en-US" i="1" dirty="0"/>
              <a:t>}</a:t>
            </a:r>
            <a:br>
              <a:rPr lang="en-US" i="1" dirty="0"/>
            </a:br>
            <a:r>
              <a:rPr lang="en-US" i="1" dirty="0"/>
              <a:t>});</a:t>
            </a:r>
          </a:p>
          <a:p>
            <a:pPr fontAlgn="base"/>
            <a:r>
              <a:rPr lang="en-US" b="1" dirty="0"/>
              <a:t>resolve(value):</a:t>
            </a:r>
            <a:r>
              <a:rPr lang="en-US" dirty="0"/>
              <a:t> Marks the promise as fulfilled and provides a result.</a:t>
            </a:r>
          </a:p>
          <a:p>
            <a:pPr fontAlgn="base"/>
            <a:r>
              <a:rPr lang="en-US" b="1" dirty="0"/>
              <a:t>reject(error): </a:t>
            </a:r>
            <a:r>
              <a:rPr lang="en-US" dirty="0"/>
              <a:t>Marks the promise as rejected with an error.</a:t>
            </a:r>
          </a:p>
        </p:txBody>
      </p:sp>
      <p:sp>
        <p:nvSpPr>
          <p:cNvPr id="9" name="TextBox 8">
            <a:extLst>
              <a:ext uri="{FF2B5EF4-FFF2-40B4-BE49-F238E27FC236}">
                <a16:creationId xmlns:a16="http://schemas.microsoft.com/office/drawing/2014/main" id="{067042B3-3225-0776-9273-0D049DAA7C43}"/>
              </a:ext>
            </a:extLst>
          </p:cNvPr>
          <p:cNvSpPr txBox="1"/>
          <p:nvPr/>
        </p:nvSpPr>
        <p:spPr>
          <a:xfrm>
            <a:off x="76200" y="3916819"/>
            <a:ext cx="9105900" cy="646331"/>
          </a:xfrm>
          <a:prstGeom prst="rect">
            <a:avLst/>
          </a:prstGeom>
          <a:noFill/>
        </p:spPr>
        <p:txBody>
          <a:bodyPr wrap="square">
            <a:spAutoFit/>
          </a:bodyPr>
          <a:lstStyle/>
          <a:p>
            <a:r>
              <a:rPr lang="en-US" b="1" dirty="0"/>
              <a:t>Here is an example Promise to check if a number is even. If yes, it resolves; otherwise, it rejects.</a:t>
            </a:r>
            <a:endParaRPr lang="en-IN" b="1" dirty="0"/>
          </a:p>
        </p:txBody>
      </p:sp>
    </p:spTree>
    <p:extLst>
      <p:ext uri="{BB962C8B-B14F-4D97-AF65-F5344CB8AC3E}">
        <p14:creationId xmlns:p14="http://schemas.microsoft.com/office/powerpoint/2010/main" val="21709889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4C4AB53-CBF4-AFCB-A500-723FEC283AAD}"/>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ACDA5BFA-BC86-C66A-6A80-124F94BB6EE5}"/>
              </a:ext>
            </a:extLst>
          </p:cNvPr>
          <p:cNvSpPr>
            <a:spLocks noGrp="1"/>
          </p:cNvSpPr>
          <p:nvPr>
            <p:ph type="sldNum" sz="quarter" idx="12"/>
          </p:nvPr>
        </p:nvSpPr>
        <p:spPr/>
        <p:txBody>
          <a:bodyPr/>
          <a:lstStyle/>
          <a:p>
            <a:fld id="{CB779743-7B81-4FB7-A3E2-1ACEC99CD8CF}" type="slidenum">
              <a:rPr lang="en-US" smtClean="0"/>
              <a:t>27</a:t>
            </a:fld>
            <a:endParaRPr lang="en-US"/>
          </a:p>
        </p:txBody>
      </p:sp>
      <p:sp>
        <p:nvSpPr>
          <p:cNvPr id="5" name="TextBox 4">
            <a:extLst>
              <a:ext uri="{FF2B5EF4-FFF2-40B4-BE49-F238E27FC236}">
                <a16:creationId xmlns:a16="http://schemas.microsoft.com/office/drawing/2014/main" id="{1A56FA75-53E1-1A13-76B4-20775189A1A6}"/>
              </a:ext>
            </a:extLst>
          </p:cNvPr>
          <p:cNvSpPr txBox="1"/>
          <p:nvPr/>
        </p:nvSpPr>
        <p:spPr>
          <a:xfrm>
            <a:off x="19050" y="0"/>
            <a:ext cx="7677150" cy="646331"/>
          </a:xfrm>
          <a:prstGeom prst="rect">
            <a:avLst/>
          </a:prstGeom>
          <a:noFill/>
        </p:spPr>
        <p:txBody>
          <a:bodyPr wrap="square">
            <a:spAutoFit/>
          </a:bodyPr>
          <a:lstStyle/>
          <a:p>
            <a:pPr fontAlgn="base"/>
            <a:r>
              <a:rPr lang="en-US" b="1" dirty="0"/>
              <a:t> Wrapping Callbacks into Promises</a:t>
            </a:r>
          </a:p>
          <a:p>
            <a:pPr fontAlgn="base"/>
            <a:r>
              <a:rPr lang="en-US" dirty="0"/>
              <a:t>Convert callback-based async functions into promises.</a:t>
            </a:r>
          </a:p>
        </p:txBody>
      </p:sp>
      <p:sp>
        <p:nvSpPr>
          <p:cNvPr id="7" name="TextBox 6">
            <a:extLst>
              <a:ext uri="{FF2B5EF4-FFF2-40B4-BE49-F238E27FC236}">
                <a16:creationId xmlns:a16="http://schemas.microsoft.com/office/drawing/2014/main" id="{F1B26FDB-3712-E848-C03A-7A00BDD83915}"/>
              </a:ext>
            </a:extLst>
          </p:cNvPr>
          <p:cNvSpPr txBox="1"/>
          <p:nvPr/>
        </p:nvSpPr>
        <p:spPr>
          <a:xfrm>
            <a:off x="266700" y="646331"/>
            <a:ext cx="8115300" cy="3416320"/>
          </a:xfrm>
          <a:prstGeom prst="rect">
            <a:avLst/>
          </a:prstGeom>
          <a:noFill/>
        </p:spPr>
        <p:txBody>
          <a:bodyPr wrap="square">
            <a:spAutoFit/>
          </a:bodyPr>
          <a:lstStyle/>
          <a:p>
            <a:r>
              <a:rPr lang="en-IN" dirty="0"/>
              <a:t>function </a:t>
            </a:r>
            <a:r>
              <a:rPr lang="en-IN" dirty="0" err="1"/>
              <a:t>loadData</a:t>
            </a:r>
            <a:r>
              <a:rPr lang="en-IN" dirty="0"/>
              <a:t>(callback) {</a:t>
            </a:r>
          </a:p>
          <a:p>
            <a:r>
              <a:rPr lang="en-IN" dirty="0"/>
              <a:t>    </a:t>
            </a:r>
            <a:r>
              <a:rPr lang="en-IN" dirty="0" err="1"/>
              <a:t>setTimeout</a:t>
            </a:r>
            <a:r>
              <a:rPr lang="en-IN" dirty="0"/>
              <a:t>(() =&gt; </a:t>
            </a:r>
          </a:p>
          <a:p>
            <a:r>
              <a:rPr lang="en-IN" dirty="0"/>
              <a:t>        callback("Data loaded"), 1000);</a:t>
            </a:r>
          </a:p>
          <a:p>
            <a:r>
              <a:rPr lang="en-IN" dirty="0"/>
              <a:t>}</a:t>
            </a:r>
          </a:p>
          <a:p>
            <a:r>
              <a:rPr lang="en-IN" dirty="0"/>
              <a:t>function </a:t>
            </a:r>
            <a:r>
              <a:rPr lang="en-IN" dirty="0" err="1"/>
              <a:t>promisifiedLoadData</a:t>
            </a:r>
            <a:r>
              <a:rPr lang="en-IN" dirty="0"/>
              <a:t>() {</a:t>
            </a:r>
          </a:p>
          <a:p>
            <a:r>
              <a:rPr lang="en-IN" dirty="0"/>
              <a:t>    return new Promise((resolve) =&gt; {</a:t>
            </a:r>
          </a:p>
          <a:p>
            <a:r>
              <a:rPr lang="en-IN" dirty="0"/>
              <a:t>        </a:t>
            </a:r>
            <a:r>
              <a:rPr lang="en-IN" dirty="0" err="1"/>
              <a:t>loadData</a:t>
            </a:r>
            <a:r>
              <a:rPr lang="en-IN" dirty="0"/>
              <a:t>((result) =&gt; </a:t>
            </a:r>
          </a:p>
          <a:p>
            <a:r>
              <a:rPr lang="en-IN" dirty="0"/>
              <a:t>            resolve(result));</a:t>
            </a:r>
          </a:p>
          <a:p>
            <a:r>
              <a:rPr lang="en-IN" dirty="0"/>
              <a:t>    });</a:t>
            </a:r>
          </a:p>
          <a:p>
            <a:r>
              <a:rPr lang="en-IN" dirty="0"/>
              <a:t>}</a:t>
            </a:r>
          </a:p>
          <a:p>
            <a:r>
              <a:rPr lang="en-IN" dirty="0" err="1"/>
              <a:t>promisifiedLoadData</a:t>
            </a:r>
            <a:r>
              <a:rPr lang="en-IN" dirty="0"/>
              <a:t>().then((data) =&gt; </a:t>
            </a:r>
          </a:p>
          <a:p>
            <a:r>
              <a:rPr lang="en-IN" dirty="0"/>
              <a:t>    console.log(data));</a:t>
            </a:r>
          </a:p>
        </p:txBody>
      </p:sp>
      <p:sp>
        <p:nvSpPr>
          <p:cNvPr id="9" name="TextBox 8">
            <a:extLst>
              <a:ext uri="{FF2B5EF4-FFF2-40B4-BE49-F238E27FC236}">
                <a16:creationId xmlns:a16="http://schemas.microsoft.com/office/drawing/2014/main" id="{35931088-7035-0B21-6EA2-0F299137B535}"/>
              </a:ext>
            </a:extLst>
          </p:cNvPr>
          <p:cNvSpPr txBox="1"/>
          <p:nvPr/>
        </p:nvSpPr>
        <p:spPr>
          <a:xfrm>
            <a:off x="266700" y="4074460"/>
            <a:ext cx="7734300" cy="2162130"/>
          </a:xfrm>
          <a:prstGeom prst="rect">
            <a:avLst/>
          </a:prstGeom>
          <a:noFill/>
        </p:spPr>
        <p:txBody>
          <a:bodyPr wrap="square">
            <a:spAutoFit/>
          </a:bodyPr>
          <a:lstStyle/>
          <a:p>
            <a:pPr algn="l" fontAlgn="base">
              <a:lnSpc>
                <a:spcPts val="2100"/>
              </a:lnSpc>
              <a:spcBef>
                <a:spcPts val="1800"/>
              </a:spcBef>
              <a:spcAft>
                <a:spcPts val="1800"/>
              </a:spcAft>
              <a:buNone/>
            </a:pPr>
            <a:r>
              <a:rPr lang="en-US" b="1" i="0" dirty="0">
                <a:solidFill>
                  <a:srgbClr val="273239"/>
                </a:solidFill>
                <a:effectLst/>
                <a:latin typeface="Nunito" pitchFamily="2" charset="0"/>
              </a:rPr>
              <a:t>Benefits of Promises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Avoid Callback Hell: </a:t>
            </a:r>
            <a:r>
              <a:rPr lang="en-US" b="0" i="0" dirty="0">
                <a:solidFill>
                  <a:srgbClr val="273239"/>
                </a:solidFill>
                <a:effectLst/>
                <a:latin typeface="Nunito" pitchFamily="2" charset="0"/>
              </a:rPr>
              <a:t>Promises organize asynchronous code more neatly than nested callbacks.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Error Handling: </a:t>
            </a:r>
            <a:r>
              <a:rPr lang="en-US" b="0" i="0" dirty="0">
                <a:solidFill>
                  <a:srgbClr val="273239"/>
                </a:solidFill>
                <a:effectLst/>
                <a:latin typeface="Nunito" pitchFamily="2" charset="0"/>
              </a:rPr>
              <a:t>Errors can be caught in one place using .catch() Method.</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Chaining: </a:t>
            </a:r>
            <a:r>
              <a:rPr lang="en-US" b="0" i="0" dirty="0">
                <a:solidFill>
                  <a:srgbClr val="273239"/>
                </a:solidFill>
                <a:effectLst/>
                <a:latin typeface="Nunito" pitchFamily="2" charset="0"/>
              </a:rPr>
              <a:t>Perform tasks sequentially with .then() Method.</a:t>
            </a:r>
          </a:p>
        </p:txBody>
      </p:sp>
    </p:spTree>
    <p:extLst>
      <p:ext uri="{BB962C8B-B14F-4D97-AF65-F5344CB8AC3E}">
        <p14:creationId xmlns:p14="http://schemas.microsoft.com/office/powerpoint/2010/main" val="36826957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DB5FF0D-7F30-0CB4-9497-0C2DAEB2CDDB}"/>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EDC3944E-54C4-E4B3-8F6C-5C5FE83549B0}"/>
              </a:ext>
            </a:extLst>
          </p:cNvPr>
          <p:cNvSpPr>
            <a:spLocks noGrp="1"/>
          </p:cNvSpPr>
          <p:nvPr>
            <p:ph type="sldNum" sz="quarter" idx="12"/>
          </p:nvPr>
        </p:nvSpPr>
        <p:spPr/>
        <p:txBody>
          <a:bodyPr/>
          <a:lstStyle/>
          <a:p>
            <a:fld id="{CB779743-7B81-4FB7-A3E2-1ACEC99CD8CF}" type="slidenum">
              <a:rPr lang="en-US" smtClean="0"/>
              <a:t>28</a:t>
            </a:fld>
            <a:endParaRPr lang="en-US"/>
          </a:p>
        </p:txBody>
      </p:sp>
      <p:sp>
        <p:nvSpPr>
          <p:cNvPr id="5" name="TextBox 4">
            <a:extLst>
              <a:ext uri="{FF2B5EF4-FFF2-40B4-BE49-F238E27FC236}">
                <a16:creationId xmlns:a16="http://schemas.microsoft.com/office/drawing/2014/main" id="{B713A65A-EF36-4DE2-18D6-038C23FB6573}"/>
              </a:ext>
            </a:extLst>
          </p:cNvPr>
          <p:cNvSpPr txBox="1"/>
          <p:nvPr/>
        </p:nvSpPr>
        <p:spPr>
          <a:xfrm>
            <a:off x="0" y="26942"/>
            <a:ext cx="4572000" cy="403316"/>
          </a:xfrm>
          <a:prstGeom prst="rect">
            <a:avLst/>
          </a:prstGeom>
          <a:noFill/>
        </p:spPr>
        <p:txBody>
          <a:bodyPr wrap="square">
            <a:spAutoFit/>
          </a:bodyPr>
          <a:lstStyle/>
          <a:p>
            <a:pPr algn="l">
              <a:lnSpc>
                <a:spcPts val="2625"/>
              </a:lnSpc>
              <a:buNone/>
            </a:pPr>
            <a:r>
              <a:rPr lang="en-US" b="1" i="0" dirty="0">
                <a:solidFill>
                  <a:srgbClr val="273239"/>
                </a:solidFill>
                <a:effectLst/>
                <a:latin typeface="Source Sans 3"/>
              </a:rPr>
              <a:t>Async and Await in JavaScript</a:t>
            </a:r>
          </a:p>
        </p:txBody>
      </p:sp>
      <p:sp>
        <p:nvSpPr>
          <p:cNvPr id="7" name="TextBox 6">
            <a:extLst>
              <a:ext uri="{FF2B5EF4-FFF2-40B4-BE49-F238E27FC236}">
                <a16:creationId xmlns:a16="http://schemas.microsoft.com/office/drawing/2014/main" id="{1B49DC12-4AF5-AF52-3721-B20E1DEACB4E}"/>
              </a:ext>
            </a:extLst>
          </p:cNvPr>
          <p:cNvSpPr txBox="1"/>
          <p:nvPr/>
        </p:nvSpPr>
        <p:spPr>
          <a:xfrm>
            <a:off x="0" y="430258"/>
            <a:ext cx="9144000" cy="3334246"/>
          </a:xfrm>
          <a:prstGeom prst="rect">
            <a:avLst/>
          </a:prstGeom>
          <a:noFill/>
        </p:spPr>
        <p:txBody>
          <a:bodyPr wrap="square">
            <a:spAutoFit/>
          </a:bodyPr>
          <a:lstStyle/>
          <a:p>
            <a:pPr algn="l" rtl="0" fontAlgn="base">
              <a:spcAft>
                <a:spcPts val="750"/>
              </a:spcAft>
              <a:buNone/>
            </a:pPr>
            <a:r>
              <a:rPr lang="en-US" b="0" i="0" dirty="0">
                <a:solidFill>
                  <a:srgbClr val="273239"/>
                </a:solidFill>
                <a:effectLst/>
                <a:latin typeface="Nunito" pitchFamily="2" charset="0"/>
              </a:rPr>
              <a:t>Async/Await in JavaScript allows you to write asynchronous code in a clean, synchronous-like manner, making it easier to read, understand, and maintain while working with promises.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async functions always return a Promise.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await pauses execution until the Promise is resolved or rejected.</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Improves readability compared to .then() and .catch() chaining.</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Makes error handling simpler using try...catch.</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Ideal for managing complex asynchronous flows in a structured way.</a:t>
            </a:r>
          </a:p>
        </p:txBody>
      </p:sp>
      <p:sp>
        <p:nvSpPr>
          <p:cNvPr id="9" name="TextBox 8">
            <a:extLst>
              <a:ext uri="{FF2B5EF4-FFF2-40B4-BE49-F238E27FC236}">
                <a16:creationId xmlns:a16="http://schemas.microsoft.com/office/drawing/2014/main" id="{075AA258-E953-6D37-A945-44F94B7CE7AC}"/>
              </a:ext>
            </a:extLst>
          </p:cNvPr>
          <p:cNvSpPr txBox="1"/>
          <p:nvPr/>
        </p:nvSpPr>
        <p:spPr>
          <a:xfrm>
            <a:off x="1019969" y="3751203"/>
            <a:ext cx="4600574" cy="2862322"/>
          </a:xfrm>
          <a:prstGeom prst="rect">
            <a:avLst/>
          </a:prstGeom>
          <a:noFill/>
        </p:spPr>
        <p:txBody>
          <a:bodyPr wrap="square">
            <a:spAutoFit/>
          </a:bodyPr>
          <a:lstStyle/>
          <a:p>
            <a:pPr algn="l" fontAlgn="base">
              <a:spcAft>
                <a:spcPts val="750"/>
              </a:spcAft>
              <a:buNone/>
            </a:pPr>
            <a:r>
              <a:rPr lang="en-IN" sz="1800" b="0" i="0" dirty="0">
                <a:effectLst/>
                <a:latin typeface="Consolas" panose="020B0609020204030204" pitchFamily="49" charset="0"/>
              </a:rPr>
              <a:t>async function </a:t>
            </a:r>
            <a:r>
              <a:rPr lang="en-IN" sz="1800" b="0" i="0" dirty="0" err="1">
                <a:effectLst/>
                <a:latin typeface="Consolas" panose="020B0609020204030204" pitchFamily="49" charset="0"/>
              </a:rPr>
              <a:t>functionName</a:t>
            </a:r>
            <a:r>
              <a:rPr lang="en-IN" sz="1800" b="0" i="0" dirty="0">
                <a:effectLst/>
                <a:latin typeface="Consolas" panose="020B0609020204030204" pitchFamily="49" charset="0"/>
              </a:rPr>
              <a:t>() {</a:t>
            </a:r>
            <a:br>
              <a:rPr lang="en-IN" sz="1800" b="0" i="0" dirty="0">
                <a:effectLst/>
                <a:latin typeface="Consolas" panose="020B0609020204030204" pitchFamily="49" charset="0"/>
              </a:rPr>
            </a:br>
            <a:r>
              <a:rPr lang="en-IN" sz="1800" b="0" i="0" dirty="0">
                <a:effectLst/>
                <a:latin typeface="Consolas" panose="020B0609020204030204" pitchFamily="49" charset="0"/>
              </a:rPr>
              <a:t>  try {</a:t>
            </a:r>
            <a:br>
              <a:rPr lang="en-IN" sz="1800" b="0" i="0" dirty="0">
                <a:effectLst/>
                <a:latin typeface="Consolas" panose="020B0609020204030204" pitchFamily="49" charset="0"/>
              </a:rPr>
            </a:br>
            <a:r>
              <a:rPr lang="en-IN" sz="1800" b="0" i="0" dirty="0">
                <a:effectLst/>
                <a:latin typeface="Consolas" panose="020B0609020204030204" pitchFamily="49" charset="0"/>
              </a:rPr>
              <a:t>    </a:t>
            </a:r>
            <a:r>
              <a:rPr lang="en-IN" sz="1800" b="0" i="0" dirty="0" err="1">
                <a:effectLst/>
                <a:latin typeface="Consolas" panose="020B0609020204030204" pitchFamily="49" charset="0"/>
              </a:rPr>
              <a:t>const</a:t>
            </a:r>
            <a:r>
              <a:rPr lang="en-IN" sz="1800" b="0" i="0" dirty="0">
                <a:effectLst/>
                <a:latin typeface="Consolas" panose="020B0609020204030204" pitchFamily="49" charset="0"/>
              </a:rPr>
              <a:t> result = await </a:t>
            </a:r>
            <a:r>
              <a:rPr lang="en-IN" sz="1800" b="0" i="0" dirty="0" err="1">
                <a:effectLst/>
                <a:latin typeface="Consolas" panose="020B0609020204030204" pitchFamily="49" charset="0"/>
              </a:rPr>
              <a:t>someAsyncFunction</a:t>
            </a:r>
            <a:r>
              <a:rPr lang="en-IN" sz="1800" b="0" i="0" dirty="0">
                <a:effectLst/>
                <a:latin typeface="Consolas" panose="020B0609020204030204" pitchFamily="49" charset="0"/>
              </a:rPr>
              <a:t>();</a:t>
            </a:r>
            <a:br>
              <a:rPr lang="en-IN" sz="1800" b="0" i="0" dirty="0">
                <a:effectLst/>
                <a:latin typeface="Consolas" panose="020B0609020204030204" pitchFamily="49" charset="0"/>
              </a:rPr>
            </a:br>
            <a:r>
              <a:rPr lang="en-IN" sz="1800" b="0" i="0" dirty="0">
                <a:effectLst/>
                <a:latin typeface="Consolas" panose="020B0609020204030204" pitchFamily="49" charset="0"/>
              </a:rPr>
              <a:t>    console.log(result);</a:t>
            </a:r>
            <a:br>
              <a:rPr lang="en-IN" sz="1800" b="0" i="0" dirty="0">
                <a:effectLst/>
                <a:latin typeface="Consolas" panose="020B0609020204030204" pitchFamily="49" charset="0"/>
              </a:rPr>
            </a:br>
            <a:r>
              <a:rPr lang="en-IN" sz="1800" b="0" i="0" dirty="0">
                <a:effectLst/>
                <a:latin typeface="Consolas" panose="020B0609020204030204" pitchFamily="49" charset="0"/>
              </a:rPr>
              <a:t>  } catch (error) {</a:t>
            </a:r>
            <a:br>
              <a:rPr lang="en-IN" sz="1800" b="0" i="0" dirty="0">
                <a:effectLst/>
                <a:latin typeface="Consolas" panose="020B0609020204030204" pitchFamily="49" charset="0"/>
              </a:rPr>
            </a:br>
            <a:r>
              <a:rPr lang="en-IN" sz="1800" b="0" i="0" dirty="0">
                <a:effectLst/>
                <a:latin typeface="Consolas" panose="020B0609020204030204" pitchFamily="49" charset="0"/>
              </a:rPr>
              <a:t>    </a:t>
            </a:r>
            <a:r>
              <a:rPr lang="en-IN" sz="1800" b="0" i="0" dirty="0" err="1">
                <a:effectLst/>
                <a:latin typeface="Consolas" panose="020B0609020204030204" pitchFamily="49" charset="0"/>
              </a:rPr>
              <a:t>console.error</a:t>
            </a:r>
            <a:r>
              <a:rPr lang="en-IN" sz="1800" b="0" i="0" dirty="0">
                <a:effectLst/>
                <a:latin typeface="Consolas" panose="020B0609020204030204" pitchFamily="49" charset="0"/>
              </a:rPr>
              <a:t>("Error:", </a:t>
            </a:r>
            <a:r>
              <a:rPr lang="en-IN" sz="1800" b="0" i="0" dirty="0" err="1">
                <a:effectLst/>
                <a:latin typeface="Consolas" panose="020B0609020204030204" pitchFamily="49" charset="0"/>
              </a:rPr>
              <a:t>error.message</a:t>
            </a:r>
            <a:r>
              <a:rPr lang="en-IN" sz="1800" b="0" i="0" dirty="0">
                <a:effectLst/>
                <a:latin typeface="Consolas" panose="020B0609020204030204" pitchFamily="49" charset="0"/>
              </a:rPr>
              <a:t>);</a:t>
            </a:r>
            <a:br>
              <a:rPr lang="en-IN" sz="1800" b="0" i="0" dirty="0">
                <a:effectLst/>
                <a:latin typeface="Consolas" panose="020B0609020204030204" pitchFamily="49" charset="0"/>
              </a:rPr>
            </a:br>
            <a:r>
              <a:rPr lang="en-IN" sz="1800" b="0" i="0" dirty="0">
                <a:effectLst/>
                <a:latin typeface="Consolas" panose="020B0609020204030204" pitchFamily="49" charset="0"/>
              </a:rPr>
              <a:t>  }</a:t>
            </a:r>
            <a:br>
              <a:rPr lang="en-IN" sz="1800" b="0" i="0" dirty="0">
                <a:effectLst/>
                <a:latin typeface="Consolas" panose="020B0609020204030204" pitchFamily="49" charset="0"/>
              </a:rPr>
            </a:br>
            <a:r>
              <a:rPr lang="en-IN" sz="1800" b="0" i="0" dirty="0">
                <a:effectLst/>
                <a:latin typeface="Consolas" panose="020B0609020204030204" pitchFamily="49" charset="0"/>
              </a:rPr>
              <a:t>}</a:t>
            </a:r>
          </a:p>
        </p:txBody>
      </p:sp>
    </p:spTree>
    <p:extLst>
      <p:ext uri="{BB962C8B-B14F-4D97-AF65-F5344CB8AC3E}">
        <p14:creationId xmlns:p14="http://schemas.microsoft.com/office/powerpoint/2010/main" val="21068766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BA5D1D7-AA80-6FFB-FC93-E5487B978BA9}"/>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0369D912-780A-154E-CA6C-2E29FBBB18ED}"/>
              </a:ext>
            </a:extLst>
          </p:cNvPr>
          <p:cNvSpPr>
            <a:spLocks noGrp="1"/>
          </p:cNvSpPr>
          <p:nvPr>
            <p:ph type="sldNum" sz="quarter" idx="12"/>
          </p:nvPr>
        </p:nvSpPr>
        <p:spPr/>
        <p:txBody>
          <a:bodyPr/>
          <a:lstStyle/>
          <a:p>
            <a:fld id="{CB779743-7B81-4FB7-A3E2-1ACEC99CD8CF}" type="slidenum">
              <a:rPr lang="en-US" smtClean="0"/>
              <a:t>29</a:t>
            </a:fld>
            <a:endParaRPr lang="en-US"/>
          </a:p>
        </p:txBody>
      </p:sp>
      <p:sp>
        <p:nvSpPr>
          <p:cNvPr id="5" name="TextBox 4">
            <a:extLst>
              <a:ext uri="{FF2B5EF4-FFF2-40B4-BE49-F238E27FC236}">
                <a16:creationId xmlns:a16="http://schemas.microsoft.com/office/drawing/2014/main" id="{F9603E76-7EB8-00E3-29FD-3BE896E59458}"/>
              </a:ext>
            </a:extLst>
          </p:cNvPr>
          <p:cNvSpPr txBox="1"/>
          <p:nvPr/>
        </p:nvSpPr>
        <p:spPr>
          <a:xfrm>
            <a:off x="0" y="-19050"/>
            <a:ext cx="9372600" cy="3880549"/>
          </a:xfrm>
          <a:prstGeom prst="rect">
            <a:avLst/>
          </a:prstGeom>
          <a:noFill/>
        </p:spPr>
        <p:txBody>
          <a:bodyPr wrap="square">
            <a:spAutoFit/>
          </a:bodyPr>
          <a:lstStyle/>
          <a:p>
            <a:pPr algn="l" fontAlgn="base">
              <a:lnSpc>
                <a:spcPts val="2100"/>
              </a:lnSpc>
              <a:buNone/>
            </a:pPr>
            <a:r>
              <a:rPr lang="en-US" b="1" i="0" dirty="0">
                <a:solidFill>
                  <a:srgbClr val="273239"/>
                </a:solidFill>
                <a:effectLst/>
                <a:latin typeface="Nunito" pitchFamily="2" charset="0"/>
              </a:rPr>
              <a:t>Async Function</a:t>
            </a:r>
          </a:p>
          <a:p>
            <a:pPr algn="l" rtl="0" fontAlgn="base">
              <a:spcAft>
                <a:spcPts val="750"/>
              </a:spcAft>
              <a:buNone/>
            </a:pPr>
            <a:r>
              <a:rPr lang="en-US" b="0" i="0" dirty="0">
                <a:solidFill>
                  <a:srgbClr val="273239"/>
                </a:solidFill>
                <a:effectLst/>
                <a:latin typeface="Nunito" pitchFamily="2" charset="0"/>
              </a:rPr>
              <a:t>Async functions let us write promise-based code in a synchronous-looking way, improving readability while keeping the execution non-blocking. An async function always returns a Promise—if it returns a non-promise value, JavaScript automatically wraps it in a resolved Promise.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Makes asynchronous code easier to read and maintain</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Does not block the main execution thread</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Always returns a Promise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Non-promise return values are auto-wrapped in </a:t>
            </a:r>
            <a:r>
              <a:rPr lang="en-US" b="0" i="0" dirty="0" err="1">
                <a:solidFill>
                  <a:srgbClr val="273239"/>
                </a:solidFill>
                <a:effectLst/>
                <a:latin typeface="Nunito" pitchFamily="2" charset="0"/>
              </a:rPr>
              <a:t>Promise.resolve</a:t>
            </a:r>
            <a:r>
              <a:rPr lang="en-US" b="0" i="0" dirty="0">
                <a:solidFill>
                  <a:srgbClr val="273239"/>
                </a:solidFill>
                <a:effectLst/>
                <a:latin typeface="Nunito" pitchFamily="2" charset="0"/>
              </a:rPr>
              <a:t>()</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Works seamlessly with await for handling promises</a:t>
            </a:r>
          </a:p>
        </p:txBody>
      </p:sp>
      <p:sp>
        <p:nvSpPr>
          <p:cNvPr id="7" name="TextBox 6">
            <a:extLst>
              <a:ext uri="{FF2B5EF4-FFF2-40B4-BE49-F238E27FC236}">
                <a16:creationId xmlns:a16="http://schemas.microsoft.com/office/drawing/2014/main" id="{83CBD855-CA68-E8B9-84A5-02433E4A7C83}"/>
              </a:ext>
            </a:extLst>
          </p:cNvPr>
          <p:cNvSpPr txBox="1"/>
          <p:nvPr/>
        </p:nvSpPr>
        <p:spPr>
          <a:xfrm>
            <a:off x="0" y="3861499"/>
            <a:ext cx="4714874" cy="1302921"/>
          </a:xfrm>
          <a:prstGeom prst="rect">
            <a:avLst/>
          </a:prstGeom>
          <a:noFill/>
        </p:spPr>
        <p:txBody>
          <a:bodyPr wrap="square">
            <a:spAutoFit/>
          </a:bodyPr>
          <a:lstStyle/>
          <a:p>
            <a:pPr algn="l" fontAlgn="base">
              <a:spcAft>
                <a:spcPts val="750"/>
              </a:spcAft>
              <a:buNone/>
            </a:pPr>
            <a:r>
              <a:rPr lang="en-US" sz="1800" b="1" i="0" dirty="0">
                <a:effectLst/>
                <a:latin typeface="Consolas" panose="020B0609020204030204" pitchFamily="49" charset="0"/>
              </a:rPr>
              <a:t>async function </a:t>
            </a:r>
            <a:r>
              <a:rPr lang="en-US" sz="1800" b="1" i="0" dirty="0" err="1">
                <a:effectLst/>
                <a:latin typeface="Consolas" panose="020B0609020204030204" pitchFamily="49" charset="0"/>
              </a:rPr>
              <a:t>myFunction</a:t>
            </a:r>
            <a:r>
              <a:rPr lang="en-US" sz="1800" b="1" i="0" dirty="0">
                <a:effectLst/>
                <a:latin typeface="Consolas" panose="020B0609020204030204" pitchFamily="49" charset="0"/>
              </a:rPr>
              <a:t>() {</a:t>
            </a:r>
            <a:br>
              <a:rPr lang="en-US" sz="1800" b="1" i="0" dirty="0">
                <a:effectLst/>
                <a:latin typeface="Consolas" panose="020B0609020204030204" pitchFamily="49" charset="0"/>
              </a:rPr>
            </a:br>
            <a:r>
              <a:rPr lang="en-US" sz="1800" b="1" i="0" dirty="0">
                <a:effectLst/>
                <a:latin typeface="Consolas" panose="020B0609020204030204" pitchFamily="49" charset="0"/>
              </a:rPr>
              <a:t>  return "Hello";</a:t>
            </a:r>
            <a:br>
              <a:rPr lang="en-US" sz="1800" b="1" i="0" dirty="0">
                <a:effectLst/>
                <a:latin typeface="Consolas" panose="020B0609020204030204" pitchFamily="49" charset="0"/>
              </a:rPr>
            </a:br>
            <a:r>
              <a:rPr lang="en-US" sz="1800" b="1" i="0" dirty="0">
                <a:effectLst/>
                <a:latin typeface="Consolas" panose="020B0609020204030204" pitchFamily="49" charset="0"/>
              </a:rPr>
              <a:t>}</a:t>
            </a:r>
          </a:p>
          <a:p>
            <a:pPr algn="l" fontAlgn="base">
              <a:spcAft>
                <a:spcPts val="750"/>
              </a:spcAft>
              <a:buNone/>
            </a:pPr>
            <a:r>
              <a:rPr lang="en-US" b="1" dirty="0">
                <a:latin typeface="Consolas" panose="020B0609020204030204" pitchFamily="49" charset="0"/>
              </a:rPr>
              <a:t>EXAMPLE-</a:t>
            </a:r>
            <a:endParaRPr lang="en-US" sz="1800" b="1" i="0" dirty="0">
              <a:effectLst/>
              <a:latin typeface="Consolas" panose="020B0609020204030204" pitchFamily="49" charset="0"/>
            </a:endParaRPr>
          </a:p>
        </p:txBody>
      </p:sp>
      <p:sp>
        <p:nvSpPr>
          <p:cNvPr id="9" name="TextBox 8">
            <a:extLst>
              <a:ext uri="{FF2B5EF4-FFF2-40B4-BE49-F238E27FC236}">
                <a16:creationId xmlns:a16="http://schemas.microsoft.com/office/drawing/2014/main" id="{2728CDF9-3132-ED98-D3A3-50C5DF00635C}"/>
              </a:ext>
            </a:extLst>
          </p:cNvPr>
          <p:cNvSpPr txBox="1"/>
          <p:nvPr/>
        </p:nvSpPr>
        <p:spPr>
          <a:xfrm>
            <a:off x="1066800" y="4791147"/>
            <a:ext cx="7086600" cy="1754326"/>
          </a:xfrm>
          <a:prstGeom prst="rect">
            <a:avLst/>
          </a:prstGeom>
          <a:noFill/>
        </p:spPr>
        <p:txBody>
          <a:bodyPr wrap="square">
            <a:spAutoFit/>
          </a:bodyPr>
          <a:lstStyle/>
          <a:p>
            <a:r>
              <a:rPr lang="en-IN" dirty="0" err="1"/>
              <a:t>const</a:t>
            </a:r>
            <a:r>
              <a:rPr lang="en-IN" dirty="0"/>
              <a:t> </a:t>
            </a:r>
            <a:r>
              <a:rPr lang="en-IN" dirty="0" err="1"/>
              <a:t>getData</a:t>
            </a:r>
            <a:r>
              <a:rPr lang="en-IN" dirty="0"/>
              <a:t> = async () =&gt; {</a:t>
            </a:r>
          </a:p>
          <a:p>
            <a:r>
              <a:rPr lang="en-IN" dirty="0"/>
              <a:t>    let data = "Hello World";</a:t>
            </a:r>
          </a:p>
          <a:p>
            <a:r>
              <a:rPr lang="en-IN" dirty="0"/>
              <a:t>    return data;</a:t>
            </a:r>
          </a:p>
          <a:p>
            <a:r>
              <a:rPr lang="en-IN" dirty="0"/>
              <a:t>}</a:t>
            </a:r>
          </a:p>
          <a:p>
            <a:endParaRPr lang="en-IN" dirty="0"/>
          </a:p>
          <a:p>
            <a:r>
              <a:rPr lang="en-IN" dirty="0" err="1"/>
              <a:t>getData</a:t>
            </a:r>
            <a:r>
              <a:rPr lang="en-IN" dirty="0"/>
              <a:t>().then(data =&gt; console.log(data));</a:t>
            </a:r>
          </a:p>
        </p:txBody>
      </p:sp>
    </p:spTree>
    <p:extLst>
      <p:ext uri="{BB962C8B-B14F-4D97-AF65-F5344CB8AC3E}">
        <p14:creationId xmlns:p14="http://schemas.microsoft.com/office/powerpoint/2010/main" val="2209951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E1CB1EF-2140-73AE-FE99-0C43BF90F65C}"/>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43C52D59-7299-C7AB-5160-37578CE59412}"/>
              </a:ext>
            </a:extLst>
          </p:cNvPr>
          <p:cNvSpPr>
            <a:spLocks noGrp="1"/>
          </p:cNvSpPr>
          <p:nvPr>
            <p:ph type="sldNum" sz="quarter" idx="12"/>
          </p:nvPr>
        </p:nvSpPr>
        <p:spPr/>
        <p:txBody>
          <a:bodyPr/>
          <a:lstStyle/>
          <a:p>
            <a:fld id="{CB779743-7B81-4FB7-A3E2-1ACEC99CD8CF}" type="slidenum">
              <a:rPr lang="en-US" smtClean="0"/>
              <a:t>30</a:t>
            </a:fld>
            <a:endParaRPr lang="en-US"/>
          </a:p>
        </p:txBody>
      </p:sp>
      <p:sp>
        <p:nvSpPr>
          <p:cNvPr id="5" name="TextBox 4">
            <a:extLst>
              <a:ext uri="{FF2B5EF4-FFF2-40B4-BE49-F238E27FC236}">
                <a16:creationId xmlns:a16="http://schemas.microsoft.com/office/drawing/2014/main" id="{4765A257-4705-0617-3AD5-1B3090EAF30E}"/>
              </a:ext>
            </a:extLst>
          </p:cNvPr>
          <p:cNvSpPr txBox="1"/>
          <p:nvPr/>
        </p:nvSpPr>
        <p:spPr>
          <a:xfrm>
            <a:off x="0" y="19050"/>
            <a:ext cx="9296400" cy="3603551"/>
          </a:xfrm>
          <a:prstGeom prst="rect">
            <a:avLst/>
          </a:prstGeom>
          <a:noFill/>
        </p:spPr>
        <p:txBody>
          <a:bodyPr wrap="square">
            <a:spAutoFit/>
          </a:bodyPr>
          <a:lstStyle/>
          <a:p>
            <a:pPr algn="l" fontAlgn="base">
              <a:lnSpc>
                <a:spcPts val="2100"/>
              </a:lnSpc>
              <a:buNone/>
            </a:pPr>
            <a:r>
              <a:rPr lang="en-US" b="1" i="0" dirty="0">
                <a:solidFill>
                  <a:srgbClr val="273239"/>
                </a:solidFill>
                <a:effectLst/>
                <a:latin typeface="Nunito" pitchFamily="2" charset="0"/>
              </a:rPr>
              <a:t>Await Keyword</a:t>
            </a:r>
          </a:p>
          <a:p>
            <a:pPr algn="l" rtl="0" fontAlgn="base">
              <a:spcAft>
                <a:spcPts val="750"/>
              </a:spcAft>
              <a:buNone/>
            </a:pPr>
            <a:r>
              <a:rPr lang="en-US" b="0" i="0" dirty="0">
                <a:solidFill>
                  <a:srgbClr val="273239"/>
                </a:solidFill>
                <a:effectLst/>
                <a:latin typeface="Nunito" pitchFamily="2" charset="0"/>
              </a:rPr>
              <a:t>The await keyword pauses the execution of an async function until a Promise is resolved or rejected. It can only be used inside an async function, making asynchronous code easier to read and manage.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Used to wait for a Promise to settle.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Can only be used inside async functions.</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Prevents callback and .then() chaining.</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Makes asynchronous code cleaner and more readable.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Supports error handling with try...catch.</a:t>
            </a:r>
          </a:p>
        </p:txBody>
      </p:sp>
      <p:sp>
        <p:nvSpPr>
          <p:cNvPr id="7" name="TextBox 6">
            <a:extLst>
              <a:ext uri="{FF2B5EF4-FFF2-40B4-BE49-F238E27FC236}">
                <a16:creationId xmlns:a16="http://schemas.microsoft.com/office/drawing/2014/main" id="{AF37D691-A834-D991-4825-5B404AF14850}"/>
              </a:ext>
            </a:extLst>
          </p:cNvPr>
          <p:cNvSpPr txBox="1"/>
          <p:nvPr/>
        </p:nvSpPr>
        <p:spPr>
          <a:xfrm>
            <a:off x="0" y="3622601"/>
            <a:ext cx="4695824" cy="2308324"/>
          </a:xfrm>
          <a:prstGeom prst="rect">
            <a:avLst/>
          </a:prstGeom>
          <a:noFill/>
        </p:spPr>
        <p:txBody>
          <a:bodyPr wrap="square">
            <a:spAutoFit/>
          </a:bodyPr>
          <a:lstStyle/>
          <a:p>
            <a:r>
              <a:rPr lang="en-IN" b="1" dirty="0" err="1"/>
              <a:t>const</a:t>
            </a:r>
            <a:r>
              <a:rPr lang="en-IN" b="1" dirty="0"/>
              <a:t> </a:t>
            </a:r>
            <a:r>
              <a:rPr lang="en-IN" b="1" dirty="0" err="1"/>
              <a:t>getData</a:t>
            </a:r>
            <a:r>
              <a:rPr lang="en-IN" b="1" dirty="0"/>
              <a:t> = async () =&gt; {</a:t>
            </a:r>
          </a:p>
          <a:p>
            <a:r>
              <a:rPr lang="en-IN" b="1" dirty="0"/>
              <a:t>    let y = await "Hello World";</a:t>
            </a:r>
          </a:p>
          <a:p>
            <a:r>
              <a:rPr lang="en-IN" b="1" dirty="0"/>
              <a:t>    console.log(y);</a:t>
            </a:r>
          </a:p>
          <a:p>
            <a:r>
              <a:rPr lang="en-IN" b="1" dirty="0"/>
              <a:t>}</a:t>
            </a:r>
          </a:p>
          <a:p>
            <a:endParaRPr lang="en-IN" b="1" dirty="0"/>
          </a:p>
          <a:p>
            <a:r>
              <a:rPr lang="en-IN" b="1" dirty="0"/>
              <a:t>console.log(1);</a:t>
            </a:r>
          </a:p>
          <a:p>
            <a:r>
              <a:rPr lang="en-IN" b="1" dirty="0" err="1"/>
              <a:t>getData</a:t>
            </a:r>
            <a:r>
              <a:rPr lang="en-IN" b="1" dirty="0"/>
              <a:t>();</a:t>
            </a:r>
          </a:p>
          <a:p>
            <a:r>
              <a:rPr lang="en-IN" b="1" dirty="0"/>
              <a:t>console.log(2);</a:t>
            </a:r>
          </a:p>
        </p:txBody>
      </p:sp>
      <p:sp>
        <p:nvSpPr>
          <p:cNvPr id="9" name="TextBox 8">
            <a:extLst>
              <a:ext uri="{FF2B5EF4-FFF2-40B4-BE49-F238E27FC236}">
                <a16:creationId xmlns:a16="http://schemas.microsoft.com/office/drawing/2014/main" id="{EB354507-44E7-C3CA-4555-7A7CC32DE4E1}"/>
              </a:ext>
            </a:extLst>
          </p:cNvPr>
          <p:cNvSpPr txBox="1"/>
          <p:nvPr/>
        </p:nvSpPr>
        <p:spPr>
          <a:xfrm>
            <a:off x="4038600" y="3983866"/>
            <a:ext cx="4695824" cy="1985159"/>
          </a:xfrm>
          <a:prstGeom prst="rect">
            <a:avLst/>
          </a:prstGeom>
          <a:noFill/>
        </p:spPr>
        <p:txBody>
          <a:bodyPr wrap="square">
            <a:spAutoFit/>
          </a:bodyPr>
          <a:lstStyle/>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async keyword transforms a regular JavaScript function into an asynchronous function, causing it to return a Promise.</a:t>
            </a:r>
          </a:p>
          <a:p>
            <a:pPr algn="l" fontAlgn="base">
              <a:spcAft>
                <a:spcPts val="1800"/>
              </a:spcAft>
              <a:buFont typeface="Arial" panose="020B0604020202020204" pitchFamily="34" charset="0"/>
              <a:buChar char="•"/>
            </a:pPr>
            <a:r>
              <a:rPr lang="en-US" b="0" i="0" dirty="0">
                <a:solidFill>
                  <a:srgbClr val="273239"/>
                </a:solidFill>
                <a:effectLst/>
                <a:latin typeface="Nunito" pitchFamily="2" charset="0"/>
              </a:rPr>
              <a:t>The await keyword is used inside an async function to pause its execution and wait for a Promise to resolve before continuing.</a:t>
            </a:r>
          </a:p>
        </p:txBody>
      </p:sp>
    </p:spTree>
    <p:extLst>
      <p:ext uri="{BB962C8B-B14F-4D97-AF65-F5344CB8AC3E}">
        <p14:creationId xmlns:p14="http://schemas.microsoft.com/office/powerpoint/2010/main" val="19212279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2A516DD-CAE7-F883-D833-247B7318A125}"/>
              </a:ext>
            </a:extLst>
          </p:cNvPr>
          <p:cNvSpPr>
            <a:spLocks noGrp="1"/>
          </p:cNvSpPr>
          <p:nvPr>
            <p:ph type="ftr" sz="quarter" idx="11"/>
          </p:nvPr>
        </p:nvSpPr>
        <p:spPr/>
        <p:txBody>
          <a:bodyPr/>
          <a:lstStyle/>
          <a:p>
            <a:r>
              <a:rPr lang="en-US"/>
              <a:t>MPEC2026</a:t>
            </a:r>
            <a:endParaRPr lang="en-US" dirty="0"/>
          </a:p>
        </p:txBody>
      </p:sp>
      <p:sp>
        <p:nvSpPr>
          <p:cNvPr id="3" name="Slide Number Placeholder 2">
            <a:extLst>
              <a:ext uri="{FF2B5EF4-FFF2-40B4-BE49-F238E27FC236}">
                <a16:creationId xmlns:a16="http://schemas.microsoft.com/office/drawing/2014/main" id="{A976F974-3F37-2AC5-967A-E135AD470A01}"/>
              </a:ext>
            </a:extLst>
          </p:cNvPr>
          <p:cNvSpPr>
            <a:spLocks noGrp="1"/>
          </p:cNvSpPr>
          <p:nvPr>
            <p:ph type="sldNum" sz="quarter" idx="12"/>
          </p:nvPr>
        </p:nvSpPr>
        <p:spPr/>
        <p:txBody>
          <a:bodyPr/>
          <a:lstStyle/>
          <a:p>
            <a:fld id="{CB779743-7B81-4FB7-A3E2-1ACEC99CD8CF}" type="slidenum">
              <a:rPr lang="en-US" smtClean="0"/>
              <a:t>31</a:t>
            </a:fld>
            <a:endParaRPr lang="en-US"/>
          </a:p>
        </p:txBody>
      </p:sp>
      <p:sp>
        <p:nvSpPr>
          <p:cNvPr id="5" name="TextBox 4">
            <a:extLst>
              <a:ext uri="{FF2B5EF4-FFF2-40B4-BE49-F238E27FC236}">
                <a16:creationId xmlns:a16="http://schemas.microsoft.com/office/drawing/2014/main" id="{E3C96507-F316-EBCD-B7F1-CAF51680D361}"/>
              </a:ext>
            </a:extLst>
          </p:cNvPr>
          <p:cNvSpPr txBox="1"/>
          <p:nvPr/>
        </p:nvSpPr>
        <p:spPr>
          <a:xfrm>
            <a:off x="304800" y="0"/>
            <a:ext cx="8991600" cy="7232749"/>
          </a:xfrm>
          <a:prstGeom prst="rect">
            <a:avLst/>
          </a:prstGeom>
          <a:noFill/>
        </p:spPr>
        <p:txBody>
          <a:bodyPr wrap="square">
            <a:spAutoFit/>
          </a:bodyPr>
          <a:lstStyle/>
          <a:p>
            <a:pPr>
              <a:buNone/>
            </a:pPr>
            <a:r>
              <a:rPr lang="en-IN" sz="1600" b="1" dirty="0"/>
              <a:t> Promise, Async, Await — Connection (Clear Logic)</a:t>
            </a:r>
            <a:br>
              <a:rPr lang="en-IN" sz="1600" dirty="0"/>
            </a:br>
            <a:r>
              <a:rPr lang="en-IN" sz="1600" b="1" dirty="0"/>
              <a:t>Promise = Base </a:t>
            </a:r>
            <a:r>
              <a:rPr lang="en-IN" sz="1600" b="1" dirty="0" err="1"/>
              <a:t>cheez</a:t>
            </a:r>
            <a:r>
              <a:rPr lang="en-IN" sz="1600" b="1" dirty="0"/>
              <a:t> (foundation)</a:t>
            </a:r>
          </a:p>
          <a:p>
            <a:pPr>
              <a:buNone/>
            </a:pPr>
            <a:r>
              <a:rPr lang="en-IN" sz="1600" dirty="0"/>
              <a:t>Ye actual asynchronous ka result handle </a:t>
            </a:r>
            <a:r>
              <a:rPr lang="en-IN" sz="1600" dirty="0" err="1"/>
              <a:t>karta</a:t>
            </a:r>
            <a:r>
              <a:rPr lang="en-IN" sz="1600" dirty="0"/>
              <a:t> </a:t>
            </a:r>
            <a:r>
              <a:rPr lang="en-IN" sz="1600" dirty="0" err="1"/>
              <a:t>hai</a:t>
            </a:r>
            <a:endParaRPr lang="en-IN" sz="1600" dirty="0"/>
          </a:p>
          <a:p>
            <a:pPr>
              <a:buFont typeface="Arial" panose="020B0604020202020204" pitchFamily="34" charset="0"/>
              <a:buChar char="•"/>
            </a:pPr>
            <a:r>
              <a:rPr lang="en-IN" sz="1600" dirty="0"/>
              <a:t>Pending → </a:t>
            </a:r>
            <a:r>
              <a:rPr lang="en-IN" sz="1600" dirty="0" err="1"/>
              <a:t>chal</a:t>
            </a:r>
            <a:r>
              <a:rPr lang="en-IN" sz="1600" dirty="0"/>
              <a:t> </a:t>
            </a:r>
            <a:r>
              <a:rPr lang="en-IN" sz="1600" dirty="0" err="1"/>
              <a:t>raha</a:t>
            </a:r>
            <a:r>
              <a:rPr lang="en-IN" sz="1600" dirty="0"/>
              <a:t> </a:t>
            </a:r>
            <a:r>
              <a:rPr lang="en-IN" sz="1600" dirty="0" err="1"/>
              <a:t>hai</a:t>
            </a:r>
            <a:r>
              <a:rPr lang="en-IN" sz="1600" dirty="0"/>
              <a:t> </a:t>
            </a:r>
          </a:p>
          <a:p>
            <a:pPr>
              <a:buFont typeface="Arial" panose="020B0604020202020204" pitchFamily="34" charset="0"/>
              <a:buChar char="•"/>
            </a:pPr>
            <a:r>
              <a:rPr lang="en-IN" sz="1600" dirty="0"/>
              <a:t>Resolved → success </a:t>
            </a:r>
          </a:p>
          <a:p>
            <a:pPr>
              <a:buFont typeface="Arial" panose="020B0604020202020204" pitchFamily="34" charset="0"/>
              <a:buChar char="•"/>
            </a:pPr>
            <a:r>
              <a:rPr lang="en-IN" sz="1600" dirty="0"/>
              <a:t>Rejected → error </a:t>
            </a:r>
          </a:p>
          <a:p>
            <a:pPr>
              <a:buNone/>
            </a:pPr>
            <a:br>
              <a:rPr lang="en-IN" sz="1600" dirty="0"/>
            </a:br>
            <a:endParaRPr lang="en-IN" sz="1600" dirty="0"/>
          </a:p>
          <a:p>
            <a:pPr>
              <a:buNone/>
            </a:pPr>
            <a:r>
              <a:rPr lang="en-IN" sz="1600" b="1" dirty="0"/>
              <a:t> async = Promise ko easy </a:t>
            </a:r>
            <a:r>
              <a:rPr lang="en-IN" sz="1600" b="1" dirty="0" err="1"/>
              <a:t>bana</a:t>
            </a:r>
            <a:r>
              <a:rPr lang="en-IN" sz="1600" b="1" dirty="0"/>
              <a:t> </a:t>
            </a:r>
            <a:r>
              <a:rPr lang="en-IN" sz="1600" b="1" dirty="0" err="1"/>
              <a:t>deta</a:t>
            </a:r>
            <a:r>
              <a:rPr lang="en-IN" sz="1600" b="1" dirty="0"/>
              <a:t> </a:t>
            </a:r>
            <a:r>
              <a:rPr lang="en-IN" sz="1600" b="1" dirty="0" err="1"/>
              <a:t>hai</a:t>
            </a:r>
            <a:endParaRPr lang="en-IN" sz="1600" b="1" dirty="0"/>
          </a:p>
          <a:p>
            <a:pPr>
              <a:buNone/>
            </a:pPr>
            <a:r>
              <a:rPr lang="en-IN" sz="1600" dirty="0"/>
              <a:t>Async function = </a:t>
            </a:r>
            <a:r>
              <a:rPr lang="en-IN" sz="1600" b="1" dirty="0"/>
              <a:t>automatically Promise return </a:t>
            </a:r>
            <a:r>
              <a:rPr lang="hi-IN" sz="1600" b="1" dirty="0"/>
              <a:t>करेगा</a:t>
            </a:r>
            <a:endParaRPr lang="hi-IN" sz="1600" dirty="0"/>
          </a:p>
          <a:p>
            <a:pPr rtl="0">
              <a:buNone/>
            </a:pPr>
            <a:r>
              <a:rPr lang="en-IN" sz="1600" dirty="0">
                <a:latin typeface="Courier New" panose="02070309020205020404" pitchFamily="49" charset="0"/>
              </a:rPr>
              <a:t>async function test() {</a:t>
            </a:r>
            <a:br>
              <a:rPr lang="en-IN" sz="1600" dirty="0">
                <a:latin typeface="Courier New" panose="02070309020205020404" pitchFamily="49" charset="0"/>
              </a:rPr>
            </a:br>
            <a:r>
              <a:rPr lang="en-IN" sz="1600" dirty="0">
                <a:latin typeface="Courier New" panose="02070309020205020404" pitchFamily="49" charset="0"/>
              </a:rPr>
              <a:t>  return "Hi";</a:t>
            </a:r>
            <a:br>
              <a:rPr lang="en-IN" sz="1600" dirty="0">
                <a:latin typeface="Courier New" panose="02070309020205020404" pitchFamily="49" charset="0"/>
              </a:rPr>
            </a:br>
            <a:r>
              <a:rPr lang="en-IN" sz="1600" dirty="0">
                <a:latin typeface="Courier New" panose="02070309020205020404" pitchFamily="49" charset="0"/>
              </a:rPr>
              <a:t>}</a:t>
            </a:r>
          </a:p>
          <a:p>
            <a:pPr>
              <a:buNone/>
            </a:pPr>
            <a:r>
              <a:rPr lang="en-IN" sz="1600" dirty="0"/>
              <a:t> internally:</a:t>
            </a:r>
          </a:p>
          <a:p>
            <a:pPr rtl="0">
              <a:buNone/>
            </a:pPr>
            <a:r>
              <a:rPr lang="en-IN" sz="1600" dirty="0">
                <a:latin typeface="Courier New" panose="02070309020205020404" pitchFamily="49" charset="0"/>
              </a:rPr>
              <a:t>return </a:t>
            </a:r>
            <a:r>
              <a:rPr lang="en-IN" sz="1600" dirty="0" err="1">
                <a:latin typeface="Courier New" panose="02070309020205020404" pitchFamily="49" charset="0"/>
              </a:rPr>
              <a:t>Promise.resolve</a:t>
            </a:r>
            <a:r>
              <a:rPr lang="en-IN" sz="1600" dirty="0">
                <a:latin typeface="Courier New" panose="02070309020205020404" pitchFamily="49" charset="0"/>
              </a:rPr>
              <a:t>("Hi");</a:t>
            </a:r>
          </a:p>
          <a:p>
            <a:pPr>
              <a:buNone/>
            </a:pPr>
            <a:br>
              <a:rPr lang="en-IN" sz="1600" dirty="0"/>
            </a:br>
            <a:endParaRPr lang="en-IN" sz="1600" dirty="0"/>
          </a:p>
          <a:p>
            <a:pPr>
              <a:buNone/>
            </a:pPr>
            <a:r>
              <a:rPr lang="en-IN" sz="1600" b="1" dirty="0"/>
              <a:t>await = Promise ka result </a:t>
            </a:r>
            <a:r>
              <a:rPr lang="en-IN" sz="1600" b="1" dirty="0" err="1"/>
              <a:t>nikalne</a:t>
            </a:r>
            <a:r>
              <a:rPr lang="en-IN" sz="1600" b="1" dirty="0"/>
              <a:t> ka shortcut</a:t>
            </a:r>
          </a:p>
          <a:p>
            <a:pPr>
              <a:buNone/>
            </a:pPr>
            <a:r>
              <a:rPr lang="en-IN" sz="1600" dirty="0"/>
              <a:t> </a:t>
            </a:r>
            <a:r>
              <a:rPr lang="en-IN" sz="1600" dirty="0">
                <a:latin typeface="Courier New" panose="02070309020205020404" pitchFamily="49" charset="0"/>
              </a:rPr>
              <a:t>.then()</a:t>
            </a:r>
            <a:r>
              <a:rPr lang="en-IN" sz="1600" dirty="0"/>
              <a:t> ka clean alternative</a:t>
            </a:r>
          </a:p>
          <a:p>
            <a:pPr rtl="0">
              <a:buNone/>
            </a:pPr>
            <a:r>
              <a:rPr lang="en-IN" sz="1600" dirty="0">
                <a:latin typeface="Courier New" panose="02070309020205020404" pitchFamily="49" charset="0"/>
              </a:rPr>
              <a:t>let result = await test();</a:t>
            </a:r>
          </a:p>
          <a:p>
            <a:pPr>
              <a:buNone/>
            </a:pPr>
            <a:br>
              <a:rPr lang="en-IN" sz="1600" dirty="0"/>
            </a:br>
            <a:endParaRPr lang="en-IN" sz="1600" dirty="0"/>
          </a:p>
          <a:p>
            <a:pPr>
              <a:buNone/>
            </a:pPr>
            <a:r>
              <a:rPr lang="en-IN" sz="1600" b="1" dirty="0"/>
              <a:t> Full Connection Flow (Most Important)</a:t>
            </a:r>
          </a:p>
          <a:p>
            <a:pPr rtl="0">
              <a:buNone/>
            </a:pPr>
            <a:r>
              <a:rPr lang="en-IN" sz="1600" dirty="0" err="1">
                <a:latin typeface="Courier New" panose="02070309020205020404" pitchFamily="49" charset="0"/>
              </a:rPr>
              <a:t>const</a:t>
            </a:r>
            <a:r>
              <a:rPr lang="en-IN" sz="1600" dirty="0">
                <a:latin typeface="Courier New" panose="02070309020205020404" pitchFamily="49" charset="0"/>
              </a:rPr>
              <a:t> </a:t>
            </a:r>
            <a:r>
              <a:rPr lang="en-IN" sz="1600" dirty="0" err="1">
                <a:latin typeface="Courier New" panose="02070309020205020404" pitchFamily="49" charset="0"/>
              </a:rPr>
              <a:t>getData</a:t>
            </a:r>
            <a:r>
              <a:rPr lang="en-IN" sz="1600" dirty="0">
                <a:latin typeface="Courier New" panose="02070309020205020404" pitchFamily="49" charset="0"/>
              </a:rPr>
              <a:t> = async () =&gt; {</a:t>
            </a:r>
            <a:br>
              <a:rPr lang="en-IN" sz="1600" dirty="0">
                <a:latin typeface="Courier New" panose="02070309020205020404" pitchFamily="49" charset="0"/>
              </a:rPr>
            </a:br>
            <a:r>
              <a:rPr lang="en-IN" sz="1600" dirty="0">
                <a:latin typeface="Courier New" panose="02070309020205020404" pitchFamily="49" charset="0"/>
              </a:rPr>
              <a:t>  let data = await </a:t>
            </a:r>
            <a:r>
              <a:rPr lang="en-IN" sz="1600" dirty="0" err="1">
                <a:latin typeface="Courier New" panose="02070309020205020404" pitchFamily="49" charset="0"/>
              </a:rPr>
              <a:t>Promise.resolve</a:t>
            </a:r>
            <a:r>
              <a:rPr lang="en-IN" sz="1600" dirty="0">
                <a:latin typeface="Courier New" panose="02070309020205020404" pitchFamily="49" charset="0"/>
              </a:rPr>
              <a:t>("Hello");</a:t>
            </a:r>
            <a:br>
              <a:rPr lang="en-IN" sz="1600" dirty="0">
                <a:latin typeface="Courier New" panose="02070309020205020404" pitchFamily="49" charset="0"/>
              </a:rPr>
            </a:br>
            <a:r>
              <a:rPr lang="en-IN" sz="1600" dirty="0">
                <a:latin typeface="Courier New" panose="02070309020205020404" pitchFamily="49" charset="0"/>
              </a:rPr>
              <a:t>  return data;</a:t>
            </a:r>
            <a:br>
              <a:rPr lang="en-IN" sz="1600" dirty="0">
                <a:latin typeface="Courier New" panose="02070309020205020404" pitchFamily="49" charset="0"/>
              </a:rPr>
            </a:br>
            <a:r>
              <a:rPr lang="en-IN" sz="1600" dirty="0">
                <a:latin typeface="Courier New" panose="02070309020205020404" pitchFamily="49" charset="0"/>
              </a:rPr>
              <a:t>}</a:t>
            </a:r>
            <a:br>
              <a:rPr lang="en-IN" sz="1600" dirty="0">
                <a:latin typeface="Courier New" panose="02070309020205020404" pitchFamily="49" charset="0"/>
              </a:rPr>
            </a:br>
            <a:r>
              <a:rPr lang="en-IN" sz="1600" dirty="0" err="1">
                <a:latin typeface="Courier New" panose="02070309020205020404" pitchFamily="49" charset="0"/>
              </a:rPr>
              <a:t>getData</a:t>
            </a:r>
            <a:r>
              <a:rPr lang="en-IN" sz="1600" dirty="0">
                <a:latin typeface="Courier New" panose="02070309020205020404" pitchFamily="49" charset="0"/>
              </a:rPr>
              <a:t>().then(res =&gt; console.log(res));</a:t>
            </a:r>
          </a:p>
        </p:txBody>
      </p:sp>
    </p:spTree>
    <p:extLst>
      <p:ext uri="{BB962C8B-B14F-4D97-AF65-F5344CB8AC3E}">
        <p14:creationId xmlns:p14="http://schemas.microsoft.com/office/powerpoint/2010/main" val="332968924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2">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Theme2</Template>
  <TotalTime>9816</TotalTime>
  <Words>4212</Words>
  <Application>Microsoft Office PowerPoint</Application>
  <PresentationFormat>On-screen Show (4:3)</PresentationFormat>
  <Paragraphs>612</Paragraphs>
  <Slides>31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Arial</vt:lpstr>
      <vt:lpstr>Calibri</vt:lpstr>
      <vt:lpstr>Consolas</vt:lpstr>
      <vt:lpstr>Courier New</vt:lpstr>
      <vt:lpstr>Google Sans Text</vt:lpstr>
      <vt:lpstr>Nunito</vt:lpstr>
      <vt:lpstr>Source Sans 3</vt:lpstr>
      <vt:lpstr>Tw Cen MT</vt:lpstr>
      <vt:lpstr>Wingdings</vt:lpstr>
      <vt:lpstr>Wingdings 2</vt:lpstr>
      <vt:lpstr>Theme2</vt:lpstr>
      <vt:lpstr>Functions in JavaScript </vt:lpstr>
      <vt:lpstr>PowerPoint Presentation</vt:lpstr>
      <vt:lpstr>PowerPoint Presentation</vt:lpstr>
      <vt:lpstr>PowerPoint Presentation</vt:lpstr>
      <vt:lpstr>PowerPoint Presentation</vt:lpstr>
      <vt:lpstr>Exploring JavaScript Datatypes and Variables: </vt:lpstr>
      <vt:lpstr>JS ARRAY</vt:lpstr>
      <vt:lpstr>PowerPoint Presentation</vt:lpstr>
      <vt:lpstr>ARRAY OPERATION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 to Javascript</dc:title>
  <dc:creator>Xenia Mountrouidou</dc:creator>
  <cp:lastModifiedBy>ANSHIKA AGARWAL</cp:lastModifiedBy>
  <cp:revision>91</cp:revision>
  <dcterms:created xsi:type="dcterms:W3CDTF">2011-09-04T19:18:10Z</dcterms:created>
  <dcterms:modified xsi:type="dcterms:W3CDTF">2026-03-27T13:28:20Z</dcterms:modified>
</cp:coreProperties>
</file>