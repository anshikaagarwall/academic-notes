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237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004" y="1413407"/>
            <a:ext cx="5712459" cy="1898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pr_dim_max-width.php" TargetMode="External"/><Relationship Id="rId2" Type="http://schemas.openxmlformats.org/officeDocument/2006/relationships/hyperlink" Target="https://www.w3schools.com/cssref/pr_dim_min-width.php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w3schools.com/cssref/pr_dim_max-height.php" TargetMode="External"/><Relationship Id="rId4" Type="http://schemas.openxmlformats.org/officeDocument/2006/relationships/hyperlink" Target="https://www.w3schools.com/cssref/pr_dim_min-height.php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0250" y="2832100"/>
            <a:ext cx="5467985" cy="712566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425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dirty="0">
                <a:latin typeface="Calibri"/>
                <a:cs typeface="Calibri"/>
              </a:rPr>
              <a:t>div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{</a:t>
            </a:r>
            <a:endParaRPr dirty="0">
              <a:latin typeface="Calibri"/>
              <a:cs typeface="Calibri"/>
            </a:endParaRPr>
          </a:p>
          <a:p>
            <a:pPr marL="792480" marR="1741805">
              <a:lnSpc>
                <a:spcPts val="3700"/>
              </a:lnSpc>
              <a:spcBef>
                <a:spcPts val="160"/>
              </a:spcBef>
            </a:pPr>
            <a:r>
              <a:rPr spc="-20" dirty="0">
                <a:latin typeface="Calibri"/>
                <a:cs typeface="Calibri"/>
              </a:rPr>
              <a:t>padding-</a:t>
            </a:r>
            <a:r>
              <a:rPr dirty="0">
                <a:latin typeface="Calibri"/>
                <a:cs typeface="Calibri"/>
              </a:rPr>
              <a:t>top: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50px; padding-</a:t>
            </a:r>
            <a:r>
              <a:rPr dirty="0">
                <a:latin typeface="Calibri"/>
                <a:cs typeface="Calibri"/>
              </a:rPr>
              <a:t>right: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30px;</a:t>
            </a:r>
            <a:endParaRPr dirty="0">
              <a:latin typeface="Calibri"/>
              <a:cs typeface="Calibri"/>
            </a:endParaRPr>
          </a:p>
          <a:p>
            <a:pPr marL="792480">
              <a:lnSpc>
                <a:spcPct val="100000"/>
              </a:lnSpc>
              <a:spcBef>
                <a:spcPts val="140"/>
              </a:spcBef>
            </a:pPr>
            <a:r>
              <a:rPr spc="-20" dirty="0">
                <a:latin typeface="Calibri"/>
                <a:cs typeface="Calibri"/>
              </a:rPr>
              <a:t>padding-</a:t>
            </a:r>
            <a:r>
              <a:rPr spc="-10" dirty="0">
                <a:latin typeface="Calibri"/>
                <a:cs typeface="Calibri"/>
              </a:rPr>
              <a:t>bottom: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50px;</a:t>
            </a:r>
            <a:endParaRPr dirty="0">
              <a:latin typeface="Calibri"/>
              <a:cs typeface="Calibri"/>
            </a:endParaRPr>
          </a:p>
          <a:p>
            <a:pPr marL="792480">
              <a:lnSpc>
                <a:spcPct val="100000"/>
              </a:lnSpc>
              <a:spcBef>
                <a:spcPts val="340"/>
              </a:spcBef>
            </a:pPr>
            <a:r>
              <a:rPr spc="-20" dirty="0">
                <a:latin typeface="Calibri"/>
                <a:cs typeface="Calibri"/>
              </a:rPr>
              <a:t>padding-</a:t>
            </a:r>
            <a:r>
              <a:rPr dirty="0">
                <a:latin typeface="Calibri"/>
                <a:cs typeface="Calibri"/>
              </a:rPr>
              <a:t>left: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80px;</a:t>
            </a:r>
            <a:endParaRPr dirty="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325"/>
              </a:spcBef>
            </a:pPr>
            <a:r>
              <a:rPr spc="-50" dirty="0">
                <a:latin typeface="Calibri"/>
                <a:cs typeface="Calibri"/>
              </a:rPr>
              <a:t>}</a:t>
            </a:r>
            <a:endParaRPr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130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spc="-25" dirty="0">
                <a:latin typeface="Calibri"/>
                <a:cs typeface="Calibri"/>
              </a:rPr>
              <a:t>OR</a:t>
            </a:r>
            <a:endParaRPr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125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dirty="0">
                <a:latin typeface="Calibri"/>
                <a:cs typeface="Calibri"/>
              </a:rPr>
              <a:t>div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{</a:t>
            </a:r>
            <a:endParaRPr dirty="0">
              <a:latin typeface="Calibri"/>
              <a:cs typeface="Calibri"/>
            </a:endParaRPr>
          </a:p>
          <a:p>
            <a:pPr marL="792480">
              <a:lnSpc>
                <a:spcPct val="100000"/>
              </a:lnSpc>
              <a:spcBef>
                <a:spcPts val="325"/>
              </a:spcBef>
            </a:pPr>
            <a:r>
              <a:rPr dirty="0">
                <a:latin typeface="Calibri"/>
                <a:cs typeface="Calibri"/>
              </a:rPr>
              <a:t>padding: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25px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50px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75px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100px;</a:t>
            </a:r>
            <a:endParaRPr dirty="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340"/>
              </a:spcBef>
            </a:pPr>
            <a:r>
              <a:rPr spc="-50" dirty="0">
                <a:latin typeface="Calibri"/>
                <a:cs typeface="Calibri"/>
              </a:rPr>
              <a:t>}</a:t>
            </a:r>
            <a:endParaRPr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800" b="1" dirty="0">
                <a:latin typeface="Calibri"/>
                <a:cs typeface="Calibri"/>
              </a:rPr>
              <a:t>padding</a:t>
            </a:r>
            <a:r>
              <a:rPr sz="2800" b="1" spc="-9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shorthand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property-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b="1" dirty="0">
                <a:latin typeface="Calibri"/>
                <a:cs typeface="Calibri"/>
              </a:rPr>
              <a:t>padding: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25px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50px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75px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100px;</a:t>
            </a:r>
            <a:endParaRPr sz="2800"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125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top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padding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25px</a:t>
            </a:r>
            <a:endParaRPr sz="2800"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135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right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padding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50px</a:t>
            </a:r>
            <a:endParaRPr sz="2800"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125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sz="2800" spc="-10" dirty="0">
                <a:latin typeface="Calibri"/>
                <a:cs typeface="Calibri"/>
              </a:rPr>
              <a:t>bottom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padding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75px</a:t>
            </a:r>
            <a:endParaRPr sz="2800"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130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left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padding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100px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0912" y="528320"/>
            <a:ext cx="5654675" cy="2303780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CSS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Padding</a:t>
            </a:r>
            <a:endParaRPr sz="3600" dirty="0">
              <a:latin typeface="Calibri"/>
              <a:cs typeface="Calibri"/>
            </a:endParaRPr>
          </a:p>
          <a:p>
            <a:pPr marL="12700" marR="5080">
              <a:lnSpc>
                <a:spcPct val="109600"/>
              </a:lnSpc>
              <a:spcBef>
                <a:spcPts val="935"/>
              </a:spcBef>
            </a:pPr>
            <a:r>
              <a:rPr sz="2800" b="1" dirty="0">
                <a:latin typeface="Calibri"/>
                <a:cs typeface="Calibri"/>
              </a:rPr>
              <a:t>CSS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Padding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property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define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space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dirty="0">
                <a:latin typeface="Calibri"/>
                <a:cs typeface="Calibri"/>
              </a:rPr>
              <a:t>content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border.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41323"/>
            <a:ext cx="5635625" cy="847598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800" dirty="0">
                <a:latin typeface="Calibri"/>
                <a:cs typeface="Calibri"/>
              </a:rPr>
              <a:t>&lt;!DOCTYPE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html&gt;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&lt;html&gt;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&lt;head&gt;</a:t>
            </a:r>
            <a:endParaRPr sz="2800">
              <a:latin typeface="Calibri"/>
              <a:cs typeface="Calibri"/>
            </a:endParaRPr>
          </a:p>
          <a:p>
            <a:pPr marL="12700" marR="4584065">
              <a:lnSpc>
                <a:spcPts val="4490"/>
              </a:lnSpc>
              <a:spcBef>
                <a:spcPts val="335"/>
              </a:spcBef>
            </a:pPr>
            <a:r>
              <a:rPr sz="2800" spc="-10" dirty="0">
                <a:latin typeface="Calibri"/>
                <a:cs typeface="Calibri"/>
              </a:rPr>
              <a:t>&lt;style&gt; </a:t>
            </a:r>
            <a:r>
              <a:rPr sz="2800" dirty="0">
                <a:latin typeface="Calibri"/>
                <a:cs typeface="Calibri"/>
              </a:rPr>
              <a:t>div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{</a:t>
            </a:r>
            <a:endParaRPr sz="2800">
              <a:latin typeface="Calibri"/>
              <a:cs typeface="Calibri"/>
            </a:endParaRPr>
          </a:p>
          <a:p>
            <a:pPr marL="173990">
              <a:lnSpc>
                <a:spcPct val="100000"/>
              </a:lnSpc>
              <a:spcBef>
                <a:spcPts val="790"/>
              </a:spcBef>
            </a:pPr>
            <a:r>
              <a:rPr sz="2800" dirty="0">
                <a:latin typeface="Calibri"/>
                <a:cs typeface="Calibri"/>
              </a:rPr>
              <a:t>border: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1px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solid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black;</a:t>
            </a:r>
            <a:endParaRPr sz="2800">
              <a:latin typeface="Calibri"/>
              <a:cs typeface="Calibri"/>
            </a:endParaRPr>
          </a:p>
          <a:p>
            <a:pPr marL="173990">
              <a:lnSpc>
                <a:spcPct val="100000"/>
              </a:lnSpc>
              <a:spcBef>
                <a:spcPts val="1130"/>
              </a:spcBef>
            </a:pPr>
            <a:r>
              <a:rPr sz="2800" dirty="0">
                <a:latin typeface="Calibri"/>
                <a:cs typeface="Calibri"/>
              </a:rPr>
              <a:t>padding: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25px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50px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75px;</a:t>
            </a:r>
            <a:endParaRPr sz="2800">
              <a:latin typeface="Calibri"/>
              <a:cs typeface="Calibri"/>
            </a:endParaRPr>
          </a:p>
          <a:p>
            <a:pPr marL="173990">
              <a:lnSpc>
                <a:spcPct val="100000"/>
              </a:lnSpc>
              <a:spcBef>
                <a:spcPts val="1125"/>
              </a:spcBef>
            </a:pPr>
            <a:r>
              <a:rPr sz="2800" spc="-20" dirty="0">
                <a:latin typeface="Calibri"/>
                <a:cs typeface="Calibri"/>
              </a:rPr>
              <a:t>background-</a:t>
            </a:r>
            <a:r>
              <a:rPr sz="2800" dirty="0">
                <a:latin typeface="Calibri"/>
                <a:cs typeface="Calibri"/>
              </a:rPr>
              <a:t>color: </a:t>
            </a:r>
            <a:r>
              <a:rPr sz="2800" spc="-10" dirty="0">
                <a:latin typeface="Calibri"/>
                <a:cs typeface="Calibri"/>
              </a:rPr>
              <a:t>lightblue;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spc="-50" dirty="0"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&lt;/style&gt;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800" spc="-10" dirty="0">
                <a:latin typeface="Calibri"/>
                <a:cs typeface="Calibri"/>
              </a:rPr>
              <a:t>&lt;/head&gt;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2800" spc="-10" dirty="0">
                <a:latin typeface="Calibri"/>
                <a:cs typeface="Calibri"/>
              </a:rPr>
              <a:t>&lt;body&gt;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9600"/>
              </a:lnSpc>
            </a:pPr>
            <a:r>
              <a:rPr sz="2800" dirty="0">
                <a:latin typeface="Calibri"/>
                <a:cs typeface="Calibri"/>
              </a:rPr>
              <a:t>&lt;h2&gt;The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padding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shorthand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property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- 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values&lt;/h2&gt;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86485">
              <a:lnSpc>
                <a:spcPct val="109600"/>
              </a:lnSpc>
              <a:spcBef>
                <a:spcPts val="100"/>
              </a:spcBef>
            </a:pPr>
            <a:r>
              <a:rPr dirty="0"/>
              <a:t>&lt;div&gt;This</a:t>
            </a:r>
            <a:r>
              <a:rPr spc="-50" dirty="0"/>
              <a:t> </a:t>
            </a:r>
            <a:r>
              <a:rPr dirty="0"/>
              <a:t>div</a:t>
            </a:r>
            <a:r>
              <a:rPr spc="-50" dirty="0"/>
              <a:t> </a:t>
            </a:r>
            <a:r>
              <a:rPr dirty="0"/>
              <a:t>element</a:t>
            </a:r>
            <a:r>
              <a:rPr spc="-45" dirty="0"/>
              <a:t> </a:t>
            </a:r>
            <a:r>
              <a:rPr dirty="0"/>
              <a:t>has</a:t>
            </a:r>
            <a:r>
              <a:rPr spc="-5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25" dirty="0"/>
              <a:t>top </a:t>
            </a:r>
            <a:r>
              <a:rPr dirty="0"/>
              <a:t>padding</a:t>
            </a:r>
            <a:r>
              <a:rPr spc="-5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25px,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right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20" dirty="0"/>
              <a:t>left</a:t>
            </a:r>
          </a:p>
          <a:p>
            <a:pPr marL="12700" marR="5080">
              <a:lnSpc>
                <a:spcPct val="109600"/>
              </a:lnSpc>
              <a:spcBef>
                <a:spcPts val="15"/>
              </a:spcBef>
            </a:pPr>
            <a:r>
              <a:rPr dirty="0"/>
              <a:t>padding</a:t>
            </a:r>
            <a:r>
              <a:rPr spc="-6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50px,</a:t>
            </a:r>
            <a:r>
              <a:rPr spc="-5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10" dirty="0"/>
              <a:t>bottom</a:t>
            </a:r>
            <a:r>
              <a:rPr spc="-60" dirty="0"/>
              <a:t> </a:t>
            </a:r>
            <a:r>
              <a:rPr spc="-10" dirty="0"/>
              <a:t>padding </a:t>
            </a:r>
            <a:r>
              <a:rPr dirty="0"/>
              <a:t>of</a:t>
            </a:r>
            <a:r>
              <a:rPr spc="-10" dirty="0"/>
              <a:t> 75px.&lt;/div&gt;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3856761"/>
            <a:ext cx="1236980" cy="11658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800" spc="-10" dirty="0">
                <a:latin typeface="Calibri"/>
                <a:cs typeface="Calibri"/>
              </a:rPr>
              <a:t>&lt;/body&gt;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&lt;/html&gt;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5700140"/>
            <a:ext cx="29908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Assignment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2776" y="7041794"/>
            <a:ext cx="3119120" cy="2306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0825" indent="80645">
              <a:lnSpc>
                <a:spcPct val="1337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&lt;div&gt;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box. Set:</a:t>
            </a:r>
            <a:endParaRPr sz="2800">
              <a:latin typeface="Calibri"/>
              <a:cs typeface="Calibri"/>
            </a:endParaRPr>
          </a:p>
          <a:p>
            <a:pPr marL="388620" indent="-228600">
              <a:lnSpc>
                <a:spcPct val="100000"/>
              </a:lnSpc>
              <a:spcBef>
                <a:spcPts val="1125"/>
              </a:spcBef>
              <a:buSzPct val="35714"/>
              <a:buFont typeface="Symbol"/>
              <a:buChar char=""/>
              <a:tabLst>
                <a:tab pos="388620" algn="l"/>
              </a:tabLst>
            </a:pPr>
            <a:r>
              <a:rPr sz="2800" dirty="0">
                <a:latin typeface="Calibri"/>
                <a:cs typeface="Calibri"/>
              </a:rPr>
              <a:t>Top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margin: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20px</a:t>
            </a:r>
            <a:endParaRPr sz="2800">
              <a:latin typeface="Calibri"/>
              <a:cs typeface="Calibri"/>
            </a:endParaRPr>
          </a:p>
          <a:p>
            <a:pPr marL="388620" indent="-228600">
              <a:lnSpc>
                <a:spcPct val="100000"/>
              </a:lnSpc>
              <a:spcBef>
                <a:spcPts val="1130"/>
              </a:spcBef>
              <a:buSzPct val="35714"/>
              <a:buFont typeface="Symbol"/>
              <a:buChar char=""/>
              <a:tabLst>
                <a:tab pos="388620" algn="l"/>
              </a:tabLst>
            </a:pPr>
            <a:r>
              <a:rPr sz="2800" dirty="0">
                <a:latin typeface="Calibri"/>
                <a:cs typeface="Calibri"/>
              </a:rPr>
              <a:t>Right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margin: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30px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2776" y="741323"/>
            <a:ext cx="4907915" cy="230568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88620" indent="-228600">
              <a:lnSpc>
                <a:spcPct val="100000"/>
              </a:lnSpc>
              <a:spcBef>
                <a:spcPts val="1225"/>
              </a:spcBef>
              <a:buSzPct val="35714"/>
              <a:buFont typeface="Symbol"/>
              <a:buChar char=""/>
              <a:tabLst>
                <a:tab pos="388620" algn="l"/>
              </a:tabLst>
            </a:pPr>
            <a:r>
              <a:rPr sz="2800" spc="-10" dirty="0">
                <a:latin typeface="Calibri"/>
                <a:cs typeface="Calibri"/>
              </a:rPr>
              <a:t>Bottom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margin: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20px</a:t>
            </a:r>
            <a:endParaRPr sz="2800">
              <a:latin typeface="Calibri"/>
              <a:cs typeface="Calibri"/>
            </a:endParaRPr>
          </a:p>
          <a:p>
            <a:pPr marL="388620" indent="-228600">
              <a:lnSpc>
                <a:spcPct val="100000"/>
              </a:lnSpc>
              <a:spcBef>
                <a:spcPts val="1130"/>
              </a:spcBef>
              <a:buSzPct val="35714"/>
              <a:buFont typeface="Symbol"/>
              <a:buChar char=""/>
              <a:tabLst>
                <a:tab pos="388620" algn="l"/>
              </a:tabLst>
            </a:pPr>
            <a:r>
              <a:rPr sz="2800" dirty="0">
                <a:latin typeface="Calibri"/>
                <a:cs typeface="Calibri"/>
              </a:rPr>
              <a:t>Left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margin: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30px</a:t>
            </a:r>
            <a:endParaRPr sz="2800">
              <a:latin typeface="Calibri"/>
              <a:cs typeface="Calibri"/>
            </a:endParaRPr>
          </a:p>
          <a:p>
            <a:pPr marL="93345" marR="5080" indent="-81280">
              <a:lnSpc>
                <a:spcPct val="133600"/>
              </a:lnSpc>
            </a:pPr>
            <a:r>
              <a:rPr sz="2800" dirty="0">
                <a:latin typeface="Calibri"/>
                <a:cs typeface="Calibri"/>
              </a:rPr>
              <a:t>Add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background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lightblue. </a:t>
            </a:r>
            <a:r>
              <a:rPr sz="2800" dirty="0">
                <a:latin typeface="Calibri"/>
                <a:cs typeface="Calibri"/>
              </a:rPr>
              <a:t>Add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10px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padding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inside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box.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972326"/>
            <a:ext cx="5309235" cy="29400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34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min-</a:t>
            </a:r>
            <a:r>
              <a:rPr sz="2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width</a:t>
            </a:r>
            <a:r>
              <a:rPr sz="2800" spc="-3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max-</a:t>
            </a:r>
            <a:endParaRPr sz="2800">
              <a:latin typeface="Calibri"/>
              <a:cs typeface="Calibri"/>
            </a:endParaRPr>
          </a:p>
          <a:p>
            <a:pPr marL="12700" marR="30480" algn="just">
              <a:lnSpc>
                <a:spcPct val="109800"/>
              </a:lnSpc>
              <a:spcBef>
                <a:spcPts val="5"/>
              </a:spcBef>
            </a:pPr>
            <a:r>
              <a:rPr sz="2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width</a:t>
            </a:r>
            <a:r>
              <a:rPr sz="2800" spc="-4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properties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minimum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maximum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width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 </a:t>
            </a:r>
            <a:r>
              <a:rPr sz="2800" spc="-10" dirty="0">
                <a:latin typeface="Calibri"/>
                <a:cs typeface="Calibri"/>
              </a:rPr>
              <a:t>element.</a:t>
            </a:r>
            <a:endParaRPr sz="2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135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min-</a:t>
            </a:r>
            <a:r>
              <a:rPr sz="2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height</a:t>
            </a:r>
            <a:r>
              <a:rPr sz="2800" spc="-40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max-</a:t>
            </a:r>
            <a:endParaRPr sz="2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320"/>
              </a:spcBef>
            </a:pPr>
            <a:r>
              <a:rPr sz="2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height</a:t>
            </a:r>
            <a:r>
              <a:rPr sz="2800" spc="-5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properties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43431"/>
            <a:ext cx="5375275" cy="8841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6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minimum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maximum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height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 </a:t>
            </a:r>
            <a:r>
              <a:rPr sz="2800" spc="-10" dirty="0">
                <a:latin typeface="Calibri"/>
                <a:cs typeface="Calibri"/>
              </a:rPr>
              <a:t>element.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dirty="0">
                <a:latin typeface="Calibri"/>
                <a:cs typeface="Calibri"/>
              </a:rPr>
              <a:t>&lt;!DOCTYPE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html&gt;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800" spc="-10" dirty="0">
                <a:latin typeface="Calibri"/>
                <a:cs typeface="Calibri"/>
              </a:rPr>
              <a:t>&lt;html&gt;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800" spc="-10" dirty="0">
                <a:latin typeface="Calibri"/>
                <a:cs typeface="Calibri"/>
              </a:rPr>
              <a:t>&lt;head&gt;</a:t>
            </a:r>
            <a:endParaRPr sz="2800">
              <a:latin typeface="Calibri"/>
              <a:cs typeface="Calibri"/>
            </a:endParaRPr>
          </a:p>
          <a:p>
            <a:pPr marL="12700" marR="1229995" indent="322580">
              <a:lnSpc>
                <a:spcPct val="109600"/>
              </a:lnSpc>
              <a:spcBef>
                <a:spcPts val="805"/>
              </a:spcBef>
            </a:pPr>
            <a:r>
              <a:rPr sz="2800" spc="-10" dirty="0">
                <a:latin typeface="Calibri"/>
                <a:cs typeface="Calibri"/>
              </a:rPr>
              <a:t>&lt;title&gt;Min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Max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Width Example&lt;/title&gt;</a:t>
            </a:r>
            <a:endParaRPr sz="2800">
              <a:latin typeface="Calibri"/>
              <a:cs typeface="Calibri"/>
            </a:endParaRPr>
          </a:p>
          <a:p>
            <a:pPr marL="33528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&lt;style&gt;</a:t>
            </a:r>
            <a:endParaRPr sz="2800">
              <a:latin typeface="Calibri"/>
              <a:cs typeface="Calibri"/>
            </a:endParaRPr>
          </a:p>
          <a:p>
            <a:pPr marL="657225">
              <a:lnSpc>
                <a:spcPct val="100000"/>
              </a:lnSpc>
              <a:spcBef>
                <a:spcPts val="1130"/>
              </a:spcBef>
            </a:pPr>
            <a:r>
              <a:rPr sz="2800" dirty="0">
                <a:latin typeface="Calibri"/>
                <a:cs typeface="Calibri"/>
              </a:rPr>
              <a:t>.box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{</a:t>
            </a:r>
            <a:endParaRPr sz="2800">
              <a:latin typeface="Calibri"/>
              <a:cs typeface="Calibri"/>
            </a:endParaRPr>
          </a:p>
          <a:p>
            <a:pPr marL="978535" marR="104139">
              <a:lnSpc>
                <a:spcPct val="133600"/>
              </a:lnSpc>
            </a:pPr>
            <a:r>
              <a:rPr sz="2800" spc="-25" dirty="0">
                <a:latin typeface="Calibri"/>
                <a:cs typeface="Calibri"/>
              </a:rPr>
              <a:t>background-</a:t>
            </a:r>
            <a:r>
              <a:rPr sz="2800" dirty="0">
                <a:latin typeface="Calibri"/>
                <a:cs typeface="Calibri"/>
              </a:rPr>
              <a:t>color: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lightgreen; </a:t>
            </a:r>
            <a:r>
              <a:rPr sz="2800" dirty="0">
                <a:latin typeface="Calibri"/>
                <a:cs typeface="Calibri"/>
              </a:rPr>
              <a:t>border: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2px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solid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black;</a:t>
            </a:r>
            <a:endParaRPr sz="2800">
              <a:latin typeface="Calibri"/>
              <a:cs typeface="Calibri"/>
            </a:endParaRPr>
          </a:p>
          <a:p>
            <a:pPr marL="978535">
              <a:lnSpc>
                <a:spcPct val="100000"/>
              </a:lnSpc>
              <a:spcBef>
                <a:spcPts val="1125"/>
              </a:spcBef>
            </a:pPr>
            <a:r>
              <a:rPr sz="2800" dirty="0">
                <a:latin typeface="Calibri"/>
                <a:cs typeface="Calibri"/>
              </a:rPr>
              <a:t>padding: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15px;</a:t>
            </a:r>
            <a:endParaRPr sz="2800">
              <a:latin typeface="Calibri"/>
              <a:cs typeface="Calibri"/>
            </a:endParaRPr>
          </a:p>
          <a:p>
            <a:pPr marL="978535" marR="1692275">
              <a:lnSpc>
                <a:spcPct val="133600"/>
              </a:lnSpc>
            </a:pPr>
            <a:r>
              <a:rPr sz="2800" spc="-10" dirty="0">
                <a:latin typeface="Calibri"/>
                <a:cs typeface="Calibri"/>
              </a:rPr>
              <a:t>min-</a:t>
            </a:r>
            <a:r>
              <a:rPr sz="2800" dirty="0">
                <a:latin typeface="Calibri"/>
                <a:cs typeface="Calibri"/>
              </a:rPr>
              <a:t>width: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200px; </a:t>
            </a:r>
            <a:r>
              <a:rPr sz="2800" spc="-25" dirty="0">
                <a:latin typeface="Calibri"/>
                <a:cs typeface="Calibri"/>
              </a:rPr>
              <a:t>max-</a:t>
            </a:r>
            <a:r>
              <a:rPr sz="2800" dirty="0">
                <a:latin typeface="Calibri"/>
                <a:cs typeface="Calibri"/>
              </a:rPr>
              <a:t>width: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500px;</a:t>
            </a:r>
            <a:endParaRPr sz="2800">
              <a:latin typeface="Calibri"/>
              <a:cs typeface="Calibri"/>
            </a:endParaRPr>
          </a:p>
          <a:p>
            <a:pPr marL="657225">
              <a:lnSpc>
                <a:spcPct val="100000"/>
              </a:lnSpc>
              <a:spcBef>
                <a:spcPts val="1130"/>
              </a:spcBef>
            </a:pPr>
            <a:r>
              <a:rPr sz="2800" spc="-50" dirty="0"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  <a:p>
            <a:pPr marL="33528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&lt;/style&gt;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41323"/>
            <a:ext cx="5372100" cy="884301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800" spc="-10" dirty="0">
                <a:latin typeface="Calibri"/>
                <a:cs typeface="Calibri"/>
              </a:rPr>
              <a:t>&lt;/head&gt;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&lt;body&gt;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95"/>
              </a:spcBef>
            </a:pPr>
            <a:endParaRPr sz="2800">
              <a:latin typeface="Calibri"/>
              <a:cs typeface="Calibri"/>
            </a:endParaRPr>
          </a:p>
          <a:p>
            <a:pPr marL="335280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latin typeface="Calibri"/>
                <a:cs typeface="Calibri"/>
              </a:rPr>
              <a:t>&lt;div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class="box"&gt;</a:t>
            </a:r>
            <a:endParaRPr sz="2800">
              <a:latin typeface="Calibri"/>
              <a:cs typeface="Calibri"/>
            </a:endParaRPr>
          </a:p>
          <a:p>
            <a:pPr marL="12700" marR="34925" indent="644525">
              <a:lnSpc>
                <a:spcPct val="110000"/>
              </a:lnSpc>
              <a:spcBef>
                <a:spcPts val="795"/>
              </a:spcBef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box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min-</a:t>
            </a:r>
            <a:r>
              <a:rPr sz="2800" dirty="0">
                <a:latin typeface="Calibri"/>
                <a:cs typeface="Calibri"/>
              </a:rPr>
              <a:t>width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200px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max-</a:t>
            </a:r>
            <a:r>
              <a:rPr sz="2800" dirty="0">
                <a:latin typeface="Calibri"/>
                <a:cs typeface="Calibri"/>
              </a:rPr>
              <a:t>width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500px.</a:t>
            </a:r>
            <a:endParaRPr sz="2800">
              <a:latin typeface="Calibri"/>
              <a:cs typeface="Calibri"/>
            </a:endParaRPr>
          </a:p>
          <a:p>
            <a:pPr marL="12700" marR="5080" indent="644525">
              <a:lnSpc>
                <a:spcPct val="109600"/>
              </a:lnSpc>
              <a:spcBef>
                <a:spcPts val="805"/>
              </a:spcBef>
            </a:pPr>
            <a:r>
              <a:rPr sz="2800" dirty="0">
                <a:latin typeface="Calibri"/>
                <a:cs typeface="Calibri"/>
              </a:rPr>
              <a:t>Try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resizing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browser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window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effect.</a:t>
            </a:r>
            <a:endParaRPr sz="2800">
              <a:latin typeface="Calibri"/>
              <a:cs typeface="Calibri"/>
            </a:endParaRPr>
          </a:p>
          <a:p>
            <a:pPr marL="33528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&lt;/div&gt;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95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&lt;/body&gt;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&lt;/html&gt;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00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Calibri"/>
                <a:cs typeface="Calibri"/>
              </a:rPr>
              <a:t>What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is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CSS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Box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Model?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dirty="0">
                <a:latin typeface="Calibri"/>
                <a:cs typeface="Calibri"/>
              </a:rPr>
              <a:t>Every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HTML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treated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b="1" dirty="0">
                <a:latin typeface="Calibri"/>
                <a:cs typeface="Calibri"/>
              </a:rPr>
              <a:t>rectangular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box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CSS.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6880249"/>
            <a:ext cx="4895215" cy="277431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box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parts: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b="1" dirty="0">
                <a:latin typeface="Calibri"/>
                <a:cs typeface="Calibri"/>
              </a:rPr>
              <a:t>Parts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Box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  <a:p>
            <a:pPr marL="93345">
              <a:lnSpc>
                <a:spcPct val="100000"/>
              </a:lnSpc>
              <a:spcBef>
                <a:spcPts val="1130"/>
              </a:spcBef>
            </a:pPr>
            <a:r>
              <a:rPr sz="2800" b="1" dirty="0">
                <a:latin typeface="Calibri"/>
                <a:cs typeface="Calibri"/>
              </a:rPr>
              <a:t>1.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Content</a:t>
            </a:r>
            <a:endParaRPr sz="2800">
              <a:latin typeface="Calibri"/>
              <a:cs typeface="Calibri"/>
            </a:endParaRPr>
          </a:p>
          <a:p>
            <a:pPr marL="469265" marR="5080" indent="-228600">
              <a:lnSpc>
                <a:spcPct val="109600"/>
              </a:lnSpc>
              <a:spcBef>
                <a:spcPts val="805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Actual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text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image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inside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element.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484502"/>
            <a:ext cx="5883275" cy="43127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41323"/>
            <a:ext cx="5736590" cy="775779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1225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Controlled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width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height.</a:t>
            </a:r>
            <a:endParaRPr sz="2800">
              <a:latin typeface="Calibri"/>
              <a:cs typeface="Calibri"/>
            </a:endParaRPr>
          </a:p>
          <a:p>
            <a:pPr marL="447675" indent="-354330">
              <a:lnSpc>
                <a:spcPct val="100000"/>
              </a:lnSpc>
              <a:spcBef>
                <a:spcPts val="1130"/>
              </a:spcBef>
              <a:buAutoNum type="arabicPeriod" startAt="2"/>
              <a:tabLst>
                <a:tab pos="447675" algn="l"/>
              </a:tabLst>
            </a:pPr>
            <a:r>
              <a:rPr sz="2800" b="1" spc="-10" dirty="0">
                <a:latin typeface="Calibri"/>
                <a:cs typeface="Calibri"/>
              </a:rPr>
              <a:t>Padding</a:t>
            </a:r>
            <a:endParaRPr sz="28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1130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Space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inside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element.</a:t>
            </a:r>
            <a:endParaRPr sz="28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1125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content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border.</a:t>
            </a:r>
            <a:endParaRPr sz="28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1115"/>
              </a:spcBef>
              <a:buSzPct val="31250"/>
              <a:buFont typeface="Symbol"/>
              <a:buChar char=""/>
              <a:tabLst>
                <a:tab pos="469265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padding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transparent</a:t>
            </a:r>
            <a:endParaRPr sz="3200">
              <a:latin typeface="Calibri"/>
              <a:cs typeface="Calibri"/>
            </a:endParaRPr>
          </a:p>
          <a:p>
            <a:pPr marL="447675" indent="-354330">
              <a:lnSpc>
                <a:spcPct val="100000"/>
              </a:lnSpc>
              <a:spcBef>
                <a:spcPts val="90"/>
              </a:spcBef>
              <a:buAutoNum type="arabicPeriod" startAt="2"/>
              <a:tabLst>
                <a:tab pos="447675" algn="l"/>
              </a:tabLst>
            </a:pPr>
            <a:r>
              <a:rPr sz="2800" b="1" spc="-10" dirty="0">
                <a:latin typeface="Calibri"/>
                <a:cs typeface="Calibri"/>
              </a:rPr>
              <a:t>Border</a:t>
            </a:r>
            <a:endParaRPr sz="28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1125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Surrounds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padding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content.</a:t>
            </a:r>
            <a:endParaRPr sz="2800">
              <a:latin typeface="Calibri"/>
              <a:cs typeface="Calibri"/>
            </a:endParaRPr>
          </a:p>
          <a:p>
            <a:pPr marL="447675" indent="-354330">
              <a:lnSpc>
                <a:spcPct val="100000"/>
              </a:lnSpc>
              <a:spcBef>
                <a:spcPts val="1130"/>
              </a:spcBef>
              <a:buAutoNum type="arabicPeriod" startAt="2"/>
              <a:tabLst>
                <a:tab pos="447675" algn="l"/>
              </a:tabLst>
            </a:pPr>
            <a:r>
              <a:rPr sz="2800" b="1" spc="-10" dirty="0">
                <a:latin typeface="Calibri"/>
                <a:cs typeface="Calibri"/>
              </a:rPr>
              <a:t>Margin</a:t>
            </a:r>
            <a:endParaRPr sz="28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1130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Space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outside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element.</a:t>
            </a:r>
            <a:endParaRPr sz="28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1130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Creates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distance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elements.</a:t>
            </a:r>
            <a:endParaRPr sz="28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1100"/>
              </a:spcBef>
              <a:buSzPct val="31250"/>
              <a:buFont typeface="Symbol"/>
              <a:buChar char=""/>
              <a:tabLst>
                <a:tab pos="469265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margin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transparent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3200">
              <a:latin typeface="Calibri"/>
              <a:cs typeface="Calibri"/>
            </a:endParaRPr>
          </a:p>
          <a:p>
            <a:pPr marL="12700" marR="370205">
              <a:lnSpc>
                <a:spcPct val="110000"/>
              </a:lnSpc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width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should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calculated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this: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43431"/>
            <a:ext cx="5744210" cy="3976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56845">
              <a:lnSpc>
                <a:spcPct val="1098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Total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width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width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left </a:t>
            </a:r>
            <a:r>
              <a:rPr sz="2800" dirty="0">
                <a:latin typeface="Calibri"/>
                <a:cs typeface="Calibri"/>
              </a:rPr>
              <a:t>padding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right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padding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left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border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+ </a:t>
            </a:r>
            <a:r>
              <a:rPr sz="2800" dirty="0">
                <a:latin typeface="Calibri"/>
                <a:cs typeface="Calibri"/>
              </a:rPr>
              <a:t>right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border</a:t>
            </a:r>
            <a:endParaRPr sz="2800">
              <a:latin typeface="Calibri"/>
              <a:cs typeface="Calibri"/>
            </a:endParaRPr>
          </a:p>
          <a:p>
            <a:pPr marL="12700" marR="285750">
              <a:lnSpc>
                <a:spcPct val="109600"/>
              </a:lnSpc>
              <a:spcBef>
                <a:spcPts val="805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height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</a:t>
            </a:r>
            <a:r>
              <a:rPr sz="2800" spc="-10" dirty="0">
                <a:latin typeface="Calibri"/>
                <a:cs typeface="Calibri"/>
              </a:rPr>
              <a:t> should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calculated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this: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  <a:spcBef>
                <a:spcPts val="795"/>
              </a:spcBef>
            </a:pPr>
            <a:r>
              <a:rPr sz="2800" dirty="0">
                <a:latin typeface="Calibri"/>
                <a:cs typeface="Calibri"/>
              </a:rPr>
              <a:t>Total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height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height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top </a:t>
            </a:r>
            <a:r>
              <a:rPr sz="2800" dirty="0">
                <a:latin typeface="Calibri"/>
                <a:cs typeface="Calibri"/>
              </a:rPr>
              <a:t>padding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bottom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padding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top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border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800" dirty="0">
                <a:latin typeface="Calibri"/>
                <a:cs typeface="Calibri"/>
              </a:rPr>
              <a:t>+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bottom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border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073798"/>
            <a:ext cx="3890645" cy="2306320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800" spc="-10" dirty="0">
                <a:latin typeface="Calibri"/>
                <a:cs typeface="Calibri"/>
              </a:rPr>
              <a:t>assignment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dirty="0">
                <a:latin typeface="Calibri"/>
                <a:cs typeface="Calibri"/>
              </a:rPr>
              <a:t>Write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HTML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+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CSS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to:</a:t>
            </a:r>
            <a:endParaRPr sz="28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130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Create 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div</a:t>
            </a:r>
            <a:endParaRPr sz="28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125"/>
              </a:spcBef>
              <a:buSzPct val="35714"/>
              <a:buFont typeface="Symbol"/>
              <a:buChar char="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Width: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250px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604" y="741323"/>
            <a:ext cx="4532630" cy="287591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25"/>
              </a:spcBef>
              <a:buSzPct val="35714"/>
              <a:buFont typeface="Symbol"/>
              <a:buChar char="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Height: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120px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30"/>
              </a:spcBef>
              <a:buSzPct val="35714"/>
              <a:buFont typeface="Symbol"/>
              <a:buChar char="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Padding: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15px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30"/>
              </a:spcBef>
              <a:buSzPct val="35714"/>
              <a:buFont typeface="Symbol"/>
              <a:buChar char="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Border: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4px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solid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red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25"/>
              </a:spcBef>
              <a:buSzPct val="35714"/>
              <a:buFont typeface="Symbol"/>
              <a:buChar char="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Margin: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20px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30"/>
              </a:spcBef>
              <a:buSzPct val="35714"/>
              <a:buFont typeface="Symbol"/>
              <a:buChar char="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Background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color: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lightyellow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7012837"/>
            <a:ext cx="2593340" cy="2306320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800" spc="-10" dirty="0">
                <a:latin typeface="Calibri"/>
                <a:cs typeface="Calibri"/>
              </a:rPr>
              <a:t>Soln-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dirty="0">
                <a:latin typeface="Calibri"/>
                <a:cs typeface="Calibri"/>
              </a:rPr>
              <a:t>&lt;!DOCTYPE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html&gt;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&lt;html&gt;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800" spc="-10" dirty="0">
                <a:latin typeface="Calibri"/>
                <a:cs typeface="Calibri"/>
              </a:rPr>
              <a:t>&lt;head&gt;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41323"/>
            <a:ext cx="5389880" cy="857758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35280">
              <a:lnSpc>
                <a:spcPct val="100000"/>
              </a:lnSpc>
              <a:spcBef>
                <a:spcPts val="1225"/>
              </a:spcBef>
            </a:pPr>
            <a:r>
              <a:rPr sz="2800" spc="-10" dirty="0">
                <a:latin typeface="Calibri"/>
                <a:cs typeface="Calibri"/>
              </a:rPr>
              <a:t>&lt;title&gt;Box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Test&lt;/title&gt;</a:t>
            </a:r>
            <a:endParaRPr sz="2800">
              <a:latin typeface="Calibri"/>
              <a:cs typeface="Calibri"/>
            </a:endParaRPr>
          </a:p>
          <a:p>
            <a:pPr marL="33528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&lt;style&gt;</a:t>
            </a:r>
            <a:endParaRPr sz="2800">
              <a:latin typeface="Calibri"/>
              <a:cs typeface="Calibri"/>
            </a:endParaRPr>
          </a:p>
          <a:p>
            <a:pPr marL="657225">
              <a:lnSpc>
                <a:spcPct val="100000"/>
              </a:lnSpc>
              <a:spcBef>
                <a:spcPts val="1130"/>
              </a:spcBef>
            </a:pPr>
            <a:r>
              <a:rPr sz="2800" dirty="0">
                <a:latin typeface="Calibri"/>
                <a:cs typeface="Calibri"/>
              </a:rPr>
              <a:t>.box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{</a:t>
            </a:r>
            <a:endParaRPr sz="2800">
              <a:latin typeface="Calibri"/>
              <a:cs typeface="Calibri"/>
            </a:endParaRPr>
          </a:p>
          <a:p>
            <a:pPr marL="978535" marR="2264410" algn="just">
              <a:lnSpc>
                <a:spcPct val="133600"/>
              </a:lnSpc>
            </a:pPr>
            <a:r>
              <a:rPr sz="2800" dirty="0">
                <a:latin typeface="Calibri"/>
                <a:cs typeface="Calibri"/>
              </a:rPr>
              <a:t>width: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250px; </a:t>
            </a:r>
            <a:r>
              <a:rPr sz="2800" dirty="0">
                <a:latin typeface="Calibri"/>
                <a:cs typeface="Calibri"/>
              </a:rPr>
              <a:t>height: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120px; </a:t>
            </a:r>
            <a:r>
              <a:rPr sz="2800" dirty="0">
                <a:latin typeface="Calibri"/>
                <a:cs typeface="Calibri"/>
              </a:rPr>
              <a:t>padding: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15px;</a:t>
            </a:r>
            <a:endParaRPr sz="2800">
              <a:latin typeface="Calibri"/>
              <a:cs typeface="Calibri"/>
            </a:endParaRPr>
          </a:p>
          <a:p>
            <a:pPr marL="978535" marR="1303655">
              <a:lnSpc>
                <a:spcPct val="133600"/>
              </a:lnSpc>
            </a:pPr>
            <a:r>
              <a:rPr sz="2800" dirty="0">
                <a:latin typeface="Calibri"/>
                <a:cs typeface="Calibri"/>
              </a:rPr>
              <a:t>border: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4px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solid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red; </a:t>
            </a:r>
            <a:r>
              <a:rPr sz="2800" dirty="0">
                <a:latin typeface="Calibri"/>
                <a:cs typeface="Calibri"/>
              </a:rPr>
              <a:t>margin: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20px;</a:t>
            </a:r>
            <a:endParaRPr sz="2800">
              <a:latin typeface="Calibri"/>
              <a:cs typeface="Calibri"/>
            </a:endParaRPr>
          </a:p>
          <a:p>
            <a:pPr marL="978535">
              <a:lnSpc>
                <a:spcPct val="100000"/>
              </a:lnSpc>
              <a:spcBef>
                <a:spcPts val="1125"/>
              </a:spcBef>
            </a:pPr>
            <a:r>
              <a:rPr sz="2800" spc="-25" dirty="0">
                <a:latin typeface="Calibri"/>
                <a:cs typeface="Calibri"/>
              </a:rPr>
              <a:t>background-</a:t>
            </a:r>
            <a:r>
              <a:rPr sz="2800" dirty="0">
                <a:latin typeface="Calibri"/>
                <a:cs typeface="Calibri"/>
              </a:rPr>
              <a:t>color: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lightyellow;</a:t>
            </a:r>
            <a:endParaRPr sz="2800">
              <a:latin typeface="Calibri"/>
              <a:cs typeface="Calibri"/>
            </a:endParaRPr>
          </a:p>
          <a:p>
            <a:pPr marL="657225">
              <a:lnSpc>
                <a:spcPct val="100000"/>
              </a:lnSpc>
              <a:spcBef>
                <a:spcPts val="1130"/>
              </a:spcBef>
            </a:pPr>
            <a:r>
              <a:rPr sz="2800" spc="-50" dirty="0"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  <a:p>
            <a:pPr marL="335280">
              <a:lnSpc>
                <a:spcPct val="100000"/>
              </a:lnSpc>
              <a:spcBef>
                <a:spcPts val="1125"/>
              </a:spcBef>
            </a:pPr>
            <a:r>
              <a:rPr sz="2800" spc="-10" dirty="0">
                <a:latin typeface="Calibri"/>
                <a:cs typeface="Calibri"/>
              </a:rPr>
              <a:t>&lt;/style&gt;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2800" spc="-10" dirty="0">
                <a:latin typeface="Calibri"/>
                <a:cs typeface="Calibri"/>
              </a:rPr>
              <a:t>&lt;/head&gt;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2800" spc="-10" dirty="0">
                <a:latin typeface="Calibri"/>
                <a:cs typeface="Calibri"/>
              </a:rPr>
              <a:t>&lt;body&gt;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95"/>
              </a:spcBef>
            </a:pPr>
            <a:endParaRPr sz="2800">
              <a:latin typeface="Calibri"/>
              <a:cs typeface="Calibri"/>
            </a:endParaRPr>
          </a:p>
          <a:p>
            <a:pPr marL="33528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&lt;div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class="box"&gt;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41323"/>
            <a:ext cx="4006215" cy="287591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657225">
              <a:lnSpc>
                <a:spcPct val="100000"/>
              </a:lnSpc>
              <a:spcBef>
                <a:spcPts val="1225"/>
              </a:spcBef>
            </a:pPr>
            <a:r>
              <a:rPr sz="2800" dirty="0">
                <a:latin typeface="Calibri"/>
                <a:cs typeface="Calibri"/>
              </a:rPr>
              <a:t>Box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Assessment</a:t>
            </a:r>
            <a:endParaRPr sz="2800">
              <a:latin typeface="Calibri"/>
              <a:cs typeface="Calibri"/>
            </a:endParaRPr>
          </a:p>
          <a:p>
            <a:pPr marL="33528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&lt;/div&gt;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95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Calibri"/>
                <a:cs typeface="Calibri"/>
              </a:rPr>
              <a:t>&lt;/body&gt;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&lt;/html&gt;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6542302"/>
            <a:ext cx="5367020" cy="30422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9900"/>
              </a:lnSpc>
              <a:spcBef>
                <a:spcPts val="105"/>
              </a:spcBef>
            </a:pPr>
            <a:r>
              <a:rPr sz="2800" dirty="0">
                <a:latin typeface="Calibri"/>
                <a:cs typeface="Calibri"/>
              </a:rPr>
              <a:t>An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outline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drawn </a:t>
            </a:r>
            <a:r>
              <a:rPr sz="2800" dirty="0">
                <a:latin typeface="Calibri"/>
                <a:cs typeface="Calibri"/>
              </a:rPr>
              <a:t>around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OUTSIDE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borders,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"stand </a:t>
            </a:r>
            <a:r>
              <a:rPr sz="2800" spc="-20" dirty="0">
                <a:latin typeface="Calibri"/>
                <a:cs typeface="Calibri"/>
              </a:rPr>
              <a:t>out"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800" dirty="0">
                <a:latin typeface="Calibri"/>
                <a:cs typeface="Calibri"/>
              </a:rPr>
              <a:t>&lt;!DOCTYPE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html&gt;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&lt;html&gt;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41323"/>
            <a:ext cx="4777740" cy="857758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800" spc="-10" dirty="0">
                <a:latin typeface="Calibri"/>
                <a:cs typeface="Calibri"/>
              </a:rPr>
              <a:t>&lt;head&gt;</a:t>
            </a:r>
            <a:endParaRPr sz="2800">
              <a:latin typeface="Calibri"/>
              <a:cs typeface="Calibri"/>
            </a:endParaRPr>
          </a:p>
          <a:p>
            <a:pPr marL="12700" marR="3726179">
              <a:lnSpc>
                <a:spcPct val="133600"/>
              </a:lnSpc>
            </a:pPr>
            <a:r>
              <a:rPr sz="2800" spc="-10" dirty="0">
                <a:latin typeface="Calibri"/>
                <a:cs typeface="Calibri"/>
              </a:rPr>
              <a:t>&lt;style&gt; </a:t>
            </a:r>
            <a:r>
              <a:rPr sz="2800" dirty="0">
                <a:latin typeface="Calibri"/>
                <a:cs typeface="Calibri"/>
              </a:rPr>
              <a:t>p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{</a:t>
            </a:r>
            <a:endParaRPr sz="2800">
              <a:latin typeface="Calibri"/>
              <a:cs typeface="Calibri"/>
            </a:endParaRPr>
          </a:p>
          <a:p>
            <a:pPr marL="12700" marR="1875155">
              <a:lnSpc>
                <a:spcPts val="4490"/>
              </a:lnSpc>
              <a:spcBef>
                <a:spcPts val="335"/>
              </a:spcBef>
            </a:pPr>
            <a:r>
              <a:rPr sz="2800" spc="-20" dirty="0">
                <a:latin typeface="Calibri"/>
                <a:cs typeface="Calibri"/>
              </a:rPr>
              <a:t>outline-</a:t>
            </a:r>
            <a:r>
              <a:rPr sz="2800" spc="-10" dirty="0">
                <a:latin typeface="Calibri"/>
                <a:cs typeface="Calibri"/>
              </a:rPr>
              <a:t>color:green; </a:t>
            </a:r>
            <a:r>
              <a:rPr sz="2800" dirty="0">
                <a:latin typeface="Calibri"/>
                <a:cs typeface="Calibri"/>
              </a:rPr>
              <a:t>padding: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5px;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800" spc="-50" dirty="0"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33700"/>
              </a:lnSpc>
            </a:pPr>
            <a:r>
              <a:rPr sz="2800" spc="-10" dirty="0">
                <a:latin typeface="Calibri"/>
                <a:cs typeface="Calibri"/>
              </a:rPr>
              <a:t>p.dotted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{outline-</a:t>
            </a:r>
            <a:r>
              <a:rPr sz="2800" dirty="0">
                <a:latin typeface="Calibri"/>
                <a:cs typeface="Calibri"/>
              </a:rPr>
              <a:t>style: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dotted;} </a:t>
            </a:r>
            <a:r>
              <a:rPr sz="2800" dirty="0">
                <a:latin typeface="Calibri"/>
                <a:cs typeface="Calibri"/>
              </a:rPr>
              <a:t>p.dashed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{outline-</a:t>
            </a:r>
            <a:r>
              <a:rPr sz="2800" dirty="0">
                <a:latin typeface="Calibri"/>
                <a:cs typeface="Calibri"/>
              </a:rPr>
              <a:t>style: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dashed;} </a:t>
            </a:r>
            <a:r>
              <a:rPr sz="2800" dirty="0">
                <a:latin typeface="Calibri"/>
                <a:cs typeface="Calibri"/>
              </a:rPr>
              <a:t>p.solid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{outline-</a:t>
            </a:r>
            <a:r>
              <a:rPr sz="2800" dirty="0">
                <a:latin typeface="Calibri"/>
                <a:cs typeface="Calibri"/>
              </a:rPr>
              <a:t>style: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solid;} </a:t>
            </a:r>
            <a:r>
              <a:rPr sz="2800" dirty="0">
                <a:latin typeface="Calibri"/>
                <a:cs typeface="Calibri"/>
              </a:rPr>
              <a:t>p.double</a:t>
            </a:r>
            <a:r>
              <a:rPr sz="2800" spc="-20" dirty="0">
                <a:latin typeface="Calibri"/>
                <a:cs typeface="Calibri"/>
              </a:rPr>
              <a:t> {outline-</a:t>
            </a:r>
            <a:r>
              <a:rPr sz="2800" dirty="0">
                <a:latin typeface="Calibri"/>
                <a:cs typeface="Calibri"/>
              </a:rPr>
              <a:t>style: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double;} </a:t>
            </a:r>
            <a:r>
              <a:rPr sz="2800" dirty="0">
                <a:latin typeface="Calibri"/>
                <a:cs typeface="Calibri"/>
              </a:rPr>
              <a:t>p.groove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{outline-</a:t>
            </a:r>
            <a:r>
              <a:rPr sz="2800" dirty="0">
                <a:latin typeface="Calibri"/>
                <a:cs typeface="Calibri"/>
              </a:rPr>
              <a:t>style: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groove;} </a:t>
            </a:r>
            <a:r>
              <a:rPr sz="2800" dirty="0">
                <a:latin typeface="Calibri"/>
                <a:cs typeface="Calibri"/>
              </a:rPr>
              <a:t>p.ridge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{outline-</a:t>
            </a:r>
            <a:r>
              <a:rPr sz="2800" dirty="0">
                <a:latin typeface="Calibri"/>
                <a:cs typeface="Calibri"/>
              </a:rPr>
              <a:t>style: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ridge;}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800" dirty="0">
                <a:latin typeface="Calibri"/>
                <a:cs typeface="Calibri"/>
              </a:rPr>
              <a:t>p.inset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{outline-</a:t>
            </a:r>
            <a:r>
              <a:rPr sz="2800" dirty="0">
                <a:latin typeface="Calibri"/>
                <a:cs typeface="Calibri"/>
              </a:rPr>
              <a:t>style: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inset;}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dirty="0">
                <a:latin typeface="Calibri"/>
                <a:cs typeface="Calibri"/>
              </a:rPr>
              <a:t>p.outset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{outline-</a:t>
            </a:r>
            <a:r>
              <a:rPr sz="2800" dirty="0">
                <a:latin typeface="Calibri"/>
                <a:cs typeface="Calibri"/>
              </a:rPr>
              <a:t>style: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outset;}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41323"/>
            <a:ext cx="5753100" cy="863854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800" spc="-10" dirty="0">
                <a:latin typeface="Calibri"/>
                <a:cs typeface="Calibri"/>
              </a:rPr>
              <a:t>&lt;/style&gt;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&lt;/head&gt;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spc="-10" dirty="0">
                <a:latin typeface="Calibri"/>
                <a:cs typeface="Calibri"/>
              </a:rPr>
              <a:t>&lt;body&gt;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00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Calibri"/>
                <a:cs typeface="Calibri"/>
              </a:rPr>
              <a:t>&lt;h2&gt;The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outline-</a:t>
            </a:r>
            <a:r>
              <a:rPr sz="2800" dirty="0">
                <a:latin typeface="Calibri"/>
                <a:cs typeface="Calibri"/>
              </a:rPr>
              <a:t>style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Property&lt;/h2&gt;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60"/>
              </a:spcBef>
            </a:pPr>
            <a:endParaRPr sz="2800">
              <a:latin typeface="Calibri"/>
              <a:cs typeface="Calibri"/>
            </a:endParaRPr>
          </a:p>
          <a:p>
            <a:pPr marL="12700" marR="1758314">
              <a:lnSpc>
                <a:spcPct val="110000"/>
              </a:lnSpc>
            </a:pPr>
            <a:r>
              <a:rPr sz="2800" dirty="0">
                <a:latin typeface="Calibri"/>
                <a:cs typeface="Calibri"/>
              </a:rPr>
              <a:t>&lt;p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class="dotted"&gt;A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dotted outline&lt;/p&gt;</a:t>
            </a:r>
            <a:endParaRPr sz="2800">
              <a:latin typeface="Calibri"/>
              <a:cs typeface="Calibri"/>
            </a:endParaRPr>
          </a:p>
          <a:p>
            <a:pPr marL="12700" marR="1588135">
              <a:lnSpc>
                <a:spcPct val="109600"/>
              </a:lnSpc>
              <a:spcBef>
                <a:spcPts val="810"/>
              </a:spcBef>
            </a:pPr>
            <a:r>
              <a:rPr sz="2800" dirty="0">
                <a:latin typeface="Calibri"/>
                <a:cs typeface="Calibri"/>
              </a:rPr>
              <a:t>&lt;p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class="dashed"&gt;A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dashed outline&lt;/p&gt;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800" dirty="0">
                <a:latin typeface="Calibri"/>
                <a:cs typeface="Calibri"/>
              </a:rPr>
              <a:t>&lt;p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class="solid"&gt;A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solid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outline&lt;/p&gt;</a:t>
            </a:r>
            <a:endParaRPr sz="2800">
              <a:latin typeface="Calibri"/>
              <a:cs typeface="Calibri"/>
            </a:endParaRPr>
          </a:p>
          <a:p>
            <a:pPr marL="12700" marR="1670685">
              <a:lnSpc>
                <a:spcPct val="110000"/>
              </a:lnSpc>
              <a:spcBef>
                <a:spcPts val="795"/>
              </a:spcBef>
            </a:pPr>
            <a:r>
              <a:rPr sz="2800" dirty="0">
                <a:latin typeface="Calibri"/>
                <a:cs typeface="Calibri"/>
              </a:rPr>
              <a:t>&lt;p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class="double"&gt;A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double outline&lt;/p&gt;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dirty="0">
                <a:latin typeface="Calibri"/>
                <a:cs typeface="Calibri"/>
              </a:rPr>
              <a:t>&lt;p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class="groove"&gt;A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groove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outline.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9600"/>
              </a:lnSpc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effect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outline-color value.&lt;/p&gt;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43431"/>
            <a:ext cx="5753100" cy="444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01320">
              <a:lnSpc>
                <a:spcPct val="109800"/>
              </a:lnSpc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&lt;p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class="ridge"&gt;A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ridge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outline.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effect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outline-color value.&lt;/p&gt;</a:t>
            </a:r>
            <a:endParaRPr sz="2800">
              <a:latin typeface="Calibri"/>
              <a:cs typeface="Calibri"/>
            </a:endParaRPr>
          </a:p>
          <a:p>
            <a:pPr marL="12700" marR="283210">
              <a:lnSpc>
                <a:spcPct val="109900"/>
              </a:lnSpc>
              <a:spcBef>
                <a:spcPts val="795"/>
              </a:spcBef>
            </a:pPr>
            <a:r>
              <a:rPr sz="2800" dirty="0">
                <a:latin typeface="Calibri"/>
                <a:cs typeface="Calibri"/>
              </a:rPr>
              <a:t>&lt;p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class="inset"&gt;An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outline.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effect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outline-color value.&lt;/p&gt;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800" dirty="0">
                <a:latin typeface="Calibri"/>
                <a:cs typeface="Calibri"/>
              </a:rPr>
              <a:t>&lt;p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class="outset"&gt;An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outset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outline.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9600"/>
              </a:lnSpc>
              <a:spcBef>
                <a:spcPts val="5"/>
              </a:spcBef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effect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outline-color value.&lt;/p&gt;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830595"/>
            <a:ext cx="2061210" cy="2844165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2800" spc="-10" dirty="0">
                <a:latin typeface="Calibri"/>
                <a:cs typeface="Calibri"/>
              </a:rPr>
              <a:t>&lt;/body&gt;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2800" spc="-10" dirty="0">
                <a:latin typeface="Calibri"/>
                <a:cs typeface="Calibri"/>
              </a:rPr>
              <a:t>&lt;/html&gt;</a:t>
            </a:r>
            <a:endParaRPr sz="2800">
              <a:latin typeface="Calibri"/>
              <a:cs typeface="Calibri"/>
            </a:endParaRPr>
          </a:p>
          <a:p>
            <a:pPr marL="41275">
              <a:lnSpc>
                <a:spcPct val="100000"/>
              </a:lnSpc>
              <a:spcBef>
                <a:spcPts val="1345"/>
              </a:spcBef>
            </a:pPr>
            <a:r>
              <a:rPr sz="2800" b="1" spc="-10" dirty="0">
                <a:latin typeface="Calibri"/>
                <a:cs typeface="Calibri"/>
              </a:rPr>
              <a:t>Margin</a:t>
            </a:r>
            <a:endParaRPr sz="2800">
              <a:latin typeface="Calibri"/>
              <a:cs typeface="Calibri"/>
            </a:endParaRPr>
          </a:p>
          <a:p>
            <a:pPr marL="41275" marR="5080">
              <a:lnSpc>
                <a:spcPct val="110000"/>
              </a:lnSpc>
              <a:spcBef>
                <a:spcPts val="1095"/>
              </a:spcBef>
            </a:pPr>
            <a:r>
              <a:rPr sz="2800" dirty="0">
                <a:latin typeface="Calibri"/>
                <a:cs typeface="Calibri"/>
              </a:rPr>
              <a:t>Space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outside element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6766" y="6962546"/>
            <a:ext cx="1807210" cy="1711960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2800" b="1" spc="-10" dirty="0">
                <a:latin typeface="Calibri"/>
                <a:cs typeface="Calibri"/>
              </a:rPr>
              <a:t>Padding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  <a:spcBef>
                <a:spcPts val="1095"/>
              </a:spcBef>
            </a:pPr>
            <a:r>
              <a:rPr sz="2800" dirty="0">
                <a:latin typeface="Calibri"/>
                <a:cs typeface="Calibri"/>
              </a:rPr>
              <a:t>Space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inside element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0960" y="732180"/>
            <a:ext cx="1450340" cy="1709420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2800" b="1" spc="-10" dirty="0">
                <a:latin typeface="Calibri"/>
                <a:cs typeface="Calibri"/>
              </a:rPr>
              <a:t>Margin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9600"/>
              </a:lnSpc>
              <a:spcBef>
                <a:spcPts val="1110"/>
              </a:spcBef>
            </a:pPr>
            <a:r>
              <a:rPr sz="2800" spc="-10" dirty="0">
                <a:latin typeface="Calibri"/>
                <a:cs typeface="Calibri"/>
              </a:rPr>
              <a:t>Separates elements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96766" y="732180"/>
            <a:ext cx="2956560" cy="2787650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2800" b="1" spc="-10" dirty="0">
                <a:latin typeface="Calibri"/>
                <a:cs typeface="Calibri"/>
              </a:rPr>
              <a:t>Padding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09600"/>
              </a:lnSpc>
              <a:spcBef>
                <a:spcPts val="1110"/>
              </a:spcBef>
            </a:pPr>
            <a:r>
              <a:rPr sz="2800" dirty="0">
                <a:latin typeface="Calibri"/>
                <a:cs typeface="Calibri"/>
              </a:rPr>
              <a:t>Creates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space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inside border</a:t>
            </a:r>
            <a:endParaRPr sz="2800">
              <a:latin typeface="Calibri"/>
              <a:cs typeface="Calibri"/>
            </a:endParaRPr>
          </a:p>
          <a:p>
            <a:pPr marL="12700" marR="327660">
              <a:lnSpc>
                <a:spcPct val="110100"/>
              </a:lnSpc>
              <a:spcBef>
                <a:spcPts val="1085"/>
              </a:spcBef>
            </a:pPr>
            <a:r>
              <a:rPr sz="2800" dirty="0">
                <a:latin typeface="Calibri"/>
                <a:cs typeface="Calibri"/>
              </a:rPr>
              <a:t>Takes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background color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0960" y="2832861"/>
            <a:ext cx="17843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Transparent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3622066"/>
            <a:ext cx="5336540" cy="1901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96900">
              <a:lnSpc>
                <a:spcPct val="11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Remember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margin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outside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border.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700"/>
              </a:lnSpc>
              <a:spcBef>
                <a:spcPts val="80"/>
              </a:spcBef>
            </a:pPr>
            <a:r>
              <a:rPr sz="2800" dirty="0">
                <a:latin typeface="Calibri"/>
                <a:cs typeface="Calibri"/>
              </a:rPr>
              <a:t>Only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padding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content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show </a:t>
            </a:r>
            <a:r>
              <a:rPr sz="2800" dirty="0">
                <a:latin typeface="Calibri"/>
                <a:cs typeface="Calibri"/>
              </a:rPr>
              <a:t>background</a:t>
            </a:r>
            <a:r>
              <a:rPr sz="2800" spc="-1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color.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887</Words>
  <Application>Microsoft Office PowerPoint</Application>
  <PresentationFormat>Custom</PresentationFormat>
  <Paragraphs>164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Symbol</vt:lpstr>
      <vt:lpstr>Office Theme</vt:lpstr>
      <vt:lpstr>PowerPoint Presentation</vt:lpstr>
      <vt:lpstr>PowerPoint Presentation</vt:lpstr>
      <vt:lpstr>&lt;div&gt;This div element has a top padding of 25px, a right and left padding of 50px, and a bottom padding of 75px.&lt;/div&gt;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Arpita Pandey</dc:creator>
  <cp:lastModifiedBy>ANSHIKA AGARWAL</cp:lastModifiedBy>
  <cp:revision>1</cp:revision>
  <dcterms:created xsi:type="dcterms:W3CDTF">2026-02-26T19:02:21Z</dcterms:created>
  <dcterms:modified xsi:type="dcterms:W3CDTF">2026-02-26T20:03:15Z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2026-02-26T00:00:00Z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2026-02-26T00:00:00Z</vt:filetime>
  </property>
  <property fmtid="{D5CDD505-2E9C-101B-9397-08002B2CF9AE}" pid="5" name="Producer">
    <vt:lpwstr>Microsoft® Word 2021</vt:lpwstr>
  </property>
</Properties>
</file>